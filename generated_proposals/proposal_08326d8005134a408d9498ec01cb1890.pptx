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C_67BD7D32.xml" ContentType="application/vnd.ms-powerpoint.comments+xml"/>
  <Override PartName="/ppt/comments/modernComment_111_108070A8.xml" ContentType="application/vnd.ms-powerpoint.comments+xml"/>
  <Override PartName="/ppt/comments/modernComment_113_6C4C06CD.xml" ContentType="application/vnd.ms-powerpoint.comments+xml"/>
  <Override PartName="/ppt/comments/modernComment_115_533C195E.xml" ContentType="application/vnd.ms-powerpoint.comments+xml"/>
  <Override PartName="/ppt/comments/modernComment_116_AC0BC3C6.xml" ContentType="application/vnd.ms-powerpoint.comments+xml"/>
  <Override PartName="/ppt/comments/modernComment_11A_A187FA2C.xml" ContentType="application/vnd.ms-powerpoint.comments+xml"/>
  <Override PartName="/ppt/comments/modernComment_123_9AC6C2B1.xml" ContentType="application/vnd.ms-powerpoint.comments+xml"/>
  <Override PartName="/ppt/comments/modernComment_126_6FA9A26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31_8B4BAE92.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7_CB7797F8.xml" ContentType="application/vnd.ms-powerpoint.comments+xml"/>
  <Override PartName="/ppt/comments/modernComment_138_47944A00.xml" ContentType="application/vnd.ms-powerpoint.comments+xml"/>
  <Override PartName="/ppt/comments/modernComment_139_5878859C.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12" r:id="rId22"/>
    <p:sldId id="313" r:id="rId23"/>
    <p:sldId id="290" r:id="rId24"/>
    <p:sldId id="291" r:id="rId25"/>
    <p:sldId id="311" r:id="rId26"/>
    <p:sldId id="294" r:id="rId27"/>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94596"/>
  </p:normalViewPr>
  <p:slideViewPr>
    <p:cSldViewPr snapToGrid="0">
      <p:cViewPr varScale="1">
        <p:scale>
          <a:sx n="78" d="100"/>
          <a:sy n="78" d="100"/>
        </p:scale>
        <p:origin x="129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8/10/relationships/authors" Target="authors.xml"/></Relationships>
</file>

<file path=ppt/comments/modernComment_10C_67BD7D32.xml><?xml version="1.0" encoding="utf-8"?>
<p188:cmLst xmlns:a="http://schemas.openxmlformats.org/drawingml/2006/main" xmlns:r="http://schemas.openxmlformats.org/officeDocument/2006/relationships" xmlns:p188="http://schemas.microsoft.com/office/powerpoint/2018/8/main">
  <p188:cm id="{80FAF5F0-6134-494F-A1F5-3740EFD815A4}" authorId="{6E16A83C-777C-0DF7-390D-AA7C1A28FF00}" created="2025-06-09T12:36:19.207">
    <pc:sldMkLst xmlns:pc="http://schemas.microsoft.com/office/powerpoint/2013/main/command">
      <pc:docMk/>
      <pc:sldMk cId="1740471602" sldId="268"/>
    </pc:sldMkLst>
    <p188:txBody>
      <a:bodyPr/>
      <a:lstStyle/>
      <a:p>
        <a:r>
          <a:rPr lang="en-AE"/>
          <a:t>Constant - same for all proposals</a:t>
        </a:r>
      </a:p>
    </p188:txBody>
  </p188:cm>
</p188:cmLst>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1_108070A8.xml><?xml version="1.0" encoding="utf-8"?>
<p188:cmLst xmlns:a="http://schemas.openxmlformats.org/drawingml/2006/main" xmlns:r="http://schemas.openxmlformats.org/officeDocument/2006/relationships" xmlns:p188="http://schemas.microsoft.com/office/powerpoint/2018/8/main">
  <p188:cm id="{45821E47-141C-441D-84AA-31DEAC93FBA6}" authorId="{6E16A83C-777C-0DF7-390D-AA7C1A28FF00}" created="2025-06-09T12:34:12.822">
    <pc:sldMkLst xmlns:pc="http://schemas.microsoft.com/office/powerpoint/2013/main/command">
      <pc:docMk/>
      <pc:sldMk cId="276852904" sldId="273"/>
    </pc:sldMkLst>
    <p188:txBody>
      <a:bodyPr/>
      <a:lstStyle/>
      <a:p>
        <a:r>
          <a:rPr lang="en-AE"/>
          <a:t>Constant - just the client name will be changed</a:t>
        </a:r>
      </a:p>
    </p188:txBody>
  </p188:cm>
</p188:cmLst>
</file>

<file path=ppt/comments/modernComment_113_6C4C06CD.xml><?xml version="1.0" encoding="utf-8"?>
<p188:cmLst xmlns:a="http://schemas.openxmlformats.org/drawingml/2006/main" xmlns:r="http://schemas.openxmlformats.org/officeDocument/2006/relationships" xmlns:p188="http://schemas.microsoft.com/office/powerpoint/2018/8/main">
  <p188:cm id="{4746C2AD-64A1-49E9-86CB-844C69B88B43}" authorId="{6E16A83C-777C-0DF7-390D-AA7C1A28FF00}" created="2025-06-09T12:36:53.811">
    <pc:sldMkLst xmlns:pc="http://schemas.microsoft.com/office/powerpoint/2013/main/command">
      <pc:docMk/>
      <pc:sldMk cId="1816921805" sldId="275"/>
    </pc:sldMkLst>
    <p188:txBody>
      <a:bodyPr/>
      <a:lstStyle/>
      <a:p>
        <a:r>
          <a:rPr lang="en-AE"/>
          <a:t>Constant - same for all proposals</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3_9AC6C2B1.xml><?xml version="1.0" encoding="utf-8"?>
<p188:cmLst xmlns:a="http://schemas.openxmlformats.org/drawingml/2006/main" xmlns:r="http://schemas.openxmlformats.org/officeDocument/2006/relationships" xmlns:p188="http://schemas.microsoft.com/office/powerpoint/2018/8/main">
  <p188:cm id="{02F3E655-0535-4834-8871-97CFCFFD9933}" authorId="{6E16A83C-777C-0DF7-390D-AA7C1A28FF00}" created="2025-06-09T12:49:22.660">
    <pc:sldMkLst xmlns:pc="http://schemas.microsoft.com/office/powerpoint/2013/main/command">
      <pc:docMk/>
      <pc:sldMk cId="2596717233" sldId="291"/>
    </pc:sldMkLst>
    <p188:txBody>
      <a:bodyPr/>
      <a:lstStyle/>
      <a:p>
        <a:r>
          <a:rPr lang="en-AE"/>
          <a:t>Additional services recommendation as part of upselling - subject to change as per client</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1_8B4BAE92.xml><?xml version="1.0" encoding="utf-8"?>
<p188:cmLst xmlns:a="http://schemas.openxmlformats.org/drawingml/2006/main" xmlns:r="http://schemas.openxmlformats.org/officeDocument/2006/relationships" xmlns:p188="http://schemas.microsoft.com/office/powerpoint/2018/8/main">
  <p188:cm id="{19BC0EE4-18C1-4881-9AC6-A1193826E73E}" authorId="{6E16A83C-777C-0DF7-390D-AA7C1A28FF00}" created="2025-06-09T12:35:38.604">
    <pc:sldMkLst xmlns:pc="http://schemas.microsoft.com/office/powerpoint/2013/main/command">
      <pc:docMk/>
      <pc:sldMk cId="2336992914" sldId="305"/>
    </pc:sldMkLst>
    <p188:txBody>
      <a:bodyPr/>
      <a:lstStyle/>
      <a:p>
        <a:r>
          <a:rPr lang="en-AE"/>
          <a:t>Basis clients brief on their requirements - a mini executive summary is added in the starting slide for them to have top-level context of what all we can offer them. 
“varies from client to client”</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7_CB7797F8.xml><?xml version="1.0" encoding="utf-8"?>
<p188:cmLst xmlns:a="http://schemas.openxmlformats.org/drawingml/2006/main" xmlns:r="http://schemas.openxmlformats.org/officeDocument/2006/relationships" xmlns:p188="http://schemas.microsoft.com/office/powerpoint/2018/8/main">
  <p188:cm id="{60B1DD41-D2BA-436F-B6D0-302A8B458BB3}" authorId="{6E16A83C-777C-0DF7-390D-AA7C1A28FF00}" created="2025-06-09T12:51:17.174">
    <ac:deMkLst xmlns:ac="http://schemas.microsoft.com/office/drawing/2013/main/command">
      <pc:docMk xmlns:pc="http://schemas.microsoft.com/office/powerpoint/2013/main/command"/>
      <pc:sldMk xmlns:pc="http://schemas.microsoft.com/office/powerpoint/2013/main/command" cId="3413612536" sldId="311"/>
      <ac:spMk id="13" creationId="{84D8A6CE-3187-9226-930C-4F60EC626DE0}"/>
    </ac:deMkLst>
    <p188:txBody>
      <a:bodyPr/>
      <a:lstStyle/>
      <a:p>
        <a:r>
          <a:rPr lang="en-AE"/>
          <a:t>Constant - same for all clients</a:t>
        </a:r>
      </a:p>
    </p188:txBody>
  </p188:cm>
</p188:cmLst>
</file>

<file path=ppt/comments/modernComment_138_47944A00.xml><?xml version="1.0" encoding="utf-8"?>
<p188:cmLst xmlns:a="http://schemas.openxmlformats.org/drawingml/2006/main" xmlns:r="http://schemas.openxmlformats.org/officeDocument/2006/relationships" xmlns:p188="http://schemas.microsoft.com/office/powerpoint/2018/8/main">
  <p188:cm id="{CD21C6A0-FC33-4F50-8364-8FC68B039DE6}"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9_5878859C.xml><?xml version="1.0" encoding="utf-8"?>
<p188:cmLst xmlns:a="http://schemas.openxmlformats.org/drawingml/2006/main" xmlns:r="http://schemas.openxmlformats.org/officeDocument/2006/relationships" xmlns:p188="http://schemas.microsoft.com/office/powerpoint/2018/8/main">
  <p188:cm id="{86AE739C-9E5F-4EF0-9779-38D33BAB8A43}"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23/09/2025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9/23/2025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9/23/2025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11_108070A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18/10/relationships/comments" Target="../comments/modernComment_131_8B4BAE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18/10/relationships/comments" Target="../comments/modernComment_10C_67BD7D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18/10/relationships/comments" Target="../comments/modernComment_113_6C4C06CD.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8/10/relationships/comments" Target="../comments/modernComment_116_AC0BC3C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18/10/relationships/comments" Target="../comments/modernComment_127_C5CEB3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18/10/relationships/comments" Target="../comments/modernComment_128_133062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18/10/relationships/comments" Target="../comments/modernComment_129_5631A1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microsoft.com/office/2018/10/relationships/comments" Target="../comments/modernComment_12A_7C6C6B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microsoft.com/office/2018/10/relationships/comments" Target="../comments/modernComment_12F_650905AD.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115_533C195E.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2_61484B9B.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8_47944A00.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9_5878859C.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23_9AC6C2B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37_CB7797F8.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microsoft.com/office/2018/10/relationships/comments" Target="../comments/modernComment_126_6FA9A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fontScale="90000"/>
          </a:bodyPr>
          <a:lstStyle/>
          <a:p>
            <a:endParaRPr lang="en-US" sz="1800" b="0" i="1" dirty="0">
              <a:effectLst/>
              <a:highlight>
                <a:srgbClr val="FFFFFF"/>
              </a:highlight>
            </a:endParaRPr>
          </a:p>
          <a:p>
            <a:r>
              <a:t>Strategic Business Transformation &amp; Investment Readiness Proposal</a:t>
            </a:r>
            <a:b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4168877"/>
            <a:ext cx="6657149" cy="309264"/>
          </a:xfrm>
        </p:spPr>
        <p:txBody>
          <a:bodyPr>
            <a:noAutofit/>
          </a:bodyPr>
          <a:lstStyle/>
          <a:p>
            <a:endParaRPr sz="1000" dirty="0"/>
          </a:p>
          <a:p>
            <a:r>
              <a:rPr sz="1000"/>
              <a:t>October 26, 2023</a:t>
            </a:r>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Strategic Partnership Proposal: Driving Growth and Market Leadership</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4815972" y="1290182"/>
            <a:ext cx="2750132" cy="830997"/>
          </a:xfrm>
          <a:prstGeom prst="rect">
            <a:avLst/>
          </a:prstGeom>
          <a:noFill/>
        </p:spPr>
        <p:txBody>
          <a:bodyPr wrap="square" rtlCol="0">
            <a:spAutoFit/>
          </a:bodyPr>
          <a:lstStyle/>
          <a:p>
            <a:endParaRPr lang="en-AE" sz="1200" dirty="0"/>
          </a:p>
          <a:p>
            <a:r>
              <a:rPr sz="1200"/>
              <a:t>[Client Company Logo Placeholder]</a:t>
            </a:r>
            <a:br/>
            <a:r>
              <a:rPr sz="1200"/>
              <a:t>Add the client’s logo here for branding personalization.</a:t>
            </a:r>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7C87B2F-DF80-D661-A17F-88481402E049}"/>
              </a:ext>
            </a:extLst>
          </p:cNvPr>
          <p:cNvSpPr>
            <a:spLocks noGrp="1" noRot="1" noMove="1" noResize="1" noEditPoints="1" noAdjustHandles="1" noChangeArrowheads="1" noChangeShapeType="1"/>
          </p:cNvSpPr>
          <p:nvPr>
            <p:ph type="sldNum" sz="quarter" idx="12"/>
          </p:nvPr>
        </p:nvSpPr>
        <p:spPr/>
        <p:txBody>
          <a:bodyPr/>
          <a:lstStyle/>
          <a:p>
            <a:endParaRPr lang="en-AE"/>
          </a:p>
          <a:p>
            <a:r>
              <a:t>Dear [Client Name/Team],</a:t>
            </a:r>
            <a:br/>
            <a:br/>
            <a:r>
              <a:t>Pnyx Hill is pleased to present this proposal outlining our strategic partnership to accelerate your business growth and enhance market positioning. We are committed to delivering tailored solutions that address your unique challenges and unlock significant value. This document details our proposed approach, scope of services, and expected deliverables, all designed to achieve your strategic objectives. We look forward to a successful collaboration.</a:t>
            </a:r>
            <a:br/>
            <a:br/>
            <a:r>
              <a:t>Sincerely,</a:t>
            </a:r>
            <a:br/>
            <a:r>
              <a:t>The Pnyx Hill Team</a:t>
            </a:r>
            <a:br/>
            <a:r>
              <a:t>Formal welcome letter personalized for the client and signed by leadership.</a:t>
            </a:r>
          </a:p>
        </p:txBody>
      </p:sp>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0" indent="0">
              <a:buNone/>
            </a:pPr>
            <a:br>
              <a:rPr sz="1200" dirty="0"/>
            </a:br>
            <a:r>
              <a:rPr lang="en-US" sz="1200" dirty="0">
                <a:solidFill/>
              </a:rPr>
              <a:t>(Write a concise, top-tier welcome note (no ChatGPT-style fluff), aligned with Big 4 tone, introducing our role in the engagement, our credentials, and expressing partnership-focused commitment. Do not use emojis, contractions, or overly casual tone. Structure it in paragraph format and keep space for sign off with CEO name and title.</a:t>
            </a:r>
          </a:p>
          <a:p>
            <a:r>
              <a:rPr lang="en-US" sz="1200" dirty="0">
                <a:solidFill/>
              </a:rPr>
              <a:t>The scope of the project is: [briefly list 1–2 lines on what the engagement is about].</a:t>
            </a:r>
          </a:p>
          <a:p>
            <a:endParaRPr sz="1200" dirty="0"/>
          </a:p>
        </p:txBody>
      </p:sp>
    </p:spTree>
    <p:extLst>
      <p:ext uri="{BB962C8B-B14F-4D97-AF65-F5344CB8AC3E}">
        <p14:creationId xmlns:p14="http://schemas.microsoft.com/office/powerpoint/2010/main" val="27685290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8EF223A-D3FC-4344-AC72-3C316D77D9A3}"/>
              </a:ext>
            </a:extLst>
          </p:cNvPr>
          <p:cNvSpPr>
            <a:spLocks noGrp="1" noRot="1" noMove="1" noResize="1" noEditPoints="1" noAdjustHandles="1" noChangeArrowheads="1" noChangeShapeType="1"/>
          </p:cNvSpPr>
          <p:nvPr>
            <p:ph type="sldNum" sz="quarter" idx="12"/>
          </p:nvPr>
        </p:nvSpPr>
        <p:spPr/>
        <p:txBody>
          <a:bodyPr/>
          <a:lstStyle/>
          <a:p>
            <a:endParaRPr lang="en-AE" dirty="0"/>
          </a:p>
          <a:p>
            <a:r>
              <a:t>This proposal outlines a comprehensive strategic engagement designed to optimize [Client's] operational efficiency, strengthen market competitiveness, and prepare for future investment. Our approach focuses on three key phases: Strategic Foundations, Operational Excellence, and Investment Readiness. We aim to deliver actionable insights, implement sustainable frameworks, and position [Client] for accelerated growth and long-term success, ensuring a robust foundation for market leadership.</a:t>
            </a:r>
            <a:br/>
            <a:r>
              <a:t>Summary of project scope, objectives, and the value we aim to deliver.</a:t>
            </a:r>
          </a:p>
        </p:txBody>
      </p:sp>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2631490"/>
          </a:xfrm>
          <a:prstGeom prst="rect">
            <a:avLst/>
          </a:prstGeom>
          <a:noFill/>
        </p:spPr>
        <p:txBody>
          <a:bodyPr wrap="square" lIns="0" tIns="0" rIns="0" bIns="45720" rtlCol="0">
            <a:spAutoFit/>
          </a:bodyPr>
          <a:lstStyle/>
          <a:p>
            <a:pPr>
              <a:buNone/>
            </a:pPr>
            <a:endParaRPr sz="1200" dirty="0"/>
          </a:p>
          <a:p>
            <a:r>
              <a:rPr lang="en-US" sz="1200" b="1" dirty="0">
                <a:solidFill/>
              </a:rPr>
              <a:t>[We’re preparing a strategy proposal for [Client Name] - they are [brief description of the business or project]. Please write a top-tier, consulting-style executive summary slide. Structure it exactly like the sample provided below:</a:t>
            </a:r>
            <a:br>
              <a:rPr lang="en-US" sz="1200" b="1" dirty="0"/>
            </a:br>
            <a:endParaRPr lang="en-US" sz="1200" dirty="0"/>
          </a:p>
          <a:p>
            <a:r>
              <a:rPr lang="en-US" sz="1200" dirty="0">
                <a:solidFill/>
              </a:rPr>
              <a:t>1. Start with a short paragraph explaining what the client is trying to achieve.</a:t>
            </a:r>
          </a:p>
          <a:p>
            <a:r>
              <a:rPr lang="en-US" sz="1200" dirty="0">
                <a:solidFill/>
              </a:rPr>
              <a:t>2. Follow it with a second paragraph summarizing how Pnyx Hill is positioned to help (credibility + relevance).</a:t>
            </a:r>
          </a:p>
          <a:p>
            <a:r>
              <a:rPr lang="en-US" sz="1200" dirty="0">
                <a:solidFill/>
              </a:rPr>
              <a:t>3. Introduce a line that explains the scope of this proposal and our approach.</a:t>
            </a:r>
          </a:p>
          <a:p>
            <a:r>
              <a:rPr lang="en-US" sz="1200" dirty="0">
                <a:solidFill/>
              </a:rPr>
              <a:t>4. Add a 'Value Proposition' section in bullet points – 4 – 5 points max.</a:t>
            </a:r>
          </a:p>
          <a:p>
            <a:r>
              <a:rPr lang="en-US" sz="1200" dirty="0">
                <a:solidFill/>
              </a:rPr>
              <a:t>5. Then include a 'Key Project Highlights' section – 4 – 5 strong deliverables.</a:t>
            </a:r>
          </a:p>
          <a:p>
            <a:r>
              <a:rPr lang="en-US" sz="1200" dirty="0">
                <a:solidFill/>
              </a:rPr>
              <a:t>6. Close with a 1-line statement of intent or partnership.</a:t>
            </a:r>
            <a:br>
              <a:rPr lang="en-US" sz="1200" dirty="0"/>
            </a:br>
            <a:br>
              <a:rPr lang="en-US" sz="1200" dirty="0"/>
            </a:br>
            <a:endParaRPr lang="en-US" sz="1200" dirty="0"/>
          </a:p>
          <a:p>
            <a:r>
              <a:rPr lang="en-US" sz="1200" dirty="0">
                <a:solidFill/>
              </a:rPr>
              <a:t>Note: Avoid chatty tone, marketing buzzwords, or anything overly casual. Use a senior consulting tone (think PwC / McKinsey / EY level).”</a:t>
            </a:r>
          </a:p>
          <a:p>
            <a:endParaRPr sz="1200" dirty="0"/>
          </a:p>
        </p:txBody>
      </p:sp>
    </p:spTree>
    <p:extLst>
      <p:ext uri="{BB962C8B-B14F-4D97-AF65-F5344CB8AC3E}">
        <p14:creationId xmlns:p14="http://schemas.microsoft.com/office/powerpoint/2010/main" val="23369929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6" name="Slide Number Placeholder 5">
            <a:extLst>
              <a:ext uri="{FF2B5EF4-FFF2-40B4-BE49-F238E27FC236}">
                <a16:creationId xmlns:a16="http://schemas.microsoft.com/office/drawing/2014/main" id="{B6156875-049A-B4D3-53F7-305BD0E7E387}"/>
              </a:ext>
            </a:extLst>
          </p:cNvPr>
          <p:cNvSpPr>
            <a:spLocks noGrp="1" noRot="1" noMove="1" noResize="1" noEditPoints="1" noAdjustHandles="1" noChangeArrowheads="1" noChangeShapeType="1"/>
          </p:cNvSpPr>
          <p:nvPr>
            <p:ph type="sldNum" sz="quarter" idx="12"/>
          </p:nvPr>
        </p:nvSpPr>
        <p:spPr/>
        <p:txBody>
          <a:bodyPr/>
          <a:lstStyle/>
          <a:p>
            <a:endParaRPr lang="en-AE"/>
          </a:p>
          <a:p>
            <a:r>
              <a:t>In today's dynamic business environment, organizations often seek clear strategic direction, operational optimization, and effective pathways for scaling or securing investment. Our understanding is that [Client] is poised to solidify its market position and capitalize on growth opportunities. This engagement will address critical areas, ensuring a robust foundation for sustainable expansion and enhanced value creation.</a:t>
            </a:r>
            <a:br/>
            <a:r>
              <a:t>Overview of client background, market ambition, and current position.</a:t>
            </a:r>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961488-95D6-B698-8721-89C4CBA1C5A0}"/>
              </a:ext>
            </a:extLst>
          </p:cNvPr>
          <p:cNvSpPr>
            <a:spLocks noGrp="1" noRot="1" noMove="1" noResize="1" noEditPoints="1" noAdjustHandles="1" noChangeArrowheads="1" noChangeShapeType="1"/>
          </p:cNvSpPr>
          <p:nvPr>
            <p:ph type="sldNum" sz="quarter" idx="12"/>
          </p:nvPr>
        </p:nvSpPr>
        <p:spPr/>
        <p:txBody>
          <a:bodyPr/>
          <a:lstStyle/>
          <a:p>
            <a:endParaRPr lang="en-AE"/>
          </a:p>
          <a:p>
            <a:r>
              <a:t>Pnyx Hill brings unparalleled expertise in strategic planning, operational optimization, and investment readiness. We offer:</a:t>
            </a:r>
            <a:br/>
            <a:br/>
            <a:r>
              <a:t>*   **Tailored Solutions**: Customized strategies aligning with your unique vision and goals.</a:t>
            </a:r>
            <a:br/>
            <a:r>
              <a:t>*   **Experienced Team**: Proven track record of delivering measurable results across industries.</a:t>
            </a:r>
            <a:br/>
            <a:r>
              <a:t>*   **Holistic Approach**: Addressing strategy, operations, and finance synergistically.</a:t>
            </a:r>
            <a:br/>
            <a:r>
              <a:t>*   **Sustainable Impact**: Building internal capabilities for lasting success and competitive advantage.</a:t>
            </a:r>
            <a:br/>
            <a:r>
              <a:t>Pnyx Hill’s differentiators and approach tailored to client goals.</a:t>
            </a:r>
          </a:p>
        </p:txBody>
      </p:sp>
    </p:spTree>
    <p:extLst>
      <p:ext uri="{BB962C8B-B14F-4D97-AF65-F5344CB8AC3E}">
        <p14:creationId xmlns:p14="http://schemas.microsoft.com/office/powerpoint/2010/main" val="174047160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7D5BDF-F6F0-C14D-C9F7-07646F16A25C}"/>
              </a:ext>
            </a:extLst>
          </p:cNvPr>
          <p:cNvSpPr>
            <a:spLocks noGrp="1" noRot="1" noMove="1" noResize="1" noEditPoints="1" noAdjustHandles="1" noChangeArrowheads="1" noChangeShapeType="1"/>
          </p:cNvSpPr>
          <p:nvPr>
            <p:ph type="sldNum" sz="quarter" idx="12"/>
          </p:nvPr>
        </p:nvSpPr>
        <p:spPr/>
        <p:txBody>
          <a:bodyPr/>
          <a:lstStyle/>
          <a:p>
            <a:endParaRPr lang="en-AE"/>
          </a:p>
          <a:p>
            <a:r>
              <a:t>Key highlights of this strategic engagement include:</a:t>
            </a:r>
            <a:br/>
            <a:br/>
            <a:r>
              <a:t>*   Defining a clear, actionable 3-5 year strategic roadmap.</a:t>
            </a:r>
            <a:br/>
            <a:r>
              <a:t>*   Optimizing core business processes for enhanced efficiency and scalability.</a:t>
            </a:r>
            <a:br/>
            <a:r>
              <a:t>*   Developing a compelling investment narrative and robust financial materials.</a:t>
            </a:r>
            <a:br/>
            <a:r>
              <a:t>*   Strengthening leadership alignment and organizational structure.</a:t>
            </a:r>
            <a:br/>
            <a:r>
              <a:t>*   Positioning [Client] for accelerated market leadership and successful future fundraising.</a:t>
            </a:r>
            <a:br/>
            <a:r>
              <a:t>Summary of main project components and milestones.</a:t>
            </a:r>
          </a:p>
        </p:txBody>
      </p:sp>
    </p:spTree>
    <p:extLst>
      <p:ext uri="{BB962C8B-B14F-4D97-AF65-F5344CB8AC3E}">
        <p14:creationId xmlns:p14="http://schemas.microsoft.com/office/powerpoint/2010/main" val="181692180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A9468-BC48-6B97-9AEA-37BEA1C7D98B}"/>
              </a:ext>
            </a:extLst>
          </p:cNvPr>
          <p:cNvSpPr>
            <a:spLocks noGrp="1" noRot="1" noMove="1" noResize="1" noEditPoints="1" noAdjustHandles="1" noChangeArrowheads="1" noChangeShapeType="1"/>
          </p:cNvSpPr>
          <p:nvPr>
            <p:ph type="sldNum" sz="quarter" idx="12"/>
          </p:nvPr>
        </p:nvSpPr>
        <p:spPr/>
        <p:txBody>
          <a:bodyPr/>
          <a:lstStyle/>
          <a:p>
            <a:endParaRPr lang="en-AE"/>
          </a:p>
          <a:p>
            <a:r>
              <a:t>Common strategic challenges we help clients overcome often include:</a:t>
            </a:r>
            <a:br/>
            <a:br/>
            <a:r>
              <a:t>*   Lack of clear strategic direction or defined market differentiation.</a:t>
            </a:r>
            <a:br/>
            <a:r>
              <a:t>*   Operational bottlenecks hindering scalability and growth.</a:t>
            </a:r>
            <a:br/>
            <a:r>
              <a:t>*   Difficulty articulating a strong value proposition to potential investors.</a:t>
            </a:r>
            <a:br/>
            <a:r>
              <a:t>*   Ineffective resource allocation and performance management frameworks.</a:t>
            </a:r>
            <a:br/>
            <a:r>
              <a:t>*   Navigating rapid market evolution and increasing competitive pressures effectively.</a:t>
            </a:r>
            <a:br/>
            <a:r>
              <a:t>Client’s key pain points, risks, and market entry hurdles.</a:t>
            </a:r>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B4D0D4-5EF5-1633-486D-6FE06F75ED70}"/>
              </a:ext>
            </a:extLst>
          </p:cNvPr>
          <p:cNvSpPr>
            <a:spLocks noGrp="1" noRot="1" noMove="1" noResize="1" noEditPoints="1" noAdjustHandles="1" noChangeArrowheads="1" noChangeShapeType="1"/>
          </p:cNvSpPr>
          <p:nvPr>
            <p:ph type="sldNum" sz="quarter" idx="12"/>
          </p:nvPr>
        </p:nvSpPr>
        <p:spPr/>
        <p:txBody>
          <a:bodyPr/>
          <a:lstStyle/>
          <a:p>
            <a:endParaRPr lang="en-AE"/>
          </a:p>
          <a:p>
            <a:r>
              <a:t>Pnyx Hill adopts a structured yet agile approach, emphasizing deep collaboration and data-driven insights. Our methodology involves:</a:t>
            </a:r>
            <a:br/>
            <a:br/>
            <a:r>
              <a:t>*   **Discovery &amp; Analysis**: Comprehensive assessment of current state, market dynamics, and opportunities.</a:t>
            </a:r>
            <a:br/>
            <a:r>
              <a:t>*   **Strategy Formulation**: Co-creating actionable plans and innovative solutions.</a:t>
            </a:r>
            <a:br/>
            <a:r>
              <a:t>*   **Execution Support**: Guiding implementation, change management, and capability building.</a:t>
            </a:r>
            <a:br/>
            <a:r>
              <a:t>*   **Performance Monitoring**: Ensuring objectives are met and value is realized for sustained growth.</a:t>
            </a:r>
            <a:br/>
            <a:r>
              <a:t>Our proposed methodology and phased delivery strategy.</a:t>
            </a:r>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8764CB-3FAB-DDE7-F4BD-5276B3C0B783}"/>
              </a:ext>
            </a:extLst>
          </p:cNvPr>
          <p:cNvSpPr>
            <a:spLocks noGrp="1" noRot="1" noMove="1" noResize="1" noEditPoints="1" noAdjustHandles="1" noChangeArrowheads="1" noChangeShapeType="1"/>
          </p:cNvSpPr>
          <p:nvPr>
            <p:ph type="sldNum" sz="quarter" idx="12"/>
          </p:nvPr>
        </p:nvSpPr>
        <p:spPr/>
        <p:txBody>
          <a:bodyPr/>
          <a:lstStyle/>
          <a:p>
            <a:endParaRPr lang="en-AE"/>
          </a:p>
          <a:p>
            <a:r>
              <a:t>**Phase 1: Strategic Foundations &amp; Diagnostic Assessment**</a:t>
            </a:r>
            <a:br/>
            <a:br/>
            <a:r>
              <a:t>*   **Objective**: Establish a clear understanding of [Client's] current state, market positioning, and overarching strategic objectives.</a:t>
            </a:r>
            <a:br/>
            <a:r>
              <a:t>*   **Key Activities**:</a:t>
            </a:r>
            <a:br/>
            <a:r>
              <a:t>    *   Comprehensive business review and stakeholder interviews.</a:t>
            </a:r>
            <a:br/>
            <a:r>
              <a:t>    *   In-depth market analysis and competitive benchmarking.</a:t>
            </a:r>
            <a:br/>
            <a:r>
              <a:t>    *   Refinement of Vision, Mission, and Core Values.</a:t>
            </a:r>
            <a:br/>
            <a:r>
              <a:t>    *   Identification of core strengths, weaknesses, opportunities, and threats (SWOT).</a:t>
            </a:r>
            <a:br/>
            <a:r>
              <a:t>Details of Phase 1 – Market research and strategic positioning.</a:t>
            </a:r>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DE84B8-9DF3-0FA1-93A5-C74847F7693C}"/>
              </a:ext>
            </a:extLst>
          </p:cNvPr>
          <p:cNvSpPr>
            <a:spLocks noGrp="1" noRot="1" noMove="1" noResize="1" noEditPoints="1" noAdjustHandles="1" noChangeArrowheads="1" noChangeShapeType="1"/>
          </p:cNvSpPr>
          <p:nvPr>
            <p:ph type="sldNum" sz="quarter" idx="12"/>
          </p:nvPr>
        </p:nvSpPr>
        <p:spPr/>
        <p:txBody>
          <a:bodyPr/>
          <a:lstStyle/>
          <a:p>
            <a:endParaRPr lang="en-AE"/>
          </a:p>
          <a:p>
            <a:r>
              <a:t>**Phase 2: Operational Excellence &amp; Growth Strategy Development**</a:t>
            </a:r>
            <a:br/>
            <a:br/>
            <a:r>
              <a:t>*   **Objective**: Design scalable operational frameworks and a robust, actionable growth strategy to drive efficiency and expansion.</a:t>
            </a:r>
            <a:br/>
            <a:r>
              <a:t>*   **Key Activities**:</a:t>
            </a:r>
            <a:br/>
            <a:r>
              <a:t>    *   Process mapping, identification of inefficiencies, and recommendations for optimization.</a:t>
            </a:r>
            <a:br/>
            <a:r>
              <a:t>    *   Organizational structure review, talent alignment, and role definition.</a:t>
            </a:r>
            <a:br/>
            <a:r>
              <a:t>    *   Development of detailed growth initiatives and implementation plans.</a:t>
            </a:r>
            <a:br/>
            <a:r>
              <a:t>    *   KPI definition and performance measurement framework design.</a:t>
            </a:r>
            <a:br/>
            <a:r>
              <a:t>Details of Phase 2 – Business strategy and GTM planning.</a:t>
            </a:r>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86E012-5544-1D8E-F347-278E6F99643A}"/>
              </a:ext>
            </a:extLst>
          </p:cNvPr>
          <p:cNvSpPr>
            <a:spLocks noGrp="1" noRot="1" noMove="1" noResize="1" noEditPoints="1" noAdjustHandles="1" noChangeArrowheads="1" noChangeShapeType="1"/>
          </p:cNvSpPr>
          <p:nvPr>
            <p:ph type="sldNum" sz="quarter" idx="12"/>
          </p:nvPr>
        </p:nvSpPr>
        <p:spPr/>
        <p:txBody>
          <a:bodyPr/>
          <a:lstStyle/>
          <a:p>
            <a:endParaRPr lang="en-AE"/>
          </a:p>
          <a:p>
            <a:r>
              <a:t>**Phase 3: Investment Readiness &amp; Future-Proofing**</a:t>
            </a:r>
            <a:br/>
            <a:br/>
            <a:r>
              <a:t>*   **Objective**: Prepare the company for potential external investment and ensure sustainable long-term growth and resilience.</a:t>
            </a:r>
            <a:br/>
            <a:r>
              <a:t>*   **Key Activities**:</a:t>
            </a:r>
            <a:br/>
            <a:r>
              <a:t>    *   Comprehensive financial model review and development of robust projections.</a:t>
            </a:r>
            <a:br/>
            <a:r>
              <a:t>    *   Preparation of investor-ready materials (e.g., pitch deck, executive summary).</a:t>
            </a:r>
            <a:br/>
            <a:r>
              <a:t>    *   Refinement of go-to-market strategy and market penetration plans.</a:t>
            </a:r>
            <a:br/>
            <a:r>
              <a:t>    *   Risk assessment and mitigation strategies for future challenges.</a:t>
            </a:r>
            <a:br/>
            <a:r>
              <a:t>Details of Phase 3 – Advisory support and execution enablement.</a:t>
            </a:r>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63ABD-6D5A-88C2-B2BC-599F77E1AC0D}"/>
              </a:ext>
            </a:extLst>
          </p:cNvPr>
          <p:cNvSpPr>
            <a:spLocks noGrp="1"/>
          </p:cNvSpPr>
          <p:nvPr>
            <p:ph type="title" idx="4294967295"/>
          </p:nvPr>
        </p:nvSpPr>
        <p:spPr>
          <a:xfrm>
            <a:off x="468923" y="3772703"/>
            <a:ext cx="11254154" cy="460923"/>
          </a:xfrm>
        </p:spPr>
        <p:txBody>
          <a:bodyPr>
            <a:noAutofit/>
          </a:bodyPr>
          <a:lstStyle/>
          <a:p>
            <a:pPr algn="ctr"/>
            <a:endParaRPr sz="1800" dirty="0">
              <a:solidFill>
                <a:schemeClr val="bg1"/>
              </a:solidFill>
            </a:endParaRPr>
          </a:p>
          <a:p>
            <a:pPr algn="ctr"/>
            <a:r>
              <a:rPr sz="1800"/>
              <a:t>Our core strategic advisory services include:</a:t>
            </a:r>
            <a:br/>
            <a:br/>
            <a:r>
              <a:rPr sz="1800"/>
              <a:t>*   Strategic Vision &amp; Roadmap Development</a:t>
            </a:r>
            <a:br/>
            <a:r>
              <a:rPr sz="1800"/>
              <a:t>*   Market Entry &amp; Growth Strategy</a:t>
            </a:r>
            <a:br/>
            <a:r>
              <a:rPr sz="1800"/>
              <a:t>*   Competitive Intelligence &amp; Analysis</a:t>
            </a:r>
            <a:br/>
            <a:r>
              <a:rPr sz="1800"/>
              <a:t>*   Business Model Innovation &amp; Refinement</a:t>
            </a:r>
            <a:br/>
            <a:r>
              <a:rPr sz="1800"/>
              <a:t>*   Organizational Design &amp; Alignment</a:t>
            </a:r>
            <a:br/>
            <a:r>
              <a:rPr sz="1800"/>
              <a:t>{{Core strategic advisory services included in scope}}</a:t>
            </a:r>
            <a:endParaRPr sz="1800" dirty="0">
              <a:solidFill>
                <a:schemeClr val="bg1"/>
              </a:solidFill>
            </a:endParaRPr>
          </a:p>
        </p:txBody>
      </p:sp>
      <p:sp>
        <p:nvSpPr>
          <p:cNvPr id="3" name="Slide Number Placeholder 2">
            <a:extLst>
              <a:ext uri="{FF2B5EF4-FFF2-40B4-BE49-F238E27FC236}">
                <a16:creationId xmlns:a16="http://schemas.microsoft.com/office/drawing/2014/main" id="{E41D6D49-DDE3-4475-AAF2-71334F274938}"/>
              </a:ext>
            </a:extLst>
          </p:cNvPr>
          <p:cNvSpPr>
            <a:spLocks noGrp="1" noRot="1" noMove="1" noResize="1" noEditPoints="1" noAdjustHandles="1" noChangeArrowheads="1" noChangeShapeType="1"/>
          </p:cNvSpPr>
          <p:nvPr>
            <p:ph type="sldNum" sz="quarter" idx="12"/>
          </p:nvPr>
        </p:nvSpPr>
        <p:spPr/>
        <p:txBody>
          <a:bodyPr/>
          <a:lstStyle/>
          <a:p>
            <a:endParaRPr lang="en-AE" dirty="0"/>
          </a:p>
          <a:p>
            <a:r>
              <a:t>Our core strategic advisory services include:</a:t>
            </a:r>
            <a:br/>
            <a:br/>
            <a:r>
              <a:t>*   Strategic Vision &amp; Roadmap Development</a:t>
            </a:r>
            <a:br/>
            <a:r>
              <a:t>*   Market Entry &amp; Growth Strategy</a:t>
            </a:r>
            <a:br/>
            <a:r>
              <a:t>*   Competitive Intelligence &amp; Analysis</a:t>
            </a:r>
            <a:br/>
            <a:r>
              <a:t>*   Business Model Innovation &amp; Refinement</a:t>
            </a:r>
            <a:br/>
            <a:r>
              <a:t>*   Organizational Design &amp; Alignment</a:t>
            </a:r>
            <a:br/>
            <a:r>
              <a:t>Core strategic advisory services included in scope.</a:t>
            </a:r>
          </a:p>
        </p:txBody>
      </p:sp>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A2B29A-4432-0D3E-44A7-E337C2CE6A10}"/>
              </a:ext>
            </a:extLst>
          </p:cNvPr>
          <p:cNvSpPr>
            <a:spLocks noGrp="1" noRot="1" noMove="1" noResize="1" noEditPoints="1" noAdjustHandles="1" noChangeArrowheads="1" noChangeShapeType="1"/>
          </p:cNvSpPr>
          <p:nvPr>
            <p:ph type="sldNum" sz="quarter" idx="12"/>
          </p:nvPr>
        </p:nvSpPr>
        <p:spPr/>
        <p:txBody>
          <a:bodyPr/>
          <a:lstStyle/>
          <a:p>
            <a:endParaRPr lang="en-AE"/>
          </a:p>
          <a:p>
            <a:r>
              <a:t>To enable sustainable growth and operational maturity, our structuring enablers include:</a:t>
            </a:r>
            <a:br/>
            <a:br/>
            <a:r>
              <a:t>*   Process Optimization &amp; Automation Advisory</a:t>
            </a:r>
            <a:br/>
            <a:r>
              <a:t>*   Performance Management Systems Design</a:t>
            </a:r>
            <a:br/>
            <a:r>
              <a:t>*   Change Management &amp; Implementation Support</a:t>
            </a:r>
            <a:br/>
            <a:r>
              <a:t>*   Leadership Coaching &amp; Team Development</a:t>
            </a:r>
            <a:br/>
            <a:r>
              <a:t>*   Technology &amp; Digital Transformation Strategy</a:t>
            </a:r>
            <a:br/>
            <a:r>
              <a:t>Support with governance, GTM planning, and structuring.</a:t>
            </a:r>
          </a:p>
        </p:txBody>
      </p:sp>
      <p:sp>
        <p:nvSpPr>
          <p:cNvPr id="13" name="TextBox 12">
            <a:extLst>
              <a:ext uri="{FF2B5EF4-FFF2-40B4-BE49-F238E27FC236}">
                <a16:creationId xmlns:a16="http://schemas.microsoft.com/office/drawing/2014/main" id="{80698996-B7A2-5266-3934-E56124E77061}"/>
              </a:ext>
            </a:extLst>
          </p:cNvPr>
          <p:cNvSpPr txBox="1"/>
          <p:nvPr/>
        </p:nvSpPr>
        <p:spPr>
          <a:xfrm>
            <a:off x="973394" y="1844506"/>
            <a:ext cx="6931742" cy="2492990"/>
          </a:xfrm>
          <a:prstGeom prst="rect">
            <a:avLst/>
          </a:prstGeom>
          <a:noFill/>
        </p:spPr>
        <p:txBody>
          <a:bodyPr wrap="square">
            <a:spAutoFit/>
          </a:bodyPr>
          <a:lstStyle/>
          <a:p>
            <a:pPr>
              <a:buNone/>
            </a:pPr>
            <a:r>
              <a:rPr lang="en-US" sz="1200" b="1" dirty="0">
                <a:solidFill/>
              </a:rPr>
              <a:t>We’re creating a slide titled ‘Our Understanding &amp; Point of View’ for a client proposal. The client is [Client Name], and they are [brief description of what they are trying to do]. Based on our role, create a slide in this three-column format:</a:t>
            </a:r>
            <a:br>
              <a:rPr lang="en-US" sz="1200" b="1" dirty="0"/>
            </a:br>
            <a:endParaRPr lang="en-US" sz="1200" dirty="0"/>
          </a:p>
          <a:p>
            <a:pPr>
              <a:buFont typeface="Arial" panose="020B0604020202020204" pitchFamily="34" charset="0"/>
              <a:buChar char="•"/>
            </a:pPr>
            <a:r>
              <a:rPr lang="en-US" sz="1200" b="1" dirty="0">
                <a:solidFill/>
              </a:rPr>
              <a:t>Column 1: Current Situation</a:t>
            </a:r>
            <a:r>
              <a:rPr lang="en-US" sz="1200" dirty="0"/>
              <a:t> – what the client needs, what their priorities are, and where they need support</a:t>
            </a:r>
          </a:p>
          <a:p>
            <a:pPr>
              <a:buFont typeface="Arial" panose="020B0604020202020204" pitchFamily="34" charset="0"/>
              <a:buChar char="•"/>
            </a:pPr>
            <a:r>
              <a:rPr lang="en-US" sz="1200" b="1" dirty="0">
                <a:solidFill/>
              </a:rPr>
              <a:t>Column 2: Key Challenges</a:t>
            </a:r>
            <a:r>
              <a:rPr lang="en-US" sz="1200" dirty="0"/>
              <a:t> – 4–5 strategic and operational challenges or risks they’re facing</a:t>
            </a:r>
          </a:p>
          <a:p>
            <a:pPr>
              <a:buFont typeface="Arial" panose="020B0604020202020204" pitchFamily="34" charset="0"/>
              <a:buChar char="•"/>
            </a:pPr>
            <a:r>
              <a:rPr lang="en-US" sz="1200" b="1" dirty="0">
                <a:solidFill/>
              </a:rPr>
              <a:t>Column 3: Outcomes Required</a:t>
            </a:r>
            <a:r>
              <a:rPr lang="en-US" sz="1200" dirty="0"/>
              <a:t> – define 4–5 measurable or strategic results that must be achieved for success</a:t>
            </a:r>
            <a:br>
              <a:rPr lang="en-US" sz="1200" dirty="0"/>
            </a:br>
            <a:br>
              <a:rPr lang="en-US" sz="1200" dirty="0"/>
            </a:br>
            <a:endParaRPr lang="en-US" sz="1200" dirty="0"/>
          </a:p>
          <a:p>
            <a:pPr>
              <a:buNone/>
            </a:pPr>
            <a:r>
              <a:rPr lang="en-US" sz="1200" dirty="0">
                <a:solidFill/>
              </a:rPr>
              <a:t>The tone must be precise, senior-consultant level, no marketing fluff or </a:t>
            </a:r>
            <a:r>
              <a:rPr lang="en-US" sz="1200" dirty="0" err="1"/>
              <a:t>chatgpt</a:t>
            </a:r>
            <a:r>
              <a:rPr lang="en-US" sz="1200" dirty="0"/>
              <a:t>-sounding language. Match the format used in the </a:t>
            </a:r>
            <a:r>
              <a:rPr lang="en-US" sz="1200" dirty="0">
                <a:highlight>
                  <a:srgbClr val="FFFF00"/>
                </a:highlight>
              </a:rPr>
              <a:t>Hyke proposal example</a:t>
            </a:r>
            <a:r>
              <a:rPr lang="en-US" sz="1200" b="1" dirty="0">
                <a:solidFill>
                  <a:schemeClr val="bg1"/>
                </a:solidFill>
                <a:highlight>
                  <a:srgbClr val="FF0000"/>
                </a:highlight>
              </a:rPr>
              <a:t>.(can we feed the old proposal sample?)</a:t>
            </a:r>
            <a:r>
              <a:rPr lang="en-US" sz="1200" b="1" dirty="0">
                <a:solidFill>
                  <a:schemeClr val="bg1"/>
                </a:solidFill>
                <a:highlight>
                  <a:srgbClr val="FFFF00"/>
                </a:highlight>
              </a:rPr>
              <a:t>”</a:t>
            </a:r>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dirty="0">
                <a:solidFill/>
              </a:rPr>
              <a:t>{{</a:t>
            </a:r>
            <a:r>
              <a:rPr lang="en-US" dirty="0"/>
              <a:t>SCOPE_OUR PROPOSED APPROACH </a:t>
            </a:r>
            <a:r>
              <a:rPr dirty="0"/>
              <a:t>}}</a:t>
            </a:r>
          </a:p>
        </p:txBody>
      </p:sp>
      <p:sp>
        <p:nvSpPr>
          <p:cNvPr id="10" name="TextBox 9">
            <a:extLst>
              <a:ext uri="{FF2B5EF4-FFF2-40B4-BE49-F238E27FC236}">
                <a16:creationId xmlns:a16="http://schemas.microsoft.com/office/drawing/2014/main" id="{FEF43109-D1B4-7C50-7776-0FFB5C5664F9}"/>
              </a:ext>
            </a:extLst>
          </p:cNvPr>
          <p:cNvSpPr txBox="1"/>
          <p:nvPr/>
        </p:nvSpPr>
        <p:spPr>
          <a:xfrm>
            <a:off x="839788" y="1339283"/>
            <a:ext cx="6706529" cy="3970318"/>
          </a:xfrm>
          <a:prstGeom prst="rect">
            <a:avLst/>
          </a:prstGeom>
          <a:noFill/>
        </p:spPr>
        <p:txBody>
          <a:bodyPr wrap="square" rtlCol="0">
            <a:spAutoFit/>
          </a:bodyPr>
          <a:lstStyle/>
          <a:p>
            <a:br>
              <a:rPr lang="en-US" sz="1400" dirty="0"/>
            </a:br>
            <a:br>
              <a:rPr lang="en-US" sz="1400" dirty="0"/>
            </a:br>
            <a:r>
              <a:rPr lang="en-US" sz="1400" b="1" dirty="0">
                <a:solidFill/>
              </a:rPr>
              <a:t>“Create a three-phase delivery approach slide for a proposal. The client is [Client Name], and we are supporting them with [brief engagement goal]. Structure the content into:</a:t>
            </a:r>
            <a:br>
              <a:rPr lang="en-US" sz="1400" b="1" dirty="0"/>
            </a:br>
            <a:endParaRPr lang="en-US" sz="1400" dirty="0"/>
          </a:p>
          <a:p>
            <a:r>
              <a:rPr lang="en-US" sz="1400" b="1" dirty="0">
                <a:solidFill/>
              </a:rPr>
              <a:t>Phase 1:</a:t>
            </a:r>
            <a:r>
              <a:rPr lang="en-US" sz="1400" dirty="0"/>
              <a:t> [Insight gathering / structuring / setup]</a:t>
            </a:r>
            <a:br>
              <a:rPr lang="en-US" sz="1400" dirty="0"/>
            </a:br>
            <a:endParaRPr lang="en-US" sz="1400" dirty="0"/>
          </a:p>
          <a:p>
            <a:r>
              <a:rPr lang="en-US" sz="1400" b="1" dirty="0">
                <a:solidFill/>
              </a:rPr>
              <a:t>Phase 2:</a:t>
            </a:r>
            <a:r>
              <a:rPr lang="en-US" sz="1400" dirty="0"/>
              <a:t> [Design / development / mapping]</a:t>
            </a:r>
            <a:br>
              <a:rPr lang="en-US" sz="1400" dirty="0"/>
            </a:br>
            <a:endParaRPr lang="en-US" sz="1400" dirty="0"/>
          </a:p>
          <a:p>
            <a:r>
              <a:rPr lang="en-US" sz="1400" b="1" dirty="0">
                <a:solidFill/>
              </a:rPr>
              <a:t>Phase 3:</a:t>
            </a:r>
            <a:r>
              <a:rPr lang="en-US" sz="1400" dirty="0"/>
              <a:t> [Execution / enablement / delivery]</a:t>
            </a:r>
            <a:br>
              <a:rPr lang="en-US" sz="1400" dirty="0"/>
            </a:br>
            <a:br>
              <a:rPr lang="en-US" sz="1400" dirty="0"/>
            </a:br>
            <a:endParaRPr lang="en-US" sz="1400" dirty="0"/>
          </a:p>
          <a:p>
            <a:r>
              <a:rPr lang="en-US" sz="1400" dirty="0">
                <a:solidFill/>
              </a:rPr>
              <a:t>Each phase should have 3–4 crisp bullet points (no fluff), highlighting the specific outcomes or deliverables at each stage. Keep the tone precise, consulting-grade, and suitable for a high-stakes project. Style it exactly like a McKinsey / PwC slide (sample proposal style).”</a:t>
            </a:r>
          </a:p>
          <a:p>
            <a:endParaRPr sz="1400"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AC730E-E441-31F4-69F3-05FCB50A7532}"/>
              </a:ext>
            </a:extLst>
          </p:cNvPr>
          <p:cNvSpPr>
            <a:spLocks noGrp="1"/>
          </p:cNvSpPr>
          <p:nvPr>
            <p:ph type="sldNum" sz="quarter" idx="12"/>
          </p:nvPr>
        </p:nvSpPr>
        <p:spPr/>
        <p:txBody>
          <a:bodyPr/>
          <a:lstStyle/>
          <a:p>
            <a:endParaRPr lang="en-AE"/>
          </a:p>
          <a:p>
            <a:r>
              <a:t>Key deliverables for Business Strategy include:</a:t>
            </a:r>
            <a:br/>
            <a:br/>
            <a:r>
              <a:t>*   Comprehensive Strategic Roadmap (3-5 years)</a:t>
            </a:r>
            <a:br/>
            <a:r>
              <a:t>*   Detailed Market Analysis &amp; Competitive Report</a:t>
            </a:r>
            <a:br/>
            <a:r>
              <a:t>*   Optimized Business Model Framework</a:t>
            </a:r>
            <a:br/>
            <a:r>
              <a:t>*   Organizational Design &amp; Roles/Responsibilities Recommendations</a:t>
            </a:r>
            <a:br/>
            <a:r>
              <a:t>*   Key Performance Indicator (KPI) Dashboard Structure</a:t>
            </a:r>
            <a:br/>
            <a:r>
              <a:t>Tailored market entry and business growth strategy.</a:t>
            </a:r>
          </a:p>
        </p:txBody>
      </p:sp>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sz="2200"/>
              <a:t>Our comprehensive scope of services covers:</a:t>
            </a:r>
            <a:br/>
            <a:br/>
            <a:r>
              <a:rPr sz="2200"/>
              <a:t>*   Strategic Advisory &amp; Planning</a:t>
            </a:r>
            <a:br/>
            <a:r>
              <a:rPr sz="2200"/>
              <a:t>*   Operational Efficiency &amp; Process Improvement</a:t>
            </a:r>
            <a:br/>
            <a:r>
              <a:rPr sz="2200"/>
              <a:t>*   Organizational Development &amp; Talent Strategy</a:t>
            </a:r>
            <a:br/>
            <a:r>
              <a:rPr sz="2200"/>
              <a:t>*   Financial Modeling &amp; Investment Readiness</a:t>
            </a:r>
            <a:br/>
            <a:r>
              <a:rPr sz="2200"/>
              <a:t>*   Post-Engagement Support &amp; Performance Monitoring</a:t>
            </a:r>
            <a:br/>
            <a:r>
              <a:rPr sz="2200"/>
              <a:t>High-level categorization of all services tailored to the client's requirement.</a:t>
            </a:r>
            <a:endParaRPr sz="1800" dirty="0"/>
          </a:p>
        </p:txBody>
      </p:sp>
      <p:sp>
        <p:nvSpPr>
          <p:cNvPr id="21" name="TextBox 20">
            <a:extLst>
              <a:ext uri="{FF2B5EF4-FFF2-40B4-BE49-F238E27FC236}">
                <a16:creationId xmlns:a16="http://schemas.microsoft.com/office/drawing/2014/main" id="{1E7AF97B-4EC4-6FE9-10B1-6076B826D696}"/>
              </a:ext>
            </a:extLst>
          </p:cNvPr>
          <p:cNvSpPr txBox="1"/>
          <p:nvPr/>
        </p:nvSpPr>
        <p:spPr>
          <a:xfrm>
            <a:off x="839788" y="1528349"/>
            <a:ext cx="10506636" cy="1384995"/>
          </a:xfrm>
          <a:prstGeom prst="rect">
            <a:avLst/>
          </a:prstGeom>
          <a:noFill/>
        </p:spPr>
        <p:txBody>
          <a:bodyPr wrap="square">
            <a:spAutoFit/>
          </a:bodyPr>
          <a:lstStyle/>
          <a:p>
            <a:pPr>
              <a:buNone/>
            </a:pPr>
            <a:r>
              <a:rPr lang="en-US" sz="1400" b="1" dirty="0">
                <a:solidFill/>
              </a:rPr>
              <a:t>Create a 'Scope of Services' slide summarizing the categories of support Pnyx Hill will provide to [client/project name]. Group services under three themes: Strategic Support, Structuring &amp; Enablers, and Ongoing.</a:t>
            </a:r>
            <a:br>
              <a:rPr lang="en-US" sz="1400" b="1" dirty="0"/>
            </a:br>
            <a:endParaRPr lang="en-US" sz="1400" dirty="0"/>
          </a:p>
          <a:p>
            <a:pPr>
              <a:buNone/>
            </a:pPr>
            <a:r>
              <a:rPr lang="en-US" sz="1400" dirty="0">
                <a:solidFill/>
              </a:rPr>
              <a:t>Each group should include 2–4 crisp, high-impact bullet points. Each point should start with a bolded service name followed by a concise explanation. No chatty tone or filler. Keep the style formal, boardroom-ready, and use consulting-grade phrasing like a McKinsey or PwC deck</a:t>
            </a:r>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a:t>**Strategic Planning Deliverables:**</a:t>
            </a:r>
            <a:br/>
            <a:br/>
            <a:r>
              <a:rPr sz="2200"/>
              <a:t>*   Refined Vision, Mission, and Values Statements</a:t>
            </a:r>
            <a:br/>
            <a:r>
              <a:rPr sz="2200"/>
              <a:t>*   SWOT Analysis Report with Strategic Implications</a:t>
            </a:r>
            <a:br/>
            <a:r>
              <a:rPr sz="2200"/>
              <a:t>*   Competitive Landscape Assessment &amp; Positioning</a:t>
            </a:r>
            <a:br/>
            <a:r>
              <a:rPr sz="2200"/>
              <a:t>*   Defined Strategic Objectives &amp; Key Initiatives</a:t>
            </a:r>
            <a:br/>
            <a:r>
              <a:rPr sz="2200"/>
              <a:t>*   Resource Allocation Framework &amp; Priorities</a:t>
            </a:r>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B88652E6-0670-FBDC-7DF8-AFFEE402D820}"/>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1 and 2).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DA2A3-BD79-51A4-BAA2-2322EE39C204}"/>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1695DCFC-2DF6-1538-C61C-D2E4B2F91C1D}"/>
              </a:ext>
            </a:extLst>
          </p:cNvPr>
          <p:cNvSpPr>
            <a:spLocks noGrp="1"/>
          </p:cNvSpPr>
          <p:nvPr>
            <p:ph type="title"/>
          </p:nvPr>
        </p:nvSpPr>
        <p:spPr>
          <a:xfrm>
            <a:off x="839787" y="88506"/>
            <a:ext cx="7390693" cy="823912"/>
          </a:xfrm>
        </p:spPr>
        <p:txBody>
          <a:bodyPr>
            <a:noAutofit/>
          </a:bodyPr>
          <a:lstStyle/>
          <a:p>
            <a:endParaRPr lang="en-AE" sz="2200" dirty="0"/>
          </a:p>
          <a:p>
            <a:r>
              <a:rPr sz="2200"/>
              <a:t>**Operational Excellence Deliverables:**</a:t>
            </a:r>
            <a:br/>
            <a:br/>
            <a:r>
              <a:rPr sz="2200"/>
              <a:t>*   Current State Process Maps &amp; Bottleneck Analysis</a:t>
            </a:r>
            <a:br/>
            <a:r>
              <a:rPr sz="2200"/>
              <a:t>*   Future State Process Redesign Recommendations</a:t>
            </a:r>
            <a:br/>
            <a:r>
              <a:rPr sz="2200"/>
              <a:t>*   Detailed Implementation Plan for Process Improvements</a:t>
            </a:r>
            <a:br/>
            <a:r>
              <a:rPr sz="2200"/>
              <a:t>*   Technology Integration Strategy for Efficiency</a:t>
            </a:r>
            <a:br/>
            <a:r>
              <a:rPr sz="2200"/>
              <a:t>*   Performance Measurement Dashboards &amp; Reporting Framework</a:t>
            </a:r>
            <a:br/>
            <a:endParaRPr sz="1800" dirty="0"/>
          </a:p>
        </p:txBody>
      </p:sp>
      <p:pic>
        <p:nvPicPr>
          <p:cNvPr id="34" name="Picture 33">
            <a:extLst>
              <a:ext uri="{FF2B5EF4-FFF2-40B4-BE49-F238E27FC236}">
                <a16:creationId xmlns:a16="http://schemas.microsoft.com/office/drawing/2014/main" id="{7535E34A-68FF-97B5-D79F-349202F73178}"/>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21FB6E0-C4B3-B138-B23B-9B2F70A9C250}"/>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34F225F8-E944-4231-5D3D-757B105F515A}"/>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F7252258-AA58-D2B8-826E-D7D780ABD5D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C5302D14-106A-54F8-80D8-D9F3C05EDA98}"/>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0A5B4434-353E-7AED-5D10-68F1906F043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89D178A4-C9A3-8B09-ED4C-58873DB67F72}"/>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D40E9095-F815-DF8B-FBB4-28701EF8E989}"/>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3 and 4).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200900608"/>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AF50-7D88-A882-3529-39921165C5F8}"/>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4631481A-FA77-4108-A67E-EAFF358FF3BC}"/>
              </a:ext>
            </a:extLst>
          </p:cNvPr>
          <p:cNvSpPr>
            <a:spLocks noGrp="1"/>
          </p:cNvSpPr>
          <p:nvPr>
            <p:ph type="title"/>
          </p:nvPr>
        </p:nvSpPr>
        <p:spPr>
          <a:xfrm>
            <a:off x="839787" y="88506"/>
            <a:ext cx="7390693" cy="823912"/>
          </a:xfrm>
        </p:spPr>
        <p:txBody>
          <a:bodyPr>
            <a:noAutofit/>
          </a:bodyPr>
          <a:lstStyle/>
          <a:p>
            <a:endParaRPr lang="en-AE" sz="2200" dirty="0"/>
          </a:p>
          <a:p>
            <a:r>
              <a:rPr sz="2200"/>
              <a:t>**Organizational &amp; Financial Deliverables:**</a:t>
            </a:r>
            <a:br/>
            <a:br/>
            <a:r>
              <a:rPr sz="2200"/>
              <a:t>*   Optimized Organizational Chart &amp; Structure</a:t>
            </a:r>
            <a:br/>
            <a:r>
              <a:rPr sz="2200"/>
              <a:t>*   Clear Roles &amp; Responsibilities Matrix</a:t>
            </a:r>
            <a:br/>
            <a:r>
              <a:rPr sz="2200"/>
              <a:t>*   Talent Development &amp; Retention Plan</a:t>
            </a:r>
            <a:br/>
            <a:r>
              <a:rPr sz="2200"/>
              <a:t>*   Comprehensive Financial Projections Model</a:t>
            </a:r>
            <a:br/>
            <a:r>
              <a:rPr sz="2200"/>
              <a:t>*   Preliminary Valuation Assessment Summary</a:t>
            </a:r>
            <a:br/>
            <a:endParaRPr sz="1800" dirty="0"/>
          </a:p>
        </p:txBody>
      </p:sp>
      <p:pic>
        <p:nvPicPr>
          <p:cNvPr id="34" name="Picture 33">
            <a:extLst>
              <a:ext uri="{FF2B5EF4-FFF2-40B4-BE49-F238E27FC236}">
                <a16:creationId xmlns:a16="http://schemas.microsoft.com/office/drawing/2014/main" id="{ED3E5BC5-72CB-D624-A307-A2BFBDCE3304}"/>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E4035ED-669B-7034-961C-AAB281F22C82}"/>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B706AE43-6392-0EC5-6544-77B94BFB88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0D6A53E1-EC36-CD8B-6A7C-62973BB3F477}"/>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0402916-9DE5-540A-D7E3-C548A7BC96E1}"/>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783D7E35-9BEC-D256-B65E-E6162FB208F8}"/>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4FE054A3-14EB-52F5-BAC5-87F0AEB3370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3A1A0D1E-1875-9897-6636-21C193AF1416}"/>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5 and 6).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484293532"/>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801C6B-5D80-8825-00C9-842D9B85733C}"/>
              </a:ext>
            </a:extLst>
          </p:cNvPr>
          <p:cNvSpPr>
            <a:spLocks noGrp="1"/>
          </p:cNvSpPr>
          <p:nvPr>
            <p:ph type="sldNum" sz="quarter" idx="12"/>
          </p:nvPr>
        </p:nvSpPr>
        <p:spPr/>
        <p:txBody>
          <a:bodyPr/>
          <a:lstStyle/>
          <a:p>
            <a:endParaRPr lang="en-AE"/>
          </a:p>
          <a:p>
            <a:r>
              <a:t>Key deliverables for Investment Readiness include:</a:t>
            </a:r>
            <a:br/>
            <a:br/>
            <a:r>
              <a:t>*   Investor-Ready Pitch Deck (Comprehensive)</a:t>
            </a:r>
            <a:br/>
            <a:r>
              <a:t>*   Executive Summary/Teaser Document</a:t>
            </a:r>
            <a:br/>
            <a:r>
              <a:t>*   Detailed Financial Model with Sensitivity Analysis</a:t>
            </a:r>
            <a:br/>
            <a:r>
              <a:t>*   Data Room Content Structure &amp; Checklist</a:t>
            </a:r>
            <a:br/>
            <a:r>
              <a:t>*   Investor Engagement Strategy Blueprint &amp; Target List</a:t>
            </a:r>
            <a:br/>
            <a:r>
              <a:t>Optional: fundraising, pitch, model, and data room.</a:t>
            </a:r>
          </a:p>
        </p:txBody>
      </p:sp>
    </p:spTree>
    <p:extLst>
      <p:ext uri="{BB962C8B-B14F-4D97-AF65-F5344CB8AC3E}">
        <p14:creationId xmlns:p14="http://schemas.microsoft.com/office/powerpoint/2010/main" val="1822323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5350F6-D4A3-B73A-1C09-B415E6F26B81}"/>
              </a:ext>
            </a:extLst>
          </p:cNvPr>
          <p:cNvSpPr>
            <a:spLocks noGrp="1"/>
          </p:cNvSpPr>
          <p:nvPr>
            <p:ph type="title"/>
          </p:nvPr>
        </p:nvSpPr>
        <p:spPr>
          <a:xfrm>
            <a:off x="200690" y="109487"/>
            <a:ext cx="8009245" cy="502722"/>
          </a:xfrm>
        </p:spPr>
        <p:txBody>
          <a:bodyPr>
            <a:normAutofit fontScale="90000"/>
          </a:bodyPr>
          <a:lstStyle/>
          <a:p>
            <a:endParaRPr lang="en-AE" dirty="0"/>
          </a:p>
          <a:p>
            <a:r>
              <a:t>We offer additional support post-engagement for sustained impact:</a:t>
            </a:r>
            <a:br/>
            <a:br/>
            <a:r>
              <a:t>*   Ad-hoc strategic consultations and guidance.</a:t>
            </a:r>
            <a:br/>
            <a:r>
              <a:t>*   Interim management support referrals from our network.</a:t>
            </a:r>
            <a:br/>
            <a:r>
              <a:t>*   Access to our network of industry experts and potential investors.</a:t>
            </a:r>
            <a:br/>
            <a:r>
              <a:t>*   Quarterly progress reviews to track performance and adjust strategies.</a:t>
            </a:r>
            <a:br/>
            <a:r>
              <a:t> </a:t>
            </a:r>
            <a:br/>
            <a:r>
              <a:t>“Create a slide titled ‘Additional Support’ that outlines optional, ongoing strategic and operational advisory services offered after the core engagement is complete.</a:t>
            </a:r>
            <a:br/>
            <a:br/>
            <a:r>
              <a:t>Structure the slide as follows:</a:t>
            </a:r>
            <a:br/>
            <a:br/>
            <a:r>
              <a:t>1. Begin with a short intro paragraph explaining that these services are post-project, offered on a flexible, as-needed basis, and intended to ensure momentum and agility.</a:t>
            </a:r>
            <a:br/>
            <a:r>
              <a:t>2. Then list 6–7 bullet points, each describing a specific type of ongoing support.</a:t>
            </a:r>
            <a:br/>
            <a:r>
              <a:t>     2.1 Each bullet should start with a bolded service label (e.g., Strategic Execution Support), followed </a:t>
            </a:r>
            <a:br/>
            <a:r>
              <a:t>             by a clear 1–2 line explanation.</a:t>
            </a:r>
            <a:br/>
            <a:r>
              <a:t>     2.2 Feel free to use subtle, relevant emojis to match the tone of executive-level but visually clean       </a:t>
            </a:r>
            <a:br/>
            <a:r>
              <a:t>             proposals.</a:t>
            </a:r>
            <a:br/>
            <a:br/>
            <a:r>
              <a:t>Include a final line at the bottom reaffirming that this is not a formal retainer, but a high-touch, agile model for clients that value ongoing support.</a:t>
            </a:r>
            <a:br/>
            <a:br/>
            <a:r>
              <a:t>Tone: PwC or McKinsey-level - precise, consultative, and clearly scoped. No vague or fluffy language</a:t>
            </a:r>
            <a:br/>
            <a:endParaRPr sz="2000" dirty="0"/>
          </a:p>
        </p:txBody>
      </p:sp>
      <p:sp>
        <p:nvSpPr>
          <p:cNvPr id="4" name="Content Placeholder 3">
            <a:extLst>
              <a:ext uri="{FF2B5EF4-FFF2-40B4-BE49-F238E27FC236}">
                <a16:creationId xmlns:a16="http://schemas.microsoft.com/office/drawing/2014/main" id="{D13F72B9-87D4-9D7E-1C5A-830115144984}"/>
              </a:ext>
            </a:extLst>
          </p:cNvPr>
          <p:cNvSpPr>
            <a:spLocks noGrp="1"/>
          </p:cNvSpPr>
          <p:nvPr>
            <p:ph sz="quarter" idx="13"/>
          </p:nvPr>
        </p:nvSpPr>
        <p:spPr>
          <a:xfrm>
            <a:off x="8446754" y="1042091"/>
            <a:ext cx="2668910" cy="4773818"/>
          </a:xfrm>
        </p:spPr>
        <p:txBody>
          <a:bodyPr>
            <a:noAutofit/>
          </a:bodyPr>
          <a:lstStyle/>
          <a:p>
            <a:pPr marL="0" indent="0">
              <a:lnSpc>
                <a:spcPct val="110000"/>
              </a:lnSpc>
              <a:spcBef>
                <a:spcPts val="300"/>
              </a:spcBef>
              <a:spcAft>
                <a:spcPts val="300"/>
              </a:spcAft>
              <a:buNone/>
            </a:pPr>
            <a:endParaRPr lang="en-GB" sz="1050" dirty="0"/>
          </a:p>
          <a:p>
            <a:r>
              <a:rPr lang="en-US" dirty="0">
                <a:solidFill/>
              </a:rPr>
              <a:t>“Add a ‘Continued Support’ panel on the right explaining </a:t>
            </a:r>
            <a:r>
              <a:rPr lang="en-US" b="1" dirty="0"/>
              <a:t>why</a:t>
            </a:r>
            <a:r>
              <a:rPr lang="en-US" dirty="0"/>
              <a:t> this ongoing support matters. Use 3–4 bullet points to show the benefits of having Pnyx Hill remain involved post-engagement - such as faster decision-making, compliance assurance, strategic adaptability, etc.”</a:t>
            </a:r>
            <a:endParaRPr b="1" dirty="0"/>
          </a:p>
        </p:txBody>
      </p:sp>
      <p:sp>
        <p:nvSpPr>
          <p:cNvPr id="5" name="Slide Number Placeholder 4">
            <a:extLst>
              <a:ext uri="{FF2B5EF4-FFF2-40B4-BE49-F238E27FC236}">
                <a16:creationId xmlns:a16="http://schemas.microsoft.com/office/drawing/2014/main" id="{6B375B5A-BEDE-762C-CC22-914158BF03A0}"/>
              </a:ext>
            </a:extLst>
          </p:cNvPr>
          <p:cNvSpPr>
            <a:spLocks noGrp="1" noRot="1" noMove="1" noResize="1" noEditPoints="1" noAdjustHandles="1" noChangeArrowheads="1" noChangeShapeType="1"/>
          </p:cNvSpPr>
          <p:nvPr>
            <p:ph type="sldNum" sz="quarter" idx="12"/>
          </p:nvPr>
        </p:nvSpPr>
        <p:spPr/>
        <p:txBody>
          <a:bodyPr/>
          <a:lstStyle/>
          <a:p>
            <a:endParaRPr lang="en-AE"/>
          </a:p>
          <a:p>
            <a:r>
              <a:rPr>
                <a:solidFill/>
              </a:rPr>
              <a:t>{{CONTINUOUS_SUPPORT}}</a:t>
            </a:r>
            <a:br/>
            <a:r>
              <a:t>Strategic input, meeting prep, and operational agility support.</a:t>
            </a:r>
          </a:p>
        </p:txBody>
      </p:sp>
    </p:spTree>
    <p:extLst>
      <p:ext uri="{BB962C8B-B14F-4D97-AF65-F5344CB8AC3E}">
        <p14:creationId xmlns:p14="http://schemas.microsoft.com/office/powerpoint/2010/main" val="2596717233"/>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5" name="Slide Number Placeholder 4">
            <a:extLst>
              <a:ext uri="{FF2B5EF4-FFF2-40B4-BE49-F238E27FC236}">
                <a16:creationId xmlns:a16="http://schemas.microsoft.com/office/drawing/2014/main" id="{BEA8B6C2-4306-939F-8A04-A302AF87C90A}"/>
              </a:ext>
            </a:extLst>
          </p:cNvPr>
          <p:cNvSpPr>
            <a:spLocks noGrp="1" noRot="1" noMove="1" noResize="1" noEditPoints="1" noAdjustHandles="1" noChangeArrowheads="1" noChangeShapeType="1"/>
          </p:cNvSpPr>
          <p:nvPr>
            <p:ph type="sldNum" sz="quarter" idx="12"/>
          </p:nvPr>
        </p:nvSpPr>
        <p:spPr/>
        <p:txBody>
          <a:bodyPr/>
          <a:lstStyle/>
          <a:p>
            <a:fld id="{FEBB2247-6CF9-174D-B1BD-16046E6DC6C6}" type="slidenum">
              <a:rPr lang="en-AE" smtClean="0"/>
              <a:pPr/>
              <a:t>22</a:t>
            </a:fld>
            <a:endParaRPr lang="en-AE"/>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55330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pic>
        <p:nvPicPr>
          <p:cNvPr id="2" name="Picture 1" descr="A person with long black hair wearing a white suit&#10;&#10;AI-generated content may be incorrect.">
            <a:extLst>
              <a:ext uri="{FF2B5EF4-FFF2-40B4-BE49-F238E27FC236}">
                <a16:creationId xmlns:a16="http://schemas.microsoft.com/office/drawing/2014/main" id="{BDCD1A7A-EA25-0E11-8D65-06B0E975D9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413" y="3951887"/>
            <a:ext cx="1577763" cy="1577763"/>
          </a:xfrm>
          <a:prstGeom prst="ellipse">
            <a:avLst/>
          </a:prstGeom>
          <a:noFill/>
          <a:ln w="28575">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13612536"/>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262BF2-59AF-D0FD-90D8-D2416546406F}"/>
              </a:ext>
            </a:extLst>
          </p:cNvPr>
          <p:cNvSpPr>
            <a:spLocks noGrp="1" noRot="1" noMove="1" noResize="1" noEditPoints="1" noAdjustHandles="1" noChangeArrowheads="1" noChangeShapeType="1"/>
          </p:cNvSpPr>
          <p:nvPr>
            <p:ph type="sldNum" sz="quarter" idx="12"/>
          </p:nvPr>
        </p:nvSpPr>
        <p:spPr/>
        <p:txBody>
          <a:bodyPr/>
          <a:lstStyle/>
          <a:p>
            <a:endParaRPr lang="en-AE"/>
          </a:p>
          <a:p>
            <a:r>
              <a:t>Our engagement fees are structured to provide exceptional value, aligning with the scope and duration of services proposed. A detailed breakdown of costs, payment schedule, and terms and conditions will be provided in a separate addendum to this proposal. We are committed to transparency and flexibility to ensure a mutually beneficial and successful partnership.</a:t>
            </a:r>
            <a:br/>
            <a:r>
              <a:t>Pricing terms, payment milestones, and invoicing notes.</a:t>
            </a:r>
          </a:p>
        </p:txBody>
      </p:sp>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10712</TotalTime>
  <Words>1990</Words>
  <Application>Microsoft Office PowerPoint</Application>
  <PresentationFormat>Widescreen</PresentationFormat>
  <Paragraphs>139</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ExtraBold</vt:lpstr>
      <vt:lpstr>Aptos Light</vt:lpstr>
      <vt:lpstr>Aptos SemiBold</vt:lpstr>
      <vt:lpstr>Arial</vt:lpstr>
      <vt:lpstr>YACkoA9eHeY 0</vt:lpstr>
      <vt:lpstr>Office Theme</vt:lpstr>
      <vt:lpstr> {{Cover Title for the proposal stating the work, we will be doing for client}}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{{SCOPE_STRATEGIC_SUPPORT}} {{Core strategic advisory services included in scope}}</vt:lpstr>
      <vt:lpstr>PowerPoint Presentation</vt:lpstr>
      <vt:lpstr> {{SCOPE_OUR PROPOSED APPROACH }}</vt:lpstr>
      <vt:lpstr>PowerPoint Presentation</vt:lpstr>
      <vt:lpstr>{{SCOPE_SCOPE OF SERVICES}} High-level categorization of all services tailored to the client's requirement.</vt:lpstr>
      <vt:lpstr> {{SERVICES DELIVERABLES}} </vt:lpstr>
      <vt:lpstr> {{SERVICES DELIVERABLES}} </vt:lpstr>
      <vt:lpstr> {{SERVICES DELIVERABLES}} </vt:lpstr>
      <vt:lpstr>PowerPoint Presentation</vt:lpstr>
      <vt:lpstr> {{SCOPE_ADDITIONAL_SUPPORT}}   “Create a slide titled ‘Additional Support’ that outlines optional, ongoing strategic and operational advisory services offered after the core engagement is complete.  Structure the slide as follows:  1. Begin with a short intro paragraph explaining that these services are post-project, offered on a flexible, as-needed basis, and intended to ensure momentum and agility. 2. Then list 6–7 bullet points, each describing a specific type of ongoing support.      2.1 Each bullet should start with a bolded service label (e.g., Strategic Execution Support), followed               by a clear 1–2 line explanation.      2.2 Feel free to use subtle, relevant emojis to match the tone of executive-level but visually clean                     proposals.  Include a final line at the bottom reaffirming that this is not a formal retainer, but a high-touch, agile model for clients that value ongoing support.  Tone: PwC or McKinsey-level - precise, consultative, and clearly scoped. No vague or fluffy language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29</cp:revision>
  <dcterms:created xsi:type="dcterms:W3CDTF">2025-03-19T09:34:50Z</dcterms:created>
  <dcterms:modified xsi:type="dcterms:W3CDTF">2025-09-23T13:04:45Z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