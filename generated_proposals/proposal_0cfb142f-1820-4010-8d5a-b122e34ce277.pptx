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&amp; Market Leadership Proposal for Hyke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&amp; Market Leadership Proposal for Hyke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[Hyke Logo Placeholder]</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Hyke Leadership Team,</a:t>
            </a:r>
            <a:br/>
            <a:br/>
            <a:r>
              <a:t>Pnyx Hill is delighted to present this comprehensive proposal outlining our strategic partnership to accelerate Hyke's growth and cement its position as a market leader in the evolving mobility landscape. We have closely followed Hyke's journey and recognize the immense potential within your innovative platform. Our team is excited by the opportunity to collaborate, bringing our deep industry expertise and proven methodologies to address your most pressing strategic imperatives.</a:t>
            </a:r>
            <a:br/>
            <a:br/>
            <a:r>
              <a:t>This proposal reflects our thorough understanding of your ambitious vision and the dynamic market in which you operate. We are confident that Pnyx Hill's tailored approach, focused on data-driven insights and sustainable value creation, will empower Hyke to navigate challenges, capitalize on opportunities, and achieve its long-term objectives. We look forward to embarking on this transformative journey with you.</a:t>
            </a:r>
            <a:br/>
            <a:br/>
            <a:r>
              <a:t>Sincerely,</a:t>
            </a:r>
            <a:br/>
            <a:r>
              <a:t>[Your Name]</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 Hyke stands at a pivotal juncture in the rapidly evolving global mobility sector, poised for significant expansion and market leadership. The ambition is to strategically scale operations, enhance user value, and achieve sustainable profitability amidst intense competition and dynamic regulatory shifts.</a:t>
            </a:r>
            <a:br/>
            <a:br/>
            <a:r>
              <a:t>2. **Our Value Proposition**:</a:t>
            </a:r>
            <a:br/>
            <a:r>
              <a:t>•  Deep expertise in global mobility markets, offering actionable insights into trends and competitive dynamics.</a:t>
            </a:r>
            <a:br/>
            <a:r>
              <a:t>•  Proven methodology for developing and implementing growth strategies, from market entry to operational excellence.</a:t>
            </a:r>
            <a:br/>
            <a:r>
              <a:t>•  Focus on data-driven decision-making to optimize customer acquisition, retention, and platform efficiency.</a:t>
            </a:r>
            <a:br/>
            <a:r>
              <a:t>•  Commitment to building internal capabilities, ensuring long-term success and agility.</a:t>
            </a:r>
            <a:br/>
            <a:br/>
            <a:r>
              <a:t>3. **Key Project Highlights**:</a:t>
            </a:r>
            <a:br/>
            <a:r>
              <a:t>•  Market Expansion &amp; Entry Strategy Development</a:t>
            </a:r>
            <a:br/>
            <a:r>
              <a:t>•  Customer Acquisition &amp; Retention Optimization</a:t>
            </a:r>
            <a:br/>
            <a:r>
              <a:t>•  Driver Supply &amp; Engagement Model Enhancement</a:t>
            </a:r>
            <a:br/>
            <a:r>
              <a:t>•  Dynamic Pricing &amp; Revenue Management</a:t>
            </a:r>
            <a:br/>
            <a:r>
              <a:t>•  Digital Platform &amp; Technology Roadmap</a:t>
            </a:r>
            <a:br/>
            <a:r>
              <a:t>•  Regulatory Compliance &amp; Risk Mitigation</a:t>
            </a:r>
            <a:br/>
            <a:r>
              <a:t>•  Sustainability &amp; ESG Integration</a:t>
            </a:r>
            <a:br/>
            <a:r>
              <a:t>•  Organizational Design &amp; Capability Building</a:t>
            </a:r>
            <a:br/>
            <a:br/>
            <a:r>
              <a:t>4. **Strategic Outlook**: Pnyx Hill is committed to partnering with Hyke to unlock new avenues for growth, build resilient operational capabilities, and establish a clear path towards sustained market leadership and value creation.</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global mobility sector is characterized by hyper-competition, rapid technological advancement, and shifting consumer preferences. Hyke operates within an environment marked by:</a:t>
            </a:r>
            <a:br/>
            <a:r>
              <a:t>•  Intense rivalry from established ride-hailing giants and emerging micro-mobility players.</a:t>
            </a:r>
            <a:br/>
            <a:r>
              <a:t>•  Increasing pressure on unit economics due to driver supply-demand imbalances and rising operational costs.</a:t>
            </a:r>
            <a:br/>
            <a:r>
              <a:t>•  A fragmented and evolving regulatory landscape across different geographies, requiring nuanced compliance strategies.</a:t>
            </a:r>
            <a:br/>
            <a:r>
              <a:t>•  The imperative to innovate continuously, particularly in areas like electrification, autonomous vehicles, and integrated multimodal transport solutions.</a:t>
            </a:r>
            <a:br/>
            <a:r>
              <a:t>•  Growing investor and customer demand for sustainable and ethically responsible business practices.</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1.  Intense Market Competition: Sustaining competitive differentiation and market share against well-funded incumbents.</a:t>
            </a:r>
            <a:endParaRPr dirty="0"/>
          </a:p>
          <a:p>
            <a:pPr/>
            <a:r>
              <a:t>2.  Driver Supply &amp; Retention: Attracting, engaging, and retaining a high-quality driver base efficiently.</a:t>
            </a:r>
          </a:p>
          <a:p>
            <a:pPr/>
            <a:r>
              <a:t>3.  Regulatory Complexity: Navigating diverse and often restrictive local and national regulations.</a:t>
            </a:r>
          </a:p>
          <a:p>
            <a:pPr/>
            <a:r>
              <a:t>4.  Scalable Tech Infrastructure: Ensuring the platform can support rapid growth, new features, and high demand.</a:t>
            </a:r>
          </a:p>
          <a:p>
            <a:pPr/>
            <a:r>
              <a:t>5.  Path to Profitability: Balancing aggressive growth ambitions with the need for sustainable unit economics.</a:t>
            </a:r>
          </a:p>
          <a:p>
            <a:pPr/>
            <a:r>
              <a:t>6.  Innovation &amp; Differentiation: Continuously delivering new value propositions to customers and drivers.</a:t>
            </a:r>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Achieve double-digit market share growth in key target regions within 24 months.</a:t>
            </a:r>
            <a:endParaRPr dirty="0"/>
          </a:p>
          <a:p>
            <a:pPr/>
            <a:r>
              <a:t>Enhance driver retention rates by 15% through optimized incentive and support programs.</a:t>
            </a:r>
          </a:p>
          <a:p>
            <a:pPr/>
            <a:r>
              <a:t>Establish a scalable and adaptable regulatory compliance framework for new market entries.</a:t>
            </a:r>
          </a:p>
          <a:p>
            <a:pPr/>
            <a:r>
              <a:t>Improve platform efficiency and user experience to drive a 20% increase in active users.</a:t>
            </a:r>
          </a:p>
          <a:p>
            <a:pPr/>
            <a:r>
              <a:t>Develop a clear roadmap for achieving long-term profitability and shareholder value.</a:t>
            </a:r>
          </a:p>
          <a:p>
            <a:pPr/>
            <a:r>
              <a:t>Integrate sustainable practices into core operations and brand messaging.</a:t>
            </a:r>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Strategic Foundation &amp; Diagnostic</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Implementation &amp; Optimization</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Pnyx Hill’s approach is structured, phased, and deeply collaborative, designed to deliver actionable strategies grounded in robust analytics and practical implementation. Our methodology ensures that solutions are not only innovative but also sustainable and aligned with Hyke’s unique organizational capabilities.</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pPr/>
            <a:r>
              <a:t>Comprehensive Market Scan &amp; Competitive Benchmarking: Deep dive into current market dynamics, competitor strategies, and emerging trends.</a:t>
            </a:r>
            <a:endParaRPr lang="en-AE" sz="1200" i="1" dirty="0"/>
          </a:p>
          <a:p>
            <a:pPr/>
            <a:r>
              <a:t>Internal Capability Assessment: Evaluating Hyke's operational, technological, and organizational strengths and gaps.</a:t>
            </a:r>
          </a:p>
          <a:p>
            <a:pPr/>
            <a:r>
              <a:t>Stakeholder Alignment &amp; Opportunity Identification: Engaging key leadership to define strategic priorities and identify immediate opportunities for impact.</a:t>
            </a:r>
          </a:p>
          <a:p>
            <a:pPr/>
            <a:r>
              <a:t>Diagnostic Insights &amp; Problem Framing: Synthesizing findings to clearly articulate key challenges and growth levers.</a:t>
            </a:r>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pPr/>
            <a:r>
              <a:t>Growth Strategy Co-creation: Workshops to develop explicit market expansion, service diversification, and customer engagement strategies.</a:t>
            </a:r>
            <a:endParaRPr lang="en-AE" sz="1200" i="1" dirty="0"/>
          </a:p>
          <a:p>
            <a:pPr/>
            <a:r>
              <a:t>Solution Design &amp; Blueprinting: Detailed design of proposed operational models, technology enhancements, and organizational structures.</a:t>
            </a:r>
          </a:p>
          <a:p>
            <a:pPr/>
            <a:r>
              <a:t>Financial Modeling &amp; Business Case Development: Quantifying the impact of strategic initiatives and defining investment requirements.</a:t>
            </a:r>
          </a:p>
          <a:p>
            <a:pPr/>
            <a:r>
              <a:t>Risk Assessment &amp; Mitigation Planning: Identifying potential roadblocks and developing proactive strategies to overcome them.</a:t>
            </a:r>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pPr/>
            <a:r>
              <a:t>Pilot Program Management: Overseeing initial rollouts and testing of new strategies or features in selected markets.</a:t>
            </a:r>
            <a:endParaRPr lang="en-AE" sz="1200" i="1" dirty="0"/>
          </a:p>
          <a:p>
            <a:pPr/>
            <a:r>
              <a:t>Performance Monitoring &amp; KPI Tracking: Establishing and tracking key performance indicators to measure progress and impact.</a:t>
            </a:r>
          </a:p>
          <a:p>
            <a:pPr/>
            <a:r>
              <a:t>Operationalization Support: Assisting with the integration of new processes, tools, and organizational changes.</a:t>
            </a:r>
          </a:p>
          <a:p>
            <a:pPr/>
            <a:r>
              <a:t>Continuous Improvement &amp; Scale-up: Iterating based on real-world feedback and preparing for broader market deployment.</a:t>
            </a:r>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Market Expansion Strategy: Identifying and evaluating new geographical markets, defining entry strategies, and assessing potential competitive landscapes.</a:t>
            </a:r>
            <a:endParaRPr dirty="0"/>
          </a:p>
          <a:p>
            <a:pPr/>
            <a:r>
              <a:t>Growth &amp; Diversification Roadmapping: Crafting comprehensive strategies for sustained growth, including new service offerings, partnerships, and business model innovations.</a:t>
            </a:r>
          </a:p>
          <a:p>
            <a:pPr/>
            <a:r>
              <a:t>Competitive Intelligence &amp; Positioning: Providing deep analysis of competitor moves, market dynamics, and recommending differentiated positioning strategies.</a:t>
            </a:r>
          </a:p>
          <a:p>
            <a:pPr/>
            <a:r>
              <a:t>M&amp;A Advisory &amp; Strategic Partnerships: Identifying potential acquisition targets or strategic partners to accelerate growth and market access.</a:t>
            </a:r>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Operational Model Optimization: Redesigning core operational processes for enhanced efficiency, scalability, and cost-effectiveness.</a:t>
            </a:r>
            <a:endParaRPr dirty="0"/>
          </a:p>
          <a:p>
            <a:pPr/>
            <a:r>
              <a:t>Digital Platform &amp; Technology Strategy: Advising on platform architecture, feature prioritization, and technology stack enhancements to support future growth.</a:t>
            </a:r>
          </a:p>
          <a:p>
            <a:pPr/>
            <a:r>
              <a:t>Organizational Design &amp; Capability Building: Developing optimal organizational structures, defining roles and responsibilities, and establishing talent development programs.</a:t>
            </a:r>
          </a:p>
          <a:p>
            <a:pPr/>
            <a:r>
              <a:t>Data &amp; Analytics Strategy: Designing frameworks for data collection, analysis, and insights generation to drive informed decision-making across the business.</a:t>
            </a:r>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Executive Advisory &amp; Coaching: Providing ongoing strategic guidance, market insights, and thought partnership to the leadership team.</a:t>
            </a:r>
            <a:endParaRPr dirty="0"/>
          </a:p>
          <a:p>
            <a:pPr/>
            <a:r>
              <a:t>Performance Monitoring &amp; Review: Establishing robust performance tracking mechanisms and conducting periodic reviews to ensure strategy execution is on track.</a:t>
            </a:r>
          </a:p>
          <a:p>
            <a:pPr/>
            <a:r>
              <a:t>Market Intelligence Updates: Delivering regular updates on emerging industry trends, technological advancements, and shifts in the competitive landscape.</a:t>
            </a:r>
          </a:p>
          <a:p>
            <a:pPr/>
            <a:r>
              <a:t>Ad-hoc Strategic Engagements: Offering flexible support to address unforeseen challenges or capitalize on new opportunities as they arise.</a:t>
            </a:r>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Global Market Entry &amp; Expansion Blueprint</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Customer &amp; Driver Engagement Strategy</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pPr/>
            <a:r>
              <a:t>Comprehensive market sizing and attractiveness reports for expansion territories.</a:t>
            </a:r>
            <a:endParaRPr lang="en-AE" sz="1200" i="1" dirty="0"/>
          </a:p>
          <a:p>
            <a:pPr/>
            <a:r>
              <a:t>Go-to-market playbooks, including regulatory considerations and localized strategies.</a:t>
            </a:r>
          </a:p>
          <a:p>
            <a:pPr/>
            <a:r>
              <a:t>Competitive landscape analysis for each target market with strategic recommendations.</a:t>
            </a:r>
          </a:p>
          <a:p>
            <a:pPr/>
            <a:r>
              <a:t>Financial models projecting investment, revenue, and profitability for market entry scenarios.</a:t>
            </a:r>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pPr/>
            <a:r>
              <a:t>Detailed customer segmentation analysis with actionable insights for targeted marketing.</a:t>
            </a:r>
            <a:endParaRPr lang="en-AE" sz="1200" i="1" dirty="0"/>
          </a:p>
          <a:p>
            <a:pPr/>
            <a:r>
              <a:t>Enhanced driver value proposition framework and retention program designs.</a:t>
            </a:r>
          </a:p>
          <a:p>
            <a:pPr/>
            <a:r>
              <a:t>Personalized communication strategies for riders and drivers across lifecycle stages.</a:t>
            </a:r>
          </a:p>
          <a:p>
            <a:pPr/>
            <a:r>
              <a:t>Customer experience (CX) journey maps with identified pain points and improvement recommendations.</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Regulatory Compliance &amp; Risk Mitigation</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Digital Product &amp; Innovation Roadmap</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pPr/>
            <a:r>
              <a:t>Current platform architecture assessment with recommendations for scalability and resilience.</a:t>
            </a:r>
            <a:endParaRPr lang="en-US" sz="1200" i="1" dirty="0"/>
          </a:p>
          <a:p>
            <a:pPr/>
            <a:r>
              <a:t>Prioritized roadmap for new feature development (e.g., subscription models, multimodal options).</a:t>
            </a:r>
          </a:p>
          <a:p>
            <a:pPr/>
            <a:r>
              <a:t>Strategy for leveraging AI/ML for dynamic pricing, fraud detection, and demand forecasting.</a:t>
            </a:r>
          </a:p>
          <a:p>
            <a:pPr/>
            <a:r>
              <a:t>Blueprint for integrating sustainable technologies (e.g., EV fleet management) and services.</a:t>
            </a:r>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pPr/>
            <a:r>
              <a:t>Comprehensive report on key regulatory challenges and opportunities across target markets.</a:t>
            </a:r>
            <a:endParaRPr lang="en-AE" sz="1200" i="1" dirty="0"/>
          </a:p>
          <a:p>
            <a:pPr/>
            <a:r>
              <a:t>Framework for proactive engagement with local authorities and policy makers.</a:t>
            </a:r>
          </a:p>
          <a:p>
            <a:pPr/>
            <a:r>
              <a:t>Guidelines for data privacy and security compliance (e.g., GDPR, CCPA).</a:t>
            </a:r>
          </a:p>
          <a:p>
            <a:pPr/>
            <a:r>
              <a:t>Risk assessment matrix for legal, operational, and reputational exposures.</a:t>
            </a:r>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