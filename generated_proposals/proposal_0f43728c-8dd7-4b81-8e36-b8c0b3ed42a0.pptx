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comments/modernComment_11A_A187FA2C.xml" ContentType="application/vnd.ms-powerpoint.comments+xml"/>
  <Override PartName="/ppt/comments/modernComment_134_844B3DA2.xml" ContentType="application/vnd.ms-powerpoint.comments+xml"/>
  <Override PartName="/ppt/comments/modernComment_135_C4FCC28.xml" ContentType="application/vnd.ms-powerpoint.comments+xml"/>
  <Override PartName="/ppt/media/image29.svg" ContentType="image/svg+xml"/>
  <Override PartName="/ppt/media/image31.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5"/>
  </p:notesMasterIdLst>
  <p:sldIdLst>
    <p:sldId id="261" r:id="rId5"/>
    <p:sldId id="273" r:id="rId6"/>
    <p:sldId id="305" r:id="rId7"/>
    <p:sldId id="271" r:id="rId8"/>
    <p:sldId id="268" r:id="rId9"/>
    <p:sldId id="275" r:id="rId10"/>
    <p:sldId id="278" r:id="rId11"/>
    <p:sldId id="295" r:id="rId12"/>
    <p:sldId id="296" r:id="rId13"/>
    <p:sldId id="297" r:id="rId14"/>
    <p:sldId id="298" r:id="rId15"/>
    <p:sldId id="303" r:id="rId16"/>
    <p:sldId id="277" r:id="rId17"/>
    <p:sldId id="282" r:id="rId18"/>
    <p:sldId id="304" r:id="rId19"/>
    <p:sldId id="306" r:id="rId20"/>
    <p:sldId id="308" r:id="rId21"/>
    <p:sldId id="309" r:id="rId22"/>
    <p:sldId id="312" r:id="rId23"/>
    <p:sldId id="294" r:id="rId24"/>
  </p:sldIdLst>
  <p:sldSz cx="12192000" cy="6858000"/>
  <p:notesSz cx="6858000" cy="9144000"/>
  <p:defaultTextStyle>
    <a:defPPr>
      <a:defRPr lang="en-A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E16A83C-777C-0DF7-390D-AA7C1A28FF00}" name="Pallavi Khajuria" initials="PK" userId="S::pallavi.khajuria@pnyxhill.co::a9b717a9-a6a4-430c-9673-0d3d9754a83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B2339"/>
    <a:srgbClr val="ECE6DF"/>
    <a:srgbClr val="7D4E1D"/>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B05A0C8-346C-4198-AF97-7528E23831A4}" v="26" dt="2025-11-10T12:01:22.10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532" autoAdjust="0"/>
    <p:restoredTop sz="94596"/>
  </p:normalViewPr>
  <p:slideViewPr>
    <p:cSldViewPr snapToGrid="0">
      <p:cViewPr varScale="1">
        <p:scale>
          <a:sx n="80" d="100"/>
          <a:sy n="80" d="100"/>
        </p:scale>
        <p:origin x="850"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30" Type="http://schemas.microsoft.com/office/2016/11/relationships/changesInfo" Target="changesInfos/changesInfo1.xml"/><Relationship Id="rId31" Type="http://schemas.microsoft.com/office/2015/10/relationships/revisionInfo" Target="revisionInfo.xml"/><Relationship Id="rId32"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llavi Khajuria" userId="a9b717a9-a6a4-430c-9673-0d3d9754a838" providerId="ADAL" clId="{251A7961-4882-4F9E-81E1-00826DDD5DBC}"/>
    <pc:docChg chg="undo redo custSel addSld delSld modSld">
      <pc:chgData name="Pallavi Khajuria" userId="a9b717a9-a6a4-430c-9673-0d3d9754a838" providerId="ADAL" clId="{251A7961-4882-4F9E-81E1-00826DDD5DBC}" dt="2025-11-10T12:01:22.105" v="441"/>
      <pc:docMkLst>
        <pc:docMk/>
      </pc:docMkLst>
      <pc:sldChg chg="modSp mod">
        <pc:chgData name="Pallavi Khajuria" userId="a9b717a9-a6a4-430c-9673-0d3d9754a838" providerId="ADAL" clId="{251A7961-4882-4F9E-81E1-00826DDD5DBC}" dt="2025-11-10T11:11:11.684" v="64" actId="20577"/>
        <pc:sldMkLst>
          <pc:docMk/>
          <pc:sldMk cId="1773422724" sldId="261"/>
        </pc:sldMkLst>
        <pc:spChg chg="mod">
          <ac:chgData name="Pallavi Khajuria" userId="a9b717a9-a6a4-430c-9673-0d3d9754a838" providerId="ADAL" clId="{251A7961-4882-4F9E-81E1-00826DDD5DBC}" dt="2025-11-10T11:11:11.684" v="64" actId="20577"/>
          <ac:spMkLst>
            <pc:docMk/>
            <pc:sldMk cId="1773422724" sldId="261"/>
            <ac:spMk id="2" creationId="{6C7BAEFF-18C6-2C57-F6D8-DA60A617955B}"/>
          </ac:spMkLst>
        </pc:spChg>
        <pc:spChg chg="mod">
          <ac:chgData name="Pallavi Khajuria" userId="a9b717a9-a6a4-430c-9673-0d3d9754a838" providerId="ADAL" clId="{251A7961-4882-4F9E-81E1-00826DDD5DBC}" dt="2025-11-10T11:09:54.509" v="59" actId="1076"/>
          <ac:spMkLst>
            <pc:docMk/>
            <pc:sldMk cId="1773422724" sldId="261"/>
            <ac:spMk id="3" creationId="{15512898-28DC-4FA8-3D8D-BE9CA956A398}"/>
          </ac:spMkLst>
        </pc:spChg>
        <pc:spChg chg="mod">
          <ac:chgData name="Pallavi Khajuria" userId="a9b717a9-a6a4-430c-9673-0d3d9754a838" providerId="ADAL" clId="{251A7961-4882-4F9E-81E1-00826DDD5DBC}" dt="2025-11-10T11:05:39.608" v="29" actId="1076"/>
          <ac:spMkLst>
            <pc:docMk/>
            <pc:sldMk cId="1773422724" sldId="261"/>
            <ac:spMk id="4" creationId="{54D84B09-EA48-A07A-61BE-CC46E8F2A0C4}"/>
          </ac:spMkLst>
        </pc:spChg>
      </pc:sldChg>
      <pc:sldChg chg="addSp delSp modSp mod">
        <pc:chgData name="Pallavi Khajuria" userId="a9b717a9-a6a4-430c-9673-0d3d9754a838" providerId="ADAL" clId="{251A7961-4882-4F9E-81E1-00826DDD5DBC}" dt="2025-11-10T12:00:48.665" v="428"/>
        <pc:sldMkLst>
          <pc:docMk/>
          <pc:sldMk cId="1740471602" sldId="268"/>
        </pc:sldMkLst>
        <pc:spChg chg="add mod">
          <ac:chgData name="Pallavi Khajuria" userId="a9b717a9-a6a4-430c-9673-0d3d9754a838" providerId="ADAL" clId="{251A7961-4882-4F9E-81E1-00826DDD5DBC}" dt="2025-11-10T12:00:48.665" v="428"/>
          <ac:spMkLst>
            <pc:docMk/>
            <pc:sldMk cId="1740471602" sldId="268"/>
            <ac:spMk id="2" creationId="{0304D152-BA33-F0F1-48FF-801A9B032E6B}"/>
          </ac:spMkLst>
        </pc:spChg>
        <pc:spChg chg="del mod">
          <ac:chgData name="Pallavi Khajuria" userId="a9b717a9-a6a4-430c-9673-0d3d9754a838" providerId="ADAL" clId="{251A7961-4882-4F9E-81E1-00826DDD5DBC}" dt="2025-11-10T11:19:10.821" v="71" actId="478"/>
          <ac:spMkLst>
            <pc:docMk/>
            <pc:sldMk cId="1740471602" sldId="268"/>
            <ac:spMk id="3" creationId="{11961488-95D6-B698-8721-89C4CBA1C5A0}"/>
          </ac:spMkLst>
        </pc:spChg>
      </pc:sldChg>
      <pc:sldChg chg="addSp delSp modSp mod">
        <pc:chgData name="Pallavi Khajuria" userId="a9b717a9-a6a4-430c-9673-0d3d9754a838" providerId="ADAL" clId="{251A7961-4882-4F9E-81E1-00826DDD5DBC}" dt="2025-11-10T12:00:46.636" v="427"/>
        <pc:sldMkLst>
          <pc:docMk/>
          <pc:sldMk cId="3854924663" sldId="271"/>
        </pc:sldMkLst>
        <pc:spChg chg="add mod">
          <ac:chgData name="Pallavi Khajuria" userId="a9b717a9-a6a4-430c-9673-0d3d9754a838" providerId="ADAL" clId="{251A7961-4882-4F9E-81E1-00826DDD5DBC}" dt="2025-11-10T12:00:46.636" v="427"/>
          <ac:spMkLst>
            <pc:docMk/>
            <pc:sldMk cId="3854924663" sldId="271"/>
            <ac:spMk id="2" creationId="{70F94601-D300-9A60-36F3-043D3C2A1970}"/>
          </ac:spMkLst>
        </pc:spChg>
        <pc:spChg chg="del mod">
          <ac:chgData name="Pallavi Khajuria" userId="a9b717a9-a6a4-430c-9673-0d3d9754a838" providerId="ADAL" clId="{251A7961-4882-4F9E-81E1-00826DDD5DBC}" dt="2025-11-10T11:19:15.453" v="72" actId="478"/>
          <ac:spMkLst>
            <pc:docMk/>
            <pc:sldMk cId="3854924663" sldId="271"/>
            <ac:spMk id="6" creationId="{B6156875-049A-B4D3-53F7-305BD0E7E387}"/>
          </ac:spMkLst>
        </pc:spChg>
      </pc:sldChg>
      <pc:sldChg chg="addSp delSp modSp mod">
        <pc:chgData name="Pallavi Khajuria" userId="a9b717a9-a6a4-430c-9673-0d3d9754a838" providerId="ADAL" clId="{251A7961-4882-4F9E-81E1-00826DDD5DBC}" dt="2025-11-10T12:00:41.607" v="425"/>
        <pc:sldMkLst>
          <pc:docMk/>
          <pc:sldMk cId="276852904" sldId="273"/>
        </pc:sldMkLst>
        <pc:spChg chg="add mod">
          <ac:chgData name="Pallavi Khajuria" userId="a9b717a9-a6a4-430c-9673-0d3d9754a838" providerId="ADAL" clId="{251A7961-4882-4F9E-81E1-00826DDD5DBC}" dt="2025-11-10T12:00:41.607" v="425"/>
          <ac:spMkLst>
            <pc:docMk/>
            <pc:sldMk cId="276852904" sldId="273"/>
            <ac:spMk id="2" creationId="{1180B436-073C-1FE1-74B5-603168612A49}"/>
          </ac:spMkLst>
        </pc:spChg>
        <pc:spChg chg="add del mod">
          <ac:chgData name="Pallavi Khajuria" userId="a9b717a9-a6a4-430c-9673-0d3d9754a838" providerId="ADAL" clId="{251A7961-4882-4F9E-81E1-00826DDD5DBC}" dt="2025-11-10T11:11:05.011" v="63" actId="478"/>
          <ac:spMkLst>
            <pc:docMk/>
            <pc:sldMk cId="276852904" sldId="273"/>
            <ac:spMk id="7" creationId="{57C87B2F-DF80-D661-A17F-88481402E049}"/>
          </ac:spMkLst>
        </pc:spChg>
        <pc:spChg chg="mod">
          <ac:chgData name="Pallavi Khajuria" userId="a9b717a9-a6a4-430c-9673-0d3d9754a838" providerId="ADAL" clId="{251A7961-4882-4F9E-81E1-00826DDD5DBC}" dt="2025-11-10T11:10:30.032" v="61" actId="21"/>
          <ac:spMkLst>
            <pc:docMk/>
            <pc:sldMk cId="276852904" sldId="273"/>
            <ac:spMk id="10" creationId="{6335B335-9496-5AD8-46B0-D3A7D1D73B7D}"/>
          </ac:spMkLst>
        </pc:spChg>
      </pc:sldChg>
      <pc:sldChg chg="addSp delSp modSp mod">
        <pc:chgData name="Pallavi Khajuria" userId="a9b717a9-a6a4-430c-9673-0d3d9754a838" providerId="ADAL" clId="{251A7961-4882-4F9E-81E1-00826DDD5DBC}" dt="2025-11-10T12:00:50.314" v="429"/>
        <pc:sldMkLst>
          <pc:docMk/>
          <pc:sldMk cId="1816921805" sldId="275"/>
        </pc:sldMkLst>
        <pc:spChg chg="del mod">
          <ac:chgData name="Pallavi Khajuria" userId="a9b717a9-a6a4-430c-9673-0d3d9754a838" providerId="ADAL" clId="{251A7961-4882-4F9E-81E1-00826DDD5DBC}" dt="2025-11-10T11:19:22.714" v="74" actId="478"/>
          <ac:spMkLst>
            <pc:docMk/>
            <pc:sldMk cId="1816921805" sldId="275"/>
            <ac:spMk id="2" creationId="{757D5BDF-F6F0-C14D-C9F7-07646F16A25C}"/>
          </ac:spMkLst>
        </pc:spChg>
        <pc:spChg chg="add mod">
          <ac:chgData name="Pallavi Khajuria" userId="a9b717a9-a6a4-430c-9673-0d3d9754a838" providerId="ADAL" clId="{251A7961-4882-4F9E-81E1-00826DDD5DBC}" dt="2025-11-10T12:00:50.314" v="429"/>
          <ac:spMkLst>
            <pc:docMk/>
            <pc:sldMk cId="1816921805" sldId="275"/>
            <ac:spMk id="3" creationId="{A82FBC88-82DB-42DA-D37F-0FCFBA8AD103}"/>
          </ac:spMkLst>
        </pc:spChg>
      </pc:sldChg>
      <pc:sldChg chg="addSp delSp modSp mod">
        <pc:chgData name="Pallavi Khajuria" userId="a9b717a9-a6a4-430c-9673-0d3d9754a838" providerId="ADAL" clId="{251A7961-4882-4F9E-81E1-00826DDD5DBC}" dt="2025-11-10T12:01:03.662" v="436"/>
        <pc:sldMkLst>
          <pc:docMk/>
          <pc:sldMk cId="1396447582" sldId="277"/>
        </pc:sldMkLst>
        <pc:spChg chg="mod">
          <ac:chgData name="Pallavi Khajuria" userId="a9b717a9-a6a4-430c-9673-0d3d9754a838" providerId="ADAL" clId="{251A7961-4882-4F9E-81E1-00826DDD5DBC}" dt="2025-11-10T11:28:00.721" v="93" actId="20577"/>
          <ac:spMkLst>
            <pc:docMk/>
            <pc:sldMk cId="1396447582" sldId="277"/>
            <ac:spMk id="2" creationId="{7BB5F4F5-A561-A2BF-50AD-2135E2BD4A6A}"/>
          </ac:spMkLst>
        </pc:spChg>
        <pc:spChg chg="mod">
          <ac:chgData name="Pallavi Khajuria" userId="a9b717a9-a6a4-430c-9673-0d3d9754a838" providerId="ADAL" clId="{251A7961-4882-4F9E-81E1-00826DDD5DBC}" dt="2025-11-10T11:28:03.840" v="94" actId="20577"/>
          <ac:spMkLst>
            <pc:docMk/>
            <pc:sldMk cId="1396447582" sldId="277"/>
            <ac:spMk id="3" creationId="{79C84FDE-81DE-1361-1FBF-9AB8614A6D28}"/>
          </ac:spMkLst>
        </pc:spChg>
        <pc:spChg chg="mod">
          <ac:chgData name="Pallavi Khajuria" userId="a9b717a9-a6a4-430c-9673-0d3d9754a838" providerId="ADAL" clId="{251A7961-4882-4F9E-81E1-00826DDD5DBC}" dt="2025-11-10T11:28:10.155" v="96" actId="20577"/>
          <ac:spMkLst>
            <pc:docMk/>
            <pc:sldMk cId="1396447582" sldId="277"/>
            <ac:spMk id="4" creationId="{A88DB71A-D56C-4634-2BEE-CCCF3CB0F3E7}"/>
          </ac:spMkLst>
        </pc:spChg>
        <pc:spChg chg="del">
          <ac:chgData name="Pallavi Khajuria" userId="a9b717a9-a6a4-430c-9673-0d3d9754a838" providerId="ADAL" clId="{251A7961-4882-4F9E-81E1-00826DDD5DBC}" dt="2025-11-10T11:25:46.654" v="90" actId="478"/>
          <ac:spMkLst>
            <pc:docMk/>
            <pc:sldMk cId="1396447582" sldId="277"/>
            <ac:spMk id="5" creationId="{8FA2B29A-4432-0D3E-44A7-E337C2CE6A10}"/>
          </ac:spMkLst>
        </pc:spChg>
        <pc:spChg chg="add mod">
          <ac:chgData name="Pallavi Khajuria" userId="a9b717a9-a6a4-430c-9673-0d3d9754a838" providerId="ADAL" clId="{251A7961-4882-4F9E-81E1-00826DDD5DBC}" dt="2025-11-10T12:01:03.662" v="436"/>
          <ac:spMkLst>
            <pc:docMk/>
            <pc:sldMk cId="1396447582" sldId="277"/>
            <ac:spMk id="6" creationId="{2D0E21F0-A1CC-72EB-D88E-A42FCE0E424D}"/>
          </ac:spMkLst>
        </pc:spChg>
      </pc:sldChg>
      <pc:sldChg chg="addSp delSp modSp mod">
        <pc:chgData name="Pallavi Khajuria" userId="a9b717a9-a6a4-430c-9673-0d3d9754a838" providerId="ADAL" clId="{251A7961-4882-4F9E-81E1-00826DDD5DBC}" dt="2025-11-10T12:00:52" v="430"/>
        <pc:sldMkLst>
          <pc:docMk/>
          <pc:sldMk cId="2886452166" sldId="278"/>
        </pc:sldMkLst>
        <pc:spChg chg="del mod">
          <ac:chgData name="Pallavi Khajuria" userId="a9b717a9-a6a4-430c-9673-0d3d9754a838" providerId="ADAL" clId="{251A7961-4882-4F9E-81E1-00826DDD5DBC}" dt="2025-11-10T11:19:29.878" v="76" actId="478"/>
          <ac:spMkLst>
            <pc:docMk/>
            <pc:sldMk cId="2886452166" sldId="278"/>
            <ac:spMk id="2" creationId="{556A9468-BC48-6B97-9AEA-37BEA1C7D98B}"/>
          </ac:spMkLst>
        </pc:spChg>
        <pc:spChg chg="add mod">
          <ac:chgData name="Pallavi Khajuria" userId="a9b717a9-a6a4-430c-9673-0d3d9754a838" providerId="ADAL" clId="{251A7961-4882-4F9E-81E1-00826DDD5DBC}" dt="2025-11-10T12:00:52" v="430"/>
          <ac:spMkLst>
            <pc:docMk/>
            <pc:sldMk cId="2886452166" sldId="278"/>
            <ac:spMk id="3" creationId="{B8E8124F-0E3B-E031-2C5D-7265461893A0}"/>
          </ac:spMkLst>
        </pc:spChg>
      </pc:sldChg>
      <pc:sldChg chg="addSp delSp modSp mod">
        <pc:chgData name="Pallavi Khajuria" userId="a9b717a9-a6a4-430c-9673-0d3d9754a838" providerId="ADAL" clId="{251A7961-4882-4F9E-81E1-00826DDD5DBC}" dt="2025-11-10T12:01:05.221" v="437"/>
        <pc:sldMkLst>
          <pc:docMk/>
          <pc:sldMk cId="2710043180" sldId="282"/>
        </pc:sldMkLst>
        <pc:spChg chg="add mod">
          <ac:chgData name="Pallavi Khajuria" userId="a9b717a9-a6a4-430c-9673-0d3d9754a838" providerId="ADAL" clId="{251A7961-4882-4F9E-81E1-00826DDD5DBC}" dt="2025-11-10T12:01:05.221" v="437"/>
          <ac:spMkLst>
            <pc:docMk/>
            <pc:sldMk cId="2710043180" sldId="282"/>
            <ac:spMk id="2" creationId="{3BAF4667-BBC8-FCF0-9CCF-304ECC450F66}"/>
          </ac:spMkLst>
        </pc:spChg>
        <pc:spChg chg="mod">
          <ac:chgData name="Pallavi Khajuria" userId="a9b717a9-a6a4-430c-9673-0d3d9754a838" providerId="ADAL" clId="{251A7961-4882-4F9E-81E1-00826DDD5DBC}" dt="2025-11-10T11:28:42.343" v="115" actId="20577"/>
          <ac:spMkLst>
            <pc:docMk/>
            <pc:sldMk cId="2710043180" sldId="282"/>
            <ac:spMk id="3" creationId="{A3F4BD2E-E227-A41F-33BD-EF5E3E53F344}"/>
          </ac:spMkLst>
        </pc:spChg>
        <pc:spChg chg="mod">
          <ac:chgData name="Pallavi Khajuria" userId="a9b717a9-a6a4-430c-9673-0d3d9754a838" providerId="ADAL" clId="{251A7961-4882-4F9E-81E1-00826DDD5DBC}" dt="2025-11-10T11:29:46.428" v="151" actId="20577"/>
          <ac:spMkLst>
            <pc:docMk/>
            <pc:sldMk cId="2710043180" sldId="282"/>
            <ac:spMk id="9" creationId="{DFBC7929-B570-8AB1-9208-301A6F237D7F}"/>
          </ac:spMkLst>
        </pc:spChg>
        <pc:spChg chg="mod">
          <ac:chgData name="Pallavi Khajuria" userId="a9b717a9-a6a4-430c-9673-0d3d9754a838" providerId="ADAL" clId="{251A7961-4882-4F9E-81E1-00826DDD5DBC}" dt="2025-11-10T11:31:39.504" v="198" actId="33524"/>
          <ac:spMkLst>
            <pc:docMk/>
            <pc:sldMk cId="2710043180" sldId="282"/>
            <ac:spMk id="10" creationId="{FEF43109-D1B4-7C50-7776-0FFB5C5664F9}"/>
          </ac:spMkLst>
        </pc:spChg>
        <pc:spChg chg="mod">
          <ac:chgData name="Pallavi Khajuria" userId="a9b717a9-a6a4-430c-9673-0d3d9754a838" providerId="ADAL" clId="{251A7961-4882-4F9E-81E1-00826DDD5DBC}" dt="2025-11-10T11:29:49.401" v="152" actId="20577"/>
          <ac:spMkLst>
            <pc:docMk/>
            <pc:sldMk cId="2710043180" sldId="282"/>
            <ac:spMk id="14" creationId="{F68783C2-B190-F13A-AE22-9AFA09E4C25B}"/>
          </ac:spMkLst>
        </pc:spChg>
        <pc:spChg chg="mod">
          <ac:chgData name="Pallavi Khajuria" userId="a9b717a9-a6a4-430c-9673-0d3d9754a838" providerId="ADAL" clId="{251A7961-4882-4F9E-81E1-00826DDD5DBC}" dt="2025-11-10T11:29:51.544" v="153" actId="20577"/>
          <ac:spMkLst>
            <pc:docMk/>
            <pc:sldMk cId="2710043180" sldId="282"/>
            <ac:spMk id="15" creationId="{9CAA5706-E44C-CB8B-FD39-98E004E80F83}"/>
          </ac:spMkLst>
        </pc:spChg>
        <pc:spChg chg="del mod">
          <ac:chgData name="Pallavi Khajuria" userId="a9b717a9-a6a4-430c-9673-0d3d9754a838" providerId="ADAL" clId="{251A7961-4882-4F9E-81E1-00826DDD5DBC}" dt="2025-11-10T11:31:06.892" v="159"/>
          <ac:spMkLst>
            <pc:docMk/>
            <pc:sldMk cId="2710043180" sldId="282"/>
            <ac:spMk id="16" creationId="{57F66B3A-6E85-76E5-969C-2EB0FBBE06DF}"/>
          </ac:spMkLst>
        </pc:spChg>
        <pc:spChg chg="mod">
          <ac:chgData name="Pallavi Khajuria" userId="a9b717a9-a6a4-430c-9673-0d3d9754a838" providerId="ADAL" clId="{251A7961-4882-4F9E-81E1-00826DDD5DBC}" dt="2025-11-10T11:31:03.368" v="156" actId="20577"/>
          <ac:spMkLst>
            <pc:docMk/>
            <pc:sldMk cId="2710043180" sldId="282"/>
            <ac:spMk id="17" creationId="{5F3959F4-1E64-2DBA-2783-E5ABDE1E2D02}"/>
          </ac:spMkLst>
        </pc:spChg>
        <pc:spChg chg="del mod">
          <ac:chgData name="Pallavi Khajuria" userId="a9b717a9-a6a4-430c-9673-0d3d9754a838" providerId="ADAL" clId="{251A7961-4882-4F9E-81E1-00826DDD5DBC}" dt="2025-11-10T11:31:06.896" v="161"/>
          <ac:spMkLst>
            <pc:docMk/>
            <pc:sldMk cId="2710043180" sldId="282"/>
            <ac:spMk id="19" creationId="{70D0FDED-8B28-54FA-D25D-743954B40474}"/>
          </ac:spMkLst>
        </pc:spChg>
      </pc:sldChg>
      <pc:sldChg chg="delSp del mod">
        <pc:chgData name="Pallavi Khajuria" userId="a9b717a9-a6a4-430c-9673-0d3d9754a838" providerId="ADAL" clId="{251A7961-4882-4F9E-81E1-00826DDD5DBC}" dt="2025-11-10T12:00:08.708" v="420" actId="47"/>
        <pc:sldMkLst>
          <pc:docMk/>
          <pc:sldMk cId="1822323106" sldId="290"/>
        </pc:sldMkLst>
        <pc:spChg chg="del">
          <ac:chgData name="Pallavi Khajuria" userId="a9b717a9-a6a4-430c-9673-0d3d9754a838" providerId="ADAL" clId="{251A7961-4882-4F9E-81E1-00826DDD5DBC}" dt="2025-11-10T11:59:45.300" v="419" actId="478"/>
          <ac:spMkLst>
            <pc:docMk/>
            <pc:sldMk cId="1822323106" sldId="290"/>
            <ac:spMk id="3" creationId="{D9801C6B-5D80-8825-00C9-842D9B85733C}"/>
          </ac:spMkLst>
        </pc:spChg>
      </pc:sldChg>
      <pc:sldChg chg="del">
        <pc:chgData name="Pallavi Khajuria" userId="a9b717a9-a6a4-430c-9673-0d3d9754a838" providerId="ADAL" clId="{251A7961-4882-4F9E-81E1-00826DDD5DBC}" dt="2025-11-10T12:00:10.180" v="421" actId="47"/>
        <pc:sldMkLst>
          <pc:docMk/>
          <pc:sldMk cId="2596717233" sldId="291"/>
        </pc:sldMkLst>
      </pc:sldChg>
      <pc:sldChg chg="delSp mod">
        <pc:chgData name="Pallavi Khajuria" userId="a9b717a9-a6a4-430c-9673-0d3d9754a838" providerId="ADAL" clId="{251A7961-4882-4F9E-81E1-00826DDD5DBC}" dt="2025-11-10T12:00:26.466" v="424" actId="478"/>
        <pc:sldMkLst>
          <pc:docMk/>
          <pc:sldMk cId="1873388134" sldId="294"/>
        </pc:sldMkLst>
        <pc:spChg chg="del">
          <ac:chgData name="Pallavi Khajuria" userId="a9b717a9-a6a4-430c-9673-0d3d9754a838" providerId="ADAL" clId="{251A7961-4882-4F9E-81E1-00826DDD5DBC}" dt="2025-11-10T12:00:26.466" v="424" actId="478"/>
          <ac:spMkLst>
            <pc:docMk/>
            <pc:sldMk cId="1873388134" sldId="294"/>
            <ac:spMk id="2" creationId="{60262BF2-59AF-D0FD-90D8-D2416546406F}"/>
          </ac:spMkLst>
        </pc:spChg>
      </pc:sldChg>
      <pc:sldChg chg="addSp delSp modSp mod">
        <pc:chgData name="Pallavi Khajuria" userId="a9b717a9-a6a4-430c-9673-0d3d9754a838" providerId="ADAL" clId="{251A7961-4882-4F9E-81E1-00826DDD5DBC}" dt="2025-11-10T12:00:53.556" v="431"/>
        <pc:sldMkLst>
          <pc:docMk/>
          <pc:sldMk cId="3318657826" sldId="295"/>
        </pc:sldMkLst>
        <pc:spChg chg="del mod">
          <ac:chgData name="Pallavi Khajuria" userId="a9b717a9-a6a4-430c-9673-0d3d9754a838" providerId="ADAL" clId="{251A7961-4882-4F9E-81E1-00826DDD5DBC}" dt="2025-11-10T11:19:35.925" v="78" actId="478"/>
          <ac:spMkLst>
            <pc:docMk/>
            <pc:sldMk cId="3318657826" sldId="295"/>
            <ac:spMk id="2" creationId="{07B4D0D4-5EF5-1633-486D-6FE06F75ED70}"/>
          </ac:spMkLst>
        </pc:spChg>
        <pc:spChg chg="add mod">
          <ac:chgData name="Pallavi Khajuria" userId="a9b717a9-a6a4-430c-9673-0d3d9754a838" providerId="ADAL" clId="{251A7961-4882-4F9E-81E1-00826DDD5DBC}" dt="2025-11-10T12:00:53.556" v="431"/>
          <ac:spMkLst>
            <pc:docMk/>
            <pc:sldMk cId="3318657826" sldId="295"/>
            <ac:spMk id="3" creationId="{CBDD09F1-AC85-E6BB-E077-FB0F9A53AC1D}"/>
          </ac:spMkLst>
        </pc:spChg>
      </pc:sldChg>
      <pc:sldChg chg="addSp delSp modSp mod">
        <pc:chgData name="Pallavi Khajuria" userId="a9b717a9-a6a4-430c-9673-0d3d9754a838" providerId="ADAL" clId="{251A7961-4882-4F9E-81E1-00826DDD5DBC}" dt="2025-11-10T12:00:55.081" v="432"/>
        <pc:sldMkLst>
          <pc:docMk/>
          <pc:sldMk cId="321937985" sldId="296"/>
        </pc:sldMkLst>
        <pc:spChg chg="del mod">
          <ac:chgData name="Pallavi Khajuria" userId="a9b717a9-a6a4-430c-9673-0d3d9754a838" providerId="ADAL" clId="{251A7961-4882-4F9E-81E1-00826DDD5DBC}" dt="2025-11-10T11:19:42.817" v="80" actId="478"/>
          <ac:spMkLst>
            <pc:docMk/>
            <pc:sldMk cId="321937985" sldId="296"/>
            <ac:spMk id="2" creationId="{528764CB-3FAB-DDE7-F4BD-5276B3C0B783}"/>
          </ac:spMkLst>
        </pc:spChg>
        <pc:spChg chg="add mod">
          <ac:chgData name="Pallavi Khajuria" userId="a9b717a9-a6a4-430c-9673-0d3d9754a838" providerId="ADAL" clId="{251A7961-4882-4F9E-81E1-00826DDD5DBC}" dt="2025-11-10T12:00:55.081" v="432"/>
          <ac:spMkLst>
            <pc:docMk/>
            <pc:sldMk cId="321937985" sldId="296"/>
            <ac:spMk id="3" creationId="{29A68F79-5343-74A9-9547-123447F2F2DF}"/>
          </ac:spMkLst>
        </pc:spChg>
      </pc:sldChg>
      <pc:sldChg chg="addSp delSp modSp mod">
        <pc:chgData name="Pallavi Khajuria" userId="a9b717a9-a6a4-430c-9673-0d3d9754a838" providerId="ADAL" clId="{251A7961-4882-4F9E-81E1-00826DDD5DBC}" dt="2025-11-10T12:00:56.757" v="433"/>
        <pc:sldMkLst>
          <pc:docMk/>
          <pc:sldMk cId="1446093289" sldId="297"/>
        </pc:sldMkLst>
        <pc:spChg chg="del mod">
          <ac:chgData name="Pallavi Khajuria" userId="a9b717a9-a6a4-430c-9673-0d3d9754a838" providerId="ADAL" clId="{251A7961-4882-4F9E-81E1-00826DDD5DBC}" dt="2025-11-10T11:19:49.542" v="82" actId="478"/>
          <ac:spMkLst>
            <pc:docMk/>
            <pc:sldMk cId="1446093289" sldId="297"/>
            <ac:spMk id="2" creationId="{F2DE84B8-9DF3-0FA1-93A5-C74847F7693C}"/>
          </ac:spMkLst>
        </pc:spChg>
        <pc:spChg chg="add mod">
          <ac:chgData name="Pallavi Khajuria" userId="a9b717a9-a6a4-430c-9673-0d3d9754a838" providerId="ADAL" clId="{251A7961-4882-4F9E-81E1-00826DDD5DBC}" dt="2025-11-10T12:00:56.757" v="433"/>
          <ac:spMkLst>
            <pc:docMk/>
            <pc:sldMk cId="1446093289" sldId="297"/>
            <ac:spMk id="3" creationId="{F4361917-790E-8E8D-E566-3BF588980ECA}"/>
          </ac:spMkLst>
        </pc:spChg>
      </pc:sldChg>
      <pc:sldChg chg="addSp delSp modSp mod">
        <pc:chgData name="Pallavi Khajuria" userId="a9b717a9-a6a4-430c-9673-0d3d9754a838" providerId="ADAL" clId="{251A7961-4882-4F9E-81E1-00826DDD5DBC}" dt="2025-11-10T12:00:58.372" v="434"/>
        <pc:sldMkLst>
          <pc:docMk/>
          <pc:sldMk cId="2087480208" sldId="298"/>
        </pc:sldMkLst>
        <pc:spChg chg="del mod">
          <ac:chgData name="Pallavi Khajuria" userId="a9b717a9-a6a4-430c-9673-0d3d9754a838" providerId="ADAL" clId="{251A7961-4882-4F9E-81E1-00826DDD5DBC}" dt="2025-11-10T11:19:55.107" v="84" actId="478"/>
          <ac:spMkLst>
            <pc:docMk/>
            <pc:sldMk cId="2087480208" sldId="298"/>
            <ac:spMk id="2" creationId="{6086E012-5544-1D8E-F347-278E6F99643A}"/>
          </ac:spMkLst>
        </pc:spChg>
        <pc:spChg chg="add mod">
          <ac:chgData name="Pallavi Khajuria" userId="a9b717a9-a6a4-430c-9673-0d3d9754a838" providerId="ADAL" clId="{251A7961-4882-4F9E-81E1-00826DDD5DBC}" dt="2025-11-10T12:00:58.372" v="434"/>
          <ac:spMkLst>
            <pc:docMk/>
            <pc:sldMk cId="2087480208" sldId="298"/>
            <ac:spMk id="3" creationId="{E1ADB767-4E35-0D94-8A50-F35437C2FEED}"/>
          </ac:spMkLst>
        </pc:spChg>
      </pc:sldChg>
      <pc:sldChg chg="addSp delSp modSp mod">
        <pc:chgData name="Pallavi Khajuria" userId="a9b717a9-a6a4-430c-9673-0d3d9754a838" providerId="ADAL" clId="{251A7961-4882-4F9E-81E1-00826DDD5DBC}" dt="2025-11-10T12:01:00.044" v="435"/>
        <pc:sldMkLst>
          <pc:docMk/>
          <pc:sldMk cId="1695090093" sldId="303"/>
        </pc:sldMkLst>
        <pc:spChg chg="del mod">
          <ac:chgData name="Pallavi Khajuria" userId="a9b717a9-a6a4-430c-9673-0d3d9754a838" providerId="ADAL" clId="{251A7961-4882-4F9E-81E1-00826DDD5DBC}" dt="2025-11-10T11:25:29.785" v="89" actId="478"/>
          <ac:spMkLst>
            <pc:docMk/>
            <pc:sldMk cId="1695090093" sldId="303"/>
            <ac:spMk id="2" creationId="{5A663ABD-6D5A-88C2-B2BC-599F77E1AC0D}"/>
          </ac:spMkLst>
        </pc:spChg>
        <pc:spChg chg="del mod">
          <ac:chgData name="Pallavi Khajuria" userId="a9b717a9-a6a4-430c-9673-0d3d9754a838" providerId="ADAL" clId="{251A7961-4882-4F9E-81E1-00826DDD5DBC}" dt="2025-11-10T11:20:02" v="86" actId="478"/>
          <ac:spMkLst>
            <pc:docMk/>
            <pc:sldMk cId="1695090093" sldId="303"/>
            <ac:spMk id="3" creationId="{E41D6D49-DDE3-4475-AAF2-71334F274938}"/>
          </ac:spMkLst>
        </pc:spChg>
        <pc:spChg chg="add mod">
          <ac:chgData name="Pallavi Khajuria" userId="a9b717a9-a6a4-430c-9673-0d3d9754a838" providerId="ADAL" clId="{251A7961-4882-4F9E-81E1-00826DDD5DBC}" dt="2025-11-10T12:01:00.044" v="435"/>
          <ac:spMkLst>
            <pc:docMk/>
            <pc:sldMk cId="1695090093" sldId="303"/>
            <ac:spMk id="4" creationId="{C63F173C-EEBE-AD79-E348-0C4117172AE8}"/>
          </ac:spMkLst>
        </pc:spChg>
      </pc:sldChg>
      <pc:sldChg chg="delSp modSp mod">
        <pc:chgData name="Pallavi Khajuria" userId="a9b717a9-a6a4-430c-9673-0d3d9754a838" providerId="ADAL" clId="{251A7961-4882-4F9E-81E1-00826DDD5DBC}" dt="2025-11-10T11:44:11.411" v="200" actId="478"/>
        <pc:sldMkLst>
          <pc:docMk/>
          <pc:sldMk cId="3090815000" sldId="304"/>
        </pc:sldMkLst>
        <pc:spChg chg="del mod">
          <ac:chgData name="Pallavi Khajuria" userId="a9b717a9-a6a4-430c-9673-0d3d9754a838" providerId="ADAL" clId="{251A7961-4882-4F9E-81E1-00826DDD5DBC}" dt="2025-11-10T11:44:11.411" v="200" actId="478"/>
          <ac:spMkLst>
            <pc:docMk/>
            <pc:sldMk cId="3090815000" sldId="304"/>
            <ac:spMk id="2" creationId="{31AC730E-E441-31F4-69F3-05FCB50A7532}"/>
          </ac:spMkLst>
        </pc:spChg>
      </pc:sldChg>
      <pc:sldChg chg="addSp delSp modSp mod">
        <pc:chgData name="Pallavi Khajuria" userId="a9b717a9-a6a4-430c-9673-0d3d9754a838" providerId="ADAL" clId="{251A7961-4882-4F9E-81E1-00826DDD5DBC}" dt="2025-11-10T12:00:44.497" v="426"/>
        <pc:sldMkLst>
          <pc:docMk/>
          <pc:sldMk cId="2336992914" sldId="305"/>
        </pc:sldMkLst>
        <pc:spChg chg="add mod">
          <ac:chgData name="Pallavi Khajuria" userId="a9b717a9-a6a4-430c-9673-0d3d9754a838" providerId="ADAL" clId="{251A7961-4882-4F9E-81E1-00826DDD5DBC}" dt="2025-11-10T12:00:44.497" v="426"/>
          <ac:spMkLst>
            <pc:docMk/>
            <pc:sldMk cId="2336992914" sldId="305"/>
            <ac:spMk id="2" creationId="{510509ED-FDFA-9AF0-64A5-B641CF67DE64}"/>
          </ac:spMkLst>
        </pc:spChg>
        <pc:spChg chg="del mod">
          <ac:chgData name="Pallavi Khajuria" userId="a9b717a9-a6a4-430c-9673-0d3d9754a838" providerId="ADAL" clId="{251A7961-4882-4F9E-81E1-00826DDD5DBC}" dt="2025-11-10T11:12:23.894" v="67" actId="478"/>
          <ac:spMkLst>
            <pc:docMk/>
            <pc:sldMk cId="2336992914" sldId="305"/>
            <ac:spMk id="6" creationId="{A8EF223A-D3FC-4344-AC72-3C316D77D9A3}"/>
          </ac:spMkLst>
        </pc:spChg>
        <pc:spChg chg="mod">
          <ac:chgData name="Pallavi Khajuria" userId="a9b717a9-a6a4-430c-9673-0d3d9754a838" providerId="ADAL" clId="{251A7961-4882-4F9E-81E1-00826DDD5DBC}" dt="2025-11-10T11:12:28.167" v="68" actId="20577"/>
          <ac:spMkLst>
            <pc:docMk/>
            <pc:sldMk cId="2336992914" sldId="305"/>
            <ac:spMk id="9" creationId="{4CE3A302-71F3-A505-7068-C326BC33BADD}"/>
          </ac:spMkLst>
        </pc:spChg>
      </pc:sldChg>
      <pc:sldChg chg="addSp modSp mod">
        <pc:chgData name="Pallavi Khajuria" userId="a9b717a9-a6a4-430c-9673-0d3d9754a838" providerId="ADAL" clId="{251A7961-4882-4F9E-81E1-00826DDD5DBC}" dt="2025-11-10T12:01:09.895" v="438"/>
        <pc:sldMkLst>
          <pc:docMk/>
          <pc:sldMk cId="1632127899" sldId="306"/>
        </pc:sldMkLst>
        <pc:spChg chg="mod">
          <ac:chgData name="Pallavi Khajuria" userId="a9b717a9-a6a4-430c-9673-0d3d9754a838" providerId="ADAL" clId="{251A7961-4882-4F9E-81E1-00826DDD5DBC}" dt="2025-11-10T11:48:32.448" v="243" actId="20577"/>
          <ac:spMkLst>
            <pc:docMk/>
            <pc:sldMk cId="1632127899" sldId="306"/>
            <ac:spMk id="2" creationId="{26013913-5321-D93D-18DC-679B11DCBA48}"/>
          </ac:spMkLst>
        </pc:spChg>
        <pc:spChg chg="add mod">
          <ac:chgData name="Pallavi Khajuria" userId="a9b717a9-a6a4-430c-9673-0d3d9754a838" providerId="ADAL" clId="{251A7961-4882-4F9E-81E1-00826DDD5DBC}" dt="2025-11-10T12:01:09.895" v="438"/>
          <ac:spMkLst>
            <pc:docMk/>
            <pc:sldMk cId="1632127899" sldId="306"/>
            <ac:spMk id="3" creationId="{71D706F6-78B4-8187-8249-53FE450C24F8}"/>
          </ac:spMkLst>
        </pc:spChg>
        <pc:spChg chg="mod">
          <ac:chgData name="Pallavi Khajuria" userId="a9b717a9-a6a4-430c-9673-0d3d9754a838" providerId="ADAL" clId="{251A7961-4882-4F9E-81E1-00826DDD5DBC}" dt="2025-11-10T11:47:54.800" v="220" actId="20577"/>
          <ac:spMkLst>
            <pc:docMk/>
            <pc:sldMk cId="1632127899" sldId="306"/>
            <ac:spMk id="4" creationId="{92680D53-D430-E573-E195-D777B3715BA9}"/>
          </ac:spMkLst>
        </pc:spChg>
        <pc:spChg chg="mod">
          <ac:chgData name="Pallavi Khajuria" userId="a9b717a9-a6a4-430c-9673-0d3d9754a838" providerId="ADAL" clId="{251A7961-4882-4F9E-81E1-00826DDD5DBC}" dt="2025-11-10T11:47:40.536" v="214" actId="20577"/>
          <ac:spMkLst>
            <pc:docMk/>
            <pc:sldMk cId="1632127899" sldId="306"/>
            <ac:spMk id="6" creationId="{CCA89EA0-E269-44B2-36DE-06A5BBD705F9}"/>
          </ac:spMkLst>
        </pc:spChg>
        <pc:spChg chg="mod">
          <ac:chgData name="Pallavi Khajuria" userId="a9b717a9-a6a4-430c-9673-0d3d9754a838" providerId="ADAL" clId="{251A7961-4882-4F9E-81E1-00826DDD5DBC}" dt="2025-11-10T11:47:59.001" v="222" actId="27636"/>
          <ac:spMkLst>
            <pc:docMk/>
            <pc:sldMk cId="1632127899" sldId="306"/>
            <ac:spMk id="8" creationId="{2103AB6B-A72F-150F-7BC6-3358D22431D9}"/>
          </ac:spMkLst>
        </pc:spChg>
        <pc:spChg chg="mod">
          <ac:chgData name="Pallavi Khajuria" userId="a9b717a9-a6a4-430c-9673-0d3d9754a838" providerId="ADAL" clId="{251A7961-4882-4F9E-81E1-00826DDD5DBC}" dt="2025-11-10T11:50:48.500" v="348" actId="20577"/>
          <ac:spMkLst>
            <pc:docMk/>
            <pc:sldMk cId="1632127899" sldId="306"/>
            <ac:spMk id="12" creationId="{2DF705CC-6974-7258-485D-3EB82444ABBD}"/>
          </ac:spMkLst>
        </pc:spChg>
        <pc:spChg chg="mod">
          <ac:chgData name="Pallavi Khajuria" userId="a9b717a9-a6a4-430c-9673-0d3d9754a838" providerId="ADAL" clId="{251A7961-4882-4F9E-81E1-00826DDD5DBC}" dt="2025-11-10T11:51:39.042" v="389" actId="20577"/>
          <ac:spMkLst>
            <pc:docMk/>
            <pc:sldMk cId="1632127899" sldId="306"/>
            <ac:spMk id="13" creationId="{53187A2B-B3C3-BD47-812E-C9AF78225BCD}"/>
          </ac:spMkLst>
        </pc:spChg>
        <pc:spChg chg="mod">
          <ac:chgData name="Pallavi Khajuria" userId="a9b717a9-a6a4-430c-9673-0d3d9754a838" providerId="ADAL" clId="{251A7961-4882-4F9E-81E1-00826DDD5DBC}" dt="2025-11-10T11:50:34.973" v="314" actId="20577"/>
          <ac:spMkLst>
            <pc:docMk/>
            <pc:sldMk cId="1632127899" sldId="306"/>
            <ac:spMk id="16" creationId="{46C6D46A-7965-B435-7C14-57F22175C380}"/>
          </ac:spMkLst>
        </pc:spChg>
      </pc:sldChg>
      <pc:sldChg chg="addSp modSp mod">
        <pc:chgData name="Pallavi Khajuria" userId="a9b717a9-a6a4-430c-9673-0d3d9754a838" providerId="ADAL" clId="{251A7961-4882-4F9E-81E1-00826DDD5DBC}" dt="2025-11-10T12:01:12.415" v="439"/>
        <pc:sldMkLst>
          <pc:docMk/>
          <pc:sldMk cId="2219523490" sldId="308"/>
        </pc:sldMkLst>
        <pc:spChg chg="mod">
          <ac:chgData name="Pallavi Khajuria" userId="a9b717a9-a6a4-430c-9673-0d3d9754a838" providerId="ADAL" clId="{251A7961-4882-4F9E-81E1-00826DDD5DBC}" dt="2025-11-10T11:51:57.008" v="392" actId="20577"/>
          <ac:spMkLst>
            <pc:docMk/>
            <pc:sldMk cId="2219523490" sldId="308"/>
            <ac:spMk id="2" creationId="{2CA04B7F-0889-575D-C56A-F0A2DAA5BED3}"/>
          </ac:spMkLst>
        </pc:spChg>
        <pc:spChg chg="add mod">
          <ac:chgData name="Pallavi Khajuria" userId="a9b717a9-a6a4-430c-9673-0d3d9754a838" providerId="ADAL" clId="{251A7961-4882-4F9E-81E1-00826DDD5DBC}" dt="2025-11-10T12:01:12.415" v="439"/>
          <ac:spMkLst>
            <pc:docMk/>
            <pc:sldMk cId="2219523490" sldId="308"/>
            <ac:spMk id="3" creationId="{23DDFFE6-02F5-2FD5-A8F3-82A624B5B06F}"/>
          </ac:spMkLst>
        </pc:spChg>
        <pc:spChg chg="mod">
          <ac:chgData name="Pallavi Khajuria" userId="a9b717a9-a6a4-430c-9673-0d3d9754a838" providerId="ADAL" clId="{251A7961-4882-4F9E-81E1-00826DDD5DBC}" dt="2025-11-10T11:58:59.936" v="404"/>
          <ac:spMkLst>
            <pc:docMk/>
            <pc:sldMk cId="2219523490" sldId="308"/>
            <ac:spMk id="4" creationId="{F41ACD24-4209-A5D8-1097-891D1D5DA49C}"/>
          </ac:spMkLst>
        </pc:spChg>
        <pc:spChg chg="mod">
          <ac:chgData name="Pallavi Khajuria" userId="a9b717a9-a6a4-430c-9673-0d3d9754a838" providerId="ADAL" clId="{251A7961-4882-4F9E-81E1-00826DDD5DBC}" dt="2025-11-10T11:59:06.338" v="409"/>
          <ac:spMkLst>
            <pc:docMk/>
            <pc:sldMk cId="2219523490" sldId="308"/>
            <ac:spMk id="5" creationId="{0129D5FA-8B59-B1A8-3B87-F2F778D1E6E5}"/>
          </ac:spMkLst>
        </pc:spChg>
        <pc:spChg chg="mod">
          <ac:chgData name="Pallavi Khajuria" userId="a9b717a9-a6a4-430c-9673-0d3d9754a838" providerId="ADAL" clId="{251A7961-4882-4F9E-81E1-00826DDD5DBC}" dt="2025-11-10T11:51:47.879" v="390" actId="20577"/>
          <ac:spMkLst>
            <pc:docMk/>
            <pc:sldMk cId="2219523490" sldId="308"/>
            <ac:spMk id="29" creationId="{91E528CC-1DEC-1EC7-A1A6-A2DB81B728AA}"/>
          </ac:spMkLst>
        </pc:spChg>
        <pc:spChg chg="mod">
          <ac:chgData name="Pallavi Khajuria" userId="a9b717a9-a6a4-430c-9673-0d3d9754a838" providerId="ADAL" clId="{251A7961-4882-4F9E-81E1-00826DDD5DBC}" dt="2025-11-10T11:51:52.897" v="391" actId="20577"/>
          <ac:spMkLst>
            <pc:docMk/>
            <pc:sldMk cId="2219523490" sldId="308"/>
            <ac:spMk id="41" creationId="{2374A811-6337-EEA3-6CA1-983BD6A9DA32}"/>
          </ac:spMkLst>
        </pc:spChg>
      </pc:sldChg>
      <pc:sldChg chg="addSp delSp modSp mod">
        <pc:chgData name="Pallavi Khajuria" userId="a9b717a9-a6a4-430c-9673-0d3d9754a838" providerId="ADAL" clId="{251A7961-4882-4F9E-81E1-00826DDD5DBC}" dt="2025-11-10T11:59:21.501" v="417" actId="20577"/>
        <pc:sldMkLst>
          <pc:docMk/>
          <pc:sldMk cId="206556200" sldId="309"/>
        </pc:sldMkLst>
        <pc:spChg chg="mod">
          <ac:chgData name="Pallavi Khajuria" userId="a9b717a9-a6a4-430c-9673-0d3d9754a838" providerId="ADAL" clId="{251A7961-4882-4F9E-81E1-00826DDD5DBC}" dt="2025-11-10T11:58:12.954" v="393" actId="6549"/>
          <ac:spMkLst>
            <pc:docMk/>
            <pc:sldMk cId="206556200" sldId="309"/>
            <ac:spMk id="11" creationId="{4378B34E-EAB7-F8D1-AD02-1CBCD552E977}"/>
          </ac:spMkLst>
        </pc:spChg>
        <pc:spChg chg="mod">
          <ac:chgData name="Pallavi Khajuria" userId="a9b717a9-a6a4-430c-9673-0d3d9754a838" providerId="ADAL" clId="{251A7961-4882-4F9E-81E1-00826DDD5DBC}" dt="2025-11-10T11:58:22.232" v="396" actId="20577"/>
          <ac:spMkLst>
            <pc:docMk/>
            <pc:sldMk cId="206556200" sldId="309"/>
            <ac:spMk id="12" creationId="{69386124-EC2C-4293-F431-CD6463A69F95}"/>
          </ac:spMkLst>
        </pc:spChg>
        <pc:spChg chg="add del mod">
          <ac:chgData name="Pallavi Khajuria" userId="a9b717a9-a6a4-430c-9673-0d3d9754a838" providerId="ADAL" clId="{251A7961-4882-4F9E-81E1-00826DDD5DBC}" dt="2025-11-10T11:59:16.578" v="413" actId="20577"/>
          <ac:spMkLst>
            <pc:docMk/>
            <pc:sldMk cId="206556200" sldId="309"/>
            <ac:spMk id="13" creationId="{72139180-8083-B418-4FEC-002D4F85DDDB}"/>
          </ac:spMkLst>
        </pc:spChg>
        <pc:spChg chg="mod">
          <ac:chgData name="Pallavi Khajuria" userId="a9b717a9-a6a4-430c-9673-0d3d9754a838" providerId="ADAL" clId="{251A7961-4882-4F9E-81E1-00826DDD5DBC}" dt="2025-11-10T11:59:21.501" v="417" actId="20577"/>
          <ac:spMkLst>
            <pc:docMk/>
            <pc:sldMk cId="206556200" sldId="309"/>
            <ac:spMk id="14" creationId="{FA44F50F-174E-BDE9-23CB-65A44E70D000}"/>
          </ac:spMkLst>
        </pc:spChg>
      </pc:sldChg>
      <pc:sldChg chg="del">
        <pc:chgData name="Pallavi Khajuria" userId="a9b717a9-a6a4-430c-9673-0d3d9754a838" providerId="ADAL" clId="{251A7961-4882-4F9E-81E1-00826DDD5DBC}" dt="2025-11-10T11:59:26.360" v="418" actId="47"/>
        <pc:sldMkLst>
          <pc:docMk/>
          <pc:sldMk cId="3370430484" sldId="310"/>
        </pc:sldMkLst>
      </pc:sldChg>
      <pc:sldChg chg="del">
        <pc:chgData name="Pallavi Khajuria" userId="a9b717a9-a6a4-430c-9673-0d3d9754a838" providerId="ADAL" clId="{251A7961-4882-4F9E-81E1-00826DDD5DBC}" dt="2025-11-10T12:00:21.483" v="423" actId="47"/>
        <pc:sldMkLst>
          <pc:docMk/>
          <pc:sldMk cId="3413612536" sldId="311"/>
        </pc:sldMkLst>
      </pc:sldChg>
      <pc:sldChg chg="addSp delSp modSp add mod">
        <pc:chgData name="Pallavi Khajuria" userId="a9b717a9-a6a4-430c-9673-0d3d9754a838" providerId="ADAL" clId="{251A7961-4882-4F9E-81E1-00826DDD5DBC}" dt="2025-11-10T12:01:22.105" v="441"/>
        <pc:sldMkLst>
          <pc:docMk/>
          <pc:sldMk cId="2360998798" sldId="312"/>
        </pc:sldMkLst>
        <pc:spChg chg="add mod">
          <ac:chgData name="Pallavi Khajuria" userId="a9b717a9-a6a4-430c-9673-0d3d9754a838" providerId="ADAL" clId="{251A7961-4882-4F9E-81E1-00826DDD5DBC}" dt="2025-11-10T12:01:22.105" v="441"/>
          <ac:spMkLst>
            <pc:docMk/>
            <pc:sldMk cId="2360998798" sldId="312"/>
            <ac:spMk id="2" creationId="{17313117-93F2-00BB-CA48-6E2DE8395900}"/>
          </ac:spMkLst>
        </pc:spChg>
        <pc:spChg chg="del">
          <ac:chgData name="Pallavi Khajuria" userId="a9b717a9-a6a4-430c-9673-0d3d9754a838" providerId="ADAL" clId="{251A7961-4882-4F9E-81E1-00826DDD5DBC}" dt="2025-11-10T12:01:21.249" v="440" actId="478"/>
          <ac:spMkLst>
            <pc:docMk/>
            <pc:sldMk cId="2360998798" sldId="312"/>
            <ac:spMk id="5" creationId="{BEA8B6C2-4306-939F-8A04-A302AF87C90A}"/>
          </ac:spMkLst>
        </pc:spChg>
      </pc:sldChg>
    </pc:docChg>
  </pc:docChgLst>
</pc:chgInfo>
</file>

<file path=ppt/comments/modernComment_11A_A187FA2C.xml><?xml version="1.0" encoding="utf-8"?>
<p188:cmLst xmlns:a="http://schemas.openxmlformats.org/drawingml/2006/main" xmlns:r="http://schemas.openxmlformats.org/officeDocument/2006/relationships" xmlns:p188="http://schemas.microsoft.com/office/powerpoint/2018/8/main">
  <p188:cm id="{4AB5D70A-4F0A-43D6-9739-1435A5FF7B8A}" authorId="{6E16A83C-777C-0DF7-390D-AA7C1A28FF00}" created="2025-06-09T12:43:39.606">
    <pc:sldMkLst xmlns:pc="http://schemas.microsoft.com/office/powerpoint/2013/main/command">
      <pc:docMk/>
      <pc:sldMk cId="2710043180" sldId="282"/>
    </pc:sldMkLst>
    <p188:txBody>
      <a:bodyPr/>
      <a:lstStyle/>
      <a:p>
        <a:r>
          <a:rPr lang="en-AE"/>
          <a:t>In this slide we recommend the client on approach we can take on their requirements - subject to change as per client</a:t>
        </a:r>
      </a:p>
    </p188:txBody>
  </p188:cm>
</p188:cmLst>
</file>

<file path=ppt/comments/modernComment_134_844B3DA2.xml><?xml version="1.0" encoding="utf-8"?>
<p188:cmLst xmlns:a="http://schemas.openxmlformats.org/drawingml/2006/main" xmlns:r="http://schemas.openxmlformats.org/officeDocument/2006/relationships" xmlns:p188="http://schemas.microsoft.com/office/powerpoint/2018/8/main">
  <p188:cm id="{BF58C93D-189C-4939-BB3F-1D83BD5D6174}" authorId="{6E16A83C-777C-0DF7-390D-AA7C1A28FF00}" created="2025-06-09T12:48:28.534">
    <pc:sldMkLst xmlns:pc="http://schemas.microsoft.com/office/powerpoint/2013/main/command">
      <pc:docMk/>
      <pc:sldMk cId="2219523490" sldId="308"/>
    </pc:sldMkLst>
    <p188:txBody>
      <a:bodyPr/>
      <a:lstStyle/>
      <a:p>
        <a:r>
          <a:rPr lang="en-AE"/>
          <a:t>This cover the services we would provide them - made as per scope and proposed approach we recommended 
subject to change as per client</a:t>
        </a:r>
      </a:p>
    </p188:txBody>
  </p188:cm>
</p188:cmLst>
</file>

<file path=ppt/comments/modernComment_135_C4FCC28.xml><?xml version="1.0" encoding="utf-8"?>
<p188:cmLst xmlns:a="http://schemas.openxmlformats.org/drawingml/2006/main" xmlns:r="http://schemas.openxmlformats.org/officeDocument/2006/relationships" xmlns:p188="http://schemas.microsoft.com/office/powerpoint/2018/8/main">
  <p188:cm id="{F643BEB7-A671-432E-A8CD-82624081C770}" authorId="{6E16A83C-777C-0DF7-390D-AA7C1A28FF00}" created="2025-06-09T12:48:41.597">
    <pc:sldMkLst xmlns:pc="http://schemas.microsoft.com/office/powerpoint/2013/main/command">
      <pc:docMk/>
      <pc:sldMk cId="206556200" sldId="309"/>
    </pc:sldMkLst>
    <p188:txBody>
      <a:bodyPr/>
      <a:lstStyle/>
      <a:p>
        <a:r>
          <a:rPr lang="en-AE"/>
          <a:t>This cover the services we would provide them - made as per scope and proposed approach we recommended 
subject to change as per client</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988C639-19C7-AD4F-A6FB-73F7F2290F30}" type="datetimeFigureOut">
              <a:rPr lang="en-AE" smtClean="0"/>
              <a:t>19/11/2025</a:t>
            </a:fld>
            <a:endParaRPr lang="en-A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F9947E-FF1B-3543-8415-544E22499918}" type="slidenum">
              <a:rPr lang="en-AE" smtClean="0"/>
              <a:t>‹#›</a:t>
            </a:fld>
            <a:endParaRPr lang="en-AE"/>
          </a:p>
        </p:txBody>
      </p:sp>
    </p:spTree>
    <p:extLst>
      <p:ext uri="{BB962C8B-B14F-4D97-AF65-F5344CB8AC3E}">
        <p14:creationId xmlns:p14="http://schemas.microsoft.com/office/powerpoint/2010/main" val="42239115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DCF9947E-FF1B-3543-8415-544E22499918}" type="slidenum">
              <a:rPr lang="en-AE" smtClean="0"/>
              <a:t>1</a:t>
            </a:fld>
            <a:endParaRPr lang="en-AE"/>
          </a:p>
        </p:txBody>
      </p:sp>
    </p:spTree>
    <p:extLst>
      <p:ext uri="{BB962C8B-B14F-4D97-AF65-F5344CB8AC3E}">
        <p14:creationId xmlns:p14="http://schemas.microsoft.com/office/powerpoint/2010/main" val="10679405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DCF9947E-FF1B-3543-8415-544E22499918}" type="slidenum">
              <a:rPr lang="en-AE" smtClean="0"/>
              <a:t>14</a:t>
            </a:fld>
            <a:endParaRPr lang="en-AE"/>
          </a:p>
        </p:txBody>
      </p:sp>
    </p:spTree>
    <p:extLst>
      <p:ext uri="{BB962C8B-B14F-4D97-AF65-F5344CB8AC3E}">
        <p14:creationId xmlns:p14="http://schemas.microsoft.com/office/powerpoint/2010/main" val="25501717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DCF9947E-FF1B-3543-8415-544E22499918}" type="slidenum">
              <a:rPr lang="en-AE" smtClean="0"/>
              <a:t>19</a:t>
            </a:fld>
            <a:endParaRPr lang="en-AE"/>
          </a:p>
        </p:txBody>
      </p:sp>
    </p:spTree>
    <p:extLst>
      <p:ext uri="{BB962C8B-B14F-4D97-AF65-F5344CB8AC3E}">
        <p14:creationId xmlns:p14="http://schemas.microsoft.com/office/powerpoint/2010/main" val="26226742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e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6.png"/><Relationship Id="rId4" Type="http://schemas.microsoft.com/office/2007/relationships/hdphoto" Target="../media/hdphoto1.wdp"/></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7.jpe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 Id="rId9" Type="http://schemas.openxmlformats.org/officeDocument/2006/relationships/image" Target="../media/image13.png"/><Relationship Id="rId10" Type="http://schemas.openxmlformats.org/officeDocument/2006/relationships/image" Target="../media/image1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5.jpe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image" Target="../media/image19.png"/><Relationship Id="rId8" Type="http://schemas.openxmlformats.org/officeDocument/2006/relationships/image" Target="../media/image20.png"/><Relationship Id="rId9" Type="http://schemas.openxmlformats.org/officeDocument/2006/relationships/image" Target="../media/image2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2.jpe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4.jpe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5.jpe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6.jpe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6.jpe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7.jpe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8.png"/><Relationship Id="rId4" Type="http://schemas.openxmlformats.org/officeDocument/2006/relationships/image" Target="../media/image29.svg"/><Relationship Id="rId5" Type="http://schemas.openxmlformats.org/officeDocument/2006/relationships/image" Target="../media/image30.png"/><Relationship Id="rId6" Type="http://schemas.openxmlformats.org/officeDocument/2006/relationships/image" Target="../media/image31.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jpeg"/><Relationship Id="rId3" Type="http://schemas.openxmlformats.org/officeDocument/2006/relationships/image" Target="../media/image2.png"/><Relationship Id="rId4" Type="http://schemas.openxmlformats.org/officeDocument/2006/relationships/image" Target="../media/image33.jpeg"/><Relationship Id="rId5" Type="http://schemas.openxmlformats.org/officeDocument/2006/relationships/image" Target="../media/image34.png"/><Relationship Id="rId6" Type="http://schemas.openxmlformats.org/officeDocument/2006/relationships/image" Target="../media/image35.png"/><Relationship Id="rId7" Type="http://schemas.openxmlformats.org/officeDocument/2006/relationships/image" Target="../media/image36.jpe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17" name="Picture 16" descr="A close-up of a building&#10;&#10;Description automatically generated">
            <a:extLst>
              <a:ext uri="{FF2B5EF4-FFF2-40B4-BE49-F238E27FC236}">
                <a16:creationId xmlns:a16="http://schemas.microsoft.com/office/drawing/2014/main" id="{BD7EA1F2-4501-6403-8679-46430526DE74}"/>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7743173" y="0"/>
            <a:ext cx="4448827" cy="6858000"/>
          </a:xfrm>
          <a:prstGeom prst="rect">
            <a:avLst/>
          </a:prstGeom>
        </p:spPr>
      </p:pic>
      <p:sp>
        <p:nvSpPr>
          <p:cNvPr id="2" name="Title 1">
            <a:extLst>
              <a:ext uri="{FF2B5EF4-FFF2-40B4-BE49-F238E27FC236}">
                <a16:creationId xmlns:a16="http://schemas.microsoft.com/office/drawing/2014/main" id="{F1DD9230-29CE-E570-6578-CBE89DC66284}"/>
              </a:ext>
            </a:extLst>
          </p:cNvPr>
          <p:cNvSpPr>
            <a:spLocks noGrp="1" noRot="1" noMove="1" noResize="1" noEditPoints="1" noAdjustHandles="1" noChangeArrowheads="1" noChangeShapeType="1"/>
          </p:cNvSpPr>
          <p:nvPr>
            <p:ph type="ctrTitle"/>
          </p:nvPr>
        </p:nvSpPr>
        <p:spPr>
          <a:xfrm>
            <a:off x="908953" y="2638511"/>
            <a:ext cx="6657150" cy="1476289"/>
          </a:xfrm>
        </p:spPr>
        <p:txBody>
          <a:bodyPr anchor="t">
            <a:normAutofit/>
          </a:bodyPr>
          <a:lstStyle>
            <a:lvl1pPr algn="l">
              <a:defRPr sz="3200" b="1" i="0">
                <a:solidFill>
                  <a:srgbClr val="0B2339"/>
                </a:solidFill>
                <a:latin typeface="Aptos" panose="020B0004020202020204" pitchFamily="34" charset="0"/>
              </a:defRPr>
            </a:lvl1pPr>
          </a:lstStyle>
          <a:p>
            <a:endParaRPr lang="en-AE" dirty="0"/>
          </a:p>
        </p:txBody>
      </p:sp>
      <p:sp>
        <p:nvSpPr>
          <p:cNvPr id="3" name="Subtitle 2">
            <a:extLst>
              <a:ext uri="{FF2B5EF4-FFF2-40B4-BE49-F238E27FC236}">
                <a16:creationId xmlns:a16="http://schemas.microsoft.com/office/drawing/2014/main" id="{012F38A9-B777-2DF5-09D6-EF2BA5970FA9}"/>
              </a:ext>
            </a:extLst>
          </p:cNvPr>
          <p:cNvSpPr>
            <a:spLocks noGrp="1" noRot="1" noMove="1" noResize="1" noEditPoints="1" noAdjustHandles="1" noChangeArrowheads="1" noChangeShapeType="1"/>
          </p:cNvSpPr>
          <p:nvPr>
            <p:ph type="subTitle" idx="1"/>
          </p:nvPr>
        </p:nvSpPr>
        <p:spPr>
          <a:xfrm>
            <a:off x="908954" y="4219488"/>
            <a:ext cx="6657149" cy="309264"/>
          </a:xfrm>
        </p:spPr>
        <p:txBody>
          <a:bodyPr>
            <a:normAutofit/>
          </a:bodyPr>
          <a:lstStyle>
            <a:lvl1pPr marL="0" indent="0" algn="l">
              <a:buNone/>
              <a:defRPr sz="1400" b="1" i="0">
                <a:solidFill>
                  <a:srgbClr val="7D4E1D"/>
                </a:solidFill>
                <a:latin typeface="Aptos SemiBold" panose="020B00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E" dirty="0"/>
          </a:p>
        </p:txBody>
      </p:sp>
      <p:sp>
        <p:nvSpPr>
          <p:cNvPr id="6" name="Slide Number Placeholder 5">
            <a:extLst>
              <a:ext uri="{FF2B5EF4-FFF2-40B4-BE49-F238E27FC236}">
                <a16:creationId xmlns:a16="http://schemas.microsoft.com/office/drawing/2014/main" id="{230CE271-72F2-688B-3011-83FB7EA0EF45}"/>
              </a:ext>
            </a:extLst>
          </p:cNvPr>
          <p:cNvSpPr>
            <a:spLocks noGrp="1"/>
          </p:cNvSpPr>
          <p:nvPr>
            <p:ph type="sldNum" sz="quarter" idx="12"/>
          </p:nvPr>
        </p:nvSpPr>
        <p:spPr/>
        <p:txBody>
          <a:bodyPr/>
          <a:lstStyle>
            <a:lvl1pPr>
              <a:defRPr sz="1000"/>
            </a:lvl1pPr>
          </a:lstStyle>
          <a:p>
            <a:fld id="{FEBB2247-6CF9-174D-B1BD-16046E6DC6C6}" type="slidenum">
              <a:rPr lang="en-AE" smtClean="0"/>
              <a:pPr/>
              <a:t>‹#›</a:t>
            </a:fld>
            <a:endParaRPr lang="en-AE"/>
          </a:p>
        </p:txBody>
      </p:sp>
      <p:pic>
        <p:nvPicPr>
          <p:cNvPr id="8" name="Picture 7">
            <a:extLst>
              <a:ext uri="{FF2B5EF4-FFF2-40B4-BE49-F238E27FC236}">
                <a16:creationId xmlns:a16="http://schemas.microsoft.com/office/drawing/2014/main" id="{7C7FE1E5-CA74-1AC3-3235-3992D640428E}"/>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908953" y="783246"/>
            <a:ext cx="3127484" cy="967495"/>
          </a:xfrm>
          <a:prstGeom prst="rect">
            <a:avLst/>
          </a:prstGeom>
        </p:spPr>
      </p:pic>
      <p:sp>
        <p:nvSpPr>
          <p:cNvPr id="9" name="Title 1">
            <a:extLst>
              <a:ext uri="{FF2B5EF4-FFF2-40B4-BE49-F238E27FC236}">
                <a16:creationId xmlns:a16="http://schemas.microsoft.com/office/drawing/2014/main" id="{F0217AC1-1926-2D75-17C8-A8814A07513B}"/>
              </a:ext>
            </a:extLst>
          </p:cNvPr>
          <p:cNvSpPr txBox="1">
            <a:spLocks/>
          </p:cNvSpPr>
          <p:nvPr userDrawn="1"/>
        </p:nvSpPr>
        <p:spPr>
          <a:xfrm>
            <a:off x="908953" y="2283092"/>
            <a:ext cx="3441954" cy="355419"/>
          </a:xfrm>
          <a:prstGeom prst="rect">
            <a:avLst/>
          </a:prstGeom>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r>
              <a:rPr lang="en-AE" b="0" i="0" dirty="0">
                <a:latin typeface="Aptos" panose="020B0004020202020204" pitchFamily="34" charset="0"/>
              </a:rPr>
              <a:t>Proposal for</a:t>
            </a:r>
          </a:p>
        </p:txBody>
      </p:sp>
      <p:sp>
        <p:nvSpPr>
          <p:cNvPr id="11" name="Subtitle 2">
            <a:extLst>
              <a:ext uri="{FF2B5EF4-FFF2-40B4-BE49-F238E27FC236}">
                <a16:creationId xmlns:a16="http://schemas.microsoft.com/office/drawing/2014/main" id="{385D335E-5026-260B-D55D-4871DF991A70}"/>
              </a:ext>
            </a:extLst>
          </p:cNvPr>
          <p:cNvSpPr txBox="1">
            <a:spLocks/>
          </p:cNvSpPr>
          <p:nvPr userDrawn="1"/>
        </p:nvSpPr>
        <p:spPr>
          <a:xfrm>
            <a:off x="908953" y="5638542"/>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000" b="1" i="0" dirty="0">
                <a:solidFill>
                  <a:srgbClr val="0B2339"/>
                </a:solidFill>
                <a:latin typeface="Aptos Light" panose="020B0004020202020204" pitchFamily="34" charset="0"/>
              </a:rPr>
              <a:t>Headquartered in</a:t>
            </a:r>
            <a:endParaRPr lang="en-AE" sz="1000" b="1" i="0" dirty="0">
              <a:solidFill>
                <a:srgbClr val="0B2339"/>
              </a:solidFill>
              <a:latin typeface="Aptos Light" panose="020B0004020202020204" pitchFamily="34" charset="0"/>
            </a:endParaRPr>
          </a:p>
        </p:txBody>
      </p:sp>
      <p:sp>
        <p:nvSpPr>
          <p:cNvPr id="19" name="Subtitle 2">
            <a:extLst>
              <a:ext uri="{FF2B5EF4-FFF2-40B4-BE49-F238E27FC236}">
                <a16:creationId xmlns:a16="http://schemas.microsoft.com/office/drawing/2014/main" id="{470A0FF0-4B19-ECEE-B126-8CD833B78BD0}"/>
              </a:ext>
            </a:extLst>
          </p:cNvPr>
          <p:cNvSpPr txBox="1">
            <a:spLocks/>
          </p:cNvSpPr>
          <p:nvPr userDrawn="1"/>
        </p:nvSpPr>
        <p:spPr>
          <a:xfrm>
            <a:off x="5617029" y="5652937"/>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000" b="1" i="0" dirty="0">
                <a:solidFill>
                  <a:srgbClr val="0B2339"/>
                </a:solidFill>
                <a:latin typeface="Aptos Light" panose="020B0004020202020204" pitchFamily="34" charset="0"/>
              </a:rPr>
              <a:t>Offices in</a:t>
            </a:r>
            <a:endParaRPr lang="en-AE" sz="1000" b="1" i="0" dirty="0">
              <a:solidFill>
                <a:srgbClr val="0B2339"/>
              </a:solidFill>
              <a:latin typeface="Aptos Light" panose="020B0004020202020204" pitchFamily="34" charset="0"/>
            </a:endParaRPr>
          </a:p>
        </p:txBody>
      </p:sp>
      <p:cxnSp>
        <p:nvCxnSpPr>
          <p:cNvPr id="20" name="Straight Connector 19">
            <a:extLst>
              <a:ext uri="{FF2B5EF4-FFF2-40B4-BE49-F238E27FC236}">
                <a16:creationId xmlns:a16="http://schemas.microsoft.com/office/drawing/2014/main" id="{79BB2E00-A5D4-81D6-B7A2-8288920FDEFF}"/>
              </a:ext>
            </a:extLst>
          </p:cNvPr>
          <p:cNvCxnSpPr>
            <a:cxnSpLocks/>
          </p:cNvCxnSpPr>
          <p:nvPr userDrawn="1"/>
        </p:nvCxnSpPr>
        <p:spPr>
          <a:xfrm>
            <a:off x="908953" y="5917492"/>
            <a:ext cx="6657150"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22" name="Subtitle 2">
            <a:extLst>
              <a:ext uri="{FF2B5EF4-FFF2-40B4-BE49-F238E27FC236}">
                <a16:creationId xmlns:a16="http://schemas.microsoft.com/office/drawing/2014/main" id="{CD0DB896-FD47-791D-BE48-74F6E86A227F}"/>
              </a:ext>
            </a:extLst>
          </p:cNvPr>
          <p:cNvSpPr txBox="1">
            <a:spLocks/>
          </p:cNvSpPr>
          <p:nvPr userDrawn="1"/>
        </p:nvSpPr>
        <p:spPr>
          <a:xfrm>
            <a:off x="5617029" y="6088080"/>
            <a:ext cx="1949074" cy="199228"/>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sz="1200" b="1" i="0" dirty="0">
                <a:solidFill>
                  <a:srgbClr val="7D4E1D"/>
                </a:solidFill>
                <a:latin typeface="Aptos SemiBold" panose="020B0004020202020204" pitchFamily="34" charset="0"/>
              </a:rPr>
              <a:t>UAE  |  CYPRUS  |  GREECE</a:t>
            </a:r>
            <a:endParaRPr lang="en-AE" sz="1200" b="1" i="0" dirty="0">
              <a:solidFill>
                <a:srgbClr val="7D4E1D"/>
              </a:solidFill>
              <a:latin typeface="Aptos SemiBold" panose="020B0004020202020204" pitchFamily="34" charset="0"/>
            </a:endParaRPr>
          </a:p>
        </p:txBody>
      </p:sp>
      <p:sp>
        <p:nvSpPr>
          <p:cNvPr id="23" name="Content Placeholder 5">
            <a:extLst>
              <a:ext uri="{FF2B5EF4-FFF2-40B4-BE49-F238E27FC236}">
                <a16:creationId xmlns:a16="http://schemas.microsoft.com/office/drawing/2014/main" id="{95421D69-0294-05AE-9BFB-63E663BB61D5}"/>
              </a:ext>
            </a:extLst>
          </p:cNvPr>
          <p:cNvSpPr>
            <a:spLocks noGrp="1" noRot="1" noMove="1" noResize="1" noEditPoints="1" noAdjustHandles="1" noChangeArrowheads="1" noChangeShapeType="1"/>
          </p:cNvSpPr>
          <p:nvPr>
            <p:ph sz="quarter" idx="13"/>
          </p:nvPr>
        </p:nvSpPr>
        <p:spPr>
          <a:xfrm>
            <a:off x="4438619" y="769920"/>
            <a:ext cx="3127484" cy="1070032"/>
          </a:xfrm>
        </p:spPr>
        <p:txBody>
          <a:bodyPr anchor="ctr">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pic>
        <p:nvPicPr>
          <p:cNvPr id="4" name="Picture 3" descr="A black background with a black square&#10;&#10;AI-generated content may be incorrect.">
            <a:extLst>
              <a:ext uri="{FF2B5EF4-FFF2-40B4-BE49-F238E27FC236}">
                <a16:creationId xmlns:a16="http://schemas.microsoft.com/office/drawing/2014/main" id="{316D3003-2BB7-5766-CFEF-ABE5364819FA}"/>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935347" y="5988379"/>
            <a:ext cx="1570905" cy="504260"/>
          </a:xfrm>
          <a:prstGeom prst="rect">
            <a:avLst/>
          </a:prstGeom>
        </p:spPr>
      </p:pic>
    </p:spTree>
    <p:extLst>
      <p:ext uri="{BB962C8B-B14F-4D97-AF65-F5344CB8AC3E}">
        <p14:creationId xmlns:p14="http://schemas.microsoft.com/office/powerpoint/2010/main" val="1439234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01680959-D86E-634F-AFCF-10BE2FCFBD18}"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Content Placeholder 2">
            <a:extLst>
              <a:ext uri="{FF2B5EF4-FFF2-40B4-BE49-F238E27FC236}">
                <a16:creationId xmlns:a16="http://schemas.microsoft.com/office/drawing/2014/main" id="{7B2F871A-671A-E3C4-5E42-68642B529B32}"/>
              </a:ext>
            </a:extLst>
          </p:cNvPr>
          <p:cNvSpPr>
            <a:spLocks noGrp="1" noRot="1" noMove="1" noResize="1" noEditPoints="1" noAdjustHandles="1" noChangeArrowheads="1" noChangeShapeType="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4" name="Title 1">
            <a:extLst>
              <a:ext uri="{FF2B5EF4-FFF2-40B4-BE49-F238E27FC236}">
                <a16:creationId xmlns:a16="http://schemas.microsoft.com/office/drawing/2014/main" id="{470D15FC-F893-0B31-A1AB-36DB5B8C7625}"/>
              </a:ext>
            </a:extLst>
          </p:cNvPr>
          <p:cNvSpPr txBox="1">
            <a:spLocks noGrp="1" noRot="1" noMove="1" noResize="1" noEditPoints="1" noAdjustHandles="1" noChangeArrowheads="1" noChangeShapeType="1"/>
          </p:cNvSpPr>
          <p:nvPr userDrawn="1"/>
        </p:nvSpPr>
        <p:spPr>
          <a:xfrm>
            <a:off x="838200" y="395948"/>
            <a:ext cx="10514012" cy="823912"/>
          </a:xfrm>
          <a:prstGeom prst="rect">
            <a:avLst/>
          </a:prstGeom>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Welcome</a:t>
            </a:r>
            <a:br>
              <a:rPr lang="en-US" dirty="0"/>
            </a:br>
            <a:endParaRPr lang="en-AE" dirty="0"/>
          </a:p>
        </p:txBody>
      </p:sp>
    </p:spTree>
    <p:extLst>
      <p:ext uri="{BB962C8B-B14F-4D97-AF65-F5344CB8AC3E}">
        <p14:creationId xmlns:p14="http://schemas.microsoft.com/office/powerpoint/2010/main" val="21024811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5_Title Only">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8C2E388-400E-361C-C9E2-8DE6C22BAF65}"/>
              </a:ext>
            </a:extLst>
          </p:cNvPr>
          <p:cNvSpPr txBox="1">
            <a:spLocks noGrp="1" noRot="1" noMove="1" noResize="1" noEditPoints="1" noAdjustHandles="1" noChangeArrowheads="1" noChangeShapeType="1"/>
          </p:cNvSpPr>
          <p:nvPr userDrawn="1"/>
        </p:nvSpPr>
        <p:spPr>
          <a:xfrm>
            <a:off x="838200" y="365126"/>
            <a:ext cx="10514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AE" dirty="0"/>
              <a:t>Executive Summary</a:t>
            </a:r>
          </a:p>
        </p:txBody>
      </p:sp>
      <p:sp>
        <p:nvSpPr>
          <p:cNvPr id="6" name="Date Placeholder 3">
            <a:extLst>
              <a:ext uri="{FF2B5EF4-FFF2-40B4-BE49-F238E27FC236}">
                <a16:creationId xmlns:a16="http://schemas.microsoft.com/office/drawing/2014/main" id="{BA9497B1-F259-A2AC-9117-F75F53E22C38}"/>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61828D0B-93F7-2C4D-8282-CE55141786B7}"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Content Placeholder 2">
            <a:extLst>
              <a:ext uri="{FF2B5EF4-FFF2-40B4-BE49-F238E27FC236}">
                <a16:creationId xmlns:a16="http://schemas.microsoft.com/office/drawing/2014/main" id="{7B2F871A-671A-E3C4-5E42-68642B529B32}"/>
              </a:ext>
            </a:extLst>
          </p:cNvPr>
          <p:cNvSpPr>
            <a:spLocks noGrp="1" noRot="1" noMove="1" noResize="1" noEditPoints="1" noAdjustHandles="1" noChangeArrowheads="1" noChangeShapeType="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30136564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093FA0B-F7D2-8CB8-33E2-F809A01A6850}"/>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290A9F28-CE55-2248-B612-2ED53EF2A467}"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1" name="Picture 10" descr="A person writing on a piece of paper&#10;&#10;Description automatically generated">
            <a:extLst>
              <a:ext uri="{FF2B5EF4-FFF2-40B4-BE49-F238E27FC236}">
                <a16:creationId xmlns:a16="http://schemas.microsoft.com/office/drawing/2014/main" id="{EF3D545D-1E2F-F0FC-7040-33F645D267DC}"/>
              </a:ext>
            </a:extLst>
          </p:cNvPr>
          <p:cNvPicPr>
            <a:picLocks noGrp="1" noRot="1" noChangeAspec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a:off x="8363060" y="498764"/>
            <a:ext cx="2847246" cy="5602144"/>
          </a:xfrm>
          <a:prstGeom prst="rect">
            <a:avLst/>
          </a:prstGeom>
        </p:spPr>
      </p:pic>
      <p:sp>
        <p:nvSpPr>
          <p:cNvPr id="13" name="Title 1">
            <a:extLst>
              <a:ext uri="{FF2B5EF4-FFF2-40B4-BE49-F238E27FC236}">
                <a16:creationId xmlns:a16="http://schemas.microsoft.com/office/drawing/2014/main" id="{EDD1680E-3F37-FF36-6565-B06792B37132}"/>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Content</a:t>
            </a:r>
            <a:br>
              <a:rPr lang="en-US" dirty="0"/>
            </a:br>
            <a:endParaRPr lang="en-AE" dirty="0"/>
          </a:p>
        </p:txBody>
      </p:sp>
    </p:spTree>
    <p:extLst>
      <p:ext uri="{BB962C8B-B14F-4D97-AF65-F5344CB8AC3E}">
        <p14:creationId xmlns:p14="http://schemas.microsoft.com/office/powerpoint/2010/main" val="15375638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3A735DC1-8B32-A943-BF13-CE33177114F0}"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Rectangle 6">
            <a:extLst>
              <a:ext uri="{FF2B5EF4-FFF2-40B4-BE49-F238E27FC236}">
                <a16:creationId xmlns:a16="http://schemas.microsoft.com/office/drawing/2014/main" id="{147DFB7A-D951-1795-9B2D-D4DE3EDCFC1C}"/>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Rectangle 10">
            <a:extLst>
              <a:ext uri="{FF2B5EF4-FFF2-40B4-BE49-F238E27FC236}">
                <a16:creationId xmlns:a16="http://schemas.microsoft.com/office/drawing/2014/main" id="{99202834-8607-CAFA-5804-00B0D5750E92}"/>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5" name="Straight Connector 14">
            <a:extLst>
              <a:ext uri="{FF2B5EF4-FFF2-40B4-BE49-F238E27FC236}">
                <a16:creationId xmlns:a16="http://schemas.microsoft.com/office/drawing/2014/main" id="{5BF1B2A8-6EC6-775E-FE2C-529D94717540}"/>
              </a:ext>
            </a:extLst>
          </p:cNvPr>
          <p:cNvCxnSpPr>
            <a:cxnSpLocks noGrp="1" noRot="1" noMove="1" noResize="1" noEditPoints="1" noAdjustHandles="1" noChangeArrowheads="1" noChangeShapeType="1"/>
          </p:cNvCxnSpPr>
          <p:nvPr userDrawn="1"/>
        </p:nvCxnSpPr>
        <p:spPr>
          <a:xfrm>
            <a:off x="836612" y="164593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672546CC-9507-1E53-0FE6-D0F68CCD63B2}"/>
              </a:ext>
            </a:extLst>
          </p:cNvPr>
          <p:cNvSpPr txBox="1">
            <a:spLocks/>
          </p:cNvSpPr>
          <p:nvPr userDrawn="1"/>
        </p:nvSpPr>
        <p:spPr>
          <a:xfrm>
            <a:off x="911010" y="1738627"/>
            <a:ext cx="6250258" cy="1892826"/>
          </a:xfrm>
          <a:prstGeom prst="rect">
            <a:avLst/>
          </a:prstGeom>
          <a:noFill/>
        </p:spPr>
        <p:txBody>
          <a:bodyPr wrap="square">
            <a:spAutoFit/>
          </a:bodyPr>
          <a:lstStyle/>
          <a:p>
            <a:pPr algn="just"/>
            <a:r>
              <a:rPr lang="en-US" sz="900" b="0" i="0" u="none" strike="noStrike" dirty="0">
                <a:solidFill>
                  <a:srgbClr val="0B2339"/>
                </a:solidFill>
                <a:effectLst/>
                <a:latin typeface="Aptos" panose="020B0004020202020204" pitchFamily="34" charset="0"/>
              </a:rPr>
              <a:t>At Pnyx Hill, we bridge the gap between </a:t>
            </a:r>
            <a:r>
              <a:rPr lang="en-US" sz="900" b="1" i="0" u="none" strike="noStrike" dirty="0">
                <a:solidFill>
                  <a:srgbClr val="0B2339"/>
                </a:solidFill>
                <a:effectLst/>
                <a:latin typeface="Aptos" panose="020B0004020202020204" pitchFamily="34" charset="0"/>
              </a:rPr>
              <a:t>strategy, governance, risk,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compliance</a:t>
            </a:r>
            <a:r>
              <a:rPr lang="en-US" sz="900" b="0" i="0" u="none" strike="noStrike" dirty="0">
                <a:solidFill>
                  <a:srgbClr val="0B2339"/>
                </a:solidFill>
                <a:effectLst/>
                <a:latin typeface="Aptos" panose="020B0004020202020204" pitchFamily="34" charset="0"/>
              </a:rPr>
              <a:t> (SGRC); helping businesses </a:t>
            </a:r>
            <a:r>
              <a:rPr lang="en-US" sz="900" b="1" i="0" u="none" strike="noStrike" dirty="0">
                <a:solidFill>
                  <a:srgbClr val="0B2339"/>
                </a:solidFill>
                <a:effectLst/>
                <a:latin typeface="Aptos" panose="020B0004020202020204" pitchFamily="34" charset="0"/>
              </a:rPr>
              <a:t>scale wisely, navigate complex regulations,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achieve sustainable growth</a:t>
            </a:r>
            <a:r>
              <a:rPr lang="en-US" sz="900" b="0" i="0" u="none" strike="noStrike" dirty="0">
                <a:solidFill>
                  <a:srgbClr val="0B2339"/>
                </a:solidFill>
                <a:effectLst/>
                <a:latin typeface="Aptos" panose="020B0004020202020204" pitchFamily="34" charset="0"/>
              </a:rPr>
              <a:t>.</a:t>
            </a:r>
          </a:p>
          <a:p>
            <a:pPr algn="just"/>
            <a:endParaRPr lang="en-US" sz="900" b="0" i="0" u="none" strike="noStrike" dirty="0">
              <a:solidFill>
                <a:srgbClr val="0B2339"/>
              </a:solidFill>
              <a:effectLst/>
              <a:latin typeface="Aptos" panose="020B0004020202020204" pitchFamily="34" charset="0"/>
            </a:endParaRPr>
          </a:p>
          <a:p>
            <a:pPr algn="just"/>
            <a:r>
              <a:rPr lang="en-US" sz="900" b="0" i="0" u="none" strike="noStrike" dirty="0">
                <a:solidFill>
                  <a:srgbClr val="0B2339"/>
                </a:solidFill>
                <a:effectLst/>
                <a:latin typeface="Aptos" panose="020B0004020202020204" pitchFamily="34" charset="0"/>
              </a:rPr>
              <a:t>As a </a:t>
            </a:r>
            <a:r>
              <a:rPr lang="en-US" sz="900" b="1" i="0" u="none" strike="noStrike" dirty="0">
                <a:solidFill>
                  <a:srgbClr val="0B2339"/>
                </a:solidFill>
                <a:effectLst/>
                <a:latin typeface="Aptos" panose="020B0004020202020204" pitchFamily="34" charset="0"/>
              </a:rPr>
              <a:t>highly specialized boutique advisory firm</a:t>
            </a:r>
            <a:r>
              <a:rPr lang="en-US" sz="900" b="0" i="0" u="none" strike="noStrike" dirty="0">
                <a:solidFill>
                  <a:srgbClr val="0B2339"/>
                </a:solidFill>
                <a:effectLst/>
                <a:latin typeface="Aptos" panose="020B0004020202020204" pitchFamily="34" charset="0"/>
              </a:rPr>
              <a:t>, we partner with enterprises to </a:t>
            </a:r>
            <a:r>
              <a:rPr lang="en-US" sz="900" b="1" i="0" u="none" strike="noStrike" dirty="0">
                <a:solidFill>
                  <a:srgbClr val="0B2339"/>
                </a:solidFill>
                <a:effectLst/>
                <a:latin typeface="Aptos" panose="020B0004020202020204" pitchFamily="34" charset="0"/>
              </a:rPr>
              <a:t>safeguard</a:t>
            </a:r>
            <a:r>
              <a:rPr lang="en-US" sz="900" b="0" i="0" u="none" strike="noStrike" dirty="0">
                <a:solidFill>
                  <a:srgbClr val="0B2339"/>
                </a:solidFill>
                <a:effectLst/>
                <a:latin typeface="Aptos" panose="020B0004020202020204" pitchFamily="34" charset="0"/>
              </a:rPr>
              <a:t> their </a:t>
            </a:r>
            <a:r>
              <a:rPr lang="en-US" sz="900" b="1" i="0" u="none" strike="noStrike" dirty="0">
                <a:solidFill>
                  <a:srgbClr val="0B2339"/>
                </a:solidFill>
                <a:effectLst/>
                <a:latin typeface="Aptos" panose="020B0004020202020204" pitchFamily="34" charset="0"/>
              </a:rPr>
              <a:t>reputational </a:t>
            </a:r>
            <a:r>
              <a:rPr lang="en-US" sz="900" b="0" i="0" u="none" strike="noStrike" dirty="0">
                <a:solidFill>
                  <a:srgbClr val="0B2339"/>
                </a:solidFill>
                <a:effectLst/>
                <a:latin typeface="Aptos" panose="020B0004020202020204" pitchFamily="34" charset="0"/>
              </a:rPr>
              <a:t>and </a:t>
            </a:r>
            <a:r>
              <a:rPr lang="en-US" sz="900" b="1" i="0" u="none" strike="noStrike" dirty="0">
                <a:solidFill>
                  <a:srgbClr val="0B2339"/>
                </a:solidFill>
                <a:effectLst/>
                <a:latin typeface="Aptos" panose="020B0004020202020204" pitchFamily="34" charset="0"/>
              </a:rPr>
              <a:t>financial capital</a:t>
            </a:r>
            <a:r>
              <a:rPr lang="en-US" sz="900" b="0" i="0" u="none" strike="noStrike" dirty="0">
                <a:solidFill>
                  <a:srgbClr val="0B2339"/>
                </a:solidFill>
                <a:effectLst/>
                <a:latin typeface="Aptos" panose="020B0004020202020204" pitchFamily="34" charset="0"/>
              </a:rPr>
              <a:t> while </a:t>
            </a:r>
            <a:r>
              <a:rPr lang="en-US" sz="900" b="1" i="0" u="none" strike="noStrike" dirty="0">
                <a:solidFill>
                  <a:srgbClr val="0B2339"/>
                </a:solidFill>
                <a:effectLst/>
                <a:latin typeface="Aptos" panose="020B0004020202020204" pitchFamily="34" charset="0"/>
              </a:rPr>
              <a:t>ensuring </a:t>
            </a:r>
            <a:r>
              <a:rPr lang="en-US" sz="900" b="0" i="0" u="none" strike="noStrike" dirty="0">
                <a:solidFill>
                  <a:srgbClr val="0B2339"/>
                </a:solidFill>
                <a:effectLst/>
                <a:latin typeface="Aptos" panose="020B0004020202020204" pitchFamily="34" charset="0"/>
              </a:rPr>
              <a:t>their</a:t>
            </a:r>
            <a:r>
              <a:rPr lang="en-US" sz="900" b="1" i="0" u="none" strike="noStrike" dirty="0">
                <a:solidFill>
                  <a:srgbClr val="0B2339"/>
                </a:solidFill>
                <a:effectLst/>
                <a:latin typeface="Aptos" panose="020B0004020202020204" pitchFamily="34" charset="0"/>
              </a:rPr>
              <a:t> commercial strategies align with regulatory requirements</a:t>
            </a:r>
            <a:r>
              <a:rPr lang="en-US" sz="900" b="0" i="0" u="none" strike="noStrike" dirty="0">
                <a:solidFill>
                  <a:srgbClr val="0B2339"/>
                </a:solidFill>
                <a:effectLst/>
                <a:latin typeface="Aptos" panose="020B0004020202020204" pitchFamily="34" charset="0"/>
              </a:rPr>
              <a:t>.</a:t>
            </a:r>
          </a:p>
          <a:p>
            <a:pPr algn="just"/>
            <a:endParaRPr lang="en-US" sz="900" b="0" i="0" u="none" strike="noStrike" dirty="0">
              <a:solidFill>
                <a:srgbClr val="0B2339"/>
              </a:solidFill>
              <a:effectLst/>
              <a:latin typeface="Aptos" panose="020B0004020202020204" pitchFamily="34" charset="0"/>
            </a:endParaRPr>
          </a:p>
          <a:p>
            <a:pPr algn="just"/>
            <a:r>
              <a:rPr lang="en-US" sz="900" b="0" i="0" u="none" strike="noStrike" dirty="0">
                <a:solidFill>
                  <a:srgbClr val="0B2339"/>
                </a:solidFill>
                <a:effectLst/>
                <a:latin typeface="Aptos" panose="020B0004020202020204" pitchFamily="34" charset="0"/>
              </a:rPr>
              <a:t>With </a:t>
            </a:r>
            <a:r>
              <a:rPr lang="en-US" sz="900" b="1" i="0" u="none" strike="noStrike" dirty="0">
                <a:solidFill>
                  <a:srgbClr val="0B2339"/>
                </a:solidFill>
                <a:effectLst/>
                <a:latin typeface="Aptos" panose="020B0004020202020204" pitchFamily="34" charset="0"/>
              </a:rPr>
              <a:t>50+ years of executive experience</a:t>
            </a:r>
            <a:r>
              <a:rPr lang="en-US" sz="900" b="0" i="0" u="none" strike="noStrike" dirty="0">
                <a:solidFill>
                  <a:srgbClr val="0B2339"/>
                </a:solidFill>
                <a:effectLst/>
                <a:latin typeface="Aptos" panose="020B0004020202020204" pitchFamily="34" charset="0"/>
              </a:rPr>
              <a:t> and </a:t>
            </a:r>
            <a:r>
              <a:rPr lang="en-US" sz="900" b="1" i="0" u="none" strike="noStrike" dirty="0">
                <a:solidFill>
                  <a:srgbClr val="0B2339"/>
                </a:solidFill>
                <a:effectLst/>
                <a:latin typeface="Aptos" panose="020B0004020202020204" pitchFamily="34" charset="0"/>
              </a:rPr>
              <a:t>400+ successful projects</a:t>
            </a:r>
            <a:r>
              <a:rPr lang="en-US" sz="900" b="0" i="0" u="none" strike="noStrike" dirty="0">
                <a:solidFill>
                  <a:srgbClr val="0B2339"/>
                </a:solidFill>
                <a:effectLst/>
                <a:latin typeface="Aptos" panose="020B0004020202020204" pitchFamily="34" charset="0"/>
              </a:rPr>
              <a:t>, we embed ourselves in our clients' journeys - </a:t>
            </a:r>
            <a:r>
              <a:rPr lang="en-US" sz="900" b="1" i="0" u="none" strike="noStrike" dirty="0">
                <a:solidFill>
                  <a:srgbClr val="0B2339"/>
                </a:solidFill>
                <a:effectLst/>
                <a:latin typeface="Aptos" panose="020B0004020202020204" pitchFamily="34" charset="0"/>
              </a:rPr>
              <a:t>from market entry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licensing </a:t>
            </a:r>
            <a:r>
              <a:rPr lang="en-US" sz="900" b="0" i="0" u="none" strike="noStrike" dirty="0">
                <a:solidFill>
                  <a:srgbClr val="0B2339"/>
                </a:solidFill>
                <a:effectLst/>
                <a:latin typeface="Aptos" panose="020B0004020202020204" pitchFamily="34" charset="0"/>
              </a:rPr>
              <a:t>to</a:t>
            </a:r>
            <a:r>
              <a:rPr lang="en-US" sz="900" b="1" i="0" u="none" strike="noStrike" dirty="0">
                <a:solidFill>
                  <a:srgbClr val="0B2339"/>
                </a:solidFill>
                <a:effectLst/>
                <a:latin typeface="Aptos" panose="020B0004020202020204" pitchFamily="34" charset="0"/>
              </a:rPr>
              <a:t> ongoing compliance and strategic growth advisory</a:t>
            </a:r>
            <a:r>
              <a:rPr lang="en-US" sz="900" b="0" i="0" u="none" strike="noStrike" dirty="0">
                <a:solidFill>
                  <a:srgbClr val="0B2339"/>
                </a:solidFill>
                <a:effectLst/>
                <a:latin typeface="Aptos" panose="020B0004020202020204" pitchFamily="34" charset="0"/>
              </a:rPr>
              <a:t>.</a:t>
            </a:r>
          </a:p>
          <a:p>
            <a:pPr algn="just"/>
            <a:endParaRPr lang="en-US" sz="900" b="0" i="0" u="none" strike="noStrike" dirty="0">
              <a:solidFill>
                <a:srgbClr val="0B2339"/>
              </a:solidFill>
              <a:effectLst/>
              <a:latin typeface="Aptos" panose="020B0004020202020204" pitchFamily="34" charset="0"/>
            </a:endParaRPr>
          </a:p>
          <a:p>
            <a:pPr algn="just"/>
            <a:r>
              <a:rPr lang="en-US" sz="900" b="0" i="0" u="none" strike="noStrike" dirty="0">
                <a:solidFill>
                  <a:srgbClr val="0B2339"/>
                </a:solidFill>
                <a:effectLst/>
                <a:latin typeface="Aptos" panose="020B0004020202020204" pitchFamily="34" charset="0"/>
              </a:rPr>
              <a:t>Backed by renowned industry leaders and top-tier specialists, </a:t>
            </a:r>
            <a:r>
              <a:rPr lang="en-US" sz="900" b="1" i="0" u="none" strike="noStrike" dirty="0">
                <a:solidFill>
                  <a:srgbClr val="0B2339"/>
                </a:solidFill>
                <a:effectLst/>
                <a:latin typeface="Aptos" panose="020B0004020202020204" pitchFamily="34" charset="0"/>
              </a:rPr>
              <a:t>we support financial services, Web3 &amp; digital assets, technology startups, healthcare, gaming,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energy &amp; infrastructure</a:t>
            </a:r>
            <a:r>
              <a:rPr lang="en-US" sz="900" b="0" i="0" u="none" strike="noStrike" dirty="0">
                <a:solidFill>
                  <a:srgbClr val="0B2339"/>
                </a:solidFill>
                <a:effectLst/>
                <a:latin typeface="Aptos" panose="020B0004020202020204" pitchFamily="34" charset="0"/>
              </a:rPr>
              <a:t>.</a:t>
            </a:r>
          </a:p>
          <a:p>
            <a:pPr algn="just"/>
            <a:r>
              <a:rPr lang="en-US" sz="900" b="0" i="0" u="none" strike="noStrike" dirty="0">
                <a:solidFill>
                  <a:srgbClr val="0B2339"/>
                </a:solidFill>
                <a:effectLst/>
                <a:latin typeface="Aptos" panose="020B0004020202020204" pitchFamily="34" charset="0"/>
              </a:rPr>
              <a:t>At Pnyx Hill, we go beyond consulting; we are </a:t>
            </a:r>
            <a:r>
              <a:rPr lang="en-US" sz="900" b="1" i="0" u="none" strike="noStrike" dirty="0">
                <a:solidFill>
                  <a:srgbClr val="0B2339"/>
                </a:solidFill>
                <a:effectLst/>
                <a:latin typeface="Aptos" panose="020B0004020202020204" pitchFamily="34" charset="0"/>
              </a:rPr>
              <a:t>trusted partners, delivering real impact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enabling businesses to lead </a:t>
            </a:r>
            <a:r>
              <a:rPr lang="en-US" sz="900" b="0" i="0" u="none" strike="noStrike" dirty="0">
                <a:solidFill>
                  <a:srgbClr val="0B2339"/>
                </a:solidFill>
                <a:effectLst/>
                <a:latin typeface="Aptos" panose="020B0004020202020204" pitchFamily="34" charset="0"/>
              </a:rPr>
              <a:t>in their industries and markets.</a:t>
            </a:r>
          </a:p>
        </p:txBody>
      </p:sp>
      <p:pic>
        <p:nvPicPr>
          <p:cNvPr id="5" name="Picture 4" descr="Columns outside supreme court building">
            <a:extLst>
              <a:ext uri="{FF2B5EF4-FFF2-40B4-BE49-F238E27FC236}">
                <a16:creationId xmlns:a16="http://schemas.microsoft.com/office/drawing/2014/main" id="{EBFB5F65-AEB2-53E5-A23D-548959DC82AB}"/>
              </a:ext>
            </a:extLst>
          </p:cNvPr>
          <p:cNvPicPr>
            <a:picLocks noGrp="1" noRot="1" noChangeAspect="1" noMove="1" noResize="1" noEditPoints="1" noAdjustHandles="1" noChangeArrowheads="1" noChangeShapeType="1" noCrop="1"/>
          </p:cNvPicPr>
          <p:nvPr userDrawn="1"/>
        </p:nvPicPr>
        <p:blipFill rotWithShape="1">
          <a:blip r:embed="rId3" cstate="print">
            <a:extLst>
              <a:ext uri="{BEBA8EAE-BF5A-486C-A8C5-ECC9F3942E4B}">
                <a14:imgProps xmlns:a14="http://schemas.microsoft.com/office/drawing/2010/main">
                  <a14:imgLayer r:embed="rId4">
                    <a14:imgEffect>
                      <a14:saturation sat="0"/>
                    </a14:imgEffect>
                    <a14:imgEffect>
                      <a14:brightnessContrast bright="20000"/>
                    </a14:imgEffect>
                  </a14:imgLayer>
                </a14:imgProps>
              </a:ext>
              <a:ext uri="{28A0092B-C50C-407E-A947-70E740481C1C}">
                <a14:useLocalDpi xmlns:a14="http://schemas.microsoft.com/office/drawing/2010/main"/>
              </a:ext>
            </a:extLst>
          </a:blip>
          <a:srcRect/>
          <a:stretch/>
        </p:blipFill>
        <p:spPr>
          <a:xfrm>
            <a:off x="8365523" y="494270"/>
            <a:ext cx="2849263" cy="5585253"/>
          </a:xfrm>
          <a:prstGeom prst="rect">
            <a:avLst/>
          </a:prstGeom>
        </p:spPr>
      </p:pic>
      <p:cxnSp>
        <p:nvCxnSpPr>
          <p:cNvPr id="17" name="Straight Connector 16">
            <a:extLst>
              <a:ext uri="{FF2B5EF4-FFF2-40B4-BE49-F238E27FC236}">
                <a16:creationId xmlns:a16="http://schemas.microsoft.com/office/drawing/2014/main" id="{377080EE-9C33-8477-E380-E30D1B53ACC7}"/>
              </a:ext>
            </a:extLst>
          </p:cNvPr>
          <p:cNvCxnSpPr>
            <a:cxnSpLocks noGrp="1" noRot="1" noMove="1" noResize="1" noEditPoints="1" noAdjustHandles="1" noChangeArrowheads="1" noChangeShapeType="1"/>
          </p:cNvCxnSpPr>
          <p:nvPr userDrawn="1"/>
        </p:nvCxnSpPr>
        <p:spPr>
          <a:xfrm>
            <a:off x="836612" y="4159422"/>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grpSp>
        <p:nvGrpSpPr>
          <p:cNvPr id="24" name="Group 23">
            <a:extLst>
              <a:ext uri="{FF2B5EF4-FFF2-40B4-BE49-F238E27FC236}">
                <a16:creationId xmlns:a16="http://schemas.microsoft.com/office/drawing/2014/main" id="{BAA4DE1F-6398-6A01-EDBF-A8C81F195625}"/>
              </a:ext>
            </a:extLst>
          </p:cNvPr>
          <p:cNvGrpSpPr>
            <a:grpSpLocks noGrp="1" noUngrp="1" noRot="1" noMove="1" noResize="1"/>
          </p:cNvGrpSpPr>
          <p:nvPr userDrawn="1"/>
        </p:nvGrpSpPr>
        <p:grpSpPr>
          <a:xfrm>
            <a:off x="977213" y="4675089"/>
            <a:ext cx="6982534" cy="1531190"/>
            <a:chOff x="977214" y="4557993"/>
            <a:chExt cx="6395021" cy="1531190"/>
          </a:xfrm>
        </p:grpSpPr>
        <p:sp>
          <p:nvSpPr>
            <p:cNvPr id="20" name="TextBox 19">
              <a:extLst>
                <a:ext uri="{FF2B5EF4-FFF2-40B4-BE49-F238E27FC236}">
                  <a16:creationId xmlns:a16="http://schemas.microsoft.com/office/drawing/2014/main" id="{EED56594-4551-C1F8-EBC0-9045A425FD32}"/>
                </a:ext>
              </a:extLst>
            </p:cNvPr>
            <p:cNvSpPr txBox="1">
              <a:spLocks/>
            </p:cNvSpPr>
            <p:nvPr userDrawn="1"/>
          </p:nvSpPr>
          <p:spPr>
            <a:xfrm>
              <a:off x="977214" y="4579977"/>
              <a:ext cx="1601593" cy="1269578"/>
            </a:xfrm>
            <a:prstGeom prst="rect">
              <a:avLst/>
            </a:prstGeom>
            <a:noFill/>
          </p:spPr>
          <p:txBody>
            <a:bodyPr wrap="square">
              <a:spAutoFit/>
            </a:bodyPr>
            <a:lstStyle/>
            <a:p>
              <a:pPr algn="just"/>
              <a:r>
                <a:rPr lang="en-US" sz="850" b="0" i="0" u="none" strike="noStrike" dirty="0">
                  <a:solidFill>
                    <a:srgbClr val="0B2339"/>
                  </a:solidFill>
                  <a:effectLst/>
                  <a:latin typeface="Aptos" panose="020B0004020202020204" pitchFamily="34" charset="0"/>
                </a:rPr>
                <a:t>We ensure businesses enter and operate in regulated markets with confidence by securing the necessary licenses, permits, and legal frameworks. From financial services and payments to crypto and gaming, we navigate complex global regulatory landscapes with precision and expertise.</a:t>
              </a:r>
              <a:endParaRPr lang="en-AE" sz="850" dirty="0">
                <a:solidFill>
                  <a:srgbClr val="0B2339"/>
                </a:solidFill>
                <a:latin typeface="Aptos" panose="020B0004020202020204" pitchFamily="34" charset="0"/>
              </a:endParaRPr>
            </a:p>
          </p:txBody>
        </p:sp>
        <p:sp>
          <p:nvSpPr>
            <p:cNvPr id="21" name="TextBox 20">
              <a:extLst>
                <a:ext uri="{FF2B5EF4-FFF2-40B4-BE49-F238E27FC236}">
                  <a16:creationId xmlns:a16="http://schemas.microsoft.com/office/drawing/2014/main" id="{88978758-FCDE-C142-2E65-26410B26C23E}"/>
                </a:ext>
              </a:extLst>
            </p:cNvPr>
            <p:cNvSpPr txBox="1">
              <a:spLocks/>
            </p:cNvSpPr>
            <p:nvPr userDrawn="1"/>
          </p:nvSpPr>
          <p:spPr>
            <a:xfrm>
              <a:off x="2573131" y="4557995"/>
              <a:ext cx="1601593" cy="1531188"/>
            </a:xfrm>
            <a:prstGeom prst="rect">
              <a:avLst/>
            </a:prstGeom>
            <a:noFill/>
          </p:spPr>
          <p:txBody>
            <a:bodyPr wrap="square">
              <a:spAutoFit/>
            </a:bodyPr>
            <a:lstStyle/>
            <a:p>
              <a:pPr algn="just"/>
              <a:r>
                <a:rPr lang="en-US" sz="850" b="0" i="0" u="none" strike="noStrike" dirty="0">
                  <a:solidFill>
                    <a:srgbClr val="0B2339"/>
                  </a:solidFill>
                  <a:effectLst/>
                  <a:latin typeface="Aptos" panose="020B0004020202020204" pitchFamily="34" charset="0"/>
                </a:rPr>
                <a:t>We integrate governance, risk, and compliance (GRC) as a strategic advantage, ensuring companies remain compliant, resilient, and ahead of regulatory shifts. Through outsourced GRC services, risk mitigation strategies, and board-level compliance support, we help businesses build long-term sustainability and trust.</a:t>
              </a:r>
              <a:endParaRPr lang="en-AE" sz="850" dirty="0">
                <a:solidFill>
                  <a:srgbClr val="0B2339"/>
                </a:solidFill>
                <a:latin typeface="Aptos" panose="020B0004020202020204" pitchFamily="34" charset="0"/>
              </a:endParaRPr>
            </a:p>
          </p:txBody>
        </p:sp>
        <p:sp>
          <p:nvSpPr>
            <p:cNvPr id="22" name="TextBox 21">
              <a:extLst>
                <a:ext uri="{FF2B5EF4-FFF2-40B4-BE49-F238E27FC236}">
                  <a16:creationId xmlns:a16="http://schemas.microsoft.com/office/drawing/2014/main" id="{3E5B5C29-1A3D-2BC6-8E62-74D215636140}"/>
                </a:ext>
              </a:extLst>
            </p:cNvPr>
            <p:cNvSpPr txBox="1">
              <a:spLocks/>
            </p:cNvSpPr>
            <p:nvPr userDrawn="1"/>
          </p:nvSpPr>
          <p:spPr>
            <a:xfrm>
              <a:off x="4174724" y="4557994"/>
              <a:ext cx="1601593" cy="1400383"/>
            </a:xfrm>
            <a:prstGeom prst="rect">
              <a:avLst/>
            </a:prstGeom>
            <a:noFill/>
          </p:spPr>
          <p:txBody>
            <a:bodyPr wrap="square">
              <a:spAutoFit/>
            </a:bodyPr>
            <a:lstStyle/>
            <a:p>
              <a:pPr algn="just"/>
              <a:r>
                <a:rPr lang="en-US" sz="850" b="0" i="0" u="none" strike="noStrike" dirty="0">
                  <a:solidFill>
                    <a:srgbClr val="0B2339"/>
                  </a:solidFill>
                  <a:effectLst/>
                </a:rPr>
                <a:t>We don’t just advise- we enable businesses to scale, secure funding, and drive market expansion. From multimillion-dollar fundraising to deal structuring, M&amp;A, and global market entry, we bring deep expertise in shaping successful commercial strategies while ensuring regulatory alignment.</a:t>
              </a:r>
              <a:endParaRPr lang="en-AE" sz="850" dirty="0">
                <a:solidFill>
                  <a:srgbClr val="0B2339"/>
                </a:solidFill>
                <a:latin typeface="Aptos" panose="020B0004020202020204" pitchFamily="34" charset="0"/>
              </a:endParaRPr>
            </a:p>
          </p:txBody>
        </p:sp>
        <p:sp>
          <p:nvSpPr>
            <p:cNvPr id="23" name="TextBox 22">
              <a:extLst>
                <a:ext uri="{FF2B5EF4-FFF2-40B4-BE49-F238E27FC236}">
                  <a16:creationId xmlns:a16="http://schemas.microsoft.com/office/drawing/2014/main" id="{15AFE8EB-D156-1545-A703-B13FD7AF57F2}"/>
                </a:ext>
              </a:extLst>
            </p:cNvPr>
            <p:cNvSpPr txBox="1">
              <a:spLocks/>
            </p:cNvSpPr>
            <p:nvPr userDrawn="1"/>
          </p:nvSpPr>
          <p:spPr>
            <a:xfrm>
              <a:off x="5770642" y="4557993"/>
              <a:ext cx="1601593" cy="1400383"/>
            </a:xfrm>
            <a:prstGeom prst="rect">
              <a:avLst/>
            </a:prstGeom>
            <a:noFill/>
          </p:spPr>
          <p:txBody>
            <a:bodyPr wrap="square">
              <a:spAutoFit/>
            </a:bodyPr>
            <a:lstStyle/>
            <a:p>
              <a:pPr algn="just"/>
              <a:r>
                <a:rPr lang="en-US" sz="850" b="0" i="0" u="none" strike="noStrike" dirty="0">
                  <a:solidFill>
                    <a:srgbClr val="0B2339"/>
                  </a:solidFill>
                  <a:effectLst/>
                </a:rPr>
                <a:t>Sustainable growth starts with strong leadership. Through executive coaching, board training, and corporate education programs, we equip leaders, boards, and compliance teams with the knowledge and skills needed to navigate the evolving regulatory and business landscape.</a:t>
              </a:r>
              <a:endParaRPr lang="en-AE" sz="850" dirty="0">
                <a:solidFill>
                  <a:srgbClr val="0B2339"/>
                </a:solidFill>
                <a:latin typeface="Aptos" panose="020B0004020202020204" pitchFamily="34" charset="0"/>
              </a:endParaRPr>
            </a:p>
          </p:txBody>
        </p:sp>
      </p:grpSp>
      <p:sp>
        <p:nvSpPr>
          <p:cNvPr id="26" name="TextBox 25">
            <a:extLst>
              <a:ext uri="{FF2B5EF4-FFF2-40B4-BE49-F238E27FC236}">
                <a16:creationId xmlns:a16="http://schemas.microsoft.com/office/drawing/2014/main" id="{C2027C7D-DD44-3D5E-403A-271E97E78FDA}"/>
              </a:ext>
            </a:extLst>
          </p:cNvPr>
          <p:cNvSpPr txBox="1">
            <a:spLocks/>
          </p:cNvSpPr>
          <p:nvPr userDrawn="1"/>
        </p:nvSpPr>
        <p:spPr>
          <a:xfrm>
            <a:off x="977213" y="4252373"/>
            <a:ext cx="1748732" cy="430887"/>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Regulatory Excellence</a:t>
            </a:r>
          </a:p>
          <a:p>
            <a:pPr algn="ctr"/>
            <a:r>
              <a:rPr lang="en-US" sz="1100" b="1" i="0" u="none" strike="noStrike" dirty="0">
                <a:solidFill>
                  <a:srgbClr val="0B2339"/>
                </a:solidFill>
                <a:effectLst/>
                <a:latin typeface="Aptos ExtraBold" panose="020B0004020202020204" pitchFamily="34" charset="0"/>
              </a:rPr>
              <a:t>&amp; Market Readiness</a:t>
            </a:r>
          </a:p>
        </p:txBody>
      </p:sp>
      <p:sp>
        <p:nvSpPr>
          <p:cNvPr id="27" name="TextBox 26">
            <a:extLst>
              <a:ext uri="{FF2B5EF4-FFF2-40B4-BE49-F238E27FC236}">
                <a16:creationId xmlns:a16="http://schemas.microsoft.com/office/drawing/2014/main" id="{B3801AF3-0BE5-2F03-F1A3-72CA432731FA}"/>
              </a:ext>
            </a:extLst>
          </p:cNvPr>
          <p:cNvSpPr txBox="1">
            <a:spLocks/>
          </p:cNvSpPr>
          <p:nvPr userDrawn="1"/>
        </p:nvSpPr>
        <p:spPr>
          <a:xfrm>
            <a:off x="2728505" y="4342242"/>
            <a:ext cx="1748732" cy="261610"/>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GRC as a Growth Driver</a:t>
            </a:r>
          </a:p>
        </p:txBody>
      </p:sp>
      <p:sp>
        <p:nvSpPr>
          <p:cNvPr id="28" name="TextBox 27">
            <a:extLst>
              <a:ext uri="{FF2B5EF4-FFF2-40B4-BE49-F238E27FC236}">
                <a16:creationId xmlns:a16="http://schemas.microsoft.com/office/drawing/2014/main" id="{CD4977F3-41B4-1DD0-E38F-45378F9F1F78}"/>
              </a:ext>
            </a:extLst>
          </p:cNvPr>
          <p:cNvSpPr txBox="1">
            <a:spLocks noGrp="1" noRot="1" noMove="1" noResize="1" noEditPoints="1" noAdjustHandles="1" noChangeArrowheads="1" noChangeShapeType="1"/>
          </p:cNvSpPr>
          <p:nvPr userDrawn="1"/>
        </p:nvSpPr>
        <p:spPr>
          <a:xfrm>
            <a:off x="4458509" y="4261173"/>
            <a:ext cx="1808475" cy="430887"/>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Strategic Growth, Expansion &amp; Fundraising</a:t>
            </a:r>
          </a:p>
        </p:txBody>
      </p:sp>
      <p:sp>
        <p:nvSpPr>
          <p:cNvPr id="29" name="TextBox 28">
            <a:extLst>
              <a:ext uri="{FF2B5EF4-FFF2-40B4-BE49-F238E27FC236}">
                <a16:creationId xmlns:a16="http://schemas.microsoft.com/office/drawing/2014/main" id="{7C569A4A-D84B-98B0-3B8B-61017CEE441B}"/>
              </a:ext>
            </a:extLst>
          </p:cNvPr>
          <p:cNvSpPr txBox="1">
            <a:spLocks noGrp="1" noRot="1" noMove="1" noResize="1" noEditPoints="1" noAdjustHandles="1" noChangeArrowheads="1" noChangeShapeType="1"/>
          </p:cNvSpPr>
          <p:nvPr userDrawn="1"/>
        </p:nvSpPr>
        <p:spPr>
          <a:xfrm>
            <a:off x="6220984" y="4252099"/>
            <a:ext cx="1748732" cy="430887"/>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Regulatory Excellence</a:t>
            </a:r>
          </a:p>
          <a:p>
            <a:pPr algn="ctr"/>
            <a:r>
              <a:rPr lang="en-US" sz="1100" b="1" i="0" u="none" strike="noStrike" dirty="0">
                <a:solidFill>
                  <a:srgbClr val="0B2339"/>
                </a:solidFill>
                <a:effectLst/>
                <a:latin typeface="Aptos ExtraBold" panose="020B0004020202020204" pitchFamily="34" charset="0"/>
              </a:rPr>
              <a:t>&amp; Market Readiness</a:t>
            </a:r>
          </a:p>
        </p:txBody>
      </p:sp>
      <p:sp>
        <p:nvSpPr>
          <p:cNvPr id="30" name="TextBox 29">
            <a:extLst>
              <a:ext uri="{FF2B5EF4-FFF2-40B4-BE49-F238E27FC236}">
                <a16:creationId xmlns:a16="http://schemas.microsoft.com/office/drawing/2014/main" id="{8877296E-7DAF-1A00-0CE7-690C712D8C01}"/>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just"/>
            <a:r>
              <a:rPr lang="en-US" sz="2800" b="1" i="0" u="none" strike="noStrike" dirty="0">
                <a:solidFill>
                  <a:srgbClr val="7D4E1D"/>
                </a:solidFill>
                <a:effectLst/>
                <a:latin typeface="Aptos ExtraBold" panose="020B0004020202020204" pitchFamily="34" charset="0"/>
              </a:rPr>
              <a:t>About Pnyx Hill</a:t>
            </a:r>
          </a:p>
        </p:txBody>
      </p:sp>
      <p:sp>
        <p:nvSpPr>
          <p:cNvPr id="33" name="TextBox 32">
            <a:extLst>
              <a:ext uri="{FF2B5EF4-FFF2-40B4-BE49-F238E27FC236}">
                <a16:creationId xmlns:a16="http://schemas.microsoft.com/office/drawing/2014/main" id="{3B7B35E5-1BE6-D91F-3B7B-6F905EBCF4E4}"/>
              </a:ext>
            </a:extLst>
          </p:cNvPr>
          <p:cNvSpPr txBox="1">
            <a:spLocks/>
          </p:cNvSpPr>
          <p:nvPr userDrawn="1"/>
        </p:nvSpPr>
        <p:spPr>
          <a:xfrm>
            <a:off x="911010" y="1335236"/>
            <a:ext cx="7246186"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Unlocking Growth &amp; Securing the Future</a:t>
            </a:r>
          </a:p>
        </p:txBody>
      </p:sp>
      <p:sp>
        <p:nvSpPr>
          <p:cNvPr id="34" name="TextBox 33">
            <a:extLst>
              <a:ext uri="{FF2B5EF4-FFF2-40B4-BE49-F238E27FC236}">
                <a16:creationId xmlns:a16="http://schemas.microsoft.com/office/drawing/2014/main" id="{40FF0A8A-08C3-C250-7325-940347FB3F25}"/>
              </a:ext>
            </a:extLst>
          </p:cNvPr>
          <p:cNvSpPr txBox="1">
            <a:spLocks noGrp="1" noRot="1" noMove="1" noResize="1" noEditPoints="1" noAdjustHandles="1" noChangeArrowheads="1" noChangeShapeType="1"/>
          </p:cNvSpPr>
          <p:nvPr userDrawn="1"/>
        </p:nvSpPr>
        <p:spPr>
          <a:xfrm>
            <a:off x="964590" y="3828468"/>
            <a:ext cx="7246186"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Our Core Pillars</a:t>
            </a:r>
          </a:p>
        </p:txBody>
      </p:sp>
      <p:sp>
        <p:nvSpPr>
          <p:cNvPr id="35" name="Content Placeholder 2">
            <a:extLst>
              <a:ext uri="{FF2B5EF4-FFF2-40B4-BE49-F238E27FC236}">
                <a16:creationId xmlns:a16="http://schemas.microsoft.com/office/drawing/2014/main" id="{3BB9292C-2007-4844-52AF-353AE9FD52DC}"/>
              </a:ext>
            </a:extLst>
          </p:cNvPr>
          <p:cNvSpPr txBox="1">
            <a:spLocks noGrp="1" noRot="1" noMove="1" noResize="1" noEditPoints="1" noAdjustHandles="1" noChangeArrowheads="1" noChangeShapeType="1"/>
          </p:cNvSpPr>
          <p:nvPr userDrawn="1"/>
        </p:nvSpPr>
        <p:spPr>
          <a:xfrm>
            <a:off x="836611" y="989991"/>
            <a:ext cx="7246186" cy="3872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b="1" i="0" u="none" strike="noStrike" dirty="0">
                <a:solidFill>
                  <a:srgbClr val="0B2339"/>
                </a:solidFill>
                <a:effectLst/>
                <a:latin typeface="+mn-lt"/>
              </a:rPr>
              <a:t>We prioritize needs over wants, helping clients scale wisely for lasting success.</a:t>
            </a:r>
            <a:endParaRPr lang="en-AE" sz="1000" b="1" dirty="0">
              <a:solidFill>
                <a:srgbClr val="0B2339"/>
              </a:solidFill>
              <a:latin typeface="+mn-lt"/>
            </a:endParaRPr>
          </a:p>
        </p:txBody>
      </p:sp>
    </p:spTree>
    <p:extLst>
      <p:ext uri="{BB962C8B-B14F-4D97-AF65-F5344CB8AC3E}">
        <p14:creationId xmlns:p14="http://schemas.microsoft.com/office/powerpoint/2010/main" val="42308521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Two Conten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E561E68-0154-A380-5242-F61A83C2AA10}"/>
              </a:ext>
            </a:extLst>
          </p:cNvPr>
          <p:cNvSpPr/>
          <p:nvPr userDrawn="1"/>
        </p:nvSpPr>
        <p:spPr>
          <a:xfrm>
            <a:off x="854138" y="2839994"/>
            <a:ext cx="2532303" cy="2613776"/>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CE79090C-3EA2-A1EC-0945-F0C3145BB963}"/>
              </a:ext>
            </a:extLst>
          </p:cNvPr>
          <p:cNvSpPr/>
          <p:nvPr userDrawn="1"/>
        </p:nvSpPr>
        <p:spPr>
          <a:xfrm>
            <a:off x="3482782" y="2863944"/>
            <a:ext cx="2532303" cy="2579642"/>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C450C5F2-77C4-D750-B010-4AD8EB63485C}"/>
              </a:ext>
            </a:extLst>
          </p:cNvPr>
          <p:cNvSpPr/>
          <p:nvPr userDrawn="1"/>
        </p:nvSpPr>
        <p:spPr>
          <a:xfrm>
            <a:off x="6123995" y="2844853"/>
            <a:ext cx="2532303" cy="2613776"/>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C810D565-4918-1087-BE56-417999055DDA}"/>
              </a:ext>
            </a:extLst>
          </p:cNvPr>
          <p:cNvSpPr/>
          <p:nvPr userDrawn="1"/>
        </p:nvSpPr>
        <p:spPr>
          <a:xfrm>
            <a:off x="8752660" y="2856320"/>
            <a:ext cx="2532303" cy="2587266"/>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43380103-1B04-074F-9C91-FD3C857BC5DF}"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0" name="Content Placeholder 2">
            <a:extLst>
              <a:ext uri="{FF2B5EF4-FFF2-40B4-BE49-F238E27FC236}">
                <a16:creationId xmlns:a16="http://schemas.microsoft.com/office/drawing/2014/main" id="{66EEBBC3-E27F-6506-343F-E7A02906C8D7}"/>
              </a:ext>
            </a:extLst>
          </p:cNvPr>
          <p:cNvSpPr txBox="1">
            <a:spLocks noGrp="1" noRot="1" noMove="1" noResize="1" noEditPoints="1" noAdjustHandles="1" noChangeArrowheads="1" noChangeShapeType="1"/>
          </p:cNvSpPr>
          <p:nvPr userDrawn="1"/>
        </p:nvSpPr>
        <p:spPr>
          <a:xfrm>
            <a:off x="838200" y="1270196"/>
            <a:ext cx="10515600" cy="3872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b="1" dirty="0">
                <a:solidFill>
                  <a:srgbClr val="0B2339"/>
                </a:solidFill>
                <a:effectLst/>
              </a:rPr>
              <a:t>Our senior partners bring a wealth of experience in pioneering high-growth initiatives worldwide. Their commitment to excellence is supported by a legacy of trust and innovation.</a:t>
            </a:r>
            <a:br>
              <a:rPr lang="en-US" sz="1000" b="1" dirty="0">
                <a:solidFill>
                  <a:srgbClr val="0B2339"/>
                </a:solidFill>
                <a:effectLst/>
              </a:rPr>
            </a:br>
            <a:br>
              <a:rPr lang="en-US" sz="1000" b="1" dirty="0">
                <a:solidFill>
                  <a:srgbClr val="0B2339"/>
                </a:solidFill>
                <a:effectLst/>
              </a:rPr>
            </a:br>
            <a:br>
              <a:rPr lang="en-US" sz="1000" b="1" i="0" dirty="0">
                <a:solidFill>
                  <a:srgbClr val="0B2339"/>
                </a:solidFill>
                <a:effectLst/>
                <a:highlight>
                  <a:srgbClr val="FFFFFF"/>
                </a:highlight>
              </a:rPr>
            </a:br>
            <a:endParaRPr lang="en-AE" sz="1000" b="1" dirty="0">
              <a:solidFill>
                <a:srgbClr val="0B2339"/>
              </a:solidFill>
            </a:endParaRPr>
          </a:p>
        </p:txBody>
      </p:sp>
      <p:grpSp>
        <p:nvGrpSpPr>
          <p:cNvPr id="58" name="Group 57">
            <a:extLst>
              <a:ext uri="{FF2B5EF4-FFF2-40B4-BE49-F238E27FC236}">
                <a16:creationId xmlns:a16="http://schemas.microsoft.com/office/drawing/2014/main" id="{250EE892-D649-D6E5-38BF-DC13CEE1F488}"/>
              </a:ext>
            </a:extLst>
          </p:cNvPr>
          <p:cNvGrpSpPr>
            <a:grpSpLocks/>
          </p:cNvGrpSpPr>
          <p:nvPr userDrawn="1"/>
        </p:nvGrpSpPr>
        <p:grpSpPr>
          <a:xfrm>
            <a:off x="919614" y="5679676"/>
            <a:ext cx="10291971" cy="478919"/>
            <a:chOff x="919614" y="5601020"/>
            <a:chExt cx="10291971" cy="478919"/>
          </a:xfrm>
        </p:grpSpPr>
        <p:pic>
          <p:nvPicPr>
            <p:cNvPr id="1026" name="Picture 2" descr="Talos Expands EU and US Teams with Key Hires in Sales ...">
              <a:extLst>
                <a:ext uri="{FF2B5EF4-FFF2-40B4-BE49-F238E27FC236}">
                  <a16:creationId xmlns:a16="http://schemas.microsoft.com/office/drawing/2014/main" id="{43E16896-AA75-8657-7915-297E5CC4A3E7}"/>
                </a:ext>
              </a:extLst>
            </p:cNvPr>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bwMode="auto">
            <a:xfrm>
              <a:off x="8503970" y="5707735"/>
              <a:ext cx="1321128" cy="321951"/>
            </a:xfrm>
            <a:prstGeom prst="rect">
              <a:avLst/>
            </a:prstGeom>
            <a:noFill/>
            <a:extLst>
              <a:ext uri="{909E8E84-426E-40DD-AFC4-6F175D3DCCD1}">
                <a14:hiddenFill xmlns:a14="http://schemas.microsoft.com/office/drawing/2010/main">
                  <a:solidFill>
                    <a:srgbClr val="FFFFFF"/>
                  </a:solidFill>
                </a14:hiddenFill>
              </a:ext>
            </a:extLst>
          </p:spPr>
        </p:pic>
        <p:grpSp>
          <p:nvGrpSpPr>
            <p:cNvPr id="31" name="Group 30">
              <a:extLst>
                <a:ext uri="{FF2B5EF4-FFF2-40B4-BE49-F238E27FC236}">
                  <a16:creationId xmlns:a16="http://schemas.microsoft.com/office/drawing/2014/main" id="{6A78DC78-CDB5-522B-BAAE-F9CECE42BE35}"/>
                </a:ext>
              </a:extLst>
            </p:cNvPr>
            <p:cNvGrpSpPr>
              <a:grpSpLocks noChangeAspect="1"/>
            </p:cNvGrpSpPr>
            <p:nvPr userDrawn="1"/>
          </p:nvGrpSpPr>
          <p:grpSpPr>
            <a:xfrm>
              <a:off x="919614" y="5601020"/>
              <a:ext cx="10291971" cy="478919"/>
              <a:chOff x="975405" y="5601431"/>
              <a:chExt cx="11599595" cy="539767"/>
            </a:xfrm>
          </p:grpSpPr>
          <p:pic>
            <p:nvPicPr>
              <p:cNvPr id="32" name="Picture 31">
                <a:extLst>
                  <a:ext uri="{FF2B5EF4-FFF2-40B4-BE49-F238E27FC236}">
                    <a16:creationId xmlns:a16="http://schemas.microsoft.com/office/drawing/2014/main" id="{EBCBD949-44EF-D316-FC4A-3BA64BE00940}"/>
                  </a:ext>
                </a:extLst>
              </p:cNvPr>
              <p:cNvPicPr>
                <a:picLocks noChangeAspect="1"/>
              </p:cNvPicPr>
              <p:nvPr/>
            </p:nvPicPr>
            <p:blipFill rotWithShape="1">
              <a:blip r:embed="rId4" cstate="print">
                <a:extLst>
                  <a:ext uri="{28A0092B-C50C-407E-A947-70E740481C1C}">
                    <a14:useLocalDpi xmlns:a14="http://schemas.microsoft.com/office/drawing/2010/main"/>
                  </a:ext>
                </a:extLst>
              </a:blip>
              <a:srcRect/>
              <a:stretch/>
            </p:blipFill>
            <p:spPr>
              <a:xfrm>
                <a:off x="975405" y="5652314"/>
                <a:ext cx="482043" cy="450920"/>
              </a:xfrm>
              <a:prstGeom prst="rect">
                <a:avLst/>
              </a:prstGeom>
            </p:spPr>
          </p:pic>
          <p:pic>
            <p:nvPicPr>
              <p:cNvPr id="33" name="Picture 32">
                <a:extLst>
                  <a:ext uri="{FF2B5EF4-FFF2-40B4-BE49-F238E27FC236}">
                    <a16:creationId xmlns:a16="http://schemas.microsoft.com/office/drawing/2014/main" id="{A3D0997B-AF2F-20E0-27F2-67EE475D2159}"/>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3587584" y="5652314"/>
                <a:ext cx="531253" cy="473839"/>
              </a:xfrm>
              <a:prstGeom prst="rect">
                <a:avLst/>
              </a:prstGeom>
            </p:spPr>
          </p:pic>
          <p:pic>
            <p:nvPicPr>
              <p:cNvPr id="34" name="Picture 33">
                <a:extLst>
                  <a:ext uri="{FF2B5EF4-FFF2-40B4-BE49-F238E27FC236}">
                    <a16:creationId xmlns:a16="http://schemas.microsoft.com/office/drawing/2014/main" id="{91B0DFB0-7999-26F4-79CF-1EADCB8BA31A}"/>
                  </a:ext>
                </a:extLst>
              </p:cNvPr>
              <p:cNvPicPr>
                <a:picLocks noChangeAspect="1"/>
              </p:cNvPicPr>
              <p:nvPr/>
            </p:nvPicPr>
            <p:blipFill rotWithShape="1">
              <a:blip r:embed="rId6" cstate="print">
                <a:extLst>
                  <a:ext uri="{28A0092B-C50C-407E-A947-70E740481C1C}">
                    <a14:useLocalDpi xmlns:a14="http://schemas.microsoft.com/office/drawing/2010/main"/>
                  </a:ext>
                </a:extLst>
              </a:blip>
              <a:srcRect/>
              <a:stretch/>
            </p:blipFill>
            <p:spPr>
              <a:xfrm>
                <a:off x="1938808" y="5705077"/>
                <a:ext cx="1018944" cy="347416"/>
              </a:xfrm>
              <a:prstGeom prst="rect">
                <a:avLst/>
              </a:prstGeom>
            </p:spPr>
          </p:pic>
          <p:pic>
            <p:nvPicPr>
              <p:cNvPr id="35" name="Picture 34">
                <a:extLst>
                  <a:ext uri="{FF2B5EF4-FFF2-40B4-BE49-F238E27FC236}">
                    <a16:creationId xmlns:a16="http://schemas.microsoft.com/office/drawing/2014/main" id="{7F34053F-57AF-0B12-4A42-419FA149CDB0}"/>
                  </a:ext>
                </a:extLst>
              </p:cNvPr>
              <p:cNvPicPr>
                <a:picLocks noChangeAspect="1"/>
              </p:cNvPicPr>
              <p:nvPr/>
            </p:nvPicPr>
            <p:blipFill rotWithShape="1">
              <a:blip r:embed="rId7" cstate="print">
                <a:extLst>
                  <a:ext uri="{28A0092B-C50C-407E-A947-70E740481C1C}">
                    <a14:useLocalDpi xmlns:a14="http://schemas.microsoft.com/office/drawing/2010/main"/>
                  </a:ext>
                </a:extLst>
              </a:blip>
              <a:srcRect/>
              <a:stretch/>
            </p:blipFill>
            <p:spPr>
              <a:xfrm>
                <a:off x="6529046" y="5729824"/>
                <a:ext cx="1054973" cy="346616"/>
              </a:xfrm>
              <a:prstGeom prst="rect">
                <a:avLst/>
              </a:prstGeom>
            </p:spPr>
          </p:pic>
          <p:pic>
            <p:nvPicPr>
              <p:cNvPr id="37" name="Picture 36">
                <a:extLst>
                  <a:ext uri="{FF2B5EF4-FFF2-40B4-BE49-F238E27FC236}">
                    <a16:creationId xmlns:a16="http://schemas.microsoft.com/office/drawing/2014/main" id="{F4FC0216-25CE-A100-6F0D-8D502E08FCA4}"/>
                  </a:ext>
                </a:extLst>
              </p:cNvPr>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a:off x="4885566" y="5744163"/>
                <a:ext cx="921297" cy="273225"/>
              </a:xfrm>
              <a:prstGeom prst="rect">
                <a:avLst/>
              </a:prstGeom>
            </p:spPr>
          </p:pic>
          <p:pic>
            <p:nvPicPr>
              <p:cNvPr id="38" name="Picture 37" descr="A blue hexagon with white logo&#10;&#10;Description automatically generated">
                <a:extLst>
                  <a:ext uri="{FF2B5EF4-FFF2-40B4-BE49-F238E27FC236}">
                    <a16:creationId xmlns:a16="http://schemas.microsoft.com/office/drawing/2014/main" id="{801D374C-28F6-B8AD-1CE3-1B23D0ACBEC5}"/>
                  </a:ext>
                </a:extLst>
              </p:cNvPr>
              <p:cNvPicPr>
                <a:picLocks noChangeAspect="1"/>
              </p:cNvPicPr>
              <p:nvPr/>
            </p:nvPicPr>
            <p:blipFill>
              <a:blip r:embed="rId9" cstate="print">
                <a:extLst>
                  <a:ext uri="{28A0092B-C50C-407E-A947-70E740481C1C}">
                    <a14:useLocalDpi xmlns:a14="http://schemas.microsoft.com/office/drawing/2010/main"/>
                  </a:ext>
                </a:extLst>
              </a:blip>
              <a:stretch>
                <a:fillRect/>
              </a:stretch>
            </p:blipFill>
            <p:spPr>
              <a:xfrm>
                <a:off x="8133765" y="5601431"/>
                <a:ext cx="743158" cy="539767"/>
              </a:xfrm>
              <a:prstGeom prst="rect">
                <a:avLst/>
              </a:prstGeom>
            </p:spPr>
          </p:pic>
          <p:pic>
            <p:nvPicPr>
              <p:cNvPr id="39" name="Picture 38" descr="A blue letter on a black background&#10;&#10;Description automatically generated">
                <a:extLst>
                  <a:ext uri="{FF2B5EF4-FFF2-40B4-BE49-F238E27FC236}">
                    <a16:creationId xmlns:a16="http://schemas.microsoft.com/office/drawing/2014/main" id="{01DCD7AA-855F-5B8B-28F8-926E1E9A4C2F}"/>
                  </a:ext>
                </a:extLst>
              </p:cNvPr>
              <p:cNvPicPr>
                <a:picLocks noChangeAspect="1"/>
              </p:cNvPicPr>
              <p:nvPr/>
            </p:nvPicPr>
            <p:blipFill>
              <a:blip r:embed="rId10" cstate="print">
                <a:extLst>
                  <a:ext uri="{28A0092B-C50C-407E-A947-70E740481C1C}">
                    <a14:useLocalDpi xmlns:a14="http://schemas.microsoft.com/office/drawing/2010/main"/>
                  </a:ext>
                </a:extLst>
              </a:blip>
              <a:stretch>
                <a:fillRect/>
              </a:stretch>
            </p:blipFill>
            <p:spPr>
              <a:xfrm>
                <a:off x="11562102" y="5780779"/>
                <a:ext cx="1012898" cy="181072"/>
              </a:xfrm>
              <a:prstGeom prst="rect">
                <a:avLst/>
              </a:prstGeom>
            </p:spPr>
          </p:pic>
        </p:grpSp>
      </p:grpSp>
      <p:sp>
        <p:nvSpPr>
          <p:cNvPr id="40" name="Content Placeholder 2">
            <a:extLst>
              <a:ext uri="{FF2B5EF4-FFF2-40B4-BE49-F238E27FC236}">
                <a16:creationId xmlns:a16="http://schemas.microsoft.com/office/drawing/2014/main" id="{DFB453AD-13AB-87A4-3F36-EB0F50FB24F8}"/>
              </a:ext>
            </a:extLst>
          </p:cNvPr>
          <p:cNvSpPr txBox="1">
            <a:spLocks/>
          </p:cNvSpPr>
          <p:nvPr userDrawn="1"/>
        </p:nvSpPr>
        <p:spPr>
          <a:xfrm>
            <a:off x="839672" y="5522243"/>
            <a:ext cx="10503416" cy="21031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900" b="1" dirty="0">
                <a:solidFill>
                  <a:srgbClr val="7D4E1D"/>
                </a:solidFill>
                <a:effectLst/>
              </a:rPr>
              <a:t>Select Clients &amp; Partners:</a:t>
            </a:r>
            <a:endParaRPr lang="en-AE" sz="900" b="1" dirty="0">
              <a:solidFill>
                <a:srgbClr val="7D4E1D"/>
              </a:solidFill>
            </a:endParaRPr>
          </a:p>
        </p:txBody>
      </p:sp>
      <p:sp>
        <p:nvSpPr>
          <p:cNvPr id="45" name="Title 1">
            <a:extLst>
              <a:ext uri="{FF2B5EF4-FFF2-40B4-BE49-F238E27FC236}">
                <a16:creationId xmlns:a16="http://schemas.microsoft.com/office/drawing/2014/main" id="{73663B80-1797-F36B-E28B-9925F1825AD3}"/>
              </a:ext>
            </a:extLst>
          </p:cNvPr>
          <p:cNvSpPr txBox="1">
            <a:spLocks noGrp="1" noRot="1" noMove="1" noResize="1" noEditPoints="1" noAdjustHandles="1" noChangeArrowheads="1" noChangeShapeType="1"/>
          </p:cNvSpPr>
          <p:nvPr userDrawn="1"/>
        </p:nvSpPr>
        <p:spPr>
          <a:xfrm>
            <a:off x="838200" y="1662483"/>
            <a:ext cx="2532303" cy="1135870"/>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dirty="0">
                <a:solidFill>
                  <a:schemeClr val="bg1"/>
                </a:solidFill>
              </a:rPr>
              <a:t>Licensing, Expansion &amp; Regulatory Affairs</a:t>
            </a:r>
          </a:p>
          <a:p>
            <a:pPr algn="l"/>
            <a:endParaRPr lang="en-US" sz="1400" dirty="0">
              <a:solidFill>
                <a:schemeClr val="bg1"/>
              </a:solidFill>
            </a:endParaRPr>
          </a:p>
          <a:p>
            <a:pPr algn="l"/>
            <a:r>
              <a:rPr lang="en-US" sz="1000" dirty="0">
                <a:solidFill>
                  <a:schemeClr val="bg1"/>
                </a:solidFill>
              </a:rPr>
              <a:t>Legal and Regulatory strategy and foundations </a:t>
            </a:r>
          </a:p>
        </p:txBody>
      </p:sp>
      <p:sp>
        <p:nvSpPr>
          <p:cNvPr id="46" name="Title 1">
            <a:extLst>
              <a:ext uri="{FF2B5EF4-FFF2-40B4-BE49-F238E27FC236}">
                <a16:creationId xmlns:a16="http://schemas.microsoft.com/office/drawing/2014/main" id="{24A390A4-E1AB-A5FD-DE94-9F8C9C3C7312}"/>
              </a:ext>
            </a:extLst>
          </p:cNvPr>
          <p:cNvSpPr txBox="1">
            <a:spLocks/>
          </p:cNvSpPr>
          <p:nvPr userDrawn="1"/>
        </p:nvSpPr>
        <p:spPr>
          <a:xfrm>
            <a:off x="3477072" y="1655965"/>
            <a:ext cx="2532303" cy="1135870"/>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Aft>
                <a:spcPts val="600"/>
              </a:spcAft>
            </a:pPr>
            <a:r>
              <a:rPr lang="en-GB" sz="1400" b="1" dirty="0">
                <a:solidFill>
                  <a:schemeClr val="bg1"/>
                </a:solidFill>
              </a:rPr>
              <a:t>Strategies, Business Growth &amp; Fundraising</a:t>
            </a:r>
          </a:p>
          <a:p>
            <a:pPr algn="l">
              <a:spcBef>
                <a:spcPts val="600"/>
              </a:spcBef>
              <a:spcAft>
                <a:spcPts val="600"/>
              </a:spcAft>
            </a:pPr>
            <a:r>
              <a:rPr lang="en-GB" sz="1000" dirty="0">
                <a:solidFill>
                  <a:schemeClr val="bg1"/>
                </a:solidFill>
              </a:rPr>
              <a:t>Corporate Growth Strategy &amp; Fundraising</a:t>
            </a:r>
          </a:p>
        </p:txBody>
      </p:sp>
      <p:sp>
        <p:nvSpPr>
          <p:cNvPr id="47" name="Title 1">
            <a:extLst>
              <a:ext uri="{FF2B5EF4-FFF2-40B4-BE49-F238E27FC236}">
                <a16:creationId xmlns:a16="http://schemas.microsoft.com/office/drawing/2014/main" id="{AEE1DCA3-253A-F3C1-B2B0-2A164D7B7BBA}"/>
              </a:ext>
            </a:extLst>
          </p:cNvPr>
          <p:cNvSpPr txBox="1">
            <a:spLocks/>
          </p:cNvSpPr>
          <p:nvPr userDrawn="1"/>
        </p:nvSpPr>
        <p:spPr>
          <a:xfrm>
            <a:off x="6115944" y="1629569"/>
            <a:ext cx="2532303" cy="1168783"/>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dirty="0">
                <a:solidFill>
                  <a:schemeClr val="bg1"/>
                </a:solidFill>
              </a:rPr>
              <a:t>Governance, Risk &amp; Compliance</a:t>
            </a:r>
          </a:p>
          <a:p>
            <a:pPr algn="l">
              <a:spcBef>
                <a:spcPts val="1600"/>
              </a:spcBef>
            </a:pPr>
            <a:r>
              <a:rPr lang="en-US" sz="1000" dirty="0">
                <a:solidFill>
                  <a:schemeClr val="bg1"/>
                </a:solidFill>
              </a:rPr>
              <a:t>Regulatory Compliance Services</a:t>
            </a:r>
          </a:p>
        </p:txBody>
      </p:sp>
      <p:sp>
        <p:nvSpPr>
          <p:cNvPr id="48" name="Title 1">
            <a:extLst>
              <a:ext uri="{FF2B5EF4-FFF2-40B4-BE49-F238E27FC236}">
                <a16:creationId xmlns:a16="http://schemas.microsoft.com/office/drawing/2014/main" id="{8A44F17D-576A-AB3D-ED4A-2D0FA6FF38B1}"/>
              </a:ext>
            </a:extLst>
          </p:cNvPr>
          <p:cNvSpPr txBox="1">
            <a:spLocks/>
          </p:cNvSpPr>
          <p:nvPr userDrawn="1"/>
        </p:nvSpPr>
        <p:spPr>
          <a:xfrm>
            <a:off x="8752661" y="1624452"/>
            <a:ext cx="2532303" cy="1173900"/>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dirty="0">
                <a:solidFill>
                  <a:schemeClr val="bg1"/>
                </a:solidFill>
              </a:rPr>
              <a:t>Executive Coaching, Mentoring &amp; Board Training</a:t>
            </a:r>
          </a:p>
          <a:p>
            <a:pPr algn="l">
              <a:spcBef>
                <a:spcPts val="1600"/>
              </a:spcBef>
            </a:pPr>
            <a:r>
              <a:rPr lang="en-US" sz="1000" dirty="0">
                <a:solidFill>
                  <a:schemeClr val="bg1"/>
                </a:solidFill>
              </a:rPr>
              <a:t>Governance, Risk and Compliance Training</a:t>
            </a:r>
          </a:p>
        </p:txBody>
      </p:sp>
      <p:sp>
        <p:nvSpPr>
          <p:cNvPr id="49" name="Title 1">
            <a:extLst>
              <a:ext uri="{FF2B5EF4-FFF2-40B4-BE49-F238E27FC236}">
                <a16:creationId xmlns:a16="http://schemas.microsoft.com/office/drawing/2014/main" id="{B1D3C72D-E0BD-5BFA-0715-4428FBF8A177}"/>
              </a:ext>
            </a:extLst>
          </p:cNvPr>
          <p:cNvSpPr txBox="1">
            <a:spLocks noGrp="1" noRot="1" noMove="1" noResize="1" noEditPoints="1" noAdjustHandles="1" noChangeArrowheads="1" noChangeShapeType="1"/>
          </p:cNvSpPr>
          <p:nvPr userDrawn="1"/>
        </p:nvSpPr>
        <p:spPr>
          <a:xfrm>
            <a:off x="838200" y="2856692"/>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US" sz="900" b="0" i="0" dirty="0">
                <a:solidFill>
                  <a:srgbClr val="0B2339"/>
                </a:solidFill>
                <a:latin typeface="Aptos" panose="020B0004020202020204" pitchFamily="34" charset="0"/>
              </a:rPr>
              <a:t>We guide financial, investment, payment, and crypto businesses in acquiring and managing the necessary licenses and permits, ensuring operational legality and efficiency.</a:t>
            </a:r>
          </a:p>
        </p:txBody>
      </p:sp>
      <p:sp>
        <p:nvSpPr>
          <p:cNvPr id="50" name="Title 1">
            <a:extLst>
              <a:ext uri="{FF2B5EF4-FFF2-40B4-BE49-F238E27FC236}">
                <a16:creationId xmlns:a16="http://schemas.microsoft.com/office/drawing/2014/main" id="{CFB37D74-57B1-C2DF-D7A8-9C51372E2408}"/>
              </a:ext>
            </a:extLst>
          </p:cNvPr>
          <p:cNvSpPr txBox="1">
            <a:spLocks noGrp="1" noRot="1" noMove="1" noResize="1" noEditPoints="1" noAdjustHandles="1" noChangeArrowheads="1" noChangeShapeType="1"/>
          </p:cNvSpPr>
          <p:nvPr userDrawn="1"/>
        </p:nvSpPr>
        <p:spPr>
          <a:xfrm>
            <a:off x="3477072" y="2850174"/>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GB" sz="900" b="0" i="0" dirty="0">
                <a:solidFill>
                  <a:srgbClr val="0B2339"/>
                </a:solidFill>
                <a:latin typeface="Aptos" panose="020B0004020202020204" pitchFamily="34" charset="0"/>
              </a:rPr>
              <a:t>We possess deep knowledge of international markets and hands-on experience in designing, driving, and implementing fundraising, corporate, and commercial strategies worldwide.</a:t>
            </a:r>
          </a:p>
        </p:txBody>
      </p:sp>
      <p:sp>
        <p:nvSpPr>
          <p:cNvPr id="51" name="Title 1">
            <a:extLst>
              <a:ext uri="{FF2B5EF4-FFF2-40B4-BE49-F238E27FC236}">
                <a16:creationId xmlns:a16="http://schemas.microsoft.com/office/drawing/2014/main" id="{5D751F98-7AA9-E57A-5C58-81C5207D7AF0}"/>
              </a:ext>
            </a:extLst>
          </p:cNvPr>
          <p:cNvSpPr txBox="1">
            <a:spLocks/>
          </p:cNvSpPr>
          <p:nvPr userDrawn="1"/>
        </p:nvSpPr>
        <p:spPr>
          <a:xfrm>
            <a:off x="6140011" y="2844857"/>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US" sz="900" b="0" i="0" dirty="0">
                <a:solidFill>
                  <a:srgbClr val="0B2339"/>
                </a:solidFill>
                <a:latin typeface="Aptos" panose="020B0004020202020204" pitchFamily="34" charset="0"/>
              </a:rPr>
              <a:t>We have directly and indirectly supported clients from various industries and jurisdictions in overcoming GRC challenges, setting the foundation for sustainable growth.</a:t>
            </a:r>
          </a:p>
        </p:txBody>
      </p:sp>
      <p:sp>
        <p:nvSpPr>
          <p:cNvPr id="52" name="Title 1">
            <a:extLst>
              <a:ext uri="{FF2B5EF4-FFF2-40B4-BE49-F238E27FC236}">
                <a16:creationId xmlns:a16="http://schemas.microsoft.com/office/drawing/2014/main" id="{6BB300DD-6635-334D-D58D-FC9FFEE567CB}"/>
              </a:ext>
            </a:extLst>
          </p:cNvPr>
          <p:cNvSpPr txBox="1">
            <a:spLocks/>
          </p:cNvSpPr>
          <p:nvPr userDrawn="1"/>
        </p:nvSpPr>
        <p:spPr>
          <a:xfrm>
            <a:off x="8742834" y="2865102"/>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US" sz="900" b="0" i="0" dirty="0">
                <a:solidFill>
                  <a:srgbClr val="0B2339"/>
                </a:solidFill>
                <a:latin typeface="Aptos" panose="020B0004020202020204" pitchFamily="34" charset="0"/>
              </a:rPr>
              <a:t>We have trained employees and executives of various institutions, ensuring organizations are staffed with highly trained and specialized professionals who follow the highest standards in GRC topics.</a:t>
            </a:r>
          </a:p>
        </p:txBody>
      </p:sp>
      <p:sp>
        <p:nvSpPr>
          <p:cNvPr id="54" name="Title 1">
            <a:extLst>
              <a:ext uri="{FF2B5EF4-FFF2-40B4-BE49-F238E27FC236}">
                <a16:creationId xmlns:a16="http://schemas.microsoft.com/office/drawing/2014/main" id="{0E0166C8-83CC-B52C-91F0-54BB7E9185F0}"/>
              </a:ext>
            </a:extLst>
          </p:cNvPr>
          <p:cNvSpPr txBox="1">
            <a:spLocks/>
          </p:cNvSpPr>
          <p:nvPr userDrawn="1"/>
        </p:nvSpPr>
        <p:spPr>
          <a:xfrm>
            <a:off x="838568" y="3944761"/>
            <a:ext cx="2532303" cy="1297220"/>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600"/>
              </a:spcAft>
              <a:buNone/>
            </a:pPr>
            <a:r>
              <a:rPr lang="en-US" sz="1000" b="1" i="0" dirty="0">
                <a:solidFill>
                  <a:srgbClr val="7D4E1D"/>
                </a:solidFill>
                <a:latin typeface="Aptos" panose="020B0004020202020204" pitchFamily="34" charset="0"/>
                <a:sym typeface="Graphik Bold"/>
              </a:rPr>
              <a:t>Outcomes Delivered</a:t>
            </a:r>
          </a:p>
          <a:p>
            <a:pPr marL="0" indent="0" algn="just">
              <a:lnSpc>
                <a:spcPct val="100000"/>
              </a:lnSpc>
              <a:spcBef>
                <a:spcPts val="600"/>
              </a:spcBef>
              <a:spcAft>
                <a:spcPts val="600"/>
              </a:spcAft>
              <a:buNone/>
            </a:pPr>
            <a:r>
              <a:rPr lang="en-US" sz="900" b="0" i="0" dirty="0">
                <a:solidFill>
                  <a:srgbClr val="0B2339"/>
                </a:solidFill>
                <a:effectLst/>
                <a:latin typeface="Aptos" panose="020B0004020202020204" pitchFamily="34" charset="0"/>
              </a:rPr>
              <a:t>Our team has collectively delivered more than 100 regulatory licenses over the past 10 years across the EU, MEA, Central Asia, and South America. This includes licenses for investment firms, funds, payment and e-money institutions, banks, crypto exchanges, and crypto asset service providers. </a:t>
            </a:r>
            <a:endParaRPr lang="en-AE" sz="900" b="0" i="0" dirty="0">
              <a:solidFill>
                <a:srgbClr val="0B2339"/>
              </a:solidFill>
              <a:latin typeface="Aptos" panose="020B0004020202020204" pitchFamily="34" charset="0"/>
            </a:endParaRPr>
          </a:p>
        </p:txBody>
      </p:sp>
      <p:sp>
        <p:nvSpPr>
          <p:cNvPr id="55" name="Title 1">
            <a:extLst>
              <a:ext uri="{FF2B5EF4-FFF2-40B4-BE49-F238E27FC236}">
                <a16:creationId xmlns:a16="http://schemas.microsoft.com/office/drawing/2014/main" id="{8CC52D1D-1082-3542-F60C-B8BED3FF66E8}"/>
              </a:ext>
            </a:extLst>
          </p:cNvPr>
          <p:cNvSpPr txBox="1">
            <a:spLocks/>
          </p:cNvSpPr>
          <p:nvPr userDrawn="1"/>
        </p:nvSpPr>
        <p:spPr>
          <a:xfrm>
            <a:off x="3464078" y="3939507"/>
            <a:ext cx="2532303" cy="1031364"/>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600"/>
              </a:spcAft>
              <a:buNone/>
            </a:pPr>
            <a:r>
              <a:rPr lang="en-US" sz="1000" b="1" i="0" dirty="0">
                <a:solidFill>
                  <a:srgbClr val="7D4E1D"/>
                </a:solidFill>
                <a:latin typeface="Aptos" panose="020B0004020202020204" pitchFamily="34" charset="0"/>
                <a:sym typeface="Graphik Bold"/>
              </a:rPr>
              <a:t>Outcomes Delivered</a:t>
            </a:r>
          </a:p>
          <a:p>
            <a:pPr algn="just">
              <a:lnSpc>
                <a:spcPct val="100000"/>
              </a:lnSpc>
              <a:spcBef>
                <a:spcPts val="600"/>
              </a:spcBef>
              <a:spcAft>
                <a:spcPts val="600"/>
              </a:spcAft>
            </a:pPr>
            <a:r>
              <a:rPr lang="en-US" sz="900" b="0" i="0" dirty="0">
                <a:solidFill>
                  <a:srgbClr val="0B2339"/>
                </a:solidFill>
                <a:latin typeface="Aptos" panose="020B0004020202020204" pitchFamily="34" charset="0"/>
              </a:rPr>
              <a:t>Involved in fundraising operations exceeding USD 100 million. Designed and implemented expansion playbooks and operational PMOs, successfully driving several commercial and regulatory projects across multiple countries in EMEA and Asia, including CY, GR, UK, BH, UAE, KSA, KE, MZ, UG, KZ, SG, generating hundreds of millions in revenue.</a:t>
            </a:r>
          </a:p>
        </p:txBody>
      </p:sp>
      <p:sp>
        <p:nvSpPr>
          <p:cNvPr id="56" name="Title 1">
            <a:extLst>
              <a:ext uri="{FF2B5EF4-FFF2-40B4-BE49-F238E27FC236}">
                <a16:creationId xmlns:a16="http://schemas.microsoft.com/office/drawing/2014/main" id="{848582C9-7926-13A1-1ED6-1A547191D27A}"/>
              </a:ext>
            </a:extLst>
          </p:cNvPr>
          <p:cNvSpPr txBox="1">
            <a:spLocks/>
          </p:cNvSpPr>
          <p:nvPr userDrawn="1"/>
        </p:nvSpPr>
        <p:spPr>
          <a:xfrm>
            <a:off x="6123994" y="3944694"/>
            <a:ext cx="2532303" cy="1074977"/>
          </a:xfrm>
          <a:prstGeom prst="rect">
            <a:avLst/>
          </a:prstGeom>
          <a:noFill/>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600"/>
              </a:spcAft>
              <a:buNone/>
            </a:pPr>
            <a:r>
              <a:rPr lang="en-US" sz="1000" b="1" i="0" dirty="0">
                <a:solidFill>
                  <a:srgbClr val="7D4E1D"/>
                </a:solidFill>
                <a:latin typeface="Aptos" panose="020B0004020202020204" pitchFamily="34" charset="0"/>
                <a:sym typeface="Graphik Bold"/>
              </a:rPr>
              <a:t>Outcomes Delivered</a:t>
            </a:r>
          </a:p>
          <a:p>
            <a:pPr marL="0" indent="0" algn="just">
              <a:lnSpc>
                <a:spcPct val="100000"/>
              </a:lnSpc>
              <a:spcBef>
                <a:spcPts val="600"/>
              </a:spcBef>
              <a:spcAft>
                <a:spcPts val="600"/>
              </a:spcAft>
              <a:buNone/>
            </a:pPr>
            <a:r>
              <a:rPr lang="en-US" sz="900" b="0" i="0" dirty="0">
                <a:solidFill>
                  <a:srgbClr val="0B2339"/>
                </a:solidFill>
                <a:latin typeface="Aptos" panose="020B0004020202020204" pitchFamily="34" charset="0"/>
              </a:rPr>
              <a:t>Offering a full range of corporate governance and regulatory compliance services, we bring over 50 years of collective executive experience to the industry. We have served more than 200 clients, primarily within the financial sectors.</a:t>
            </a:r>
            <a:endParaRPr lang="en-US" sz="900" b="0" i="0" dirty="0">
              <a:solidFill>
                <a:srgbClr val="0B2339"/>
              </a:solidFill>
              <a:latin typeface="Aptos" panose="020B0004020202020204" pitchFamily="34" charset="0"/>
              <a:cs typeface="Arial" panose="020B0604020202020204" pitchFamily="34" charset="0"/>
            </a:endParaRPr>
          </a:p>
        </p:txBody>
      </p:sp>
      <p:sp>
        <p:nvSpPr>
          <p:cNvPr id="57" name="Title 1">
            <a:extLst>
              <a:ext uri="{FF2B5EF4-FFF2-40B4-BE49-F238E27FC236}">
                <a16:creationId xmlns:a16="http://schemas.microsoft.com/office/drawing/2014/main" id="{B4A75A50-09A0-C93D-3491-6005782D0565}"/>
              </a:ext>
            </a:extLst>
          </p:cNvPr>
          <p:cNvSpPr txBox="1">
            <a:spLocks/>
          </p:cNvSpPr>
          <p:nvPr userDrawn="1"/>
        </p:nvSpPr>
        <p:spPr>
          <a:xfrm>
            <a:off x="8748401" y="3943202"/>
            <a:ext cx="2532303" cy="1411954"/>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300"/>
              </a:spcAft>
              <a:buNone/>
            </a:pPr>
            <a:r>
              <a:rPr lang="en-US" sz="1000" b="1" i="0" dirty="0">
                <a:solidFill>
                  <a:srgbClr val="7D4E1D"/>
                </a:solidFill>
                <a:latin typeface="Aptos" panose="020B0004020202020204" pitchFamily="34" charset="0"/>
                <a:sym typeface="Graphik Bold"/>
              </a:rPr>
              <a:t>Outcomes Delivered</a:t>
            </a:r>
          </a:p>
          <a:p>
            <a:pPr marL="0" indent="0" algn="just">
              <a:spcBef>
                <a:spcPts val="600"/>
              </a:spcBef>
              <a:spcAft>
                <a:spcPts val="600"/>
              </a:spcAft>
              <a:buNone/>
            </a:pPr>
            <a:r>
              <a:rPr lang="en-US" sz="900" b="0" i="0" dirty="0">
                <a:solidFill>
                  <a:srgbClr val="0B2339"/>
                </a:solidFill>
                <a:latin typeface="Aptos" panose="020B0004020202020204" pitchFamily="34" charset="0"/>
              </a:rPr>
              <a:t>We provide project-based training for professionals through international seminars on GRC, Finance, Strategy and Management topics. As subject matter experts, we have assisted in various engagements in both the private and governmental sectors, delivering over 100 executive programs to boards, central banks, and internal compliance and management teams.</a:t>
            </a:r>
            <a:endParaRPr lang="en-US" sz="900" b="0" i="0" dirty="0">
              <a:solidFill>
                <a:srgbClr val="0B2339"/>
              </a:solidFill>
              <a:latin typeface="Aptos" panose="020B0004020202020204" pitchFamily="34" charset="0"/>
              <a:cs typeface="Arial" panose="020B0604020202020204" pitchFamily="34" charset="0"/>
            </a:endParaRPr>
          </a:p>
        </p:txBody>
      </p:sp>
      <p:sp>
        <p:nvSpPr>
          <p:cNvPr id="1031" name="Title 1">
            <a:extLst>
              <a:ext uri="{FF2B5EF4-FFF2-40B4-BE49-F238E27FC236}">
                <a16:creationId xmlns:a16="http://schemas.microsoft.com/office/drawing/2014/main" id="{24414068-7974-AAB3-9CFA-B60431E17ED1}"/>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Pioneering Excellence &amp; Innovation</a:t>
            </a:r>
            <a:endParaRPr lang="en-AE" dirty="0"/>
          </a:p>
        </p:txBody>
      </p:sp>
    </p:spTree>
    <p:extLst>
      <p:ext uri="{BB962C8B-B14F-4D97-AF65-F5344CB8AC3E}">
        <p14:creationId xmlns:p14="http://schemas.microsoft.com/office/powerpoint/2010/main" val="510061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698D7B88-4484-C44B-B9A2-DF9ABFBEEEFF}"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Rectangle 6">
            <a:extLst>
              <a:ext uri="{FF2B5EF4-FFF2-40B4-BE49-F238E27FC236}">
                <a16:creationId xmlns:a16="http://schemas.microsoft.com/office/drawing/2014/main" id="{147DFB7A-D951-1795-9B2D-D4DE3EDCFC1C}"/>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Rectangle 10">
            <a:extLst>
              <a:ext uri="{FF2B5EF4-FFF2-40B4-BE49-F238E27FC236}">
                <a16:creationId xmlns:a16="http://schemas.microsoft.com/office/drawing/2014/main" id="{99202834-8607-CAFA-5804-00B0D5750E92}"/>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5" name="Straight Connector 14">
            <a:extLst>
              <a:ext uri="{FF2B5EF4-FFF2-40B4-BE49-F238E27FC236}">
                <a16:creationId xmlns:a16="http://schemas.microsoft.com/office/drawing/2014/main" id="{5BF1B2A8-6EC6-775E-FE2C-529D94717540}"/>
              </a:ext>
            </a:extLst>
          </p:cNvPr>
          <p:cNvCxnSpPr>
            <a:cxnSpLocks noGrp="1" noRot="1" noMove="1" noResize="1" noEditPoints="1" noAdjustHandles="1" noChangeArrowheads="1" noChangeShapeType="1"/>
          </p:cNvCxnSpPr>
          <p:nvPr userDrawn="1"/>
        </p:nvCxnSpPr>
        <p:spPr>
          <a:xfrm>
            <a:off x="836612" y="164593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672546CC-9507-1E53-0FE6-D0F68CCD63B2}"/>
              </a:ext>
            </a:extLst>
          </p:cNvPr>
          <p:cNvSpPr txBox="1">
            <a:spLocks noGrp="1" noRot="1" noMove="1" noResize="1" noEditPoints="1" noAdjustHandles="1" noChangeArrowheads="1" noChangeShapeType="1"/>
          </p:cNvSpPr>
          <p:nvPr userDrawn="1"/>
        </p:nvSpPr>
        <p:spPr>
          <a:xfrm>
            <a:off x="911010" y="1738627"/>
            <a:ext cx="7087948" cy="1338828"/>
          </a:xfrm>
          <a:prstGeom prst="rect">
            <a:avLst/>
          </a:prstGeom>
          <a:noFill/>
        </p:spPr>
        <p:txBody>
          <a:bodyPr wrap="square">
            <a:spAutoFit/>
          </a:bodyPr>
          <a:lstStyle/>
          <a:p>
            <a:pPr algn="just"/>
            <a:r>
              <a:rPr lang="en-US" sz="900" b="0" i="0" u="none" strike="noStrike" dirty="0">
                <a:solidFill>
                  <a:srgbClr val="0B2339"/>
                </a:solidFill>
                <a:effectLst/>
                <a:latin typeface="YACkoA9eHeY 0"/>
              </a:rPr>
              <a:t>At Pnyx Hill, we don’t just offer advisory services; we </a:t>
            </a:r>
            <a:r>
              <a:rPr lang="en-US" sz="900" b="1" i="0" u="none" strike="noStrike" dirty="0">
                <a:solidFill>
                  <a:srgbClr val="0B2339"/>
                </a:solidFill>
                <a:effectLst/>
                <a:latin typeface="YACkoA9eHeY 0"/>
              </a:rPr>
              <a:t>reshape the way businesses navigate strategy, governance, risk,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compliance</a:t>
            </a:r>
            <a:r>
              <a:rPr lang="en-US" sz="900" b="0" i="0" u="none" strike="noStrike" dirty="0">
                <a:solidFill>
                  <a:srgbClr val="0B2339"/>
                </a:solidFill>
                <a:effectLst/>
                <a:latin typeface="YACkoA9eHeY 0"/>
              </a:rPr>
              <a:t> (SGRC). We believe </a:t>
            </a:r>
            <a:r>
              <a:rPr lang="en-US" sz="900" b="1" i="0" u="none" strike="noStrike" dirty="0">
                <a:solidFill>
                  <a:srgbClr val="0B2339"/>
                </a:solidFill>
                <a:effectLst/>
                <a:latin typeface="YACkoA9eHeY 0"/>
              </a:rPr>
              <a:t>GRC doesn’t function without strategic implementation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strategy doesn’t perform to its maximum without GRC</a:t>
            </a:r>
            <a:r>
              <a:rPr lang="en-US" sz="900" b="0" i="0" u="none" strike="noStrike" dirty="0">
                <a:solidFill>
                  <a:srgbClr val="0B2339"/>
                </a:solidFill>
                <a:effectLst/>
                <a:latin typeface="YACkoA9eHeY 0"/>
              </a:rPr>
              <a:t>.</a:t>
            </a:r>
          </a:p>
          <a:p>
            <a:pPr algn="just"/>
            <a:endParaRPr lang="en-US" sz="900" b="0" i="0" u="none" strike="noStrike" dirty="0">
              <a:solidFill>
                <a:srgbClr val="0B2339"/>
              </a:solidFill>
              <a:effectLst/>
              <a:latin typeface="YACkoA9eHeY 0"/>
            </a:endParaRPr>
          </a:p>
          <a:p>
            <a:pPr algn="just"/>
            <a:r>
              <a:rPr lang="en-US" sz="900" b="0" i="0" u="none" strike="noStrike" dirty="0">
                <a:solidFill>
                  <a:srgbClr val="0B2339"/>
                </a:solidFill>
                <a:effectLst/>
                <a:latin typeface="YACkoA9eHeY 0"/>
              </a:rPr>
              <a:t>Our </a:t>
            </a:r>
            <a:r>
              <a:rPr lang="en-US" sz="900" b="1" i="0" u="none" strike="noStrike" dirty="0">
                <a:solidFill>
                  <a:srgbClr val="0B2339"/>
                </a:solidFill>
                <a:effectLst/>
                <a:latin typeface="YACkoA9eHeY 0"/>
              </a:rPr>
              <a:t>boutique specialization, deep industry expertise,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partnership-driven approach</a:t>
            </a:r>
            <a:r>
              <a:rPr lang="en-US" sz="900" b="0" i="0" u="none" strike="noStrike" dirty="0">
                <a:solidFill>
                  <a:srgbClr val="0B2339"/>
                </a:solidFill>
                <a:effectLst/>
                <a:latin typeface="YACkoA9eHeY 0"/>
              </a:rPr>
              <a:t> ensure that </a:t>
            </a:r>
            <a:r>
              <a:rPr lang="en-US" sz="900" b="1" i="0" u="none" strike="noStrike" dirty="0">
                <a:solidFill>
                  <a:srgbClr val="0B2339"/>
                </a:solidFill>
                <a:effectLst/>
                <a:latin typeface="YACkoA9eHeY 0"/>
              </a:rPr>
              <a:t>clients receive tailored, high-impact solutions, </a:t>
            </a:r>
            <a:r>
              <a:rPr lang="en-US" sz="900" b="0" i="0" u="none" strike="noStrike" dirty="0">
                <a:solidFill>
                  <a:srgbClr val="0B2339"/>
                </a:solidFill>
                <a:effectLst/>
                <a:latin typeface="YACkoA9eHeY 0"/>
              </a:rPr>
              <a:t>not generic consulting.</a:t>
            </a:r>
          </a:p>
          <a:p>
            <a:pPr algn="just"/>
            <a:r>
              <a:rPr lang="en-US" sz="900" b="0" i="0" u="none" strike="noStrike" dirty="0">
                <a:solidFill>
                  <a:srgbClr val="0B2339"/>
                </a:solidFill>
                <a:effectLst/>
                <a:latin typeface="YACkoA9eHeY 0"/>
              </a:rPr>
              <a:t>We b</a:t>
            </a:r>
            <a:r>
              <a:rPr lang="en-US" sz="900" b="1" i="0" u="none" strike="noStrike" dirty="0">
                <a:solidFill>
                  <a:srgbClr val="0B2339"/>
                </a:solidFill>
                <a:effectLst/>
                <a:latin typeface="YACkoA9eHeY 0"/>
              </a:rPr>
              <a:t>elieve in vertical depth over shallow breadth</a:t>
            </a:r>
            <a:r>
              <a:rPr lang="en-US" sz="900" b="0" i="0" u="none" strike="noStrike" dirty="0">
                <a:solidFill>
                  <a:srgbClr val="0B2339"/>
                </a:solidFill>
                <a:effectLst/>
                <a:latin typeface="YACkoA9eHeY 0"/>
              </a:rPr>
              <a:t>, selecting clients where our values, vision, and commitment to excellence align.</a:t>
            </a:r>
          </a:p>
          <a:p>
            <a:pPr algn="just"/>
            <a:endParaRPr lang="en-US" sz="900" b="0" i="0" u="none" strike="noStrike" dirty="0">
              <a:solidFill>
                <a:srgbClr val="0B2339"/>
              </a:solidFill>
              <a:effectLst/>
              <a:latin typeface="YACkoA9eHeY 0"/>
            </a:endParaRPr>
          </a:p>
          <a:p>
            <a:pPr algn="just"/>
            <a:r>
              <a:rPr lang="en-US" sz="900" b="0" i="0" u="none" strike="noStrike" dirty="0">
                <a:solidFill>
                  <a:srgbClr val="0B2339"/>
                </a:solidFill>
                <a:effectLst/>
                <a:latin typeface="YACkoA9eHeY 0"/>
              </a:rPr>
              <a:t>With a proven track record of delivering results across regulated finance, digital assets, technology, healthcare, and more, </a:t>
            </a:r>
            <a:r>
              <a:rPr lang="en-US" sz="900" b="1" i="0" u="none" strike="noStrike" dirty="0">
                <a:solidFill>
                  <a:srgbClr val="0B2339"/>
                </a:solidFill>
                <a:effectLst/>
                <a:latin typeface="YACkoA9eHeY 0"/>
              </a:rPr>
              <a:t>we operate with precision, accountability,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a:t>
            </a:r>
            <a:r>
              <a:rPr lang="en-US" sz="900" b="0" i="0" u="none" strike="noStrike" dirty="0">
                <a:solidFill>
                  <a:srgbClr val="0B2339"/>
                </a:solidFill>
                <a:effectLst/>
                <a:latin typeface="YACkoA9eHeY 0"/>
              </a:rPr>
              <a:t>a</a:t>
            </a:r>
            <a:r>
              <a:rPr lang="en-US" sz="900" b="1" i="0" u="none" strike="noStrike" dirty="0">
                <a:solidFill>
                  <a:srgbClr val="0B2339"/>
                </a:solidFill>
                <a:effectLst/>
                <a:latin typeface="YACkoA9eHeY 0"/>
              </a:rPr>
              <a:t> relentless focus on value creation</a:t>
            </a:r>
            <a:r>
              <a:rPr lang="en-US" sz="900" b="0" i="0" u="none" strike="noStrike" dirty="0">
                <a:solidFill>
                  <a:srgbClr val="0B2339"/>
                </a:solidFill>
                <a:effectLst/>
                <a:latin typeface="YACkoA9eHeY 0"/>
              </a:rPr>
              <a:t>.</a:t>
            </a:r>
          </a:p>
        </p:txBody>
      </p:sp>
      <p:pic>
        <p:nvPicPr>
          <p:cNvPr id="5" name="Picture 4" descr="Chess pieces">
            <a:extLst>
              <a:ext uri="{FF2B5EF4-FFF2-40B4-BE49-F238E27FC236}">
                <a16:creationId xmlns:a16="http://schemas.microsoft.com/office/drawing/2014/main" id="{EBFB5F65-AEB2-53E5-A23D-548959DC82AB}"/>
              </a:ext>
            </a:extLst>
          </p:cNvPr>
          <p:cNvPicPr>
            <a:picLocks noGrp="1" noRot="1" noChangeAspec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sp>
        <p:nvSpPr>
          <p:cNvPr id="23" name="TextBox 22">
            <a:extLst>
              <a:ext uri="{FF2B5EF4-FFF2-40B4-BE49-F238E27FC236}">
                <a16:creationId xmlns:a16="http://schemas.microsoft.com/office/drawing/2014/main" id="{15AFE8EB-D156-1545-A703-B13FD7AF57F2}"/>
              </a:ext>
            </a:extLst>
          </p:cNvPr>
          <p:cNvSpPr txBox="1">
            <a:spLocks noGrp="1" noRot="1" noMove="1" noResize="1" noEditPoints="1" noAdjustHandles="1" noChangeArrowheads="1" noChangeShapeType="1"/>
          </p:cNvSpPr>
          <p:nvPr userDrawn="1"/>
        </p:nvSpPr>
        <p:spPr>
          <a:xfrm>
            <a:off x="2343660" y="4549506"/>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Corporate Governance</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Risk Management</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Compliance Advisory</a:t>
            </a:r>
            <a:endParaRPr lang="en-AE" sz="700" b="1" i="0" dirty="0">
              <a:solidFill>
                <a:srgbClr val="0B2339"/>
              </a:solidFill>
              <a:latin typeface="Aptos SemiBold" panose="020B0004020202020204" pitchFamily="34" charset="0"/>
            </a:endParaRPr>
          </a:p>
        </p:txBody>
      </p:sp>
      <p:sp>
        <p:nvSpPr>
          <p:cNvPr id="30" name="TextBox 29">
            <a:extLst>
              <a:ext uri="{FF2B5EF4-FFF2-40B4-BE49-F238E27FC236}">
                <a16:creationId xmlns:a16="http://schemas.microsoft.com/office/drawing/2014/main" id="{8877296E-7DAF-1A00-0CE7-690C712D8C01}"/>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just"/>
            <a:r>
              <a:rPr lang="en-US" sz="2800" b="1" i="0" u="none" strike="noStrike" dirty="0">
                <a:solidFill>
                  <a:srgbClr val="7D4E1D"/>
                </a:solidFill>
                <a:effectLst/>
                <a:latin typeface="Aptos ExtraBold" panose="020B0004020202020204" pitchFamily="34" charset="0"/>
              </a:rPr>
              <a:t>What Sets Us Apart</a:t>
            </a:r>
          </a:p>
        </p:txBody>
      </p:sp>
      <p:sp>
        <p:nvSpPr>
          <p:cNvPr id="33" name="TextBox 32">
            <a:extLst>
              <a:ext uri="{FF2B5EF4-FFF2-40B4-BE49-F238E27FC236}">
                <a16:creationId xmlns:a16="http://schemas.microsoft.com/office/drawing/2014/main" id="{3B7B35E5-1BE6-D91F-3B7B-6F905EBCF4E4}"/>
              </a:ext>
            </a:extLst>
          </p:cNvPr>
          <p:cNvSpPr txBox="1">
            <a:spLocks noGrp="1" noRot="1" noMove="1" noResize="1" noEditPoints="1" noAdjustHandles="1" noChangeArrowheads="1" noChangeShapeType="1"/>
          </p:cNvSpPr>
          <p:nvPr userDrawn="1"/>
        </p:nvSpPr>
        <p:spPr>
          <a:xfrm>
            <a:off x="911010" y="1335236"/>
            <a:ext cx="7246186"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Unlocking Growth &amp; Securing the Future</a:t>
            </a:r>
          </a:p>
        </p:txBody>
      </p:sp>
      <p:sp>
        <p:nvSpPr>
          <p:cNvPr id="35" name="Content Placeholder 2">
            <a:extLst>
              <a:ext uri="{FF2B5EF4-FFF2-40B4-BE49-F238E27FC236}">
                <a16:creationId xmlns:a16="http://schemas.microsoft.com/office/drawing/2014/main" id="{3BB9292C-2007-4844-52AF-353AE9FD52DC}"/>
              </a:ext>
            </a:extLst>
          </p:cNvPr>
          <p:cNvSpPr txBox="1">
            <a:spLocks noGrp="1" noRot="1" noMove="1" noResize="1" noEditPoints="1" noAdjustHandles="1" noChangeArrowheads="1" noChangeShapeType="1"/>
          </p:cNvSpPr>
          <p:nvPr userDrawn="1"/>
        </p:nvSpPr>
        <p:spPr>
          <a:xfrm>
            <a:off x="836611" y="989991"/>
            <a:ext cx="7246186" cy="3872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b="1" i="0" u="none" strike="noStrike" dirty="0">
                <a:solidFill>
                  <a:srgbClr val="0B2339"/>
                </a:solidFill>
                <a:effectLst/>
                <a:latin typeface="+mn-lt"/>
              </a:rPr>
              <a:t>We prioritize needs over wants, helping clients scale wisely for lasting success.</a:t>
            </a:r>
            <a:endParaRPr lang="en-AE" sz="1000" b="1" dirty="0">
              <a:solidFill>
                <a:srgbClr val="0B2339"/>
              </a:solidFill>
              <a:latin typeface="+mn-lt"/>
            </a:endParaRPr>
          </a:p>
        </p:txBody>
      </p:sp>
      <p:grpSp>
        <p:nvGrpSpPr>
          <p:cNvPr id="37" name="Group 36">
            <a:extLst>
              <a:ext uri="{FF2B5EF4-FFF2-40B4-BE49-F238E27FC236}">
                <a16:creationId xmlns:a16="http://schemas.microsoft.com/office/drawing/2014/main" id="{12523807-179A-8FB5-F60F-2F7961D59A95}"/>
              </a:ext>
            </a:extLst>
          </p:cNvPr>
          <p:cNvGrpSpPr>
            <a:grpSpLocks/>
          </p:cNvGrpSpPr>
          <p:nvPr userDrawn="1"/>
        </p:nvGrpSpPr>
        <p:grpSpPr>
          <a:xfrm>
            <a:off x="836612" y="3171247"/>
            <a:ext cx="7355255" cy="1012340"/>
            <a:chOff x="836612" y="3212015"/>
            <a:chExt cx="7355255" cy="1012340"/>
          </a:xfrm>
        </p:grpSpPr>
        <p:cxnSp>
          <p:nvCxnSpPr>
            <p:cNvPr id="17" name="Straight Connector 16">
              <a:extLst>
                <a:ext uri="{FF2B5EF4-FFF2-40B4-BE49-F238E27FC236}">
                  <a16:creationId xmlns:a16="http://schemas.microsoft.com/office/drawing/2014/main" id="{377080EE-9C33-8477-E380-E30D1B53ACC7}"/>
                </a:ext>
              </a:extLst>
            </p:cNvPr>
            <p:cNvCxnSpPr>
              <a:cxnSpLocks/>
            </p:cNvCxnSpPr>
            <p:nvPr userDrawn="1"/>
          </p:nvCxnSpPr>
          <p:spPr>
            <a:xfrm>
              <a:off x="836612" y="3479037"/>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40FF0A8A-08C3-C250-7325-940347FB3F25}"/>
                </a:ext>
              </a:extLst>
            </p:cNvPr>
            <p:cNvSpPr txBox="1">
              <a:spLocks/>
            </p:cNvSpPr>
            <p:nvPr userDrawn="1"/>
          </p:nvSpPr>
          <p:spPr>
            <a:xfrm>
              <a:off x="945681" y="3212015"/>
              <a:ext cx="7246186" cy="276999"/>
            </a:xfrm>
            <a:prstGeom prst="rect">
              <a:avLst/>
            </a:prstGeom>
            <a:noFill/>
          </p:spPr>
          <p:txBody>
            <a:bodyPr wrap="square">
              <a:spAutoFit/>
            </a:bodyPr>
            <a:lstStyle/>
            <a:p>
              <a:pPr algn="just"/>
              <a:r>
                <a:rPr lang="en-US" sz="1200" b="1" i="0" u="none" strike="noStrike" dirty="0">
                  <a:solidFill>
                    <a:srgbClr val="7D4E1D"/>
                  </a:solidFill>
                  <a:effectLst/>
                  <a:latin typeface="Aptos ExtraBold" panose="020B0004020202020204" pitchFamily="34" charset="0"/>
                </a:rPr>
                <a:t>Industry Focus</a:t>
              </a:r>
            </a:p>
          </p:txBody>
        </p:sp>
        <p:grpSp>
          <p:nvGrpSpPr>
            <p:cNvPr id="32" name="Group 31">
              <a:extLst>
                <a:ext uri="{FF2B5EF4-FFF2-40B4-BE49-F238E27FC236}">
                  <a16:creationId xmlns:a16="http://schemas.microsoft.com/office/drawing/2014/main" id="{D08922CB-B892-B55A-6D4E-5000C5876C73}"/>
                </a:ext>
              </a:extLst>
            </p:cNvPr>
            <p:cNvGrpSpPr>
              <a:grpSpLocks/>
            </p:cNvGrpSpPr>
            <p:nvPr userDrawn="1"/>
          </p:nvGrpSpPr>
          <p:grpSpPr>
            <a:xfrm>
              <a:off x="840598" y="3839852"/>
              <a:ext cx="7158360" cy="384503"/>
              <a:chOff x="979938" y="4226658"/>
              <a:chExt cx="6414597" cy="384503"/>
            </a:xfrm>
          </p:grpSpPr>
          <p:sp>
            <p:nvSpPr>
              <p:cNvPr id="26" name="TextBox 25">
                <a:extLst>
                  <a:ext uri="{FF2B5EF4-FFF2-40B4-BE49-F238E27FC236}">
                    <a16:creationId xmlns:a16="http://schemas.microsoft.com/office/drawing/2014/main" id="{C2027C7D-DD44-3D5E-403A-271E97E78FDA}"/>
                  </a:ext>
                </a:extLst>
              </p:cNvPr>
              <p:cNvSpPr txBox="1">
                <a:spLocks/>
              </p:cNvSpPr>
              <p:nvPr userDrawn="1"/>
            </p:nvSpPr>
            <p:spPr>
              <a:xfrm>
                <a:off x="979938" y="4232083"/>
                <a:ext cx="962588"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Financial Services</a:t>
                </a:r>
              </a:p>
            </p:txBody>
          </p:sp>
          <p:sp>
            <p:nvSpPr>
              <p:cNvPr id="27" name="TextBox 26">
                <a:extLst>
                  <a:ext uri="{FF2B5EF4-FFF2-40B4-BE49-F238E27FC236}">
                    <a16:creationId xmlns:a16="http://schemas.microsoft.com/office/drawing/2014/main" id="{B3801AF3-0BE5-2F03-F1A3-72CA432731FA}"/>
                  </a:ext>
                </a:extLst>
              </p:cNvPr>
              <p:cNvSpPr txBox="1">
                <a:spLocks/>
              </p:cNvSpPr>
              <p:nvPr userDrawn="1"/>
            </p:nvSpPr>
            <p:spPr>
              <a:xfrm>
                <a:off x="2044836" y="4226658"/>
                <a:ext cx="923818"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Web3 &amp; Digital Assets</a:t>
                </a:r>
              </a:p>
            </p:txBody>
          </p:sp>
          <p:sp>
            <p:nvSpPr>
              <p:cNvPr id="28" name="TextBox 27">
                <a:extLst>
                  <a:ext uri="{FF2B5EF4-FFF2-40B4-BE49-F238E27FC236}">
                    <a16:creationId xmlns:a16="http://schemas.microsoft.com/office/drawing/2014/main" id="{CD4977F3-41B4-1DD0-E38F-45378F9F1F78}"/>
                  </a:ext>
                </a:extLst>
              </p:cNvPr>
              <p:cNvSpPr txBox="1">
                <a:spLocks/>
              </p:cNvSpPr>
              <p:nvPr userDrawn="1"/>
            </p:nvSpPr>
            <p:spPr>
              <a:xfrm>
                <a:off x="3048378" y="4241829"/>
                <a:ext cx="1131598"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Technology Startups</a:t>
                </a:r>
              </a:p>
            </p:txBody>
          </p:sp>
          <p:sp>
            <p:nvSpPr>
              <p:cNvPr id="29" name="TextBox 28">
                <a:extLst>
                  <a:ext uri="{FF2B5EF4-FFF2-40B4-BE49-F238E27FC236}">
                    <a16:creationId xmlns:a16="http://schemas.microsoft.com/office/drawing/2014/main" id="{7C569A4A-D84B-98B0-3B8B-61017CEE441B}"/>
                  </a:ext>
                </a:extLst>
              </p:cNvPr>
              <p:cNvSpPr txBox="1">
                <a:spLocks/>
              </p:cNvSpPr>
              <p:nvPr userDrawn="1"/>
            </p:nvSpPr>
            <p:spPr>
              <a:xfrm>
                <a:off x="4124259" y="4248316"/>
                <a:ext cx="1094216" cy="2308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Healthcare</a:t>
                </a:r>
              </a:p>
            </p:txBody>
          </p:sp>
          <p:sp>
            <p:nvSpPr>
              <p:cNvPr id="6" name="TextBox 5">
                <a:extLst>
                  <a:ext uri="{FF2B5EF4-FFF2-40B4-BE49-F238E27FC236}">
                    <a16:creationId xmlns:a16="http://schemas.microsoft.com/office/drawing/2014/main" id="{4DD97115-DDEE-98FB-700F-8760A80A794A}"/>
                  </a:ext>
                </a:extLst>
              </p:cNvPr>
              <p:cNvSpPr txBox="1">
                <a:spLocks/>
              </p:cNvSpPr>
              <p:nvPr userDrawn="1"/>
            </p:nvSpPr>
            <p:spPr>
              <a:xfrm>
                <a:off x="5206103" y="4248584"/>
                <a:ext cx="1094216" cy="2308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Gaming</a:t>
                </a:r>
              </a:p>
            </p:txBody>
          </p:sp>
          <p:sp>
            <p:nvSpPr>
              <p:cNvPr id="10" name="TextBox 9">
                <a:extLst>
                  <a:ext uri="{FF2B5EF4-FFF2-40B4-BE49-F238E27FC236}">
                    <a16:creationId xmlns:a16="http://schemas.microsoft.com/office/drawing/2014/main" id="{EFEAE25B-33D5-93CE-BC06-52324D4C32E3}"/>
                  </a:ext>
                </a:extLst>
              </p:cNvPr>
              <p:cNvSpPr txBox="1">
                <a:spLocks/>
              </p:cNvSpPr>
              <p:nvPr userDrawn="1"/>
            </p:nvSpPr>
            <p:spPr>
              <a:xfrm>
                <a:off x="6300319" y="4241829"/>
                <a:ext cx="1094216"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Energy &amp; Infrastructure</a:t>
                </a:r>
              </a:p>
            </p:txBody>
          </p:sp>
        </p:grpSp>
        <p:grpSp>
          <p:nvGrpSpPr>
            <p:cNvPr id="36" name="Group 35">
              <a:extLst>
                <a:ext uri="{FF2B5EF4-FFF2-40B4-BE49-F238E27FC236}">
                  <a16:creationId xmlns:a16="http://schemas.microsoft.com/office/drawing/2014/main" id="{E50316BB-61B7-614F-0A6D-C1C62AAD721A}"/>
                </a:ext>
              </a:extLst>
            </p:cNvPr>
            <p:cNvGrpSpPr>
              <a:grpSpLocks/>
            </p:cNvGrpSpPr>
            <p:nvPr userDrawn="1"/>
          </p:nvGrpSpPr>
          <p:grpSpPr>
            <a:xfrm>
              <a:off x="1252072" y="3523789"/>
              <a:ext cx="6268675" cy="348615"/>
              <a:chOff x="1314819" y="3858179"/>
              <a:chExt cx="6268675" cy="348615"/>
            </a:xfrm>
          </p:grpSpPr>
          <p:pic>
            <p:nvPicPr>
              <p:cNvPr id="13" name="Picture 12" descr="A screen shot of a device&#10;&#10;Description automatically generated">
                <a:extLst>
                  <a:ext uri="{FF2B5EF4-FFF2-40B4-BE49-F238E27FC236}">
                    <a16:creationId xmlns:a16="http://schemas.microsoft.com/office/drawing/2014/main" id="{D48BD6AC-604A-B785-74D4-E5465BF0F68D}"/>
                  </a:ext>
                </a:extLst>
              </p:cNvPr>
              <p:cNvPicPr>
                <a:picLocks noChangeAspect="1"/>
              </p:cNvPicPr>
              <p:nvPr userDrawn="1"/>
            </p:nvPicPr>
            <p:blipFill rotWithShape="1">
              <a:blip r:embed="rId4" cstate="print">
                <a:extLst>
                  <a:ext uri="{28A0092B-C50C-407E-A947-70E740481C1C}">
                    <a14:useLocalDpi xmlns:a14="http://schemas.microsoft.com/office/drawing/2010/main"/>
                  </a:ext>
                </a:extLst>
              </a:blip>
              <a:srcRect/>
              <a:stretch/>
            </p:blipFill>
            <p:spPr>
              <a:xfrm>
                <a:off x="1314819" y="3938279"/>
                <a:ext cx="261531" cy="265961"/>
              </a:xfrm>
              <a:prstGeom prst="rect">
                <a:avLst/>
              </a:prstGeom>
            </p:spPr>
          </p:pic>
          <p:pic>
            <p:nvPicPr>
              <p:cNvPr id="16" name="Picture 15" descr="A screen shot of a device&#10;&#10;Description automatically generated">
                <a:extLst>
                  <a:ext uri="{FF2B5EF4-FFF2-40B4-BE49-F238E27FC236}">
                    <a16:creationId xmlns:a16="http://schemas.microsoft.com/office/drawing/2014/main" id="{A086DAA4-166D-D25E-5F6C-9A17F8D84CD0}"/>
                  </a:ext>
                </a:extLst>
              </p:cNvPr>
              <p:cNvPicPr>
                <a:picLocks noChangeAspect="1"/>
              </p:cNvPicPr>
              <p:nvPr userDrawn="1"/>
            </p:nvPicPr>
            <p:blipFill rotWithShape="1">
              <a:blip r:embed="rId5" cstate="print">
                <a:extLst>
                  <a:ext uri="{28A0092B-C50C-407E-A947-70E740481C1C}">
                    <a14:useLocalDpi xmlns:a14="http://schemas.microsoft.com/office/drawing/2010/main"/>
                  </a:ext>
                </a:extLst>
              </a:blip>
              <a:srcRect/>
              <a:stretch/>
            </p:blipFill>
            <p:spPr>
              <a:xfrm>
                <a:off x="2463090" y="3894148"/>
                <a:ext cx="295652" cy="300660"/>
              </a:xfrm>
              <a:prstGeom prst="rect">
                <a:avLst/>
              </a:prstGeom>
            </p:spPr>
          </p:pic>
          <p:pic>
            <p:nvPicPr>
              <p:cNvPr id="18" name="Picture 17" descr="A screen shot of a device&#10;&#10;Description automatically generated">
                <a:extLst>
                  <a:ext uri="{FF2B5EF4-FFF2-40B4-BE49-F238E27FC236}">
                    <a16:creationId xmlns:a16="http://schemas.microsoft.com/office/drawing/2014/main" id="{B3274733-CD9E-D433-4E05-7D8EDF578EF9}"/>
                  </a:ext>
                </a:extLst>
              </p:cNvPr>
              <p:cNvPicPr>
                <a:picLocks noChangeAspect="1"/>
              </p:cNvPicPr>
              <p:nvPr userDrawn="1"/>
            </p:nvPicPr>
            <p:blipFill rotWithShape="1">
              <a:blip r:embed="rId6" cstate="print">
                <a:extLst>
                  <a:ext uri="{28A0092B-C50C-407E-A947-70E740481C1C}">
                    <a14:useLocalDpi xmlns:a14="http://schemas.microsoft.com/office/drawing/2010/main"/>
                  </a:ext>
                </a:extLst>
              </a:blip>
              <a:srcRect/>
              <a:stretch/>
            </p:blipFill>
            <p:spPr>
              <a:xfrm>
                <a:off x="3693175" y="3906134"/>
                <a:ext cx="295652" cy="300660"/>
              </a:xfrm>
              <a:prstGeom prst="rect">
                <a:avLst/>
              </a:prstGeom>
            </p:spPr>
          </p:pic>
          <p:pic>
            <p:nvPicPr>
              <p:cNvPr id="19" name="Picture 18" descr="A screen shot of a device&#10;&#10;Description automatically generated">
                <a:extLst>
                  <a:ext uri="{FF2B5EF4-FFF2-40B4-BE49-F238E27FC236}">
                    <a16:creationId xmlns:a16="http://schemas.microsoft.com/office/drawing/2014/main" id="{7042E444-8759-515E-99D9-7CB2F214E816}"/>
                  </a:ext>
                </a:extLst>
              </p:cNvPr>
              <p:cNvPicPr>
                <a:picLocks noChangeAspect="1"/>
              </p:cNvPicPr>
              <p:nvPr userDrawn="1"/>
            </p:nvPicPr>
            <p:blipFill rotWithShape="1">
              <a:blip r:embed="rId7" cstate="print">
                <a:extLst>
                  <a:ext uri="{28A0092B-C50C-407E-A947-70E740481C1C}">
                    <a14:useLocalDpi xmlns:a14="http://schemas.microsoft.com/office/drawing/2010/main"/>
                  </a:ext>
                </a:extLst>
              </a:blip>
              <a:srcRect/>
              <a:stretch/>
            </p:blipFill>
            <p:spPr>
              <a:xfrm>
                <a:off x="4875466" y="3885979"/>
                <a:ext cx="295652" cy="300660"/>
              </a:xfrm>
              <a:prstGeom prst="rect">
                <a:avLst/>
              </a:prstGeom>
            </p:spPr>
          </p:pic>
          <p:pic>
            <p:nvPicPr>
              <p:cNvPr id="25" name="Picture 24" descr="A screen shot of a device&#10;&#10;Description automatically generated">
                <a:extLst>
                  <a:ext uri="{FF2B5EF4-FFF2-40B4-BE49-F238E27FC236}">
                    <a16:creationId xmlns:a16="http://schemas.microsoft.com/office/drawing/2014/main" id="{EE3DE2C0-C26D-841D-128A-7B27AC33D281}"/>
                  </a:ext>
                </a:extLst>
              </p:cNvPr>
              <p:cNvPicPr>
                <a:picLocks noChangeAspect="1"/>
              </p:cNvPicPr>
              <p:nvPr userDrawn="1"/>
            </p:nvPicPr>
            <p:blipFill rotWithShape="1">
              <a:blip r:embed="rId8" cstate="print">
                <a:extLst>
                  <a:ext uri="{28A0092B-C50C-407E-A947-70E740481C1C}">
                    <a14:useLocalDpi xmlns:a14="http://schemas.microsoft.com/office/drawing/2010/main"/>
                  </a:ext>
                </a:extLst>
              </a:blip>
              <a:srcRect/>
              <a:stretch/>
            </p:blipFill>
            <p:spPr>
              <a:xfrm>
                <a:off x="6078283" y="3887425"/>
                <a:ext cx="295652" cy="300660"/>
              </a:xfrm>
              <a:prstGeom prst="rect">
                <a:avLst/>
              </a:prstGeom>
            </p:spPr>
          </p:pic>
          <p:pic>
            <p:nvPicPr>
              <p:cNvPr id="31" name="Picture 30" descr="A screen shot of a device&#10;&#10;Description automatically generated">
                <a:extLst>
                  <a:ext uri="{FF2B5EF4-FFF2-40B4-BE49-F238E27FC236}">
                    <a16:creationId xmlns:a16="http://schemas.microsoft.com/office/drawing/2014/main" id="{37EF5710-EEF5-112F-075B-811361C00CA5}"/>
                  </a:ext>
                </a:extLst>
              </p:cNvPr>
              <p:cNvPicPr>
                <a:picLocks noChangeAspect="1"/>
              </p:cNvPicPr>
              <p:nvPr userDrawn="1"/>
            </p:nvPicPr>
            <p:blipFill rotWithShape="1">
              <a:blip r:embed="rId9" cstate="print">
                <a:extLst>
                  <a:ext uri="{28A0092B-C50C-407E-A947-70E740481C1C}">
                    <a14:useLocalDpi xmlns:a14="http://schemas.microsoft.com/office/drawing/2010/main"/>
                  </a:ext>
                </a:extLst>
              </a:blip>
              <a:srcRect/>
              <a:stretch/>
            </p:blipFill>
            <p:spPr>
              <a:xfrm>
                <a:off x="7287842" y="3858179"/>
                <a:ext cx="295652" cy="300660"/>
              </a:xfrm>
              <a:prstGeom prst="rect">
                <a:avLst/>
              </a:prstGeom>
            </p:spPr>
          </p:pic>
        </p:grpSp>
      </p:grpSp>
      <p:sp>
        <p:nvSpPr>
          <p:cNvPr id="39" name="Title 1">
            <a:extLst>
              <a:ext uri="{FF2B5EF4-FFF2-40B4-BE49-F238E27FC236}">
                <a16:creationId xmlns:a16="http://schemas.microsoft.com/office/drawing/2014/main" id="{70481410-519F-3618-C311-948924932B4C}"/>
              </a:ext>
            </a:extLst>
          </p:cNvPr>
          <p:cNvSpPr txBox="1">
            <a:spLocks noGrp="1" noRot="1" noMove="1" noResize="1" noEditPoints="1" noAdjustHandles="1" noChangeArrowheads="1" noChangeShapeType="1"/>
          </p:cNvSpPr>
          <p:nvPr userDrawn="1"/>
        </p:nvSpPr>
        <p:spPr>
          <a:xfrm>
            <a:off x="977214" y="4544971"/>
            <a:ext cx="1292049" cy="435676"/>
          </a:xfrm>
          <a:prstGeom prst="rect">
            <a:avLst/>
          </a:prstGeom>
          <a:solidFill>
            <a:srgbClr val="0B233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900" b="0" i="0" dirty="0">
                <a:solidFill>
                  <a:schemeClr val="bg1"/>
                </a:solidFill>
                <a:latin typeface="Aptos" panose="020B0004020202020204" pitchFamily="34" charset="0"/>
              </a:rPr>
              <a:t>Governance, Risk &amp; Compliance Advisory</a:t>
            </a:r>
          </a:p>
        </p:txBody>
      </p:sp>
      <p:sp>
        <p:nvSpPr>
          <p:cNvPr id="40" name="Title 1">
            <a:extLst>
              <a:ext uri="{FF2B5EF4-FFF2-40B4-BE49-F238E27FC236}">
                <a16:creationId xmlns:a16="http://schemas.microsoft.com/office/drawing/2014/main" id="{AD476ABA-F99F-0528-1504-6DF85EDD8A5F}"/>
              </a:ext>
            </a:extLst>
          </p:cNvPr>
          <p:cNvSpPr txBox="1">
            <a:spLocks noGrp="1" noRot="1" noMove="1" noResize="1" noEditPoints="1" noAdjustHandles="1" noChangeArrowheads="1" noChangeShapeType="1"/>
          </p:cNvSpPr>
          <p:nvPr userDrawn="1"/>
        </p:nvSpPr>
        <p:spPr>
          <a:xfrm>
            <a:off x="977213" y="5058859"/>
            <a:ext cx="1292049" cy="435676"/>
          </a:xfrm>
          <a:prstGeom prst="rect">
            <a:avLst/>
          </a:prstGeom>
          <a:solidFill>
            <a:srgbClr val="0B233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900" b="0" i="0" dirty="0">
                <a:solidFill>
                  <a:schemeClr val="bg1"/>
                </a:solidFill>
                <a:latin typeface="Aptos" panose="020B0004020202020204" pitchFamily="34" charset="0"/>
              </a:rPr>
              <a:t>Corporate Growth &amp; Strategy Advisory</a:t>
            </a:r>
          </a:p>
        </p:txBody>
      </p:sp>
      <p:sp>
        <p:nvSpPr>
          <p:cNvPr id="41" name="Title 1">
            <a:extLst>
              <a:ext uri="{FF2B5EF4-FFF2-40B4-BE49-F238E27FC236}">
                <a16:creationId xmlns:a16="http://schemas.microsoft.com/office/drawing/2014/main" id="{961FA55F-7C04-E1E3-0DF3-566301091E9F}"/>
              </a:ext>
            </a:extLst>
          </p:cNvPr>
          <p:cNvSpPr txBox="1">
            <a:spLocks noGrp="1" noRot="1" noMove="1" noResize="1" noEditPoints="1" noAdjustHandles="1" noChangeArrowheads="1" noChangeShapeType="1"/>
          </p:cNvSpPr>
          <p:nvPr userDrawn="1"/>
        </p:nvSpPr>
        <p:spPr>
          <a:xfrm>
            <a:off x="977213" y="5578824"/>
            <a:ext cx="1292049" cy="435676"/>
          </a:xfrm>
          <a:prstGeom prst="rect">
            <a:avLst/>
          </a:prstGeom>
          <a:solidFill>
            <a:srgbClr val="0B233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900" b="0" i="0" dirty="0">
                <a:solidFill>
                  <a:schemeClr val="bg1"/>
                </a:solidFill>
                <a:latin typeface="Aptos" panose="020B0004020202020204" pitchFamily="34" charset="0"/>
              </a:rPr>
              <a:t>Training &amp; Development Services</a:t>
            </a:r>
          </a:p>
        </p:txBody>
      </p:sp>
      <p:cxnSp>
        <p:nvCxnSpPr>
          <p:cNvPr id="42" name="Straight Connector 41">
            <a:extLst>
              <a:ext uri="{FF2B5EF4-FFF2-40B4-BE49-F238E27FC236}">
                <a16:creationId xmlns:a16="http://schemas.microsoft.com/office/drawing/2014/main" id="{8666CAFC-FEDF-008B-C79D-4BF4572FC442}"/>
              </a:ext>
            </a:extLst>
          </p:cNvPr>
          <p:cNvCxnSpPr>
            <a:cxnSpLocks noGrp="1" noRot="1" noMove="1" noResize="1" noEditPoints="1" noAdjustHandles="1" noChangeArrowheads="1" noChangeShapeType="1"/>
          </p:cNvCxnSpPr>
          <p:nvPr userDrawn="1"/>
        </p:nvCxnSpPr>
        <p:spPr>
          <a:xfrm>
            <a:off x="842433" y="4452154"/>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1AD910E2-B26F-869C-69AD-33355800AA21}"/>
              </a:ext>
            </a:extLst>
          </p:cNvPr>
          <p:cNvSpPr txBox="1">
            <a:spLocks noGrp="1" noRot="1" noMove="1" noResize="1" noEditPoints="1" noAdjustHandles="1" noChangeArrowheads="1" noChangeShapeType="1"/>
          </p:cNvSpPr>
          <p:nvPr userDrawn="1"/>
        </p:nvSpPr>
        <p:spPr>
          <a:xfrm>
            <a:off x="951502" y="4185132"/>
            <a:ext cx="7246186" cy="276999"/>
          </a:xfrm>
          <a:prstGeom prst="rect">
            <a:avLst/>
          </a:prstGeom>
          <a:noFill/>
        </p:spPr>
        <p:txBody>
          <a:bodyPr wrap="square">
            <a:spAutoFit/>
          </a:bodyPr>
          <a:lstStyle/>
          <a:p>
            <a:pPr algn="just"/>
            <a:r>
              <a:rPr lang="en-US" sz="1200" b="1" i="0" u="none" strike="noStrike" dirty="0">
                <a:solidFill>
                  <a:srgbClr val="7D4E1D"/>
                </a:solidFill>
                <a:effectLst/>
                <a:latin typeface="Aptos ExtraBold" panose="020B0004020202020204" pitchFamily="34" charset="0"/>
              </a:rPr>
              <a:t>Our Capability Pillars</a:t>
            </a:r>
          </a:p>
        </p:txBody>
      </p:sp>
      <p:sp>
        <p:nvSpPr>
          <p:cNvPr id="44" name="TextBox 43">
            <a:extLst>
              <a:ext uri="{FF2B5EF4-FFF2-40B4-BE49-F238E27FC236}">
                <a16:creationId xmlns:a16="http://schemas.microsoft.com/office/drawing/2014/main" id="{190F7862-1527-FC26-B5F3-9D2705C5973D}"/>
              </a:ext>
            </a:extLst>
          </p:cNvPr>
          <p:cNvSpPr txBox="1">
            <a:spLocks noGrp="1" noRot="1" noMove="1" noResize="1" noEditPoints="1" noAdjustHandles="1" noChangeArrowheads="1" noChangeShapeType="1"/>
          </p:cNvSpPr>
          <p:nvPr userDrawn="1"/>
        </p:nvSpPr>
        <p:spPr>
          <a:xfrm>
            <a:off x="2343659" y="5167805"/>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Business Strategy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Business Development &amp; targeted lobbying </a:t>
            </a:r>
          </a:p>
        </p:txBody>
      </p:sp>
      <p:sp>
        <p:nvSpPr>
          <p:cNvPr id="45" name="TextBox 44">
            <a:extLst>
              <a:ext uri="{FF2B5EF4-FFF2-40B4-BE49-F238E27FC236}">
                <a16:creationId xmlns:a16="http://schemas.microsoft.com/office/drawing/2014/main" id="{3D0E1F19-5979-3EF8-93E5-DE605B200438}"/>
              </a:ext>
            </a:extLst>
          </p:cNvPr>
          <p:cNvSpPr txBox="1">
            <a:spLocks/>
          </p:cNvSpPr>
          <p:nvPr userDrawn="1"/>
        </p:nvSpPr>
        <p:spPr>
          <a:xfrm>
            <a:off x="2343659" y="5593522"/>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Senior Executive Strategic  Alignment Workshops</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Continuous Learning</a:t>
            </a:r>
            <a:endParaRPr lang="en-AE" sz="700" b="1" i="0" dirty="0">
              <a:solidFill>
                <a:srgbClr val="0B2339"/>
              </a:solidFill>
              <a:latin typeface="Aptos SemiBold" panose="020B0004020202020204" pitchFamily="34" charset="0"/>
            </a:endParaRPr>
          </a:p>
        </p:txBody>
      </p:sp>
      <p:sp>
        <p:nvSpPr>
          <p:cNvPr id="46" name="TextBox 45">
            <a:extLst>
              <a:ext uri="{FF2B5EF4-FFF2-40B4-BE49-F238E27FC236}">
                <a16:creationId xmlns:a16="http://schemas.microsoft.com/office/drawing/2014/main" id="{53FFE4A2-0CC1-FCE6-3F81-D2056C8FA539}"/>
              </a:ext>
            </a:extLst>
          </p:cNvPr>
          <p:cNvSpPr txBox="1">
            <a:spLocks noGrp="1" noRot="1" noMove="1" noResize="1" noEditPoints="1" noAdjustHandles="1" noChangeArrowheads="1" noChangeShapeType="1"/>
          </p:cNvSpPr>
          <p:nvPr userDrawn="1"/>
        </p:nvSpPr>
        <p:spPr>
          <a:xfrm>
            <a:off x="3926081" y="4549506"/>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Blockchain Compliance</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AI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Regulatory Affairs &amp; Licensing</a:t>
            </a:r>
            <a:endParaRPr lang="en-AE" sz="700" b="1" i="0" dirty="0">
              <a:solidFill>
                <a:srgbClr val="0B2339"/>
              </a:solidFill>
              <a:latin typeface="Aptos SemiBold" panose="020B0004020202020204" pitchFamily="34" charset="0"/>
            </a:endParaRPr>
          </a:p>
        </p:txBody>
      </p:sp>
      <p:sp>
        <p:nvSpPr>
          <p:cNvPr id="47" name="TextBox 46">
            <a:extLst>
              <a:ext uri="{FF2B5EF4-FFF2-40B4-BE49-F238E27FC236}">
                <a16:creationId xmlns:a16="http://schemas.microsoft.com/office/drawing/2014/main" id="{8C60CDA4-2182-9556-2396-43DA621CEBF4}"/>
              </a:ext>
            </a:extLst>
          </p:cNvPr>
          <p:cNvSpPr txBox="1">
            <a:spLocks noGrp="1" noRot="1" noMove="1" noResize="1" noEditPoints="1" noAdjustHandles="1" noChangeArrowheads="1" noChangeShapeType="1"/>
          </p:cNvSpPr>
          <p:nvPr userDrawn="1"/>
        </p:nvSpPr>
        <p:spPr>
          <a:xfrm>
            <a:off x="3926080" y="5167805"/>
            <a:ext cx="1748732" cy="307777"/>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Mergers &amp; Acquisitions</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Private Equity – VC Advisory</a:t>
            </a:r>
            <a:endParaRPr lang="en-AE" sz="700" b="1" i="0" dirty="0">
              <a:solidFill>
                <a:srgbClr val="0B2339"/>
              </a:solidFill>
              <a:latin typeface="Aptos SemiBold" panose="020B0004020202020204" pitchFamily="34" charset="0"/>
            </a:endParaRPr>
          </a:p>
        </p:txBody>
      </p:sp>
      <p:sp>
        <p:nvSpPr>
          <p:cNvPr id="48" name="TextBox 47">
            <a:extLst>
              <a:ext uri="{FF2B5EF4-FFF2-40B4-BE49-F238E27FC236}">
                <a16:creationId xmlns:a16="http://schemas.microsoft.com/office/drawing/2014/main" id="{238CB73D-A595-456D-4923-86541EFBD511}"/>
              </a:ext>
            </a:extLst>
          </p:cNvPr>
          <p:cNvSpPr txBox="1">
            <a:spLocks/>
          </p:cNvSpPr>
          <p:nvPr userDrawn="1"/>
        </p:nvSpPr>
        <p:spPr>
          <a:xfrm>
            <a:off x="3926080" y="5601614"/>
            <a:ext cx="1748732" cy="307777"/>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Certifications &amp; Licenses</a:t>
            </a:r>
          </a:p>
          <a:p>
            <a:pPr marL="171450" indent="-171450" algn="l">
              <a:buFont typeface="Arial" panose="020B0604020202020204" pitchFamily="34" charset="0"/>
              <a:buChar char="•"/>
            </a:pPr>
            <a:endParaRPr lang="en-AE" sz="700" b="1" i="0" dirty="0">
              <a:solidFill>
                <a:srgbClr val="0B2339"/>
              </a:solidFill>
              <a:latin typeface="Aptos SemiBold" panose="020B0004020202020204" pitchFamily="34" charset="0"/>
            </a:endParaRPr>
          </a:p>
        </p:txBody>
      </p:sp>
      <p:sp>
        <p:nvSpPr>
          <p:cNvPr id="49" name="TextBox 48">
            <a:extLst>
              <a:ext uri="{FF2B5EF4-FFF2-40B4-BE49-F238E27FC236}">
                <a16:creationId xmlns:a16="http://schemas.microsoft.com/office/drawing/2014/main" id="{16C9244B-A74E-64F8-2047-8DFA6A0F16A3}"/>
              </a:ext>
            </a:extLst>
          </p:cNvPr>
          <p:cNvSpPr txBox="1">
            <a:spLocks noGrp="1" noRot="1" noMove="1" noResize="1" noEditPoints="1" noAdjustHandles="1" noChangeArrowheads="1" noChangeShapeType="1"/>
          </p:cNvSpPr>
          <p:nvPr userDrawn="1"/>
        </p:nvSpPr>
        <p:spPr>
          <a:xfrm>
            <a:off x="5674813" y="4549506"/>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AML &amp; Sanctions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ESG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Compliance as-a-Service (CaaS)</a:t>
            </a:r>
            <a:endParaRPr lang="en-AE" sz="700" b="1" i="0" dirty="0">
              <a:solidFill>
                <a:srgbClr val="0B2339"/>
              </a:solidFill>
              <a:latin typeface="Aptos SemiBold" panose="020B0004020202020204" pitchFamily="34" charset="0"/>
            </a:endParaRPr>
          </a:p>
        </p:txBody>
      </p:sp>
      <p:sp>
        <p:nvSpPr>
          <p:cNvPr id="50" name="TextBox 49">
            <a:extLst>
              <a:ext uri="{FF2B5EF4-FFF2-40B4-BE49-F238E27FC236}">
                <a16:creationId xmlns:a16="http://schemas.microsoft.com/office/drawing/2014/main" id="{E18CAB52-2032-0F6E-C709-4E6AACADD080}"/>
              </a:ext>
            </a:extLst>
          </p:cNvPr>
          <p:cNvSpPr txBox="1">
            <a:spLocks noGrp="1" noRot="1" noMove="1" noResize="1" noEditPoints="1" noAdjustHandles="1" noChangeArrowheads="1" noChangeShapeType="1"/>
          </p:cNvSpPr>
          <p:nvPr userDrawn="1"/>
        </p:nvSpPr>
        <p:spPr>
          <a:xfrm>
            <a:off x="5674812" y="5167805"/>
            <a:ext cx="1748732" cy="307777"/>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700" b="1" i="0" u="none" strike="noStrike" dirty="0">
                <a:solidFill>
                  <a:srgbClr val="0B2339"/>
                </a:solidFill>
                <a:effectLst/>
                <a:latin typeface="Aptos SemiBold" panose="020B0004020202020204" pitchFamily="34" charset="0"/>
              </a:rPr>
              <a:t>Startup Development</a:t>
            </a:r>
            <a:r>
              <a:rPr lang="en-AE" sz="700" b="1" i="0" u="none" strike="noStrike" dirty="0">
                <a:solidFill>
                  <a:srgbClr val="0B2339"/>
                </a:solidFill>
                <a:effectLst/>
                <a:latin typeface="Aptos SemiBold" panose="020B0004020202020204" pitchFamily="34" charset="0"/>
              </a:rPr>
              <a:t> Advisory</a:t>
            </a:r>
            <a:endParaRPr lang="en-US" sz="700" b="1" i="0" u="none" strike="noStrike" dirty="0">
              <a:solidFill>
                <a:srgbClr val="0B2339"/>
              </a:solidFill>
              <a:effectLst/>
              <a:latin typeface="Aptos SemiBold" panose="020B0004020202020204" pitchFamily="34" charset="0"/>
            </a:endParaRP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Fundraising Advisory </a:t>
            </a:r>
            <a:endParaRPr lang="en-AE" sz="700" b="1" i="0" dirty="0">
              <a:solidFill>
                <a:srgbClr val="0B2339"/>
              </a:solidFill>
              <a:latin typeface="Aptos SemiBold" panose="020B0004020202020204" pitchFamily="34" charset="0"/>
            </a:endParaRPr>
          </a:p>
        </p:txBody>
      </p:sp>
      <p:sp>
        <p:nvSpPr>
          <p:cNvPr id="51" name="TextBox 50">
            <a:extLst>
              <a:ext uri="{FF2B5EF4-FFF2-40B4-BE49-F238E27FC236}">
                <a16:creationId xmlns:a16="http://schemas.microsoft.com/office/drawing/2014/main" id="{3753DDA6-D882-73AC-D531-B7E084C48F7A}"/>
              </a:ext>
            </a:extLst>
          </p:cNvPr>
          <p:cNvSpPr txBox="1">
            <a:spLocks/>
          </p:cNvSpPr>
          <p:nvPr userDrawn="1"/>
        </p:nvSpPr>
        <p:spPr>
          <a:xfrm>
            <a:off x="5674812" y="5593522"/>
            <a:ext cx="1748732" cy="307777"/>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Board Guidance and direction</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Customized Employee Training</a:t>
            </a:r>
            <a:endParaRPr lang="en-AE" sz="700" b="1" i="0" dirty="0">
              <a:solidFill>
                <a:srgbClr val="0B2339"/>
              </a:solidFill>
              <a:latin typeface="Aptos SemiBold" panose="020B0004020202020204" pitchFamily="34" charset="0"/>
            </a:endParaRPr>
          </a:p>
        </p:txBody>
      </p:sp>
    </p:spTree>
    <p:extLst>
      <p:ext uri="{BB962C8B-B14F-4D97-AF65-F5344CB8AC3E}">
        <p14:creationId xmlns:p14="http://schemas.microsoft.com/office/powerpoint/2010/main" val="7292864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4FBB8F99-871F-3A43-BB92-8679618DEB43}"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just"/>
            <a:r>
              <a:rPr lang="en-US" sz="2800" b="1" i="0" u="none" strike="noStrike" dirty="0">
                <a:solidFill>
                  <a:srgbClr val="7D4E1D"/>
                </a:solidFill>
                <a:effectLst/>
                <a:latin typeface="Aptos ExtraBold" panose="020B0004020202020204" pitchFamily="34" charset="0"/>
              </a:rPr>
              <a:t>Regulatory &amp; Market Entry Services</a:t>
            </a:r>
          </a:p>
        </p:txBody>
      </p:sp>
      <p:pic>
        <p:nvPicPr>
          <p:cNvPr id="16" name="Picture 15" descr="Orange skies">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End-to-end support in acquiring financial, investment, and crypto licenses, ensuring businesses meet regulatory requirements.</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Licensing &amp; Regulatory Affairs</a:t>
              </a: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78112"/>
            <a:ext cx="6104737" cy="952538"/>
            <a:chOff x="1202580" y="1656655"/>
            <a:chExt cx="6104737" cy="952538"/>
          </a:xfrm>
        </p:grpSpPr>
        <p:sp>
          <p:nvSpPr>
            <p:cNvPr id="23" name="TextBox 22">
              <a:extLst>
                <a:ext uri="{FF2B5EF4-FFF2-40B4-BE49-F238E27FC236}">
                  <a16:creationId xmlns:a16="http://schemas.microsoft.com/office/drawing/2014/main" id="{11033E0E-049A-601C-854E-7E0D6A4FA94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Helping companies enter new markets with regulatory, operational, and commercial strategies tailored to local and global compliance.</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Market Expansion &amp; Entry Strategy</a:t>
              </a:r>
            </a:p>
          </p:txBody>
        </p:sp>
      </p:grpSp>
      <p:grpSp>
        <p:nvGrpSpPr>
          <p:cNvPr id="25" name="Group 24">
            <a:extLst>
              <a:ext uri="{FF2B5EF4-FFF2-40B4-BE49-F238E27FC236}">
                <a16:creationId xmlns:a16="http://schemas.microsoft.com/office/drawing/2014/main" id="{9DD2FAFE-7AC0-AA90-B454-60B899C9D372}"/>
              </a:ext>
            </a:extLst>
          </p:cNvPr>
          <p:cNvGrpSpPr>
            <a:grpSpLocks noGrp="1" noUngrp="1" noRot="1" noMove="1" noResize="1"/>
          </p:cNvGrpSpPr>
          <p:nvPr userDrawn="1"/>
        </p:nvGrpSpPr>
        <p:grpSpPr>
          <a:xfrm>
            <a:off x="1202580" y="4635266"/>
            <a:ext cx="6104737" cy="952538"/>
            <a:chOff x="1202580" y="1656655"/>
            <a:chExt cx="6104737" cy="952538"/>
          </a:xfrm>
        </p:grpSpPr>
        <p:sp>
          <p:nvSpPr>
            <p:cNvPr id="26" name="TextBox 25">
              <a:extLst>
                <a:ext uri="{FF2B5EF4-FFF2-40B4-BE49-F238E27FC236}">
                  <a16:creationId xmlns:a16="http://schemas.microsoft.com/office/drawing/2014/main" id="{2146B07B-FFE5-0D70-C429-99784484C0F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Ensuring businesses stay ahead of evolving regulatory requirements, mitigating risks, and maintaining operational integrity.</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Regulatory Risk &amp; Compliance Advisory</a:t>
              </a:r>
            </a:p>
          </p:txBody>
        </p:sp>
      </p:grpSp>
    </p:spTree>
    <p:extLst>
      <p:ext uri="{BB962C8B-B14F-4D97-AF65-F5344CB8AC3E}">
        <p14:creationId xmlns:p14="http://schemas.microsoft.com/office/powerpoint/2010/main" val="25728184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E337B26B-3337-1644-AFD8-8AA7ABA676A7}"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954107"/>
          </a:xfrm>
          <a:prstGeom prst="rect">
            <a:avLst/>
          </a:prstGeom>
          <a:noFill/>
        </p:spPr>
        <p:txBody>
          <a:bodyPr wrap="square">
            <a:spAutoFit/>
          </a:bodyPr>
          <a:lstStyle/>
          <a:p>
            <a:pPr algn="l"/>
            <a:r>
              <a:rPr lang="en-US" sz="2800" b="1" i="0" u="none" strike="noStrike" dirty="0">
                <a:solidFill>
                  <a:srgbClr val="7D4E1D"/>
                </a:solidFill>
                <a:effectLst/>
                <a:latin typeface="Aptos ExtraBold" panose="020B0004020202020204" pitchFamily="34" charset="0"/>
              </a:rPr>
              <a:t>Governance, Risk &amp; Compliance (GRC) Services</a:t>
            </a:r>
          </a:p>
        </p:txBody>
      </p:sp>
      <p:pic>
        <p:nvPicPr>
          <p:cNvPr id="16" name="Picture 15">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Establishing strong governance frameworks that drive accountability, compliance, and long-term business sustainability.</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Corporate Governance &amp; Risk Management</a:t>
              </a: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78112"/>
            <a:ext cx="6104737" cy="952538"/>
            <a:chOff x="1202580" y="1656655"/>
            <a:chExt cx="6104737" cy="952538"/>
          </a:xfrm>
        </p:grpSpPr>
        <p:sp>
          <p:nvSpPr>
            <p:cNvPr id="23" name="TextBox 22">
              <a:extLst>
                <a:ext uri="{FF2B5EF4-FFF2-40B4-BE49-F238E27FC236}">
                  <a16:creationId xmlns:a16="http://schemas.microsoft.com/office/drawing/2014/main" id="{11033E0E-049A-601C-854E-7E0D6A4FA94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Implementing anti-money laundering (AML) frameworks, sanctions compliance, and risk assessments to meet global regulatory standards.</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AML &amp; Sanctions Advisory</a:t>
              </a:r>
              <a:endParaRPr lang="en-US" sz="1400" b="1" i="0" u="none" strike="noStrike" dirty="0">
                <a:solidFill>
                  <a:schemeClr val="bg1"/>
                </a:solidFill>
                <a:effectLst/>
                <a:latin typeface="Aptos ExtraBold" panose="020B0004020202020204" pitchFamily="34" charset="0"/>
              </a:endParaRPr>
            </a:p>
          </p:txBody>
        </p:sp>
      </p:grpSp>
      <p:grpSp>
        <p:nvGrpSpPr>
          <p:cNvPr id="25" name="Group 24">
            <a:extLst>
              <a:ext uri="{FF2B5EF4-FFF2-40B4-BE49-F238E27FC236}">
                <a16:creationId xmlns:a16="http://schemas.microsoft.com/office/drawing/2014/main" id="{9DD2FAFE-7AC0-AA90-B454-60B899C9D372}"/>
              </a:ext>
            </a:extLst>
          </p:cNvPr>
          <p:cNvGrpSpPr>
            <a:grpSpLocks noGrp="1" noUngrp="1" noRot="1" noMove="1" noResize="1"/>
          </p:cNvGrpSpPr>
          <p:nvPr userDrawn="1"/>
        </p:nvGrpSpPr>
        <p:grpSpPr>
          <a:xfrm>
            <a:off x="1202580" y="4635266"/>
            <a:ext cx="6104737" cy="952538"/>
            <a:chOff x="1202580" y="1656655"/>
            <a:chExt cx="6104737" cy="952538"/>
          </a:xfrm>
        </p:grpSpPr>
        <p:sp>
          <p:nvSpPr>
            <p:cNvPr id="26" name="TextBox 25">
              <a:extLst>
                <a:ext uri="{FF2B5EF4-FFF2-40B4-BE49-F238E27FC236}">
                  <a16:creationId xmlns:a16="http://schemas.microsoft.com/office/drawing/2014/main" id="{2146B07B-FFE5-0D70-C429-99784484C0FA}"/>
                </a:ext>
              </a:extLst>
            </p:cNvPr>
            <p:cNvSpPr txBox="1">
              <a:spLocks noGrp="1" noRot="1" noMove="1" noResize="1" noEditPoints="1" noAdjustHandles="1" noChangeArrowheads="1" noChangeShapeType="1"/>
            </p:cNvSpPr>
            <p:nvPr userDrawn="1"/>
          </p:nvSpPr>
          <p:spPr>
            <a:xfrm>
              <a:off x="3218026" y="1804432"/>
              <a:ext cx="4089291" cy="646331"/>
            </a:xfrm>
            <a:prstGeom prst="rect">
              <a:avLst/>
            </a:prstGeom>
            <a:noFill/>
          </p:spPr>
          <p:txBody>
            <a:bodyPr wrap="square">
              <a:spAutoFit/>
            </a:bodyPr>
            <a:lstStyle/>
            <a:p>
              <a:pPr algn="just"/>
              <a:r>
                <a:rPr lang="en-US" sz="1200" b="0" i="0" u="none" strike="noStrike" dirty="0">
                  <a:solidFill>
                    <a:srgbClr val="0D2339"/>
                  </a:solidFill>
                  <a:effectLst/>
                </a:rPr>
                <a:t>Outsourced compliance solutions to streamline operations, reduce costs, and ensure businesses meet ongoing regulatory obligations.</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Compliance-as-a-Service (CaaS)</a:t>
              </a:r>
              <a:endParaRPr lang="en-US" sz="1400" b="1" i="0" u="none" strike="noStrike" dirty="0">
                <a:solidFill>
                  <a:schemeClr val="bg1"/>
                </a:solidFill>
                <a:effectLst/>
                <a:latin typeface="Aptos ExtraBold" panose="020B0004020202020204" pitchFamily="34" charset="0"/>
              </a:endParaRPr>
            </a:p>
          </p:txBody>
        </p:sp>
      </p:grpSp>
    </p:spTree>
    <p:extLst>
      <p:ext uri="{BB962C8B-B14F-4D97-AF65-F5344CB8AC3E}">
        <p14:creationId xmlns:p14="http://schemas.microsoft.com/office/powerpoint/2010/main" val="14786124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6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569BAFEF-4D20-0D4A-B8A7-FFC78EBAB936}"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l"/>
            <a:r>
              <a:rPr lang="en-US" sz="2800" b="1" i="0" u="none" strike="noStrike" dirty="0">
                <a:solidFill>
                  <a:srgbClr val="7D4E1D"/>
                </a:solidFill>
                <a:effectLst/>
                <a:latin typeface="Aptos ExtraBold" panose="020B0004020202020204" pitchFamily="34" charset="0"/>
              </a:rPr>
              <a:t>Business Growth &amp; Strategic Advisory</a:t>
            </a:r>
          </a:p>
        </p:txBody>
      </p:sp>
      <p:pic>
        <p:nvPicPr>
          <p:cNvPr id="16" name="Picture 15">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Assisting companies in securing investment through structured capital-raising strategies, investor outreach, and financial modeling.</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Fundraising &amp; Investor Readiness</a:t>
              </a:r>
              <a:endParaRPr lang="en-US" sz="1400" b="1" i="0" u="none" strike="noStrike" dirty="0">
                <a:solidFill>
                  <a:schemeClr val="bg1"/>
                </a:solidFill>
                <a:effectLst/>
                <a:latin typeface="Aptos ExtraBold" panose="020B0004020202020204" pitchFamily="34" charset="0"/>
              </a:endParaRP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56512"/>
            <a:ext cx="6103171" cy="1015663"/>
            <a:chOff x="1202580" y="1635055"/>
            <a:chExt cx="6103171" cy="1015663"/>
          </a:xfrm>
        </p:grpSpPr>
        <p:sp>
          <p:nvSpPr>
            <p:cNvPr id="23" name="TextBox 22">
              <a:extLst>
                <a:ext uri="{FF2B5EF4-FFF2-40B4-BE49-F238E27FC236}">
                  <a16:creationId xmlns:a16="http://schemas.microsoft.com/office/drawing/2014/main" id="{11033E0E-049A-601C-854E-7E0D6A4FA94A}"/>
                </a:ext>
              </a:extLst>
            </p:cNvPr>
            <p:cNvSpPr txBox="1">
              <a:spLocks/>
            </p:cNvSpPr>
            <p:nvPr userDrawn="1"/>
          </p:nvSpPr>
          <p:spPr>
            <a:xfrm>
              <a:off x="3216460" y="1635055"/>
              <a:ext cx="4089291" cy="1015663"/>
            </a:xfrm>
            <a:prstGeom prst="rect">
              <a:avLst/>
            </a:prstGeom>
            <a:noFill/>
          </p:spPr>
          <p:txBody>
            <a:bodyPr wrap="square">
              <a:spAutoFit/>
            </a:bodyPr>
            <a:lstStyle/>
            <a:p>
              <a:pPr algn="just"/>
              <a:r>
                <a:rPr lang="en-US" sz="1200" b="0" i="0" u="none" strike="noStrike" dirty="0">
                  <a:solidFill>
                    <a:srgbClr val="0D2339"/>
                  </a:solidFill>
                  <a:effectLst/>
                </a:rPr>
                <a:t>We assess market viability, potential customer base, and competitive landscapes to develop customized expansion playbooks to ensure that expansion efforts are scalable, sustainable, and perfectly aligned with the overarching goals of your business.</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Business Strategy and Market Expansion</a:t>
              </a:r>
              <a:endParaRPr lang="en-US" sz="1400" b="1" i="0" u="none" strike="noStrike" dirty="0">
                <a:solidFill>
                  <a:schemeClr val="bg1"/>
                </a:solidFill>
                <a:effectLst/>
                <a:latin typeface="Aptos ExtraBold" panose="020B0004020202020204" pitchFamily="34" charset="0"/>
              </a:endParaRPr>
            </a:p>
          </p:txBody>
        </p:sp>
      </p:grpSp>
      <p:grpSp>
        <p:nvGrpSpPr>
          <p:cNvPr id="25" name="Group 24">
            <a:extLst>
              <a:ext uri="{FF2B5EF4-FFF2-40B4-BE49-F238E27FC236}">
                <a16:creationId xmlns:a16="http://schemas.microsoft.com/office/drawing/2014/main" id="{9DD2FAFE-7AC0-AA90-B454-60B899C9D372}"/>
              </a:ext>
            </a:extLst>
          </p:cNvPr>
          <p:cNvGrpSpPr>
            <a:grpSpLocks/>
          </p:cNvGrpSpPr>
          <p:nvPr userDrawn="1"/>
        </p:nvGrpSpPr>
        <p:grpSpPr>
          <a:xfrm>
            <a:off x="1202580" y="4635266"/>
            <a:ext cx="6104736" cy="1018694"/>
            <a:chOff x="1202580" y="1656655"/>
            <a:chExt cx="6104736" cy="1018694"/>
          </a:xfrm>
        </p:grpSpPr>
        <p:sp>
          <p:nvSpPr>
            <p:cNvPr id="26" name="TextBox 25">
              <a:extLst>
                <a:ext uri="{FF2B5EF4-FFF2-40B4-BE49-F238E27FC236}">
                  <a16:creationId xmlns:a16="http://schemas.microsoft.com/office/drawing/2014/main" id="{2146B07B-FFE5-0D70-C429-99784484C0FA}"/>
                </a:ext>
              </a:extLst>
            </p:cNvPr>
            <p:cNvSpPr txBox="1">
              <a:spLocks/>
            </p:cNvSpPr>
            <p:nvPr userDrawn="1"/>
          </p:nvSpPr>
          <p:spPr>
            <a:xfrm>
              <a:off x="3218025" y="1659686"/>
              <a:ext cx="4089291" cy="1015663"/>
            </a:xfrm>
            <a:prstGeom prst="rect">
              <a:avLst/>
            </a:prstGeom>
            <a:noFill/>
          </p:spPr>
          <p:txBody>
            <a:bodyPr wrap="square">
              <a:spAutoFit/>
            </a:bodyPr>
            <a:lstStyle/>
            <a:p>
              <a:pPr algn="just"/>
              <a:r>
                <a:rPr lang="en-US" sz="1200" b="0" i="0" u="none" strike="noStrike" dirty="0">
                  <a:solidFill>
                    <a:srgbClr val="0D2339"/>
                  </a:solidFill>
                  <a:effectLst/>
                </a:rPr>
                <a:t>We brings deep insights into negotiation tactics, strategic alignments, and acquisition strategies. We specialize in forging connections with key stakeholders and decision-makers, essential for facilitating partnerships that align with overarching business objectives.</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Business Development and Dealmaking </a:t>
              </a:r>
              <a:endParaRPr lang="en-US" sz="1400" b="1" i="0" u="none" strike="noStrike" dirty="0">
                <a:solidFill>
                  <a:schemeClr val="bg1"/>
                </a:solidFill>
                <a:effectLst/>
                <a:latin typeface="Aptos ExtraBold" panose="020B0004020202020204" pitchFamily="34" charset="0"/>
              </a:endParaRPr>
            </a:p>
          </p:txBody>
        </p:sp>
      </p:grpSp>
    </p:spTree>
    <p:extLst>
      <p:ext uri="{BB962C8B-B14F-4D97-AF65-F5344CB8AC3E}">
        <p14:creationId xmlns:p14="http://schemas.microsoft.com/office/powerpoint/2010/main" val="37414988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7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9909FB59-B6E3-274B-9BFF-FE4CD2811C57}"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l"/>
            <a:r>
              <a:rPr lang="en-US" sz="2800" b="1" i="0" u="none" strike="noStrike" dirty="0">
                <a:solidFill>
                  <a:srgbClr val="7D4E1D"/>
                </a:solidFill>
                <a:effectLst/>
                <a:latin typeface="Aptos ExtraBold" panose="020B0004020202020204" pitchFamily="34" charset="0"/>
              </a:rPr>
              <a:t>Leadership &amp; Innovation Services</a:t>
            </a:r>
          </a:p>
        </p:txBody>
      </p:sp>
      <p:pic>
        <p:nvPicPr>
          <p:cNvPr id="16" name="Picture 15" descr="Person pointing at the stock market graph with virtual screen">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902091"/>
              <a:ext cx="4089291" cy="461665"/>
            </a:xfrm>
            <a:prstGeom prst="rect">
              <a:avLst/>
            </a:prstGeom>
            <a:noFill/>
          </p:spPr>
          <p:txBody>
            <a:bodyPr wrap="square">
              <a:spAutoFit/>
            </a:bodyPr>
            <a:lstStyle/>
            <a:p>
              <a:pPr algn="just"/>
              <a:r>
                <a:rPr lang="en-US" sz="1200" b="0" i="0" u="none" strike="noStrike" dirty="0">
                  <a:solidFill>
                    <a:srgbClr val="0D2339"/>
                  </a:solidFill>
                  <a:effectLst/>
                </a:rPr>
                <a:t>Strengthening leadership through governance training, compliance education, and board effectiveness programs.</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Executive Coaching &amp; Board Training</a:t>
              </a:r>
              <a:endParaRPr lang="en-US" sz="1400" b="1" i="0" u="none" strike="noStrike" dirty="0">
                <a:solidFill>
                  <a:schemeClr val="bg1"/>
                </a:solidFill>
                <a:effectLst/>
                <a:latin typeface="Aptos ExtraBold" panose="020B0004020202020204" pitchFamily="34" charset="0"/>
              </a:endParaRP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78112"/>
            <a:ext cx="6104737" cy="952538"/>
            <a:chOff x="1202580" y="1656655"/>
            <a:chExt cx="6104737" cy="952538"/>
          </a:xfrm>
        </p:grpSpPr>
        <p:sp>
          <p:nvSpPr>
            <p:cNvPr id="23" name="TextBox 22">
              <a:extLst>
                <a:ext uri="{FF2B5EF4-FFF2-40B4-BE49-F238E27FC236}">
                  <a16:creationId xmlns:a16="http://schemas.microsoft.com/office/drawing/2014/main" id="{11033E0E-049A-601C-854E-7E0D6A4FA94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Helping businesses adopt emerging technologies while ensuring regulatory compliance in AI, blockchain, and Web3.</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Digital Transformation &amp; AI Compliance</a:t>
              </a:r>
              <a:endParaRPr lang="en-US" sz="1400" b="1" i="0" u="none" strike="noStrike" dirty="0">
                <a:solidFill>
                  <a:schemeClr val="bg1"/>
                </a:solidFill>
                <a:effectLst/>
                <a:latin typeface="Aptos ExtraBold" panose="020B0004020202020204" pitchFamily="34" charset="0"/>
              </a:endParaRPr>
            </a:p>
          </p:txBody>
        </p:sp>
      </p:grpSp>
      <p:grpSp>
        <p:nvGrpSpPr>
          <p:cNvPr id="25" name="Group 24">
            <a:extLst>
              <a:ext uri="{FF2B5EF4-FFF2-40B4-BE49-F238E27FC236}">
                <a16:creationId xmlns:a16="http://schemas.microsoft.com/office/drawing/2014/main" id="{9DD2FAFE-7AC0-AA90-B454-60B899C9D372}"/>
              </a:ext>
            </a:extLst>
          </p:cNvPr>
          <p:cNvGrpSpPr>
            <a:grpSpLocks noGrp="1" noUngrp="1" noRot="1" noMove="1" noResize="1"/>
          </p:cNvGrpSpPr>
          <p:nvPr userDrawn="1"/>
        </p:nvGrpSpPr>
        <p:grpSpPr>
          <a:xfrm>
            <a:off x="1202580" y="4635266"/>
            <a:ext cx="6104737" cy="952538"/>
            <a:chOff x="1202580" y="1656655"/>
            <a:chExt cx="6104737" cy="952538"/>
          </a:xfrm>
        </p:grpSpPr>
        <p:sp>
          <p:nvSpPr>
            <p:cNvPr id="26" name="TextBox 25">
              <a:extLst>
                <a:ext uri="{FF2B5EF4-FFF2-40B4-BE49-F238E27FC236}">
                  <a16:creationId xmlns:a16="http://schemas.microsoft.com/office/drawing/2014/main" id="{2146B07B-FFE5-0D70-C429-99784484C0FA}"/>
                </a:ext>
              </a:extLst>
            </p:cNvPr>
            <p:cNvSpPr txBox="1">
              <a:spLocks noGrp="1" noRot="1" noMove="1" noResize="1" noEditPoints="1" noAdjustHandles="1" noChangeArrowheads="1" noChangeShapeType="1"/>
            </p:cNvSpPr>
            <p:nvPr userDrawn="1"/>
          </p:nvSpPr>
          <p:spPr>
            <a:xfrm>
              <a:off x="3218026" y="1804432"/>
              <a:ext cx="4089291" cy="646331"/>
            </a:xfrm>
            <a:prstGeom prst="rect">
              <a:avLst/>
            </a:prstGeom>
            <a:noFill/>
          </p:spPr>
          <p:txBody>
            <a:bodyPr wrap="square">
              <a:spAutoFit/>
            </a:bodyPr>
            <a:lstStyle/>
            <a:p>
              <a:pPr algn="just"/>
              <a:r>
                <a:rPr lang="en-US" sz="1200" b="0" i="0" u="none" strike="noStrike" dirty="0">
                  <a:solidFill>
                    <a:srgbClr val="0D2339"/>
                  </a:solidFill>
                  <a:effectLst/>
                </a:rPr>
                <a:t>Developing and implementing environmental, social, and governance (ESG) strategies that align with corporate and regulatory requirements.</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ESG &amp; Sustainability Advisory</a:t>
              </a:r>
              <a:endParaRPr lang="en-US" sz="1400" b="1" i="0" u="none" strike="noStrike" dirty="0">
                <a:solidFill>
                  <a:schemeClr val="bg1"/>
                </a:solidFill>
                <a:effectLst/>
                <a:latin typeface="Aptos ExtraBold" panose="020B0004020202020204" pitchFamily="34" charset="0"/>
              </a:endParaRPr>
            </a:p>
          </p:txBody>
        </p:sp>
      </p:grpSp>
    </p:spTree>
    <p:extLst>
      <p:ext uri="{BB962C8B-B14F-4D97-AF65-F5344CB8AC3E}">
        <p14:creationId xmlns:p14="http://schemas.microsoft.com/office/powerpoint/2010/main" val="41240176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p:cNvSpPr>
          <p:nvPr userDrawn="1"/>
        </p:nvSpPr>
        <p:spPr>
          <a:xfrm>
            <a:off x="8161623"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6" name="Content Placeholder 5">
            <a:extLst>
              <a:ext uri="{FF2B5EF4-FFF2-40B4-BE49-F238E27FC236}">
                <a16:creationId xmlns:a16="http://schemas.microsoft.com/office/drawing/2014/main" id="{58890050-E5B1-2DB3-5F37-F3558F646841}"/>
              </a:ext>
            </a:extLst>
          </p:cNvPr>
          <p:cNvSpPr>
            <a:spLocks noGrp="1" noRot="1" noMove="1" noResize="1" noEditPoints="1" noAdjustHandles="1" noChangeArrowheads="1" noChangeShapeType="1"/>
          </p:cNvSpPr>
          <p:nvPr>
            <p:ph sz="quarter" idx="4"/>
          </p:nvPr>
        </p:nvSpPr>
        <p:spPr>
          <a:xfrm>
            <a:off x="4516545" y="1766122"/>
            <a:ext cx="3566255"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107B9A59-7617-BE44-ACAB-9D6207951C13}"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cxnSp>
        <p:nvCxnSpPr>
          <p:cNvPr id="10" name="Straight Connector 9">
            <a:extLst>
              <a:ext uri="{FF2B5EF4-FFF2-40B4-BE49-F238E27FC236}">
                <a16:creationId xmlns:a16="http://schemas.microsoft.com/office/drawing/2014/main" id="{AC33AA1F-000E-AFC0-B6D5-9731BB0695B7}"/>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5" name="Title 1">
            <a:extLst>
              <a:ext uri="{FF2B5EF4-FFF2-40B4-BE49-F238E27FC236}">
                <a16:creationId xmlns:a16="http://schemas.microsoft.com/office/drawing/2014/main" id="{9A30B434-D381-FDB9-A489-ACE661F181BD}"/>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Our understanding &amp; Point of View</a:t>
            </a:r>
            <a:endParaRPr lang="en-AE" dirty="0"/>
          </a:p>
        </p:txBody>
      </p:sp>
      <p:sp>
        <p:nvSpPr>
          <p:cNvPr id="11" name="TextBox 10">
            <a:extLst>
              <a:ext uri="{FF2B5EF4-FFF2-40B4-BE49-F238E27FC236}">
                <a16:creationId xmlns:a16="http://schemas.microsoft.com/office/drawing/2014/main" id="{2BA6B839-AD10-1512-07D7-8A734D759144}"/>
              </a:ext>
            </a:extLst>
          </p:cNvPr>
          <p:cNvSpPr txBox="1">
            <a:spLocks noGrp="1" noRot="1" noMove="1" noResize="1" noEditPoints="1" noAdjustHandles="1" noChangeArrowheads="1" noChangeShapeType="1"/>
          </p:cNvSpPr>
          <p:nvPr userDrawn="1"/>
        </p:nvSpPr>
        <p:spPr>
          <a:xfrm>
            <a:off x="900602" y="1305404"/>
            <a:ext cx="3505437"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Current Situation</a:t>
            </a:r>
          </a:p>
        </p:txBody>
      </p:sp>
      <p:sp>
        <p:nvSpPr>
          <p:cNvPr id="13" name="TextBox 12">
            <a:extLst>
              <a:ext uri="{FF2B5EF4-FFF2-40B4-BE49-F238E27FC236}">
                <a16:creationId xmlns:a16="http://schemas.microsoft.com/office/drawing/2014/main" id="{66953E5B-3CEC-9801-8111-3E6A768D4E50}"/>
              </a:ext>
            </a:extLst>
          </p:cNvPr>
          <p:cNvSpPr txBox="1">
            <a:spLocks noGrp="1" noRot="1" noMove="1" noResize="1" noEditPoints="1" noAdjustHandles="1" noChangeArrowheads="1" noChangeShapeType="1"/>
          </p:cNvSpPr>
          <p:nvPr userDrawn="1"/>
        </p:nvSpPr>
        <p:spPr>
          <a:xfrm>
            <a:off x="4516545" y="1302736"/>
            <a:ext cx="3505437"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Key Challenges</a:t>
            </a:r>
          </a:p>
        </p:txBody>
      </p:sp>
      <p:sp>
        <p:nvSpPr>
          <p:cNvPr id="16" name="TextBox 15">
            <a:extLst>
              <a:ext uri="{FF2B5EF4-FFF2-40B4-BE49-F238E27FC236}">
                <a16:creationId xmlns:a16="http://schemas.microsoft.com/office/drawing/2014/main" id="{13158977-2603-BB94-E63A-2EC4B8DB31A5}"/>
              </a:ext>
            </a:extLst>
          </p:cNvPr>
          <p:cNvSpPr txBox="1">
            <a:spLocks noGrp="1" noRot="1" noMove="1" noResize="1" noEditPoints="1" noAdjustHandles="1" noChangeArrowheads="1" noChangeShapeType="1"/>
          </p:cNvSpPr>
          <p:nvPr userDrawn="1"/>
        </p:nvSpPr>
        <p:spPr>
          <a:xfrm>
            <a:off x="8257297" y="1309784"/>
            <a:ext cx="2668910" cy="338554"/>
          </a:xfrm>
          <a:prstGeom prst="rect">
            <a:avLst/>
          </a:prstGeom>
          <a:noFill/>
        </p:spPr>
        <p:txBody>
          <a:bodyPr wrap="square">
            <a:spAutoFit/>
          </a:bodyPr>
          <a:lstStyle/>
          <a:p>
            <a:pPr algn="just"/>
            <a:r>
              <a:rPr lang="en-US" sz="1600" b="1" i="0" u="none" strike="noStrike" dirty="0">
                <a:solidFill>
                  <a:schemeClr val="bg1"/>
                </a:solidFill>
                <a:effectLst/>
                <a:latin typeface="Aptos ExtraBold" panose="020B0004020202020204" pitchFamily="34" charset="0"/>
              </a:rPr>
              <a:t>Outcomes Required</a:t>
            </a:r>
          </a:p>
        </p:txBody>
      </p:sp>
      <p:sp>
        <p:nvSpPr>
          <p:cNvPr id="25" name="Content Placeholder 5">
            <a:extLst>
              <a:ext uri="{FF2B5EF4-FFF2-40B4-BE49-F238E27FC236}">
                <a16:creationId xmlns:a16="http://schemas.microsoft.com/office/drawing/2014/main" id="{4D13BA1F-2BAE-3E55-F8CC-2F36526D1790}"/>
              </a:ext>
            </a:extLst>
          </p:cNvPr>
          <p:cNvSpPr>
            <a:spLocks noGrp="1"/>
          </p:cNvSpPr>
          <p:nvPr>
            <p:ph sz="quarter" idx="13"/>
          </p:nvPr>
        </p:nvSpPr>
        <p:spPr>
          <a:xfrm>
            <a:off x="8401152" y="1731681"/>
            <a:ext cx="2668910" cy="4423542"/>
          </a:xfrm>
        </p:spPr>
        <p:txBody>
          <a:bodyPr anchor="t">
            <a:normAutofit/>
          </a:bodyPr>
          <a:lstStyle>
            <a:lvl1pPr marL="0" indent="0" algn="just">
              <a:buNone/>
              <a:defRPr sz="900">
                <a:solidFill>
                  <a:schemeClr val="bg1"/>
                </a:solidFill>
              </a:defRPr>
            </a:lvl1pPr>
            <a:lvl2pPr marL="457200" indent="0" algn="just">
              <a:buNone/>
              <a:defRPr sz="900">
                <a:solidFill>
                  <a:schemeClr val="bg1"/>
                </a:solidFill>
              </a:defRPr>
            </a:lvl2pPr>
            <a:lvl3pPr marL="914400" indent="0" algn="just">
              <a:buNone/>
              <a:defRPr sz="900">
                <a:solidFill>
                  <a:schemeClr val="bg1"/>
                </a:solidFill>
              </a:defRPr>
            </a:lvl3pPr>
            <a:lvl4pPr algn="just">
              <a:defRPr sz="900">
                <a:solidFill>
                  <a:schemeClr val="bg1"/>
                </a:solidFill>
              </a:defRPr>
            </a:lvl4pPr>
            <a:lvl5pPr algn="just">
              <a:defRPr sz="900">
                <a:solidFill>
                  <a:schemeClr val="bg1"/>
                </a:solidFill>
              </a:defRPr>
            </a:lvl5pPr>
          </a:lstStyle>
          <a:p>
            <a:pPr lvl="0"/>
            <a:r>
              <a:rPr lang="en-US" dirty="0"/>
              <a:t>Click to edit Master text styles</a:t>
            </a:r>
          </a:p>
        </p:txBody>
      </p:sp>
    </p:spTree>
    <p:extLst>
      <p:ext uri="{BB962C8B-B14F-4D97-AF65-F5344CB8AC3E}">
        <p14:creationId xmlns:p14="http://schemas.microsoft.com/office/powerpoint/2010/main" val="10180874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29FCB497-7689-AC41-A08D-4D380992045E}"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Title 1">
            <a:extLst>
              <a:ext uri="{FF2B5EF4-FFF2-40B4-BE49-F238E27FC236}">
                <a16:creationId xmlns:a16="http://schemas.microsoft.com/office/drawing/2014/main" id="{BE6B8B1D-75D3-ED1F-3803-AA01D7297851}"/>
              </a:ext>
            </a:extLst>
          </p:cNvPr>
          <p:cNvSpPr>
            <a:spLocks noGrp="1" noRot="1" noMove="1" noResize="1" noEditPoints="1" noAdjustHandles="1" noChangeArrowheads="1" noChangeShapeType="1"/>
          </p:cNvSpPr>
          <p:nvPr>
            <p:ph type="title" hasCustomPrompt="1"/>
          </p:nvPr>
        </p:nvSpPr>
        <p:spPr>
          <a:xfrm>
            <a:off x="839788" y="365126"/>
            <a:ext cx="10506636"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13" name="Content Placeholder 3">
            <a:extLst>
              <a:ext uri="{FF2B5EF4-FFF2-40B4-BE49-F238E27FC236}">
                <a16:creationId xmlns:a16="http://schemas.microsoft.com/office/drawing/2014/main" id="{9797DC0D-3472-FD3C-79F0-593DF3C17365}"/>
              </a:ext>
            </a:extLst>
          </p:cNvPr>
          <p:cNvSpPr>
            <a:spLocks noGrp="1" noRot="1" noMove="1" noResize="1" noEditPoints="1" noAdjustHandles="1" noChangeArrowheads="1" noChangeShapeType="1"/>
          </p:cNvSpPr>
          <p:nvPr>
            <p:ph sz="half" idx="2"/>
          </p:nvPr>
        </p:nvSpPr>
        <p:spPr>
          <a:xfrm>
            <a:off x="2245862" y="1314933"/>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5" name="Content Placeholder 3">
            <a:extLst>
              <a:ext uri="{FF2B5EF4-FFF2-40B4-BE49-F238E27FC236}">
                <a16:creationId xmlns:a16="http://schemas.microsoft.com/office/drawing/2014/main" id="{EC2FD9A4-480B-AB0D-75A3-7FB333C41A48}"/>
              </a:ext>
            </a:extLst>
          </p:cNvPr>
          <p:cNvSpPr>
            <a:spLocks noGrp="1" noRot="1" noMove="1" noResize="1" noEditPoints="1" noAdjustHandles="1" noChangeArrowheads="1" noChangeShapeType="1"/>
          </p:cNvSpPr>
          <p:nvPr>
            <p:ph sz="half" idx="16"/>
          </p:nvPr>
        </p:nvSpPr>
        <p:spPr>
          <a:xfrm>
            <a:off x="841888" y="1318098"/>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4" name="Content Placeholder 3">
            <a:extLst>
              <a:ext uri="{FF2B5EF4-FFF2-40B4-BE49-F238E27FC236}">
                <a16:creationId xmlns:a16="http://schemas.microsoft.com/office/drawing/2014/main" id="{082306F3-2E64-0DAC-C240-6BDE921727ED}"/>
              </a:ext>
            </a:extLst>
          </p:cNvPr>
          <p:cNvSpPr>
            <a:spLocks noGrp="1" noRot="1" noMove="1" noResize="1" noEditPoints="1" noAdjustHandles="1" noChangeArrowheads="1" noChangeShapeType="1"/>
          </p:cNvSpPr>
          <p:nvPr>
            <p:ph sz="half" idx="17"/>
          </p:nvPr>
        </p:nvSpPr>
        <p:spPr>
          <a:xfrm>
            <a:off x="2242174" y="2521485"/>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7" name="Content Placeholder 3">
            <a:extLst>
              <a:ext uri="{FF2B5EF4-FFF2-40B4-BE49-F238E27FC236}">
                <a16:creationId xmlns:a16="http://schemas.microsoft.com/office/drawing/2014/main" id="{F28A40D3-4F78-F96D-4550-45563A648160}"/>
              </a:ext>
            </a:extLst>
          </p:cNvPr>
          <p:cNvSpPr>
            <a:spLocks noGrp="1" noRot="1" noMove="1" noResize="1" noEditPoints="1" noAdjustHandles="1" noChangeArrowheads="1" noChangeShapeType="1"/>
          </p:cNvSpPr>
          <p:nvPr>
            <p:ph sz="half" idx="18"/>
          </p:nvPr>
        </p:nvSpPr>
        <p:spPr>
          <a:xfrm>
            <a:off x="838200" y="2524650"/>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18" name="Content Placeholder 3">
            <a:extLst>
              <a:ext uri="{FF2B5EF4-FFF2-40B4-BE49-F238E27FC236}">
                <a16:creationId xmlns:a16="http://schemas.microsoft.com/office/drawing/2014/main" id="{57F674E6-5CEB-E440-EC2F-D931C9A74B40}"/>
              </a:ext>
            </a:extLst>
          </p:cNvPr>
          <p:cNvSpPr>
            <a:spLocks noGrp="1" noRot="1" noMove="1" noResize="1" noEditPoints="1" noAdjustHandles="1" noChangeArrowheads="1" noChangeShapeType="1"/>
          </p:cNvSpPr>
          <p:nvPr>
            <p:ph sz="half" idx="19"/>
          </p:nvPr>
        </p:nvSpPr>
        <p:spPr>
          <a:xfrm>
            <a:off x="2245862" y="3719778"/>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9" name="Content Placeholder 3">
            <a:extLst>
              <a:ext uri="{FF2B5EF4-FFF2-40B4-BE49-F238E27FC236}">
                <a16:creationId xmlns:a16="http://schemas.microsoft.com/office/drawing/2014/main" id="{573C10D7-03BF-1B66-0D37-B2655DCC924D}"/>
              </a:ext>
            </a:extLst>
          </p:cNvPr>
          <p:cNvSpPr>
            <a:spLocks noGrp="1" noRot="1" noMove="1" noResize="1" noEditPoints="1" noAdjustHandles="1" noChangeArrowheads="1" noChangeShapeType="1"/>
          </p:cNvSpPr>
          <p:nvPr>
            <p:ph sz="half" idx="20"/>
          </p:nvPr>
        </p:nvSpPr>
        <p:spPr>
          <a:xfrm>
            <a:off x="841888" y="3722943"/>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20" name="Content Placeholder 3">
            <a:extLst>
              <a:ext uri="{FF2B5EF4-FFF2-40B4-BE49-F238E27FC236}">
                <a16:creationId xmlns:a16="http://schemas.microsoft.com/office/drawing/2014/main" id="{8CCA28C2-0709-3B37-D743-E8E86AF0D049}"/>
              </a:ext>
            </a:extLst>
          </p:cNvPr>
          <p:cNvSpPr>
            <a:spLocks noGrp="1" noRot="1" noMove="1" noResize="1" noEditPoints="1" noAdjustHandles="1" noChangeArrowheads="1" noChangeShapeType="1"/>
          </p:cNvSpPr>
          <p:nvPr>
            <p:ph sz="half" idx="21"/>
          </p:nvPr>
        </p:nvSpPr>
        <p:spPr>
          <a:xfrm>
            <a:off x="2249550" y="4938339"/>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1" name="Content Placeholder 3">
            <a:extLst>
              <a:ext uri="{FF2B5EF4-FFF2-40B4-BE49-F238E27FC236}">
                <a16:creationId xmlns:a16="http://schemas.microsoft.com/office/drawing/2014/main" id="{BD17EE86-B0AE-F626-C19E-932347BF0E68}"/>
              </a:ext>
            </a:extLst>
          </p:cNvPr>
          <p:cNvSpPr>
            <a:spLocks noGrp="1" noRot="1" noMove="1" noResize="1" noEditPoints="1" noAdjustHandles="1" noChangeArrowheads="1" noChangeShapeType="1"/>
          </p:cNvSpPr>
          <p:nvPr>
            <p:ph sz="half" idx="22"/>
          </p:nvPr>
        </p:nvSpPr>
        <p:spPr>
          <a:xfrm>
            <a:off x="845576" y="4941504"/>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Tree>
    <p:extLst>
      <p:ext uri="{BB962C8B-B14F-4D97-AF65-F5344CB8AC3E}">
        <p14:creationId xmlns:p14="http://schemas.microsoft.com/office/powerpoint/2010/main" val="27587792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667894"/>
            <a:ext cx="7243012" cy="450906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475C9A68-7CF7-3F41-9DDA-510B87D5F9C1}"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endParaRPr lang="en-AE" dirty="0"/>
          </a:p>
        </p:txBody>
      </p:sp>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2" name="Picture 1" descr="Black puzzle pieces">
            <a:extLst>
              <a:ext uri="{FF2B5EF4-FFF2-40B4-BE49-F238E27FC236}">
                <a16:creationId xmlns:a16="http://schemas.microsoft.com/office/drawing/2014/main" id="{8F735948-EBB0-9020-C40D-C510CD33D8CE}"/>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flipH="1">
            <a:off x="8363060" y="498764"/>
            <a:ext cx="2847246" cy="5602144"/>
          </a:xfrm>
          <a:prstGeom prst="rect">
            <a:avLst/>
          </a:prstGeom>
        </p:spPr>
      </p:pic>
      <p:sp>
        <p:nvSpPr>
          <p:cNvPr id="4" name="Text Placeholder 2">
            <a:extLst>
              <a:ext uri="{FF2B5EF4-FFF2-40B4-BE49-F238E27FC236}">
                <a16:creationId xmlns:a16="http://schemas.microsoft.com/office/drawing/2014/main" id="{2C004C32-8033-D917-493E-7D43F178C1CA}"/>
              </a:ext>
            </a:extLst>
          </p:cNvPr>
          <p:cNvSpPr>
            <a:spLocks noGrp="1" noRot="1" noMove="1" noResize="1" noEditPoints="1" noAdjustHandles="1" noChangeArrowheads="1" noChangeShapeType="1"/>
          </p:cNvSpPr>
          <p:nvPr>
            <p:ph type="body" idx="13"/>
          </p:nvPr>
        </p:nvSpPr>
        <p:spPr>
          <a:xfrm>
            <a:off x="839787" y="1270197"/>
            <a:ext cx="7243011" cy="316538"/>
          </a:xfrm>
        </p:spPr>
        <p:txBody>
          <a:bodyPr anchor="t">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32679595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667894"/>
            <a:ext cx="7243012" cy="20231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F6F2DD7B-5336-EE43-8415-E88E844A49BB}"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endParaRPr lang="en-AE" dirty="0"/>
          </a:p>
        </p:txBody>
      </p:sp>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2" name="Picture 1" descr="Black puzzle pieces">
            <a:extLst>
              <a:ext uri="{FF2B5EF4-FFF2-40B4-BE49-F238E27FC236}">
                <a16:creationId xmlns:a16="http://schemas.microsoft.com/office/drawing/2014/main" id="{8F735948-EBB0-9020-C40D-C510CD33D8CE}"/>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flipH="1">
            <a:off x="8363060" y="498764"/>
            <a:ext cx="2847246" cy="5602144"/>
          </a:xfrm>
          <a:prstGeom prst="rect">
            <a:avLst/>
          </a:prstGeom>
        </p:spPr>
      </p:pic>
      <p:sp>
        <p:nvSpPr>
          <p:cNvPr id="4" name="Text Placeholder 2">
            <a:extLst>
              <a:ext uri="{FF2B5EF4-FFF2-40B4-BE49-F238E27FC236}">
                <a16:creationId xmlns:a16="http://schemas.microsoft.com/office/drawing/2014/main" id="{2C004C32-8033-D917-493E-7D43F178C1CA}"/>
              </a:ext>
            </a:extLst>
          </p:cNvPr>
          <p:cNvSpPr>
            <a:spLocks noGrp="1" noRot="1" noMove="1" noResize="1" noEditPoints="1" noAdjustHandles="1" noChangeArrowheads="1" noChangeShapeType="1"/>
          </p:cNvSpPr>
          <p:nvPr>
            <p:ph type="body" idx="13"/>
          </p:nvPr>
        </p:nvSpPr>
        <p:spPr>
          <a:xfrm>
            <a:off x="839787" y="1270197"/>
            <a:ext cx="7243011" cy="316538"/>
          </a:xfrm>
        </p:spPr>
        <p:txBody>
          <a:bodyPr anchor="t">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9" name="Content Placeholder 2">
            <a:extLst>
              <a:ext uri="{FF2B5EF4-FFF2-40B4-BE49-F238E27FC236}">
                <a16:creationId xmlns:a16="http://schemas.microsoft.com/office/drawing/2014/main" id="{370C6ECA-605D-3CD6-D729-E73E363E900B}"/>
              </a:ext>
            </a:extLst>
          </p:cNvPr>
          <p:cNvSpPr>
            <a:spLocks noGrp="1" noRot="1" noMove="1" noResize="1" noEditPoints="1" noAdjustHandles="1" noChangeArrowheads="1" noChangeShapeType="1"/>
          </p:cNvSpPr>
          <p:nvPr>
            <p:ph idx="14" hasCustomPrompt="1"/>
          </p:nvPr>
        </p:nvSpPr>
        <p:spPr>
          <a:xfrm>
            <a:off x="836614" y="4168025"/>
            <a:ext cx="7243012" cy="20231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0" name="Text Placeholder 2">
            <a:extLst>
              <a:ext uri="{FF2B5EF4-FFF2-40B4-BE49-F238E27FC236}">
                <a16:creationId xmlns:a16="http://schemas.microsoft.com/office/drawing/2014/main" id="{FA57057A-2A47-4200-9340-46BB26E64C88}"/>
              </a:ext>
            </a:extLst>
          </p:cNvPr>
          <p:cNvSpPr>
            <a:spLocks noGrp="1" noRot="1" noMove="1" noResize="1" noEditPoints="1" noAdjustHandles="1" noChangeArrowheads="1" noChangeShapeType="1"/>
          </p:cNvSpPr>
          <p:nvPr>
            <p:ph type="body" idx="15"/>
          </p:nvPr>
        </p:nvSpPr>
        <p:spPr>
          <a:xfrm>
            <a:off x="838201" y="3770328"/>
            <a:ext cx="7243011" cy="316538"/>
          </a:xfrm>
        </p:spPr>
        <p:txBody>
          <a:bodyPr anchor="t">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13387542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7_Title Onl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D7B9EC6-85CB-8CBB-27C0-E33D824F3C2B}"/>
              </a:ext>
            </a:extLst>
          </p:cNvPr>
          <p:cNvSpPr>
            <a:spLocks noGrp="1" noRot="1" noMove="1" noResize="1" noEditPoints="1" noAdjustHandles="1" noChangeArrowheads="1" noChangeShapeType="1"/>
          </p:cNvSpPr>
          <p:nvPr userDrawn="1"/>
        </p:nvSpPr>
        <p:spPr>
          <a:xfrm>
            <a:off x="0" y="0"/>
            <a:ext cx="12192000" cy="6865434"/>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F1450531-BE92-AA42-B97F-5C2B5010D981}"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Title 1">
            <a:extLst>
              <a:ext uri="{FF2B5EF4-FFF2-40B4-BE49-F238E27FC236}">
                <a16:creationId xmlns:a16="http://schemas.microsoft.com/office/drawing/2014/main" id="{19D7D4C2-2976-36E4-58D8-A3C2FF69441A}"/>
              </a:ext>
            </a:extLst>
          </p:cNvPr>
          <p:cNvSpPr txBox="1">
            <a:spLocks/>
          </p:cNvSpPr>
          <p:nvPr userDrawn="1"/>
        </p:nvSpPr>
        <p:spPr>
          <a:xfrm>
            <a:off x="0" y="2260481"/>
            <a:ext cx="12192000" cy="2337037"/>
          </a:xfrm>
          <a:prstGeom prst="rect">
            <a:avLst/>
          </a:prstGeom>
          <a:solidFill>
            <a:srgbClr val="0C1F35"/>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a:lstStyle>
          <a:p>
            <a:pPr algn="ctr"/>
            <a:endParaRPr lang="en-CY" sz="3600" dirty="0">
              <a:solidFill>
                <a:schemeClr val="bg1"/>
              </a:solidFill>
            </a:endParaRPr>
          </a:p>
          <a:p>
            <a:pPr algn="ctr"/>
            <a:r>
              <a:rPr lang="en-US" sz="3600" dirty="0">
                <a:solidFill>
                  <a:schemeClr val="bg1"/>
                </a:solidFill>
              </a:rPr>
              <a:t>Your Project</a:t>
            </a:r>
          </a:p>
          <a:p>
            <a:pPr algn="ctr"/>
            <a:endParaRPr lang="en-CY" sz="2800" dirty="0">
              <a:solidFill>
                <a:schemeClr val="bg1"/>
              </a:solidFill>
            </a:endParaRPr>
          </a:p>
        </p:txBody>
      </p:sp>
    </p:spTree>
    <p:extLst>
      <p:ext uri="{BB962C8B-B14F-4D97-AF65-F5344CB8AC3E}">
        <p14:creationId xmlns:p14="http://schemas.microsoft.com/office/powerpoint/2010/main" val="36218664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0_Title Onl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D7B9EC6-85CB-8CBB-27C0-E33D824F3C2B}"/>
              </a:ext>
            </a:extLst>
          </p:cNvPr>
          <p:cNvSpPr>
            <a:spLocks noGrp="1" noRot="1" noMove="1" noResize="1" noEditPoints="1" noAdjustHandles="1" noChangeArrowheads="1" noChangeShapeType="1"/>
          </p:cNvSpPr>
          <p:nvPr userDrawn="1"/>
        </p:nvSpPr>
        <p:spPr>
          <a:xfrm>
            <a:off x="0" y="0"/>
            <a:ext cx="12192000" cy="6865434"/>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F1450531-BE92-AA42-B97F-5C2B5010D981}"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Title 1">
            <a:extLst>
              <a:ext uri="{FF2B5EF4-FFF2-40B4-BE49-F238E27FC236}">
                <a16:creationId xmlns:a16="http://schemas.microsoft.com/office/drawing/2014/main" id="{19D7D4C2-2976-36E4-58D8-A3C2FF69441A}"/>
              </a:ext>
            </a:extLst>
          </p:cNvPr>
          <p:cNvSpPr txBox="1">
            <a:spLocks/>
          </p:cNvSpPr>
          <p:nvPr userDrawn="1"/>
        </p:nvSpPr>
        <p:spPr>
          <a:xfrm>
            <a:off x="0" y="2260481"/>
            <a:ext cx="12192000" cy="2337037"/>
          </a:xfrm>
          <a:prstGeom prst="rect">
            <a:avLst/>
          </a:prstGeom>
          <a:solidFill>
            <a:srgbClr val="0C1F35"/>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a:lstStyle>
          <a:p>
            <a:pPr algn="ctr"/>
            <a:endParaRPr lang="en-CY" sz="3600" dirty="0">
              <a:solidFill>
                <a:schemeClr val="bg1"/>
              </a:solidFill>
            </a:endParaRPr>
          </a:p>
          <a:p>
            <a:pPr algn="ctr"/>
            <a:r>
              <a:rPr lang="en-US" sz="3600" dirty="0">
                <a:solidFill>
                  <a:schemeClr val="bg1"/>
                </a:solidFill>
              </a:rPr>
              <a:t>Our Services</a:t>
            </a:r>
          </a:p>
          <a:p>
            <a:pPr algn="ctr"/>
            <a:endParaRPr lang="en-CY" sz="2800" dirty="0">
              <a:solidFill>
                <a:schemeClr val="bg1"/>
              </a:solidFill>
            </a:endParaRPr>
          </a:p>
        </p:txBody>
      </p:sp>
    </p:spTree>
    <p:extLst>
      <p:ext uri="{BB962C8B-B14F-4D97-AF65-F5344CB8AC3E}">
        <p14:creationId xmlns:p14="http://schemas.microsoft.com/office/powerpoint/2010/main" val="369720786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270196"/>
            <a:ext cx="7243012"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152533D1-B8A3-9647-AF6B-1E156F3ECC60}"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6" name="Rectangle 5">
            <a:extLst>
              <a:ext uri="{FF2B5EF4-FFF2-40B4-BE49-F238E27FC236}">
                <a16:creationId xmlns:a16="http://schemas.microsoft.com/office/drawing/2014/main" id="{D7B7134D-BF2A-1D45-242A-B535CF916725}"/>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dirty="0"/>
          </a:p>
        </p:txBody>
      </p:sp>
      <p:sp>
        <p:nvSpPr>
          <p:cNvPr id="9" name="Content Placeholder 5">
            <a:extLst>
              <a:ext uri="{FF2B5EF4-FFF2-40B4-BE49-F238E27FC236}">
                <a16:creationId xmlns:a16="http://schemas.microsoft.com/office/drawing/2014/main" id="{C481BFDF-A66E-67C3-410A-DD25EF257961}"/>
              </a:ext>
            </a:extLst>
          </p:cNvPr>
          <p:cNvSpPr>
            <a:spLocks noGrp="1" noRot="1" noMove="1" noResize="1" noEditPoints="1" noAdjustHandles="1" noChangeArrowheads="1" noChangeShapeType="1"/>
          </p:cNvSpPr>
          <p:nvPr>
            <p:ph sz="quarter" idx="13"/>
          </p:nvPr>
        </p:nvSpPr>
        <p:spPr>
          <a:xfrm>
            <a:off x="8210780" y="1766122"/>
            <a:ext cx="2668910" cy="4423541"/>
          </a:xfrm>
        </p:spPr>
        <p:txBody>
          <a:bodyPr anchor="t">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 name="TextBox 1">
            <a:extLst>
              <a:ext uri="{FF2B5EF4-FFF2-40B4-BE49-F238E27FC236}">
                <a16:creationId xmlns:a16="http://schemas.microsoft.com/office/drawing/2014/main" id="{F55DA05D-D465-9429-E2D5-9F4693C3B407}"/>
              </a:ext>
            </a:extLst>
          </p:cNvPr>
          <p:cNvSpPr txBox="1">
            <a:spLocks noGrp="1" noRot="1" noMove="1" noResize="1" noEditPoints="1" noAdjustHandles="1" noChangeArrowheads="1" noChangeShapeType="1"/>
          </p:cNvSpPr>
          <p:nvPr userDrawn="1"/>
        </p:nvSpPr>
        <p:spPr>
          <a:xfrm>
            <a:off x="8257297" y="1309784"/>
            <a:ext cx="2668910" cy="338554"/>
          </a:xfrm>
          <a:prstGeom prst="rect">
            <a:avLst/>
          </a:prstGeom>
          <a:noFill/>
        </p:spPr>
        <p:txBody>
          <a:bodyPr wrap="square">
            <a:spAutoFit/>
          </a:bodyPr>
          <a:lstStyle/>
          <a:p>
            <a:pPr algn="just"/>
            <a:r>
              <a:rPr lang="en-US" sz="1600" b="1" i="0" u="none" strike="noStrike" dirty="0">
                <a:solidFill>
                  <a:schemeClr val="bg1"/>
                </a:solidFill>
                <a:effectLst/>
                <a:latin typeface="Aptos ExtraBold" panose="020B0004020202020204" pitchFamily="34" charset="0"/>
              </a:rPr>
              <a:t>Pnyx Hill Deliverable</a:t>
            </a:r>
          </a:p>
        </p:txBody>
      </p:sp>
    </p:spTree>
    <p:extLst>
      <p:ext uri="{BB962C8B-B14F-4D97-AF65-F5344CB8AC3E}">
        <p14:creationId xmlns:p14="http://schemas.microsoft.com/office/powerpoint/2010/main" val="131247329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p:cNvSpPr>
          <p:nvPr userDrawn="1"/>
        </p:nvSpPr>
        <p:spPr>
          <a:xfrm>
            <a:off x="836612" y="1270196"/>
            <a:ext cx="3555129"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 Placeholder 2">
            <a:extLst>
              <a:ext uri="{FF2B5EF4-FFF2-40B4-BE49-F238E27FC236}">
                <a16:creationId xmlns:a16="http://schemas.microsoft.com/office/drawing/2014/main" id="{B64F5870-38A3-FB0A-9564-7191D83C0890}"/>
              </a:ext>
            </a:extLst>
          </p:cNvPr>
          <p:cNvSpPr>
            <a:spLocks noGrp="1" noRot="1" noMove="1" noResize="1" noEditPoints="1" noAdjustHandles="1" noChangeArrowheads="1" noChangeShapeType="1"/>
          </p:cNvSpPr>
          <p:nvPr>
            <p:ph type="body" idx="1"/>
          </p:nvPr>
        </p:nvSpPr>
        <p:spPr>
          <a:xfrm>
            <a:off x="839787" y="1270197"/>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52B49A12-4D4D-6444-9A26-C83905C0B53D}"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cxnSp>
        <p:nvCxnSpPr>
          <p:cNvPr id="10" name="Straight Connector 9">
            <a:extLst>
              <a:ext uri="{FF2B5EF4-FFF2-40B4-BE49-F238E27FC236}">
                <a16:creationId xmlns:a16="http://schemas.microsoft.com/office/drawing/2014/main" id="{AC33AA1F-000E-AFC0-B6D5-9731BB0695B7}"/>
              </a:ext>
            </a:extLst>
          </p:cNvPr>
          <p:cNvCxnSpPr>
            <a:cxnSpLocks/>
          </p:cNvCxnSpPr>
          <p:nvPr userDrawn="1"/>
        </p:nvCxnSpPr>
        <p:spPr>
          <a:xfrm>
            <a:off x="836612" y="1684963"/>
            <a:ext cx="3551954"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0" name="Title 1">
            <a:extLst>
              <a:ext uri="{FF2B5EF4-FFF2-40B4-BE49-F238E27FC236}">
                <a16:creationId xmlns:a16="http://schemas.microsoft.com/office/drawing/2014/main" id="{4D63ED73-538B-2E5D-B6AB-7E2DD7B22697}"/>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Service Deliverables</a:t>
            </a:r>
            <a:endParaRPr lang="en-AE" dirty="0"/>
          </a:p>
        </p:txBody>
      </p:sp>
      <p:pic>
        <p:nvPicPr>
          <p:cNvPr id="31" name="Picture 30" descr="Person standing on arrow">
            <a:extLst>
              <a:ext uri="{FF2B5EF4-FFF2-40B4-BE49-F238E27FC236}">
                <a16:creationId xmlns:a16="http://schemas.microsoft.com/office/drawing/2014/main" id="{A687B6B3-AC03-5ABD-577C-7C24667FF49E}"/>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t="-335"/>
          <a:stretch/>
        </p:blipFill>
        <p:spPr>
          <a:xfrm flipH="1">
            <a:off x="8363060" y="498764"/>
            <a:ext cx="2847246" cy="5602144"/>
          </a:xfrm>
          <a:prstGeom prst="rect">
            <a:avLst/>
          </a:prstGeom>
        </p:spPr>
      </p:pic>
      <p:sp>
        <p:nvSpPr>
          <p:cNvPr id="5" name="Rectangle 4">
            <a:extLst>
              <a:ext uri="{FF2B5EF4-FFF2-40B4-BE49-F238E27FC236}">
                <a16:creationId xmlns:a16="http://schemas.microsoft.com/office/drawing/2014/main" id="{BF0F64AC-AD66-6EB6-042F-DA8645CD41E2}"/>
              </a:ext>
            </a:extLst>
          </p:cNvPr>
          <p:cNvSpPr>
            <a:spLocks/>
          </p:cNvSpPr>
          <p:nvPr userDrawn="1"/>
        </p:nvSpPr>
        <p:spPr>
          <a:xfrm>
            <a:off x="4565194" y="1270196"/>
            <a:ext cx="3555129"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 Placeholder 2">
            <a:extLst>
              <a:ext uri="{FF2B5EF4-FFF2-40B4-BE49-F238E27FC236}">
                <a16:creationId xmlns:a16="http://schemas.microsoft.com/office/drawing/2014/main" id="{8C6B9B1B-3508-9EFB-6E7B-0197ABF51F0F}"/>
              </a:ext>
            </a:extLst>
          </p:cNvPr>
          <p:cNvSpPr>
            <a:spLocks noGrp="1"/>
          </p:cNvSpPr>
          <p:nvPr>
            <p:ph type="body" idx="13"/>
          </p:nvPr>
        </p:nvSpPr>
        <p:spPr>
          <a:xfrm>
            <a:off x="4568369" y="1270197"/>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1" name="Content Placeholder 3">
            <a:extLst>
              <a:ext uri="{FF2B5EF4-FFF2-40B4-BE49-F238E27FC236}">
                <a16:creationId xmlns:a16="http://schemas.microsoft.com/office/drawing/2014/main" id="{CB248F2B-2A4C-B2D1-95B0-0EC53A3BA56B}"/>
              </a:ext>
            </a:extLst>
          </p:cNvPr>
          <p:cNvSpPr>
            <a:spLocks noGrp="1"/>
          </p:cNvSpPr>
          <p:nvPr>
            <p:ph sz="half" idx="14"/>
          </p:nvPr>
        </p:nvSpPr>
        <p:spPr>
          <a:xfrm>
            <a:off x="4568370"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cxnSp>
        <p:nvCxnSpPr>
          <p:cNvPr id="13" name="Straight Connector 12">
            <a:extLst>
              <a:ext uri="{FF2B5EF4-FFF2-40B4-BE49-F238E27FC236}">
                <a16:creationId xmlns:a16="http://schemas.microsoft.com/office/drawing/2014/main" id="{E29B5572-41D6-A313-12C5-597BBC92A8F8}"/>
              </a:ext>
            </a:extLst>
          </p:cNvPr>
          <p:cNvCxnSpPr>
            <a:cxnSpLocks/>
          </p:cNvCxnSpPr>
          <p:nvPr userDrawn="1"/>
        </p:nvCxnSpPr>
        <p:spPr>
          <a:xfrm>
            <a:off x="4565194" y="1684963"/>
            <a:ext cx="3551954"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3767083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9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355AACDA-48EE-B14A-AAB7-B7DD76E73B3B}"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endParaRPr lang="en-AE" dirty="0"/>
          </a:p>
        </p:txBody>
      </p:sp>
      <p:sp>
        <p:nvSpPr>
          <p:cNvPr id="4" name="TextBox 3">
            <a:extLst>
              <a:ext uri="{FF2B5EF4-FFF2-40B4-BE49-F238E27FC236}">
                <a16:creationId xmlns:a16="http://schemas.microsoft.com/office/drawing/2014/main" id="{A17DE76F-57AC-2DA3-18E3-61E4F88F2D2C}"/>
              </a:ext>
            </a:extLst>
          </p:cNvPr>
          <p:cNvSpPr txBox="1"/>
          <p:nvPr userDrawn="1"/>
        </p:nvSpPr>
        <p:spPr>
          <a:xfrm>
            <a:off x="801414" y="5838409"/>
            <a:ext cx="10552386" cy="338554"/>
          </a:xfrm>
          <a:prstGeom prst="rect">
            <a:avLst/>
          </a:prstGeom>
          <a:noFill/>
        </p:spPr>
        <p:txBody>
          <a:bodyPr wrap="square">
            <a:spAutoFit/>
          </a:bodyPr>
          <a:lstStyle/>
          <a:p>
            <a:r>
              <a:rPr lang="en-GB" sz="800" dirty="0">
                <a:solidFill>
                  <a:schemeClr val="tx1">
                    <a:lumMod val="50000"/>
                    <a:lumOff val="50000"/>
                  </a:schemeClr>
                </a:solidFill>
              </a:rPr>
              <a:t>*Timelines are subject to change based on the response times of the client and the Regulator, but also due to unforeseen circumstances</a:t>
            </a:r>
          </a:p>
          <a:p>
            <a:r>
              <a:rPr lang="en-GB" sz="800" dirty="0">
                <a:solidFill>
                  <a:schemeClr val="tx1">
                    <a:lumMod val="50000"/>
                    <a:lumOff val="50000"/>
                  </a:schemeClr>
                </a:solidFill>
              </a:rPr>
              <a:t>*Please note that delays may occur in the opening of bank accounts and the registration of lease agreements</a:t>
            </a:r>
          </a:p>
        </p:txBody>
      </p:sp>
    </p:spTree>
    <p:extLst>
      <p:ext uri="{BB962C8B-B14F-4D97-AF65-F5344CB8AC3E}">
        <p14:creationId xmlns:p14="http://schemas.microsoft.com/office/powerpoint/2010/main" val="384544556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8_Title Only">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067EC84-BDD1-0889-B6E1-87802F8A87D8}"/>
              </a:ext>
            </a:extLst>
          </p:cNvPr>
          <p:cNvSpPr>
            <a:spLocks noGrp="1" noRot="1" noMove="1" noResize="1" noEditPoints="1" noAdjustHandles="1" noChangeArrowheads="1" noChangeShapeType="1"/>
          </p:cNvSpPr>
          <p:nvPr userDrawn="1"/>
        </p:nvSpPr>
        <p:spPr>
          <a:xfrm>
            <a:off x="0" y="0"/>
            <a:ext cx="12192000" cy="6865434"/>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593B6A94-915F-7D46-804B-C98F40B62CCF}"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8" name="Title 1">
            <a:extLst>
              <a:ext uri="{FF2B5EF4-FFF2-40B4-BE49-F238E27FC236}">
                <a16:creationId xmlns:a16="http://schemas.microsoft.com/office/drawing/2014/main" id="{BC5D2D8E-A775-207F-812C-3273AEABB07E}"/>
              </a:ext>
            </a:extLst>
          </p:cNvPr>
          <p:cNvSpPr txBox="1">
            <a:spLocks/>
          </p:cNvSpPr>
          <p:nvPr userDrawn="1"/>
        </p:nvSpPr>
        <p:spPr>
          <a:xfrm>
            <a:off x="0" y="2260481"/>
            <a:ext cx="12192000" cy="2337037"/>
          </a:xfrm>
          <a:prstGeom prst="rect">
            <a:avLst/>
          </a:prstGeom>
          <a:solidFill>
            <a:srgbClr val="0C1F35"/>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a:lstStyle>
          <a:p>
            <a:pPr algn="ctr"/>
            <a:r>
              <a:rPr lang="en-US" sz="3600" dirty="0">
                <a:solidFill>
                  <a:schemeClr val="bg1"/>
                </a:solidFill>
              </a:rPr>
              <a:t>Optional After-Service Support</a:t>
            </a:r>
          </a:p>
          <a:p>
            <a:pPr algn="ctr"/>
            <a:endParaRPr lang="en-US" sz="3600" dirty="0">
              <a:solidFill>
                <a:schemeClr val="bg1"/>
              </a:solidFill>
            </a:endParaRPr>
          </a:p>
          <a:p>
            <a:pPr algn="ctr"/>
            <a:endParaRPr lang="en-CY" sz="2800" dirty="0">
              <a:solidFill>
                <a:schemeClr val="bg1"/>
              </a:solidFill>
            </a:endParaRPr>
          </a:p>
        </p:txBody>
      </p:sp>
      <p:sp>
        <p:nvSpPr>
          <p:cNvPr id="9" name="Title 1">
            <a:extLst>
              <a:ext uri="{FF2B5EF4-FFF2-40B4-BE49-F238E27FC236}">
                <a16:creationId xmlns:a16="http://schemas.microsoft.com/office/drawing/2014/main" id="{CC6603CA-9028-2902-FBDF-49159FC41191}"/>
              </a:ext>
            </a:extLst>
          </p:cNvPr>
          <p:cNvSpPr>
            <a:spLocks noGrp="1"/>
          </p:cNvSpPr>
          <p:nvPr>
            <p:ph type="title"/>
          </p:nvPr>
        </p:nvSpPr>
        <p:spPr>
          <a:xfrm>
            <a:off x="468923" y="3587950"/>
            <a:ext cx="11254154" cy="721032"/>
          </a:xfrm>
        </p:spPr>
        <p:txBody>
          <a:bodyPr anchor="t">
            <a:normAutofit/>
          </a:bodyPr>
          <a:lstStyle>
            <a:lvl1pPr algn="ctr">
              <a:defRPr sz="2800" b="1" i="0">
                <a:solidFill>
                  <a:schemeClr val="bg1"/>
                </a:solidFill>
                <a:latin typeface="Aptos ExtraBold" panose="020B0004020202020204" pitchFamily="34" charset="0"/>
              </a:defRPr>
            </a:lvl1pPr>
          </a:lstStyle>
          <a:p>
            <a:endParaRPr lang="en-AE" dirty="0"/>
          </a:p>
        </p:txBody>
      </p:sp>
    </p:spTree>
    <p:extLst>
      <p:ext uri="{BB962C8B-B14F-4D97-AF65-F5344CB8AC3E}">
        <p14:creationId xmlns:p14="http://schemas.microsoft.com/office/powerpoint/2010/main" val="174383619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270196"/>
            <a:ext cx="7243012"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429A3999-8562-C449-A41E-DA4EF819F873}"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6" name="Rectangle 5">
            <a:extLst>
              <a:ext uri="{FF2B5EF4-FFF2-40B4-BE49-F238E27FC236}">
                <a16:creationId xmlns:a16="http://schemas.microsoft.com/office/drawing/2014/main" id="{D7B7134D-BF2A-1D45-242A-B535CF916725}"/>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dirty="0"/>
          </a:p>
        </p:txBody>
      </p:sp>
      <p:sp>
        <p:nvSpPr>
          <p:cNvPr id="9" name="Content Placeholder 5">
            <a:extLst>
              <a:ext uri="{FF2B5EF4-FFF2-40B4-BE49-F238E27FC236}">
                <a16:creationId xmlns:a16="http://schemas.microsoft.com/office/drawing/2014/main" id="{C481BFDF-A66E-67C3-410A-DD25EF257961}"/>
              </a:ext>
            </a:extLst>
          </p:cNvPr>
          <p:cNvSpPr>
            <a:spLocks noGrp="1"/>
          </p:cNvSpPr>
          <p:nvPr>
            <p:ph sz="quarter" idx="13"/>
          </p:nvPr>
        </p:nvSpPr>
        <p:spPr>
          <a:xfrm>
            <a:off x="8447039" y="1328321"/>
            <a:ext cx="2668910" cy="4738182"/>
          </a:xfrm>
        </p:spPr>
        <p:txBody>
          <a:bodyPr anchor="t">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 name="TextBox 1">
            <a:extLst>
              <a:ext uri="{FF2B5EF4-FFF2-40B4-BE49-F238E27FC236}">
                <a16:creationId xmlns:a16="http://schemas.microsoft.com/office/drawing/2014/main" id="{F55DA05D-D465-9429-E2D5-9F4693C3B407}"/>
              </a:ext>
            </a:extLst>
          </p:cNvPr>
          <p:cNvSpPr txBox="1">
            <a:spLocks/>
          </p:cNvSpPr>
          <p:nvPr userDrawn="1"/>
        </p:nvSpPr>
        <p:spPr>
          <a:xfrm>
            <a:off x="8210778" y="677447"/>
            <a:ext cx="3141432" cy="338554"/>
          </a:xfrm>
          <a:prstGeom prst="rect">
            <a:avLst/>
          </a:prstGeom>
          <a:noFill/>
        </p:spPr>
        <p:txBody>
          <a:bodyPr wrap="square">
            <a:spAutoFit/>
          </a:bodyPr>
          <a:lstStyle/>
          <a:p>
            <a:pPr algn="ctr"/>
            <a:r>
              <a:rPr lang="en-US" sz="1600" b="1" i="0" u="none" strike="noStrike" dirty="0">
                <a:solidFill>
                  <a:schemeClr val="bg1"/>
                </a:solidFill>
                <a:effectLst/>
                <a:latin typeface="Aptos ExtraBold" panose="020B0004020202020204" pitchFamily="34" charset="0"/>
              </a:rPr>
              <a:t>Continued Support</a:t>
            </a:r>
          </a:p>
        </p:txBody>
      </p:sp>
    </p:spTree>
    <p:extLst>
      <p:ext uri="{BB962C8B-B14F-4D97-AF65-F5344CB8AC3E}">
        <p14:creationId xmlns:p14="http://schemas.microsoft.com/office/powerpoint/2010/main" val="243533818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3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B31ED15B-41D0-1292-2B32-55A9DED8E66E}"/>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3" name="Text Placeholder 2">
            <a:extLst>
              <a:ext uri="{FF2B5EF4-FFF2-40B4-BE49-F238E27FC236}">
                <a16:creationId xmlns:a16="http://schemas.microsoft.com/office/drawing/2014/main" id="{B64F5870-38A3-FB0A-9564-7191D83C0890}"/>
              </a:ext>
            </a:extLst>
          </p:cNvPr>
          <p:cNvSpPr>
            <a:spLocks noGrp="1" noRot="1" noMove="1" noResize="1" noEditPoints="1" noAdjustHandles="1" noChangeArrowheads="1" noChangeShapeType="1"/>
          </p:cNvSpPr>
          <p:nvPr>
            <p:ph type="body" idx="1"/>
          </p:nvPr>
        </p:nvSpPr>
        <p:spPr>
          <a:xfrm>
            <a:off x="839787" y="1270197"/>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6" name="Content Placeholder 5">
            <a:extLst>
              <a:ext uri="{FF2B5EF4-FFF2-40B4-BE49-F238E27FC236}">
                <a16:creationId xmlns:a16="http://schemas.microsoft.com/office/drawing/2014/main" id="{58890050-E5B1-2DB3-5F37-F3558F646841}"/>
              </a:ext>
            </a:extLst>
          </p:cNvPr>
          <p:cNvSpPr>
            <a:spLocks noGrp="1" noRot="1" noMove="1" noResize="1" noEditPoints="1" noAdjustHandles="1" noChangeArrowheads="1" noChangeShapeType="1"/>
          </p:cNvSpPr>
          <p:nvPr>
            <p:ph sz="quarter" idx="4"/>
          </p:nvPr>
        </p:nvSpPr>
        <p:spPr>
          <a:xfrm>
            <a:off x="4516545" y="1766122"/>
            <a:ext cx="3566255"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F5A684B6-C2FA-1649-9400-6F606FE80817}"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Content Placeholder 5">
            <a:extLst>
              <a:ext uri="{FF2B5EF4-FFF2-40B4-BE49-F238E27FC236}">
                <a16:creationId xmlns:a16="http://schemas.microsoft.com/office/drawing/2014/main" id="{1664B932-4539-D0BE-5144-F077BE2F3D9E}"/>
              </a:ext>
            </a:extLst>
          </p:cNvPr>
          <p:cNvSpPr>
            <a:spLocks noGrp="1"/>
          </p:cNvSpPr>
          <p:nvPr>
            <p:ph sz="quarter" idx="13"/>
          </p:nvPr>
        </p:nvSpPr>
        <p:spPr>
          <a:xfrm>
            <a:off x="8276194" y="1766121"/>
            <a:ext cx="2783969" cy="4423542"/>
          </a:xfrm>
        </p:spPr>
        <p:txBody>
          <a:bodyPr anchor="t">
            <a:normAutofit/>
          </a:bodyPr>
          <a:lstStyle>
            <a:lvl1pPr marL="0" indent="0" algn="just">
              <a:buNone/>
              <a:defRPr sz="900">
                <a:solidFill>
                  <a:schemeClr val="bg1"/>
                </a:solidFill>
              </a:defRPr>
            </a:lvl1pPr>
            <a:lvl2pPr marL="457200" indent="0" algn="just">
              <a:buNone/>
              <a:defRPr sz="900">
                <a:solidFill>
                  <a:schemeClr val="bg1"/>
                </a:solidFill>
              </a:defRPr>
            </a:lvl2pPr>
            <a:lvl3pPr marL="914400" indent="0" algn="just">
              <a:buNone/>
              <a:defRPr sz="900">
                <a:solidFill>
                  <a:schemeClr val="bg1"/>
                </a:solidFill>
              </a:defRPr>
            </a:lvl3pPr>
            <a:lvl4pPr algn="just">
              <a:defRPr sz="900">
                <a:solidFill>
                  <a:schemeClr val="bg1"/>
                </a:solidFill>
              </a:defRPr>
            </a:lvl4pPr>
            <a:lvl5pPr algn="just">
              <a:defRPr sz="900">
                <a:solidFill>
                  <a:schemeClr val="bg1"/>
                </a:solidFill>
              </a:defRPr>
            </a:lvl5pPr>
          </a:lstStyle>
          <a:p>
            <a:pPr lvl="0"/>
            <a:r>
              <a:rPr lang="en-US" dirty="0"/>
              <a:t>Click to edit Master text styles</a:t>
            </a:r>
          </a:p>
        </p:txBody>
      </p:sp>
      <p:cxnSp>
        <p:nvCxnSpPr>
          <p:cNvPr id="10" name="Straight Connector 9">
            <a:extLst>
              <a:ext uri="{FF2B5EF4-FFF2-40B4-BE49-F238E27FC236}">
                <a16:creationId xmlns:a16="http://schemas.microsoft.com/office/drawing/2014/main" id="{AC33AA1F-000E-AFC0-B6D5-9731BB0695B7}"/>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12" name="Text Placeholder 2">
            <a:extLst>
              <a:ext uri="{FF2B5EF4-FFF2-40B4-BE49-F238E27FC236}">
                <a16:creationId xmlns:a16="http://schemas.microsoft.com/office/drawing/2014/main" id="{15BC6520-FF31-EAB6-15C1-8A5ADD66F62F}"/>
              </a:ext>
            </a:extLst>
          </p:cNvPr>
          <p:cNvSpPr>
            <a:spLocks noGrp="1" noRot="1" noMove="1" noResize="1" noEditPoints="1" noAdjustHandles="1" noChangeArrowheads="1" noChangeShapeType="1"/>
          </p:cNvSpPr>
          <p:nvPr>
            <p:ph type="body" idx="14"/>
          </p:nvPr>
        </p:nvSpPr>
        <p:spPr>
          <a:xfrm>
            <a:off x="4534019" y="1270195"/>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196920330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B31ED15B-41D0-1292-2B32-55A9DED8E66E}"/>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3" name="Text Placeholder 2">
            <a:extLst>
              <a:ext uri="{FF2B5EF4-FFF2-40B4-BE49-F238E27FC236}">
                <a16:creationId xmlns:a16="http://schemas.microsoft.com/office/drawing/2014/main" id="{B64F5870-38A3-FB0A-9564-7191D83C0890}"/>
              </a:ext>
            </a:extLst>
          </p:cNvPr>
          <p:cNvSpPr>
            <a:spLocks noGrp="1" noRot="1" noMove="1" noResize="1" noEditPoints="1" noAdjustHandles="1" noChangeArrowheads="1" noChangeShapeType="1"/>
          </p:cNvSpPr>
          <p:nvPr>
            <p:ph type="body" idx="1"/>
          </p:nvPr>
        </p:nvSpPr>
        <p:spPr>
          <a:xfrm>
            <a:off x="839787" y="1270197"/>
            <a:ext cx="7243011" cy="414766"/>
          </a:xfrm>
        </p:spPr>
        <p:txBody>
          <a:bodyPr anchor="t">
            <a:normAutofit/>
          </a:bodyPr>
          <a:lstStyle>
            <a:lvl1pPr marL="0" indent="0">
              <a:buNone/>
              <a:defRPr sz="20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6" name="Content Placeholder 5">
            <a:extLst>
              <a:ext uri="{FF2B5EF4-FFF2-40B4-BE49-F238E27FC236}">
                <a16:creationId xmlns:a16="http://schemas.microsoft.com/office/drawing/2014/main" id="{58890050-E5B1-2DB3-5F37-F3558F646841}"/>
              </a:ext>
            </a:extLst>
          </p:cNvPr>
          <p:cNvSpPr>
            <a:spLocks noGrp="1" noRot="1" noMove="1" noResize="1" noEditPoints="1" noAdjustHandles="1" noChangeArrowheads="1" noChangeShapeType="1"/>
          </p:cNvSpPr>
          <p:nvPr>
            <p:ph sz="quarter" idx="4"/>
          </p:nvPr>
        </p:nvSpPr>
        <p:spPr>
          <a:xfrm>
            <a:off x="4516545" y="1766122"/>
            <a:ext cx="3566255"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EA0CE926-D45C-0849-876B-38F2BC536F1E}"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Content Placeholder 5">
            <a:extLst>
              <a:ext uri="{FF2B5EF4-FFF2-40B4-BE49-F238E27FC236}">
                <a16:creationId xmlns:a16="http://schemas.microsoft.com/office/drawing/2014/main" id="{1664B932-4539-D0BE-5144-F077BE2F3D9E}"/>
              </a:ext>
            </a:extLst>
          </p:cNvPr>
          <p:cNvSpPr>
            <a:spLocks noGrp="1" noRot="1" noMove="1" noResize="1" noEditPoints="1" noAdjustHandles="1" noChangeArrowheads="1" noChangeShapeType="1"/>
          </p:cNvSpPr>
          <p:nvPr>
            <p:ph sz="quarter" idx="13"/>
          </p:nvPr>
        </p:nvSpPr>
        <p:spPr>
          <a:xfrm>
            <a:off x="8210780" y="1270196"/>
            <a:ext cx="3141432" cy="4919467"/>
          </a:xfrm>
        </p:spPr>
        <p:txBody>
          <a:bodyPr anchor="ctr">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cxnSp>
        <p:nvCxnSpPr>
          <p:cNvPr id="10" name="Straight Connector 9">
            <a:extLst>
              <a:ext uri="{FF2B5EF4-FFF2-40B4-BE49-F238E27FC236}">
                <a16:creationId xmlns:a16="http://schemas.microsoft.com/office/drawing/2014/main" id="{AC33AA1F-000E-AFC0-B6D5-9731BB0695B7}"/>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6441978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47DFB7A-D951-1795-9B2D-D4DE3EDCFC1C}"/>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2" name="TextBox 21">
            <a:extLst>
              <a:ext uri="{FF2B5EF4-FFF2-40B4-BE49-F238E27FC236}">
                <a16:creationId xmlns:a16="http://schemas.microsoft.com/office/drawing/2014/main" id="{DC47170E-6111-6225-9675-C0794B63278F}"/>
              </a:ext>
            </a:extLst>
          </p:cNvPr>
          <p:cNvSpPr txBox="1">
            <a:spLocks noGrp="1" noRot="1" noMove="1" noResize="1" noEditPoints="1" noAdjustHandles="1" noChangeArrowheads="1" noChangeShapeType="1"/>
          </p:cNvSpPr>
          <p:nvPr userDrawn="1"/>
        </p:nvSpPr>
        <p:spPr>
          <a:xfrm>
            <a:off x="8257296" y="1766121"/>
            <a:ext cx="2792995" cy="3647152"/>
          </a:xfrm>
          <a:prstGeom prst="rect">
            <a:avLst/>
          </a:prstGeom>
          <a:noFill/>
        </p:spPr>
        <p:txBody>
          <a:bodyPr wrap="square">
            <a:spAutoFit/>
          </a:bodyPr>
          <a:lstStyle/>
          <a:p>
            <a:pPr algn="just"/>
            <a:r>
              <a:rPr lang="en-US" sz="1100" b="0" i="0" u="none" strike="noStrike" dirty="0">
                <a:solidFill>
                  <a:schemeClr val="bg1"/>
                </a:solidFill>
                <a:effectLst/>
              </a:rPr>
              <a:t>At Pnyx Hill, our strength lies in our people. We are a powerhouse of seasoned experts, bringing together deep knowledge across:</a:t>
            </a:r>
          </a:p>
          <a:p>
            <a:pPr algn="just"/>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Regulated Finance</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Licensing &amp; Compliance</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Risk &amp; Governance</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Digital Transformation</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Fundraising &amp; Market Entry</a:t>
            </a:r>
          </a:p>
          <a:p>
            <a:pPr algn="just">
              <a:buFont typeface="Arial" panose="020B0604020202020204" pitchFamily="34" charset="0"/>
              <a:buNone/>
            </a:pPr>
            <a:endParaRPr lang="en-US" sz="1100" b="0" i="0" u="none" strike="noStrike" dirty="0">
              <a:solidFill>
                <a:schemeClr val="bg1"/>
              </a:solidFill>
              <a:effectLst/>
            </a:endParaRPr>
          </a:p>
          <a:p>
            <a:pPr algn="just"/>
            <a:endParaRPr lang="en-US" sz="1100" b="0" i="0" u="none" strike="noStrike" dirty="0">
              <a:solidFill>
                <a:schemeClr val="bg1"/>
              </a:solidFill>
              <a:effectLst/>
            </a:endParaRPr>
          </a:p>
          <a:p>
            <a:pPr algn="just"/>
            <a:r>
              <a:rPr lang="en-US" sz="1100" b="0" i="0" u="none" strike="noStrike" dirty="0">
                <a:solidFill>
                  <a:schemeClr val="bg1"/>
                </a:solidFill>
                <a:effectLst/>
              </a:rPr>
              <a:t>Driven by continuous learning and collaboration, we stay ahead of industry shifts, delivering sharp, forward-thinking solutions. Our commitment to innovation ensures we lead, adapt, and set the pace in a rapidly evolving landscape.</a:t>
            </a:r>
          </a:p>
        </p:txBody>
      </p:sp>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61006E44-0A94-1F41-9E52-E1701CAF842A}"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11" name="Rectangle 10">
            <a:extLst>
              <a:ext uri="{FF2B5EF4-FFF2-40B4-BE49-F238E27FC236}">
                <a16:creationId xmlns:a16="http://schemas.microsoft.com/office/drawing/2014/main" id="{99202834-8607-CAFA-5804-00B0D5750E92}"/>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Content Placeholder 3">
            <a:extLst>
              <a:ext uri="{FF2B5EF4-FFF2-40B4-BE49-F238E27FC236}">
                <a16:creationId xmlns:a16="http://schemas.microsoft.com/office/drawing/2014/main" id="{9797DC0D-3472-FD3C-79F0-593DF3C17365}"/>
              </a:ext>
            </a:extLst>
          </p:cNvPr>
          <p:cNvSpPr>
            <a:spLocks noGrp="1" noRot="1" noMove="1" noResize="1" noEditPoints="1" noAdjustHandles="1" noChangeArrowheads="1" noChangeShapeType="1"/>
          </p:cNvSpPr>
          <p:nvPr>
            <p:ph sz="half" idx="2"/>
          </p:nvPr>
        </p:nvSpPr>
        <p:spPr>
          <a:xfrm>
            <a:off x="2876764" y="1766121"/>
            <a:ext cx="4846298" cy="2160854"/>
          </a:xfrm>
        </p:spPr>
        <p:txBody>
          <a:bodyPr anchor="ctr">
            <a:normAutofit/>
          </a:bodyPr>
          <a:lstStyle>
            <a:lvl1pPr>
              <a:defRPr sz="700" b="0" i="0">
                <a:latin typeface="Aptos" panose="020B0004020202020204" pitchFamily="34" charset="0"/>
              </a:defRPr>
            </a:lvl1pPr>
            <a:lvl2pPr>
              <a:defRPr sz="700" b="0" i="0">
                <a:latin typeface="Aptos Light" panose="020B0004020202020204" pitchFamily="34" charset="0"/>
              </a:defRPr>
            </a:lvl2pPr>
            <a:lvl3pPr>
              <a:defRPr sz="700" b="0" i="0">
                <a:latin typeface="Aptos Light" panose="020B0004020202020204" pitchFamily="34" charset="0"/>
              </a:defRPr>
            </a:lvl3pPr>
            <a:lvl4pPr>
              <a:defRPr sz="700" b="0" i="0">
                <a:latin typeface="Aptos Light" panose="020B0004020202020204" pitchFamily="34" charset="0"/>
              </a:defRPr>
            </a:lvl4pPr>
            <a:lvl5pPr>
              <a:defRPr sz="7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 name="Content Placeholder 3">
            <a:extLst>
              <a:ext uri="{FF2B5EF4-FFF2-40B4-BE49-F238E27FC236}">
                <a16:creationId xmlns:a16="http://schemas.microsoft.com/office/drawing/2014/main" id="{1B19B4BB-8A26-CD36-8825-5A3E641C2D2E}"/>
              </a:ext>
            </a:extLst>
          </p:cNvPr>
          <p:cNvSpPr>
            <a:spLocks noGrp="1" noRot="1" noMove="1" noResize="1" noEditPoints="1" noAdjustHandles="1" noChangeArrowheads="1" noChangeShapeType="1"/>
          </p:cNvSpPr>
          <p:nvPr>
            <p:ph sz="half" idx="14"/>
          </p:nvPr>
        </p:nvSpPr>
        <p:spPr>
          <a:xfrm>
            <a:off x="2876764" y="4068567"/>
            <a:ext cx="4846298" cy="2160854"/>
          </a:xfrm>
        </p:spPr>
        <p:txBody>
          <a:bodyPr anchor="ctr">
            <a:normAutofit/>
          </a:bodyPr>
          <a:lstStyle>
            <a:lvl1pPr>
              <a:defRPr sz="700" b="0" i="0">
                <a:latin typeface="Aptos" panose="020B0004020202020204" pitchFamily="34" charset="0"/>
              </a:defRPr>
            </a:lvl1pPr>
            <a:lvl2pPr>
              <a:defRPr sz="700" b="0" i="0">
                <a:latin typeface="Aptos Light" panose="020B0004020202020204" pitchFamily="34" charset="0"/>
              </a:defRPr>
            </a:lvl2pPr>
            <a:lvl3pPr>
              <a:defRPr sz="700" b="0" i="0">
                <a:latin typeface="Aptos Light" panose="020B0004020202020204" pitchFamily="34" charset="0"/>
              </a:defRPr>
            </a:lvl3pPr>
            <a:lvl4pPr>
              <a:defRPr sz="700" b="0" i="0">
                <a:latin typeface="Aptos Light" panose="020B0004020202020204" pitchFamily="34" charset="0"/>
              </a:defRPr>
            </a:lvl4pPr>
            <a:lvl5pPr>
              <a:defRPr sz="7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3" name="Content Placeholder 3">
            <a:extLst>
              <a:ext uri="{FF2B5EF4-FFF2-40B4-BE49-F238E27FC236}">
                <a16:creationId xmlns:a16="http://schemas.microsoft.com/office/drawing/2014/main" id="{CA1255E4-C5AD-7B2A-DA4A-0465AF140347}"/>
              </a:ext>
            </a:extLst>
          </p:cNvPr>
          <p:cNvSpPr>
            <a:spLocks noGrp="1" noRot="1" noMove="1" noResize="1" noEditPoints="1" noAdjustHandles="1" noChangeArrowheads="1" noChangeShapeType="1"/>
          </p:cNvSpPr>
          <p:nvPr>
            <p:ph sz="half" idx="15" hasCustomPrompt="1"/>
          </p:nvPr>
        </p:nvSpPr>
        <p:spPr>
          <a:xfrm>
            <a:off x="1012294" y="1766121"/>
            <a:ext cx="1548000" cy="1548000"/>
          </a:xfrm>
          <a:prstGeom prst="ellipse">
            <a:avLst/>
          </a:prstGeom>
          <a:solidFill>
            <a:schemeClr val="bg1"/>
          </a:solidFill>
          <a:effectLst>
            <a:outerShdw blurRad="63500" sx="102000" sy="102000" algn="ctr" rotWithShape="0">
              <a:prstClr val="black">
                <a:alpha val="40000"/>
              </a:prstClr>
            </a:outerShdw>
          </a:effectLst>
        </p:spPr>
        <p:txBody>
          <a:bodyPr>
            <a:normAutofit/>
          </a:bodyPr>
          <a:lstStyle>
            <a:lvl1pPr marL="0" indent="0">
              <a:buNone/>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Add image</a:t>
            </a:r>
          </a:p>
        </p:txBody>
      </p:sp>
      <p:sp>
        <p:nvSpPr>
          <p:cNvPr id="5" name="Content Placeholder 3">
            <a:extLst>
              <a:ext uri="{FF2B5EF4-FFF2-40B4-BE49-F238E27FC236}">
                <a16:creationId xmlns:a16="http://schemas.microsoft.com/office/drawing/2014/main" id="{EC2FD9A4-480B-AB0D-75A3-7FB333C41A48}"/>
              </a:ext>
            </a:extLst>
          </p:cNvPr>
          <p:cNvSpPr>
            <a:spLocks noGrp="1" noRot="1" noMove="1" noResize="1" noEditPoints="1" noAdjustHandles="1" noChangeArrowheads="1" noChangeShapeType="1"/>
          </p:cNvSpPr>
          <p:nvPr>
            <p:ph sz="half" idx="16"/>
          </p:nvPr>
        </p:nvSpPr>
        <p:spPr>
          <a:xfrm>
            <a:off x="836610" y="3367850"/>
            <a:ext cx="1912175" cy="559125"/>
          </a:xfrm>
        </p:spPr>
        <p:txBody>
          <a:bodyPr>
            <a:normAutofit/>
          </a:bodyPr>
          <a:lstStyle>
            <a:lvl1pPr marL="0" indent="0" algn="ctr">
              <a:buNone/>
              <a:defRPr sz="900" b="1" i="0">
                <a:solidFill>
                  <a:srgbClr val="7D4E1D"/>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16" name="Content Placeholder 3">
            <a:extLst>
              <a:ext uri="{FF2B5EF4-FFF2-40B4-BE49-F238E27FC236}">
                <a16:creationId xmlns:a16="http://schemas.microsoft.com/office/drawing/2014/main" id="{7F99F0FE-757B-C930-6550-E461D27B9693}"/>
              </a:ext>
            </a:extLst>
          </p:cNvPr>
          <p:cNvSpPr>
            <a:spLocks noGrp="1" noRot="1" noMove="1" noResize="1" noEditPoints="1" noAdjustHandles="1" noChangeArrowheads="1" noChangeShapeType="1"/>
          </p:cNvSpPr>
          <p:nvPr>
            <p:ph sz="half" idx="18"/>
          </p:nvPr>
        </p:nvSpPr>
        <p:spPr>
          <a:xfrm>
            <a:off x="830207" y="5665051"/>
            <a:ext cx="1912175" cy="559125"/>
          </a:xfrm>
        </p:spPr>
        <p:txBody>
          <a:bodyPr>
            <a:normAutofit/>
          </a:bodyPr>
          <a:lstStyle>
            <a:lvl1pPr marL="0" indent="0" algn="ctr">
              <a:buNone/>
              <a:defRPr sz="900" b="1" i="0">
                <a:solidFill>
                  <a:srgbClr val="7D4E1D"/>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cxnSp>
        <p:nvCxnSpPr>
          <p:cNvPr id="19" name="Straight Connector 18">
            <a:extLst>
              <a:ext uri="{FF2B5EF4-FFF2-40B4-BE49-F238E27FC236}">
                <a16:creationId xmlns:a16="http://schemas.microsoft.com/office/drawing/2014/main" id="{64DE4F4E-4617-C455-5026-18EBBA954482}"/>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20" name="Content Placeholder 3">
            <a:extLst>
              <a:ext uri="{FF2B5EF4-FFF2-40B4-BE49-F238E27FC236}">
                <a16:creationId xmlns:a16="http://schemas.microsoft.com/office/drawing/2014/main" id="{3F289E22-9108-13C7-B035-EDE87363A152}"/>
              </a:ext>
            </a:extLst>
          </p:cNvPr>
          <p:cNvSpPr>
            <a:spLocks noGrp="1" noRot="1" noMove="1" noResize="1" noEditPoints="1" noAdjustHandles="1" noChangeArrowheads="1" noChangeShapeType="1"/>
          </p:cNvSpPr>
          <p:nvPr>
            <p:ph sz="half" idx="19" hasCustomPrompt="1"/>
          </p:nvPr>
        </p:nvSpPr>
        <p:spPr>
          <a:xfrm>
            <a:off x="1012294" y="4017093"/>
            <a:ext cx="1548000" cy="1548000"/>
          </a:xfrm>
          <a:prstGeom prst="ellipse">
            <a:avLst/>
          </a:prstGeom>
          <a:solidFill>
            <a:schemeClr val="bg1"/>
          </a:solidFill>
          <a:effectLst>
            <a:outerShdw blurRad="63500" sx="102000" sy="102000" algn="ctr" rotWithShape="0">
              <a:prstClr val="black">
                <a:alpha val="40000"/>
              </a:prstClr>
            </a:outerShdw>
          </a:effectLst>
        </p:spPr>
        <p:txBody>
          <a:bodyPr>
            <a:normAutofit/>
          </a:bodyPr>
          <a:lstStyle>
            <a:lvl1pPr marL="0" indent="0">
              <a:buNone/>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Add image</a:t>
            </a:r>
          </a:p>
        </p:txBody>
      </p:sp>
      <p:sp>
        <p:nvSpPr>
          <p:cNvPr id="21" name="TextBox 20">
            <a:extLst>
              <a:ext uri="{FF2B5EF4-FFF2-40B4-BE49-F238E27FC236}">
                <a16:creationId xmlns:a16="http://schemas.microsoft.com/office/drawing/2014/main" id="{5FA334E4-EA9B-B702-92DA-7FABA658F8FD}"/>
              </a:ext>
            </a:extLst>
          </p:cNvPr>
          <p:cNvSpPr txBox="1">
            <a:spLocks noGrp="1" noRot="1" noMove="1" noResize="1" noEditPoints="1" noAdjustHandles="1" noChangeArrowheads="1" noChangeShapeType="1"/>
          </p:cNvSpPr>
          <p:nvPr userDrawn="1"/>
        </p:nvSpPr>
        <p:spPr>
          <a:xfrm>
            <a:off x="8257297" y="1309784"/>
            <a:ext cx="2792994" cy="338554"/>
          </a:xfrm>
          <a:prstGeom prst="rect">
            <a:avLst/>
          </a:prstGeom>
          <a:noFill/>
        </p:spPr>
        <p:txBody>
          <a:bodyPr wrap="square">
            <a:spAutoFit/>
          </a:bodyPr>
          <a:lstStyle/>
          <a:p>
            <a:pPr algn="l"/>
            <a:r>
              <a:rPr lang="en-US" sz="1600" b="1" i="0" u="none" strike="noStrike" dirty="0">
                <a:solidFill>
                  <a:schemeClr val="bg1"/>
                </a:solidFill>
                <a:effectLst/>
                <a:latin typeface="Aptos ExtraBold" panose="020B0004020202020204" pitchFamily="34" charset="0"/>
              </a:rPr>
              <a:t>Expertise Driving Impact</a:t>
            </a:r>
          </a:p>
        </p:txBody>
      </p:sp>
      <p:grpSp>
        <p:nvGrpSpPr>
          <p:cNvPr id="32" name="Group 185">
            <a:extLst>
              <a:ext uri="{FF2B5EF4-FFF2-40B4-BE49-F238E27FC236}">
                <a16:creationId xmlns:a16="http://schemas.microsoft.com/office/drawing/2014/main" id="{D9E67B71-4966-7913-9602-EE2AD5A59848}"/>
              </a:ext>
            </a:extLst>
          </p:cNvPr>
          <p:cNvGrpSpPr>
            <a:grpSpLocks noGrp="1" noUngrp="1" noRot="1" noChangeAspect="1" noMove="1" noResize="1"/>
          </p:cNvGrpSpPr>
          <p:nvPr userDrawn="1"/>
        </p:nvGrpSpPr>
        <p:grpSpPr bwMode="auto">
          <a:xfrm>
            <a:off x="8759269" y="2778049"/>
            <a:ext cx="253213" cy="252620"/>
            <a:chOff x="346" y="2998"/>
            <a:chExt cx="427" cy="426"/>
          </a:xfrm>
          <a:solidFill>
            <a:schemeClr val="bg1"/>
          </a:solidFill>
        </p:grpSpPr>
        <p:sp>
          <p:nvSpPr>
            <p:cNvPr id="33" name="Freeform 186">
              <a:extLst>
                <a:ext uri="{FF2B5EF4-FFF2-40B4-BE49-F238E27FC236}">
                  <a16:creationId xmlns:a16="http://schemas.microsoft.com/office/drawing/2014/main" id="{75A39533-FB38-1887-EDD8-0E315469B789}"/>
                </a:ext>
              </a:extLst>
            </p:cNvPr>
            <p:cNvSpPr>
              <a:spLocks noGrp="1" noRot="1" noMove="1" noResize="1" noEditPoints="1" noAdjustHandles="1" noChangeArrowheads="1" noChangeShapeType="1"/>
            </p:cNvSpPr>
            <p:nvPr/>
          </p:nvSpPr>
          <p:spPr bwMode="auto">
            <a:xfrm>
              <a:off x="346" y="3052"/>
              <a:ext cx="187" cy="337"/>
            </a:xfrm>
            <a:custGeom>
              <a:avLst/>
              <a:gdLst>
                <a:gd name="T0" fmla="*/ 120 w 126"/>
                <a:gd name="T1" fmla="*/ 228 h 228"/>
                <a:gd name="T2" fmla="*/ 30 w 126"/>
                <a:gd name="T3" fmla="*/ 228 h 228"/>
                <a:gd name="T4" fmla="*/ 0 w 126"/>
                <a:gd name="T5" fmla="*/ 198 h 228"/>
                <a:gd name="T6" fmla="*/ 0 w 126"/>
                <a:gd name="T7" fmla="*/ 6 h 228"/>
                <a:gd name="T8" fmla="*/ 6 w 126"/>
                <a:gd name="T9" fmla="*/ 0 h 228"/>
                <a:gd name="T10" fmla="*/ 54 w 126"/>
                <a:gd name="T11" fmla="*/ 0 h 228"/>
                <a:gd name="T12" fmla="*/ 60 w 126"/>
                <a:gd name="T13" fmla="*/ 6 h 228"/>
                <a:gd name="T14" fmla="*/ 54 w 126"/>
                <a:gd name="T15" fmla="*/ 12 h 228"/>
                <a:gd name="T16" fmla="*/ 12 w 126"/>
                <a:gd name="T17" fmla="*/ 12 h 228"/>
                <a:gd name="T18" fmla="*/ 12 w 126"/>
                <a:gd name="T19" fmla="*/ 198 h 228"/>
                <a:gd name="T20" fmla="*/ 30 w 126"/>
                <a:gd name="T21" fmla="*/ 216 h 228"/>
                <a:gd name="T22" fmla="*/ 120 w 126"/>
                <a:gd name="T23" fmla="*/ 216 h 228"/>
                <a:gd name="T24" fmla="*/ 126 w 126"/>
                <a:gd name="T25" fmla="*/ 222 h 228"/>
                <a:gd name="T26" fmla="*/ 120 w 126"/>
                <a:gd name="T27" fmla="*/ 228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6" h="228">
                  <a:moveTo>
                    <a:pt x="120" y="228"/>
                  </a:moveTo>
                  <a:cubicBezTo>
                    <a:pt x="30" y="228"/>
                    <a:pt x="30" y="228"/>
                    <a:pt x="30" y="228"/>
                  </a:cubicBezTo>
                  <a:cubicBezTo>
                    <a:pt x="13" y="228"/>
                    <a:pt x="0" y="215"/>
                    <a:pt x="0" y="198"/>
                  </a:cubicBezTo>
                  <a:cubicBezTo>
                    <a:pt x="0" y="6"/>
                    <a:pt x="0" y="6"/>
                    <a:pt x="0" y="6"/>
                  </a:cubicBezTo>
                  <a:cubicBezTo>
                    <a:pt x="0" y="3"/>
                    <a:pt x="3" y="0"/>
                    <a:pt x="6" y="0"/>
                  </a:cubicBezTo>
                  <a:cubicBezTo>
                    <a:pt x="54" y="0"/>
                    <a:pt x="54" y="0"/>
                    <a:pt x="54" y="0"/>
                  </a:cubicBezTo>
                  <a:cubicBezTo>
                    <a:pt x="57" y="0"/>
                    <a:pt x="60" y="3"/>
                    <a:pt x="60" y="6"/>
                  </a:cubicBezTo>
                  <a:cubicBezTo>
                    <a:pt x="60" y="10"/>
                    <a:pt x="57" y="12"/>
                    <a:pt x="54" y="12"/>
                  </a:cubicBezTo>
                  <a:cubicBezTo>
                    <a:pt x="12" y="12"/>
                    <a:pt x="12" y="12"/>
                    <a:pt x="12" y="12"/>
                  </a:cubicBezTo>
                  <a:cubicBezTo>
                    <a:pt x="12" y="198"/>
                    <a:pt x="12" y="198"/>
                    <a:pt x="12" y="198"/>
                  </a:cubicBezTo>
                  <a:cubicBezTo>
                    <a:pt x="12" y="208"/>
                    <a:pt x="20" y="216"/>
                    <a:pt x="30" y="216"/>
                  </a:cubicBezTo>
                  <a:cubicBezTo>
                    <a:pt x="120" y="216"/>
                    <a:pt x="120" y="216"/>
                    <a:pt x="120" y="216"/>
                  </a:cubicBezTo>
                  <a:cubicBezTo>
                    <a:pt x="123" y="216"/>
                    <a:pt x="126" y="219"/>
                    <a:pt x="126" y="222"/>
                  </a:cubicBezTo>
                  <a:cubicBezTo>
                    <a:pt x="126" y="226"/>
                    <a:pt x="123" y="228"/>
                    <a:pt x="120" y="22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4" name="Freeform 187">
              <a:extLst>
                <a:ext uri="{FF2B5EF4-FFF2-40B4-BE49-F238E27FC236}">
                  <a16:creationId xmlns:a16="http://schemas.microsoft.com/office/drawing/2014/main" id="{378C1339-5769-BFEB-7692-9F60F41B106B}"/>
                </a:ext>
              </a:extLst>
            </p:cNvPr>
            <p:cNvSpPr>
              <a:spLocks noGrp="1" noRot="1" noMove="1" noResize="1" noEditPoints="1" noAdjustHandles="1" noChangeArrowheads="1" noChangeShapeType="1"/>
            </p:cNvSpPr>
            <p:nvPr/>
          </p:nvSpPr>
          <p:spPr bwMode="auto">
            <a:xfrm>
              <a:off x="382" y="3087"/>
              <a:ext cx="169" cy="266"/>
            </a:xfrm>
            <a:custGeom>
              <a:avLst/>
              <a:gdLst>
                <a:gd name="T0" fmla="*/ 108 w 114"/>
                <a:gd name="T1" fmla="*/ 180 h 180"/>
                <a:gd name="T2" fmla="*/ 6 w 114"/>
                <a:gd name="T3" fmla="*/ 180 h 180"/>
                <a:gd name="T4" fmla="*/ 0 w 114"/>
                <a:gd name="T5" fmla="*/ 174 h 180"/>
                <a:gd name="T6" fmla="*/ 0 w 114"/>
                <a:gd name="T7" fmla="*/ 6 h 180"/>
                <a:gd name="T8" fmla="*/ 6 w 114"/>
                <a:gd name="T9" fmla="*/ 0 h 180"/>
                <a:gd name="T10" fmla="*/ 30 w 114"/>
                <a:gd name="T11" fmla="*/ 0 h 180"/>
                <a:gd name="T12" fmla="*/ 36 w 114"/>
                <a:gd name="T13" fmla="*/ 6 h 180"/>
                <a:gd name="T14" fmla="*/ 30 w 114"/>
                <a:gd name="T15" fmla="*/ 12 h 180"/>
                <a:gd name="T16" fmla="*/ 12 w 114"/>
                <a:gd name="T17" fmla="*/ 12 h 180"/>
                <a:gd name="T18" fmla="*/ 12 w 114"/>
                <a:gd name="T19" fmla="*/ 168 h 180"/>
                <a:gd name="T20" fmla="*/ 108 w 114"/>
                <a:gd name="T21" fmla="*/ 168 h 180"/>
                <a:gd name="T22" fmla="*/ 114 w 114"/>
                <a:gd name="T23" fmla="*/ 174 h 180"/>
                <a:gd name="T24" fmla="*/ 108 w 114"/>
                <a:gd name="T25" fmla="*/ 180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4" h="180">
                  <a:moveTo>
                    <a:pt x="108" y="180"/>
                  </a:moveTo>
                  <a:cubicBezTo>
                    <a:pt x="6" y="180"/>
                    <a:pt x="6" y="180"/>
                    <a:pt x="6" y="180"/>
                  </a:cubicBezTo>
                  <a:cubicBezTo>
                    <a:pt x="3" y="180"/>
                    <a:pt x="0" y="178"/>
                    <a:pt x="0" y="174"/>
                  </a:cubicBezTo>
                  <a:cubicBezTo>
                    <a:pt x="0" y="6"/>
                    <a:pt x="0" y="6"/>
                    <a:pt x="0" y="6"/>
                  </a:cubicBezTo>
                  <a:cubicBezTo>
                    <a:pt x="0" y="3"/>
                    <a:pt x="3" y="0"/>
                    <a:pt x="6" y="0"/>
                  </a:cubicBezTo>
                  <a:cubicBezTo>
                    <a:pt x="30" y="0"/>
                    <a:pt x="30" y="0"/>
                    <a:pt x="30" y="0"/>
                  </a:cubicBezTo>
                  <a:cubicBezTo>
                    <a:pt x="33" y="0"/>
                    <a:pt x="36" y="3"/>
                    <a:pt x="36" y="6"/>
                  </a:cubicBezTo>
                  <a:cubicBezTo>
                    <a:pt x="36" y="10"/>
                    <a:pt x="33" y="12"/>
                    <a:pt x="30" y="12"/>
                  </a:cubicBezTo>
                  <a:cubicBezTo>
                    <a:pt x="12" y="12"/>
                    <a:pt x="12" y="12"/>
                    <a:pt x="12" y="12"/>
                  </a:cubicBezTo>
                  <a:cubicBezTo>
                    <a:pt x="12" y="168"/>
                    <a:pt x="12" y="168"/>
                    <a:pt x="12" y="168"/>
                  </a:cubicBezTo>
                  <a:cubicBezTo>
                    <a:pt x="108" y="168"/>
                    <a:pt x="108" y="168"/>
                    <a:pt x="108" y="168"/>
                  </a:cubicBezTo>
                  <a:cubicBezTo>
                    <a:pt x="111" y="168"/>
                    <a:pt x="114" y="171"/>
                    <a:pt x="114" y="174"/>
                  </a:cubicBezTo>
                  <a:cubicBezTo>
                    <a:pt x="114" y="178"/>
                    <a:pt x="111" y="180"/>
                    <a:pt x="108" y="18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5" name="Freeform 188">
              <a:extLst>
                <a:ext uri="{FF2B5EF4-FFF2-40B4-BE49-F238E27FC236}">
                  <a16:creationId xmlns:a16="http://schemas.microsoft.com/office/drawing/2014/main" id="{43D577AC-2AE3-3814-77AE-3AC4822EAF50}"/>
                </a:ext>
              </a:extLst>
            </p:cNvPr>
            <p:cNvSpPr>
              <a:spLocks noGrp="1" noRot="1" noMove="1" noResize="1" noEditPoints="1" noAdjustHandles="1" noChangeArrowheads="1" noChangeShapeType="1"/>
            </p:cNvSpPr>
            <p:nvPr/>
          </p:nvSpPr>
          <p:spPr bwMode="auto">
            <a:xfrm>
              <a:off x="559" y="3052"/>
              <a:ext cx="89" cy="133"/>
            </a:xfrm>
            <a:custGeom>
              <a:avLst/>
              <a:gdLst>
                <a:gd name="T0" fmla="*/ 54 w 60"/>
                <a:gd name="T1" fmla="*/ 90 h 90"/>
                <a:gd name="T2" fmla="*/ 48 w 60"/>
                <a:gd name="T3" fmla="*/ 84 h 90"/>
                <a:gd name="T4" fmla="*/ 48 w 60"/>
                <a:gd name="T5" fmla="*/ 12 h 90"/>
                <a:gd name="T6" fmla="*/ 6 w 60"/>
                <a:gd name="T7" fmla="*/ 12 h 90"/>
                <a:gd name="T8" fmla="*/ 0 w 60"/>
                <a:gd name="T9" fmla="*/ 6 h 90"/>
                <a:gd name="T10" fmla="*/ 6 w 60"/>
                <a:gd name="T11" fmla="*/ 0 h 90"/>
                <a:gd name="T12" fmla="*/ 54 w 60"/>
                <a:gd name="T13" fmla="*/ 0 h 90"/>
                <a:gd name="T14" fmla="*/ 60 w 60"/>
                <a:gd name="T15" fmla="*/ 6 h 90"/>
                <a:gd name="T16" fmla="*/ 60 w 60"/>
                <a:gd name="T17" fmla="*/ 84 h 90"/>
                <a:gd name="T18" fmla="*/ 54 w 60"/>
                <a:gd name="T19"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90">
                  <a:moveTo>
                    <a:pt x="54" y="90"/>
                  </a:moveTo>
                  <a:cubicBezTo>
                    <a:pt x="51" y="90"/>
                    <a:pt x="48" y="88"/>
                    <a:pt x="48" y="84"/>
                  </a:cubicBezTo>
                  <a:cubicBezTo>
                    <a:pt x="48" y="12"/>
                    <a:pt x="48" y="12"/>
                    <a:pt x="48" y="12"/>
                  </a:cubicBezTo>
                  <a:cubicBezTo>
                    <a:pt x="6" y="12"/>
                    <a:pt x="6" y="12"/>
                    <a:pt x="6" y="12"/>
                  </a:cubicBezTo>
                  <a:cubicBezTo>
                    <a:pt x="3" y="12"/>
                    <a:pt x="0" y="10"/>
                    <a:pt x="0" y="6"/>
                  </a:cubicBezTo>
                  <a:cubicBezTo>
                    <a:pt x="0" y="3"/>
                    <a:pt x="3" y="0"/>
                    <a:pt x="6" y="0"/>
                  </a:cubicBezTo>
                  <a:cubicBezTo>
                    <a:pt x="54" y="0"/>
                    <a:pt x="54" y="0"/>
                    <a:pt x="54" y="0"/>
                  </a:cubicBezTo>
                  <a:cubicBezTo>
                    <a:pt x="57" y="0"/>
                    <a:pt x="60" y="3"/>
                    <a:pt x="60" y="6"/>
                  </a:cubicBezTo>
                  <a:cubicBezTo>
                    <a:pt x="60" y="84"/>
                    <a:pt x="60" y="84"/>
                    <a:pt x="60" y="84"/>
                  </a:cubicBezTo>
                  <a:cubicBezTo>
                    <a:pt x="60" y="88"/>
                    <a:pt x="57" y="90"/>
                    <a:pt x="54" y="9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6" name="Freeform 189">
              <a:extLst>
                <a:ext uri="{FF2B5EF4-FFF2-40B4-BE49-F238E27FC236}">
                  <a16:creationId xmlns:a16="http://schemas.microsoft.com/office/drawing/2014/main" id="{F3C43F43-4BFC-05AA-35C8-64E9D303A40B}"/>
                </a:ext>
              </a:extLst>
            </p:cNvPr>
            <p:cNvSpPr>
              <a:spLocks noGrp="1" noRot="1" noMove="1" noResize="1" noEditPoints="1" noAdjustHandles="1" noChangeArrowheads="1" noChangeShapeType="1"/>
            </p:cNvSpPr>
            <p:nvPr/>
          </p:nvSpPr>
          <p:spPr bwMode="auto">
            <a:xfrm>
              <a:off x="417" y="2998"/>
              <a:ext cx="160" cy="125"/>
            </a:xfrm>
            <a:custGeom>
              <a:avLst/>
              <a:gdLst>
                <a:gd name="T0" fmla="*/ 102 w 108"/>
                <a:gd name="T1" fmla="*/ 84 h 84"/>
                <a:gd name="T2" fmla="*/ 6 w 108"/>
                <a:gd name="T3" fmla="*/ 84 h 84"/>
                <a:gd name="T4" fmla="*/ 0 w 108"/>
                <a:gd name="T5" fmla="*/ 78 h 84"/>
                <a:gd name="T6" fmla="*/ 0 w 108"/>
                <a:gd name="T7" fmla="*/ 30 h 84"/>
                <a:gd name="T8" fmla="*/ 6 w 108"/>
                <a:gd name="T9" fmla="*/ 24 h 84"/>
                <a:gd name="T10" fmla="*/ 25 w 108"/>
                <a:gd name="T11" fmla="*/ 24 h 84"/>
                <a:gd name="T12" fmla="*/ 54 w 108"/>
                <a:gd name="T13" fmla="*/ 0 h 84"/>
                <a:gd name="T14" fmla="*/ 83 w 108"/>
                <a:gd name="T15" fmla="*/ 24 h 84"/>
                <a:gd name="T16" fmla="*/ 102 w 108"/>
                <a:gd name="T17" fmla="*/ 24 h 84"/>
                <a:gd name="T18" fmla="*/ 108 w 108"/>
                <a:gd name="T19" fmla="*/ 30 h 84"/>
                <a:gd name="T20" fmla="*/ 108 w 108"/>
                <a:gd name="T21" fmla="*/ 78 h 84"/>
                <a:gd name="T22" fmla="*/ 102 w 108"/>
                <a:gd name="T23" fmla="*/ 84 h 84"/>
                <a:gd name="T24" fmla="*/ 12 w 108"/>
                <a:gd name="T25" fmla="*/ 72 h 84"/>
                <a:gd name="T26" fmla="*/ 96 w 108"/>
                <a:gd name="T27" fmla="*/ 72 h 84"/>
                <a:gd name="T28" fmla="*/ 96 w 108"/>
                <a:gd name="T29" fmla="*/ 36 h 84"/>
                <a:gd name="T30" fmla="*/ 78 w 108"/>
                <a:gd name="T31" fmla="*/ 36 h 84"/>
                <a:gd name="T32" fmla="*/ 72 w 108"/>
                <a:gd name="T33" fmla="*/ 30 h 84"/>
                <a:gd name="T34" fmla="*/ 54 w 108"/>
                <a:gd name="T35" fmla="*/ 12 h 84"/>
                <a:gd name="T36" fmla="*/ 36 w 108"/>
                <a:gd name="T37" fmla="*/ 30 h 84"/>
                <a:gd name="T38" fmla="*/ 30 w 108"/>
                <a:gd name="T39" fmla="*/ 36 h 84"/>
                <a:gd name="T40" fmla="*/ 12 w 108"/>
                <a:gd name="T41" fmla="*/ 36 h 84"/>
                <a:gd name="T42" fmla="*/ 12 w 108"/>
                <a:gd name="T43" fmla="*/ 72 h 84"/>
                <a:gd name="T44" fmla="*/ 84 w 108"/>
                <a:gd name="T45" fmla="*/ 30 h 84"/>
                <a:gd name="T46" fmla="*/ 84 w 108"/>
                <a:gd name="T47" fmla="*/ 30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8" h="84">
                  <a:moveTo>
                    <a:pt x="102" y="84"/>
                  </a:moveTo>
                  <a:cubicBezTo>
                    <a:pt x="6" y="84"/>
                    <a:pt x="6" y="84"/>
                    <a:pt x="6" y="84"/>
                  </a:cubicBezTo>
                  <a:cubicBezTo>
                    <a:pt x="3" y="84"/>
                    <a:pt x="0" y="82"/>
                    <a:pt x="0" y="78"/>
                  </a:cubicBezTo>
                  <a:cubicBezTo>
                    <a:pt x="0" y="30"/>
                    <a:pt x="0" y="30"/>
                    <a:pt x="0" y="30"/>
                  </a:cubicBezTo>
                  <a:cubicBezTo>
                    <a:pt x="0" y="27"/>
                    <a:pt x="3" y="24"/>
                    <a:pt x="6" y="24"/>
                  </a:cubicBezTo>
                  <a:cubicBezTo>
                    <a:pt x="25" y="24"/>
                    <a:pt x="25" y="24"/>
                    <a:pt x="25" y="24"/>
                  </a:cubicBezTo>
                  <a:cubicBezTo>
                    <a:pt x="27" y="12"/>
                    <a:pt x="36" y="0"/>
                    <a:pt x="54" y="0"/>
                  </a:cubicBezTo>
                  <a:cubicBezTo>
                    <a:pt x="72" y="0"/>
                    <a:pt x="81" y="12"/>
                    <a:pt x="83" y="24"/>
                  </a:cubicBezTo>
                  <a:cubicBezTo>
                    <a:pt x="102" y="24"/>
                    <a:pt x="102" y="24"/>
                    <a:pt x="102" y="24"/>
                  </a:cubicBezTo>
                  <a:cubicBezTo>
                    <a:pt x="105" y="24"/>
                    <a:pt x="108" y="27"/>
                    <a:pt x="108" y="30"/>
                  </a:cubicBezTo>
                  <a:cubicBezTo>
                    <a:pt x="108" y="78"/>
                    <a:pt x="108" y="78"/>
                    <a:pt x="108" y="78"/>
                  </a:cubicBezTo>
                  <a:cubicBezTo>
                    <a:pt x="108" y="82"/>
                    <a:pt x="105" y="84"/>
                    <a:pt x="102" y="84"/>
                  </a:cubicBezTo>
                  <a:close/>
                  <a:moveTo>
                    <a:pt x="12" y="72"/>
                  </a:moveTo>
                  <a:cubicBezTo>
                    <a:pt x="96" y="72"/>
                    <a:pt x="96" y="72"/>
                    <a:pt x="96" y="72"/>
                  </a:cubicBezTo>
                  <a:cubicBezTo>
                    <a:pt x="96" y="36"/>
                    <a:pt x="96" y="36"/>
                    <a:pt x="96" y="36"/>
                  </a:cubicBezTo>
                  <a:cubicBezTo>
                    <a:pt x="78" y="36"/>
                    <a:pt x="78" y="36"/>
                    <a:pt x="78" y="36"/>
                  </a:cubicBezTo>
                  <a:cubicBezTo>
                    <a:pt x="75" y="36"/>
                    <a:pt x="72" y="34"/>
                    <a:pt x="72" y="30"/>
                  </a:cubicBezTo>
                  <a:cubicBezTo>
                    <a:pt x="72" y="29"/>
                    <a:pt x="72" y="12"/>
                    <a:pt x="54" y="12"/>
                  </a:cubicBezTo>
                  <a:cubicBezTo>
                    <a:pt x="37" y="12"/>
                    <a:pt x="36" y="29"/>
                    <a:pt x="36" y="30"/>
                  </a:cubicBezTo>
                  <a:cubicBezTo>
                    <a:pt x="36" y="34"/>
                    <a:pt x="33" y="36"/>
                    <a:pt x="30" y="36"/>
                  </a:cubicBezTo>
                  <a:cubicBezTo>
                    <a:pt x="12" y="36"/>
                    <a:pt x="12" y="36"/>
                    <a:pt x="12" y="36"/>
                  </a:cubicBezTo>
                  <a:lnTo>
                    <a:pt x="12" y="72"/>
                  </a:lnTo>
                  <a:close/>
                  <a:moveTo>
                    <a:pt x="84" y="30"/>
                  </a:moveTo>
                  <a:cubicBezTo>
                    <a:pt x="84" y="30"/>
                    <a:pt x="84" y="30"/>
                    <a:pt x="84" y="3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7" name="Freeform 190">
              <a:extLst>
                <a:ext uri="{FF2B5EF4-FFF2-40B4-BE49-F238E27FC236}">
                  <a16:creationId xmlns:a16="http://schemas.microsoft.com/office/drawing/2014/main" id="{6EA291D3-4C4D-813E-7592-D53C695AA5BC}"/>
                </a:ext>
              </a:extLst>
            </p:cNvPr>
            <p:cNvSpPr>
              <a:spLocks noGrp="1" noRot="1" noMove="1" noResize="1" noEditPoints="1" noAdjustHandles="1" noChangeArrowheads="1" noChangeShapeType="1"/>
            </p:cNvSpPr>
            <p:nvPr/>
          </p:nvSpPr>
          <p:spPr bwMode="auto">
            <a:xfrm>
              <a:off x="559" y="3087"/>
              <a:ext cx="54" cy="151"/>
            </a:xfrm>
            <a:custGeom>
              <a:avLst/>
              <a:gdLst>
                <a:gd name="T0" fmla="*/ 30 w 36"/>
                <a:gd name="T1" fmla="*/ 102 h 102"/>
                <a:gd name="T2" fmla="*/ 24 w 36"/>
                <a:gd name="T3" fmla="*/ 96 h 102"/>
                <a:gd name="T4" fmla="*/ 24 w 36"/>
                <a:gd name="T5" fmla="*/ 12 h 102"/>
                <a:gd name="T6" fmla="*/ 6 w 36"/>
                <a:gd name="T7" fmla="*/ 12 h 102"/>
                <a:gd name="T8" fmla="*/ 0 w 36"/>
                <a:gd name="T9" fmla="*/ 6 h 102"/>
                <a:gd name="T10" fmla="*/ 6 w 36"/>
                <a:gd name="T11" fmla="*/ 0 h 102"/>
                <a:gd name="T12" fmla="*/ 30 w 36"/>
                <a:gd name="T13" fmla="*/ 0 h 102"/>
                <a:gd name="T14" fmla="*/ 36 w 36"/>
                <a:gd name="T15" fmla="*/ 6 h 102"/>
                <a:gd name="T16" fmla="*/ 36 w 36"/>
                <a:gd name="T17" fmla="*/ 96 h 102"/>
                <a:gd name="T18" fmla="*/ 30 w 36"/>
                <a:gd name="T19" fmla="*/ 102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102">
                  <a:moveTo>
                    <a:pt x="30" y="102"/>
                  </a:moveTo>
                  <a:cubicBezTo>
                    <a:pt x="27" y="102"/>
                    <a:pt x="24" y="100"/>
                    <a:pt x="24" y="96"/>
                  </a:cubicBezTo>
                  <a:cubicBezTo>
                    <a:pt x="24" y="12"/>
                    <a:pt x="24" y="12"/>
                    <a:pt x="24" y="12"/>
                  </a:cubicBezTo>
                  <a:cubicBezTo>
                    <a:pt x="6" y="12"/>
                    <a:pt x="6" y="12"/>
                    <a:pt x="6" y="12"/>
                  </a:cubicBezTo>
                  <a:cubicBezTo>
                    <a:pt x="3" y="12"/>
                    <a:pt x="0" y="10"/>
                    <a:pt x="0" y="6"/>
                  </a:cubicBezTo>
                  <a:cubicBezTo>
                    <a:pt x="0" y="3"/>
                    <a:pt x="3" y="0"/>
                    <a:pt x="6" y="0"/>
                  </a:cubicBezTo>
                  <a:cubicBezTo>
                    <a:pt x="30" y="0"/>
                    <a:pt x="30" y="0"/>
                    <a:pt x="30" y="0"/>
                  </a:cubicBezTo>
                  <a:cubicBezTo>
                    <a:pt x="33" y="0"/>
                    <a:pt x="36" y="3"/>
                    <a:pt x="36" y="6"/>
                  </a:cubicBezTo>
                  <a:cubicBezTo>
                    <a:pt x="36" y="96"/>
                    <a:pt x="36" y="96"/>
                    <a:pt x="36" y="96"/>
                  </a:cubicBezTo>
                  <a:cubicBezTo>
                    <a:pt x="36" y="100"/>
                    <a:pt x="33" y="102"/>
                    <a:pt x="30" y="10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8" name="Freeform 191">
              <a:extLst>
                <a:ext uri="{FF2B5EF4-FFF2-40B4-BE49-F238E27FC236}">
                  <a16:creationId xmlns:a16="http://schemas.microsoft.com/office/drawing/2014/main" id="{55ECF1E1-AAA2-6F2A-7045-C6985E5698D5}"/>
                </a:ext>
              </a:extLst>
            </p:cNvPr>
            <p:cNvSpPr>
              <a:spLocks noGrp="1" noRot="1" noMove="1" noResize="1" noEditPoints="1" noAdjustHandles="1" noChangeArrowheads="1" noChangeShapeType="1"/>
            </p:cNvSpPr>
            <p:nvPr/>
          </p:nvSpPr>
          <p:spPr bwMode="auto">
            <a:xfrm>
              <a:off x="435" y="3158"/>
              <a:ext cx="107" cy="18"/>
            </a:xfrm>
            <a:custGeom>
              <a:avLst/>
              <a:gdLst>
                <a:gd name="T0" fmla="*/ 66 w 72"/>
                <a:gd name="T1" fmla="*/ 12 h 12"/>
                <a:gd name="T2" fmla="*/ 6 w 72"/>
                <a:gd name="T3" fmla="*/ 12 h 12"/>
                <a:gd name="T4" fmla="*/ 0 w 72"/>
                <a:gd name="T5" fmla="*/ 6 h 12"/>
                <a:gd name="T6" fmla="*/ 6 w 72"/>
                <a:gd name="T7" fmla="*/ 0 h 12"/>
                <a:gd name="T8" fmla="*/ 66 w 72"/>
                <a:gd name="T9" fmla="*/ 0 h 12"/>
                <a:gd name="T10" fmla="*/ 72 w 72"/>
                <a:gd name="T11" fmla="*/ 6 h 12"/>
                <a:gd name="T12" fmla="*/ 66 w 7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2" h="12">
                  <a:moveTo>
                    <a:pt x="66" y="12"/>
                  </a:moveTo>
                  <a:cubicBezTo>
                    <a:pt x="6" y="12"/>
                    <a:pt x="6" y="12"/>
                    <a:pt x="6" y="12"/>
                  </a:cubicBezTo>
                  <a:cubicBezTo>
                    <a:pt x="3" y="12"/>
                    <a:pt x="0" y="10"/>
                    <a:pt x="0" y="6"/>
                  </a:cubicBezTo>
                  <a:cubicBezTo>
                    <a:pt x="0" y="3"/>
                    <a:pt x="3" y="0"/>
                    <a:pt x="6" y="0"/>
                  </a:cubicBezTo>
                  <a:cubicBezTo>
                    <a:pt x="66" y="0"/>
                    <a:pt x="66" y="0"/>
                    <a:pt x="66" y="0"/>
                  </a:cubicBezTo>
                  <a:cubicBezTo>
                    <a:pt x="69" y="0"/>
                    <a:pt x="72" y="3"/>
                    <a:pt x="72" y="6"/>
                  </a:cubicBezTo>
                  <a:cubicBezTo>
                    <a:pt x="72" y="10"/>
                    <a:pt x="69" y="12"/>
                    <a:pt x="66"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9" name="Freeform 192">
              <a:extLst>
                <a:ext uri="{FF2B5EF4-FFF2-40B4-BE49-F238E27FC236}">
                  <a16:creationId xmlns:a16="http://schemas.microsoft.com/office/drawing/2014/main" id="{E4535C48-B01E-694B-9929-93D93E413BD0}"/>
                </a:ext>
              </a:extLst>
            </p:cNvPr>
            <p:cNvSpPr>
              <a:spLocks noGrp="1" noRot="1" noMove="1" noResize="1" noEditPoints="1" noAdjustHandles="1" noChangeArrowheads="1" noChangeShapeType="1"/>
            </p:cNvSpPr>
            <p:nvPr/>
          </p:nvSpPr>
          <p:spPr bwMode="auto">
            <a:xfrm>
              <a:off x="435" y="3193"/>
              <a:ext cx="107" cy="18"/>
            </a:xfrm>
            <a:custGeom>
              <a:avLst/>
              <a:gdLst>
                <a:gd name="T0" fmla="*/ 66 w 72"/>
                <a:gd name="T1" fmla="*/ 12 h 12"/>
                <a:gd name="T2" fmla="*/ 6 w 72"/>
                <a:gd name="T3" fmla="*/ 12 h 12"/>
                <a:gd name="T4" fmla="*/ 0 w 72"/>
                <a:gd name="T5" fmla="*/ 6 h 12"/>
                <a:gd name="T6" fmla="*/ 6 w 72"/>
                <a:gd name="T7" fmla="*/ 0 h 12"/>
                <a:gd name="T8" fmla="*/ 66 w 72"/>
                <a:gd name="T9" fmla="*/ 0 h 12"/>
                <a:gd name="T10" fmla="*/ 72 w 72"/>
                <a:gd name="T11" fmla="*/ 6 h 12"/>
                <a:gd name="T12" fmla="*/ 66 w 7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2" h="12">
                  <a:moveTo>
                    <a:pt x="66" y="12"/>
                  </a:moveTo>
                  <a:cubicBezTo>
                    <a:pt x="6" y="12"/>
                    <a:pt x="6" y="12"/>
                    <a:pt x="6" y="12"/>
                  </a:cubicBezTo>
                  <a:cubicBezTo>
                    <a:pt x="3" y="12"/>
                    <a:pt x="0" y="10"/>
                    <a:pt x="0" y="6"/>
                  </a:cubicBezTo>
                  <a:cubicBezTo>
                    <a:pt x="0" y="3"/>
                    <a:pt x="3" y="0"/>
                    <a:pt x="6" y="0"/>
                  </a:cubicBezTo>
                  <a:cubicBezTo>
                    <a:pt x="66" y="0"/>
                    <a:pt x="66" y="0"/>
                    <a:pt x="66" y="0"/>
                  </a:cubicBezTo>
                  <a:cubicBezTo>
                    <a:pt x="69" y="0"/>
                    <a:pt x="72" y="3"/>
                    <a:pt x="72" y="6"/>
                  </a:cubicBezTo>
                  <a:cubicBezTo>
                    <a:pt x="72" y="10"/>
                    <a:pt x="69" y="12"/>
                    <a:pt x="66"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0" name="Freeform 193">
              <a:extLst>
                <a:ext uri="{FF2B5EF4-FFF2-40B4-BE49-F238E27FC236}">
                  <a16:creationId xmlns:a16="http://schemas.microsoft.com/office/drawing/2014/main" id="{008AA57D-AC11-AB3C-AD3D-BA1AA5A5943F}"/>
                </a:ext>
              </a:extLst>
            </p:cNvPr>
            <p:cNvSpPr>
              <a:spLocks noGrp="1" noRot="1" noMove="1" noResize="1" noEditPoints="1" noAdjustHandles="1" noChangeArrowheads="1" noChangeShapeType="1"/>
            </p:cNvSpPr>
            <p:nvPr/>
          </p:nvSpPr>
          <p:spPr bwMode="auto">
            <a:xfrm>
              <a:off x="435" y="3229"/>
              <a:ext cx="107" cy="18"/>
            </a:xfrm>
            <a:custGeom>
              <a:avLst/>
              <a:gdLst>
                <a:gd name="T0" fmla="*/ 66 w 72"/>
                <a:gd name="T1" fmla="*/ 12 h 12"/>
                <a:gd name="T2" fmla="*/ 6 w 72"/>
                <a:gd name="T3" fmla="*/ 12 h 12"/>
                <a:gd name="T4" fmla="*/ 0 w 72"/>
                <a:gd name="T5" fmla="*/ 6 h 12"/>
                <a:gd name="T6" fmla="*/ 6 w 72"/>
                <a:gd name="T7" fmla="*/ 0 h 12"/>
                <a:gd name="T8" fmla="*/ 66 w 72"/>
                <a:gd name="T9" fmla="*/ 0 h 12"/>
                <a:gd name="T10" fmla="*/ 72 w 72"/>
                <a:gd name="T11" fmla="*/ 6 h 12"/>
                <a:gd name="T12" fmla="*/ 66 w 7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2" h="12">
                  <a:moveTo>
                    <a:pt x="66" y="12"/>
                  </a:moveTo>
                  <a:cubicBezTo>
                    <a:pt x="6" y="12"/>
                    <a:pt x="6" y="12"/>
                    <a:pt x="6" y="12"/>
                  </a:cubicBezTo>
                  <a:cubicBezTo>
                    <a:pt x="3" y="12"/>
                    <a:pt x="0" y="10"/>
                    <a:pt x="0" y="6"/>
                  </a:cubicBezTo>
                  <a:cubicBezTo>
                    <a:pt x="0" y="3"/>
                    <a:pt x="3" y="0"/>
                    <a:pt x="6" y="0"/>
                  </a:cubicBezTo>
                  <a:cubicBezTo>
                    <a:pt x="66" y="0"/>
                    <a:pt x="66" y="0"/>
                    <a:pt x="66" y="0"/>
                  </a:cubicBezTo>
                  <a:cubicBezTo>
                    <a:pt x="69" y="0"/>
                    <a:pt x="72" y="3"/>
                    <a:pt x="72" y="6"/>
                  </a:cubicBezTo>
                  <a:cubicBezTo>
                    <a:pt x="72" y="10"/>
                    <a:pt x="69" y="12"/>
                    <a:pt x="66"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1" name="Freeform 194">
              <a:extLst>
                <a:ext uri="{FF2B5EF4-FFF2-40B4-BE49-F238E27FC236}">
                  <a16:creationId xmlns:a16="http://schemas.microsoft.com/office/drawing/2014/main" id="{8B0679F6-9F92-2056-163E-4B315CC6C8CC}"/>
                </a:ext>
              </a:extLst>
            </p:cNvPr>
            <p:cNvSpPr>
              <a:spLocks noGrp="1" noRot="1" noMove="1" noResize="1" noEditPoints="1" noAdjustHandles="1" noChangeArrowheads="1" noChangeShapeType="1"/>
            </p:cNvSpPr>
            <p:nvPr/>
          </p:nvSpPr>
          <p:spPr bwMode="auto">
            <a:xfrm>
              <a:off x="435" y="3264"/>
              <a:ext cx="71" cy="18"/>
            </a:xfrm>
            <a:custGeom>
              <a:avLst/>
              <a:gdLst>
                <a:gd name="T0" fmla="*/ 42 w 48"/>
                <a:gd name="T1" fmla="*/ 12 h 12"/>
                <a:gd name="T2" fmla="*/ 6 w 48"/>
                <a:gd name="T3" fmla="*/ 12 h 12"/>
                <a:gd name="T4" fmla="*/ 0 w 48"/>
                <a:gd name="T5" fmla="*/ 6 h 12"/>
                <a:gd name="T6" fmla="*/ 6 w 48"/>
                <a:gd name="T7" fmla="*/ 0 h 12"/>
                <a:gd name="T8" fmla="*/ 42 w 48"/>
                <a:gd name="T9" fmla="*/ 0 h 12"/>
                <a:gd name="T10" fmla="*/ 48 w 48"/>
                <a:gd name="T11" fmla="*/ 6 h 12"/>
                <a:gd name="T12" fmla="*/ 42 w 4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48" h="12">
                  <a:moveTo>
                    <a:pt x="42" y="12"/>
                  </a:moveTo>
                  <a:cubicBezTo>
                    <a:pt x="6" y="12"/>
                    <a:pt x="6" y="12"/>
                    <a:pt x="6" y="12"/>
                  </a:cubicBezTo>
                  <a:cubicBezTo>
                    <a:pt x="3" y="12"/>
                    <a:pt x="0" y="10"/>
                    <a:pt x="0" y="6"/>
                  </a:cubicBezTo>
                  <a:cubicBezTo>
                    <a:pt x="0" y="3"/>
                    <a:pt x="3" y="0"/>
                    <a:pt x="6" y="0"/>
                  </a:cubicBezTo>
                  <a:cubicBezTo>
                    <a:pt x="42" y="0"/>
                    <a:pt x="42" y="0"/>
                    <a:pt x="42" y="0"/>
                  </a:cubicBezTo>
                  <a:cubicBezTo>
                    <a:pt x="45" y="0"/>
                    <a:pt x="48" y="3"/>
                    <a:pt x="48" y="6"/>
                  </a:cubicBezTo>
                  <a:cubicBezTo>
                    <a:pt x="48" y="10"/>
                    <a:pt x="45" y="12"/>
                    <a:pt x="42"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2" name="Freeform 195">
              <a:extLst>
                <a:ext uri="{FF2B5EF4-FFF2-40B4-BE49-F238E27FC236}">
                  <a16:creationId xmlns:a16="http://schemas.microsoft.com/office/drawing/2014/main" id="{48CF07A8-F311-428B-379E-C829B4A2826F}"/>
                </a:ext>
              </a:extLst>
            </p:cNvPr>
            <p:cNvSpPr>
              <a:spLocks noGrp="1" noRot="1" noMove="1" noResize="1" noEditPoints="1" noAdjustHandles="1" noChangeArrowheads="1" noChangeShapeType="1"/>
            </p:cNvSpPr>
            <p:nvPr/>
          </p:nvSpPr>
          <p:spPr bwMode="auto">
            <a:xfrm>
              <a:off x="542" y="3193"/>
              <a:ext cx="231" cy="231"/>
            </a:xfrm>
            <a:custGeom>
              <a:avLst/>
              <a:gdLst>
                <a:gd name="T0" fmla="*/ 150 w 156"/>
                <a:gd name="T1" fmla="*/ 156 h 156"/>
                <a:gd name="T2" fmla="*/ 6 w 156"/>
                <a:gd name="T3" fmla="*/ 156 h 156"/>
                <a:gd name="T4" fmla="*/ 1 w 156"/>
                <a:gd name="T5" fmla="*/ 154 h 156"/>
                <a:gd name="T6" fmla="*/ 1 w 156"/>
                <a:gd name="T7" fmla="*/ 148 h 156"/>
                <a:gd name="T8" fmla="*/ 73 w 156"/>
                <a:gd name="T9" fmla="*/ 4 h 156"/>
                <a:gd name="T10" fmla="*/ 78 w 156"/>
                <a:gd name="T11" fmla="*/ 0 h 156"/>
                <a:gd name="T12" fmla="*/ 83 w 156"/>
                <a:gd name="T13" fmla="*/ 4 h 156"/>
                <a:gd name="T14" fmla="*/ 155 w 156"/>
                <a:gd name="T15" fmla="*/ 148 h 156"/>
                <a:gd name="T16" fmla="*/ 155 w 156"/>
                <a:gd name="T17" fmla="*/ 154 h 156"/>
                <a:gd name="T18" fmla="*/ 150 w 156"/>
                <a:gd name="T19" fmla="*/ 156 h 156"/>
                <a:gd name="T20" fmla="*/ 16 w 156"/>
                <a:gd name="T21" fmla="*/ 144 h 156"/>
                <a:gd name="T22" fmla="*/ 140 w 156"/>
                <a:gd name="T23" fmla="*/ 144 h 156"/>
                <a:gd name="T24" fmla="*/ 78 w 156"/>
                <a:gd name="T25" fmla="*/ 20 h 156"/>
                <a:gd name="T26" fmla="*/ 16 w 156"/>
                <a:gd name="T27" fmla="*/ 144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6" h="156">
                  <a:moveTo>
                    <a:pt x="150" y="156"/>
                  </a:moveTo>
                  <a:cubicBezTo>
                    <a:pt x="6" y="156"/>
                    <a:pt x="6" y="156"/>
                    <a:pt x="6" y="156"/>
                  </a:cubicBezTo>
                  <a:cubicBezTo>
                    <a:pt x="4" y="156"/>
                    <a:pt x="2" y="155"/>
                    <a:pt x="1" y="154"/>
                  </a:cubicBezTo>
                  <a:cubicBezTo>
                    <a:pt x="0" y="152"/>
                    <a:pt x="0" y="150"/>
                    <a:pt x="1" y="148"/>
                  </a:cubicBezTo>
                  <a:cubicBezTo>
                    <a:pt x="73" y="4"/>
                    <a:pt x="73" y="4"/>
                    <a:pt x="73" y="4"/>
                  </a:cubicBezTo>
                  <a:cubicBezTo>
                    <a:pt x="74" y="2"/>
                    <a:pt x="76" y="0"/>
                    <a:pt x="78" y="0"/>
                  </a:cubicBezTo>
                  <a:cubicBezTo>
                    <a:pt x="80" y="0"/>
                    <a:pt x="82" y="2"/>
                    <a:pt x="83" y="4"/>
                  </a:cubicBezTo>
                  <a:cubicBezTo>
                    <a:pt x="155" y="148"/>
                    <a:pt x="155" y="148"/>
                    <a:pt x="155" y="148"/>
                  </a:cubicBezTo>
                  <a:cubicBezTo>
                    <a:pt x="156" y="150"/>
                    <a:pt x="156" y="152"/>
                    <a:pt x="155" y="154"/>
                  </a:cubicBezTo>
                  <a:cubicBezTo>
                    <a:pt x="154" y="155"/>
                    <a:pt x="152" y="156"/>
                    <a:pt x="150" y="156"/>
                  </a:cubicBezTo>
                  <a:close/>
                  <a:moveTo>
                    <a:pt x="16" y="144"/>
                  </a:moveTo>
                  <a:cubicBezTo>
                    <a:pt x="140" y="144"/>
                    <a:pt x="140" y="144"/>
                    <a:pt x="140" y="144"/>
                  </a:cubicBezTo>
                  <a:cubicBezTo>
                    <a:pt x="78" y="20"/>
                    <a:pt x="78" y="20"/>
                    <a:pt x="78" y="20"/>
                  </a:cubicBezTo>
                  <a:lnTo>
                    <a:pt x="16" y="144"/>
                  </a:ln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3" name="Freeform 196">
              <a:extLst>
                <a:ext uri="{FF2B5EF4-FFF2-40B4-BE49-F238E27FC236}">
                  <a16:creationId xmlns:a16="http://schemas.microsoft.com/office/drawing/2014/main" id="{0512DE5D-93B5-D0D4-F4DC-468052D59B66}"/>
                </a:ext>
              </a:extLst>
            </p:cNvPr>
            <p:cNvSpPr>
              <a:spLocks noGrp="1" noRot="1" noMove="1" noResize="1" noEditPoints="1" noAdjustHandles="1" noChangeArrowheads="1" noChangeShapeType="1"/>
            </p:cNvSpPr>
            <p:nvPr/>
          </p:nvSpPr>
          <p:spPr bwMode="auto">
            <a:xfrm>
              <a:off x="648" y="3281"/>
              <a:ext cx="18" cy="77"/>
            </a:xfrm>
            <a:custGeom>
              <a:avLst/>
              <a:gdLst>
                <a:gd name="T0" fmla="*/ 6 w 12"/>
                <a:gd name="T1" fmla="*/ 52 h 52"/>
                <a:gd name="T2" fmla="*/ 0 w 12"/>
                <a:gd name="T3" fmla="*/ 46 h 52"/>
                <a:gd name="T4" fmla="*/ 0 w 12"/>
                <a:gd name="T5" fmla="*/ 6 h 52"/>
                <a:gd name="T6" fmla="*/ 6 w 12"/>
                <a:gd name="T7" fmla="*/ 0 h 52"/>
                <a:gd name="T8" fmla="*/ 12 w 12"/>
                <a:gd name="T9" fmla="*/ 6 h 52"/>
                <a:gd name="T10" fmla="*/ 12 w 12"/>
                <a:gd name="T11" fmla="*/ 46 h 52"/>
                <a:gd name="T12" fmla="*/ 6 w 12"/>
                <a:gd name="T13" fmla="*/ 52 h 52"/>
              </a:gdLst>
              <a:ahLst/>
              <a:cxnLst>
                <a:cxn ang="0">
                  <a:pos x="T0" y="T1"/>
                </a:cxn>
                <a:cxn ang="0">
                  <a:pos x="T2" y="T3"/>
                </a:cxn>
                <a:cxn ang="0">
                  <a:pos x="T4" y="T5"/>
                </a:cxn>
                <a:cxn ang="0">
                  <a:pos x="T6" y="T7"/>
                </a:cxn>
                <a:cxn ang="0">
                  <a:pos x="T8" y="T9"/>
                </a:cxn>
                <a:cxn ang="0">
                  <a:pos x="T10" y="T11"/>
                </a:cxn>
                <a:cxn ang="0">
                  <a:pos x="T12" y="T13"/>
                </a:cxn>
              </a:cxnLst>
              <a:rect l="0" t="0" r="r" b="b"/>
              <a:pathLst>
                <a:path w="12" h="52">
                  <a:moveTo>
                    <a:pt x="6" y="52"/>
                  </a:moveTo>
                  <a:cubicBezTo>
                    <a:pt x="3" y="52"/>
                    <a:pt x="0" y="49"/>
                    <a:pt x="0" y="46"/>
                  </a:cubicBezTo>
                  <a:cubicBezTo>
                    <a:pt x="0" y="6"/>
                    <a:pt x="0" y="6"/>
                    <a:pt x="0" y="6"/>
                  </a:cubicBezTo>
                  <a:cubicBezTo>
                    <a:pt x="0" y="3"/>
                    <a:pt x="3" y="0"/>
                    <a:pt x="6" y="0"/>
                  </a:cubicBezTo>
                  <a:cubicBezTo>
                    <a:pt x="9" y="0"/>
                    <a:pt x="12" y="3"/>
                    <a:pt x="12" y="6"/>
                  </a:cubicBezTo>
                  <a:cubicBezTo>
                    <a:pt x="12" y="46"/>
                    <a:pt x="12" y="46"/>
                    <a:pt x="12" y="46"/>
                  </a:cubicBezTo>
                  <a:cubicBezTo>
                    <a:pt x="12" y="49"/>
                    <a:pt x="9" y="52"/>
                    <a:pt x="6" y="5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4" name="Oval 197">
              <a:extLst>
                <a:ext uri="{FF2B5EF4-FFF2-40B4-BE49-F238E27FC236}">
                  <a16:creationId xmlns:a16="http://schemas.microsoft.com/office/drawing/2014/main" id="{78DB9544-D12E-1406-AC58-0E1F7461A57C}"/>
                </a:ext>
              </a:extLst>
            </p:cNvPr>
            <p:cNvSpPr>
              <a:spLocks noGrp="1" noRot="1" noMove="1" noResize="1" noEditPoints="1" noAdjustHandles="1" noChangeArrowheads="1" noChangeShapeType="1"/>
            </p:cNvSpPr>
            <p:nvPr/>
          </p:nvSpPr>
          <p:spPr bwMode="auto">
            <a:xfrm>
              <a:off x="647" y="3368"/>
              <a:ext cx="20" cy="19"/>
            </a:xfrm>
            <a:prstGeom prst="ellipse">
              <a:avLst/>
            </a:pr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grpSp>
      <p:grpSp>
        <p:nvGrpSpPr>
          <p:cNvPr id="45" name="Group 148">
            <a:extLst>
              <a:ext uri="{FF2B5EF4-FFF2-40B4-BE49-F238E27FC236}">
                <a16:creationId xmlns:a16="http://schemas.microsoft.com/office/drawing/2014/main" id="{F7A3D14B-E7A5-F32B-BD1A-09D5781D267A}"/>
              </a:ext>
            </a:extLst>
          </p:cNvPr>
          <p:cNvGrpSpPr>
            <a:grpSpLocks noGrp="1" noUngrp="1" noRot="1" noChangeAspect="1" noMove="1" noResize="1"/>
          </p:cNvGrpSpPr>
          <p:nvPr userDrawn="1"/>
        </p:nvGrpSpPr>
        <p:grpSpPr bwMode="auto">
          <a:xfrm>
            <a:off x="8749499" y="3136579"/>
            <a:ext cx="252090" cy="250909"/>
            <a:chOff x="1369" y="2997"/>
            <a:chExt cx="427" cy="425"/>
          </a:xfrm>
          <a:solidFill>
            <a:schemeClr val="bg1"/>
          </a:solidFill>
        </p:grpSpPr>
        <p:sp>
          <p:nvSpPr>
            <p:cNvPr id="46" name="Freeform 149">
              <a:extLst>
                <a:ext uri="{FF2B5EF4-FFF2-40B4-BE49-F238E27FC236}">
                  <a16:creationId xmlns:a16="http://schemas.microsoft.com/office/drawing/2014/main" id="{6D2A04B7-4417-EB73-966B-C6196AE3A649}"/>
                </a:ext>
              </a:extLst>
            </p:cNvPr>
            <p:cNvSpPr>
              <a:spLocks noGrp="1" noRot="1" noMove="1" noResize="1" noEditPoints="1" noAdjustHandles="1" noChangeArrowheads="1" noChangeShapeType="1"/>
            </p:cNvSpPr>
            <p:nvPr/>
          </p:nvSpPr>
          <p:spPr bwMode="auto">
            <a:xfrm>
              <a:off x="1369" y="2997"/>
              <a:ext cx="338" cy="354"/>
            </a:xfrm>
            <a:custGeom>
              <a:avLst/>
              <a:gdLst>
                <a:gd name="T0" fmla="*/ 138 w 228"/>
                <a:gd name="T1" fmla="*/ 240 h 240"/>
                <a:gd name="T2" fmla="*/ 30 w 228"/>
                <a:gd name="T3" fmla="*/ 240 h 240"/>
                <a:gd name="T4" fmla="*/ 0 w 228"/>
                <a:gd name="T5" fmla="*/ 210 h 240"/>
                <a:gd name="T6" fmla="*/ 0 w 228"/>
                <a:gd name="T7" fmla="*/ 30 h 240"/>
                <a:gd name="T8" fmla="*/ 30 w 228"/>
                <a:gd name="T9" fmla="*/ 0 h 240"/>
                <a:gd name="T10" fmla="*/ 198 w 228"/>
                <a:gd name="T11" fmla="*/ 0 h 240"/>
                <a:gd name="T12" fmla="*/ 228 w 228"/>
                <a:gd name="T13" fmla="*/ 30 h 240"/>
                <a:gd name="T14" fmla="*/ 228 w 228"/>
                <a:gd name="T15" fmla="*/ 120 h 240"/>
                <a:gd name="T16" fmla="*/ 222 w 228"/>
                <a:gd name="T17" fmla="*/ 126 h 240"/>
                <a:gd name="T18" fmla="*/ 216 w 228"/>
                <a:gd name="T19" fmla="*/ 120 h 240"/>
                <a:gd name="T20" fmla="*/ 216 w 228"/>
                <a:gd name="T21" fmla="*/ 30 h 240"/>
                <a:gd name="T22" fmla="*/ 198 w 228"/>
                <a:gd name="T23" fmla="*/ 12 h 240"/>
                <a:gd name="T24" fmla="*/ 30 w 228"/>
                <a:gd name="T25" fmla="*/ 12 h 240"/>
                <a:gd name="T26" fmla="*/ 12 w 228"/>
                <a:gd name="T27" fmla="*/ 30 h 240"/>
                <a:gd name="T28" fmla="*/ 12 w 228"/>
                <a:gd name="T29" fmla="*/ 210 h 240"/>
                <a:gd name="T30" fmla="*/ 30 w 228"/>
                <a:gd name="T31" fmla="*/ 228 h 240"/>
                <a:gd name="T32" fmla="*/ 138 w 228"/>
                <a:gd name="T33" fmla="*/ 228 h 240"/>
                <a:gd name="T34" fmla="*/ 144 w 228"/>
                <a:gd name="T35" fmla="*/ 234 h 240"/>
                <a:gd name="T36" fmla="*/ 138 w 228"/>
                <a:gd name="T37" fmla="*/ 240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28" h="240">
                  <a:moveTo>
                    <a:pt x="138" y="240"/>
                  </a:moveTo>
                  <a:cubicBezTo>
                    <a:pt x="30" y="240"/>
                    <a:pt x="30" y="240"/>
                    <a:pt x="30" y="240"/>
                  </a:cubicBezTo>
                  <a:cubicBezTo>
                    <a:pt x="13" y="240"/>
                    <a:pt x="0" y="227"/>
                    <a:pt x="0" y="210"/>
                  </a:cubicBezTo>
                  <a:cubicBezTo>
                    <a:pt x="0" y="30"/>
                    <a:pt x="0" y="30"/>
                    <a:pt x="0" y="30"/>
                  </a:cubicBezTo>
                  <a:cubicBezTo>
                    <a:pt x="0" y="14"/>
                    <a:pt x="13" y="0"/>
                    <a:pt x="30" y="0"/>
                  </a:cubicBezTo>
                  <a:cubicBezTo>
                    <a:pt x="198" y="0"/>
                    <a:pt x="198" y="0"/>
                    <a:pt x="198" y="0"/>
                  </a:cubicBezTo>
                  <a:cubicBezTo>
                    <a:pt x="214" y="0"/>
                    <a:pt x="228" y="14"/>
                    <a:pt x="228" y="30"/>
                  </a:cubicBezTo>
                  <a:cubicBezTo>
                    <a:pt x="228" y="120"/>
                    <a:pt x="228" y="120"/>
                    <a:pt x="228" y="120"/>
                  </a:cubicBezTo>
                  <a:cubicBezTo>
                    <a:pt x="228" y="124"/>
                    <a:pt x="225" y="126"/>
                    <a:pt x="222" y="126"/>
                  </a:cubicBezTo>
                  <a:cubicBezTo>
                    <a:pt x="219" y="126"/>
                    <a:pt x="216" y="124"/>
                    <a:pt x="216" y="120"/>
                  </a:cubicBezTo>
                  <a:cubicBezTo>
                    <a:pt x="216" y="30"/>
                    <a:pt x="216" y="30"/>
                    <a:pt x="216" y="30"/>
                  </a:cubicBezTo>
                  <a:cubicBezTo>
                    <a:pt x="216" y="20"/>
                    <a:pt x="208" y="12"/>
                    <a:pt x="198" y="12"/>
                  </a:cubicBezTo>
                  <a:cubicBezTo>
                    <a:pt x="30" y="12"/>
                    <a:pt x="30" y="12"/>
                    <a:pt x="30" y="12"/>
                  </a:cubicBezTo>
                  <a:cubicBezTo>
                    <a:pt x="20" y="12"/>
                    <a:pt x="12" y="20"/>
                    <a:pt x="12" y="30"/>
                  </a:cubicBezTo>
                  <a:cubicBezTo>
                    <a:pt x="12" y="210"/>
                    <a:pt x="12" y="210"/>
                    <a:pt x="12" y="210"/>
                  </a:cubicBezTo>
                  <a:cubicBezTo>
                    <a:pt x="12" y="220"/>
                    <a:pt x="20" y="228"/>
                    <a:pt x="30" y="228"/>
                  </a:cubicBezTo>
                  <a:cubicBezTo>
                    <a:pt x="138" y="228"/>
                    <a:pt x="138" y="228"/>
                    <a:pt x="138" y="228"/>
                  </a:cubicBezTo>
                  <a:cubicBezTo>
                    <a:pt x="142" y="228"/>
                    <a:pt x="144" y="231"/>
                    <a:pt x="144" y="234"/>
                  </a:cubicBezTo>
                  <a:cubicBezTo>
                    <a:pt x="144" y="238"/>
                    <a:pt x="142" y="240"/>
                    <a:pt x="138" y="24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7" name="Freeform 150">
              <a:extLst>
                <a:ext uri="{FF2B5EF4-FFF2-40B4-BE49-F238E27FC236}">
                  <a16:creationId xmlns:a16="http://schemas.microsoft.com/office/drawing/2014/main" id="{CD5AFDD6-8A7E-CCB8-7EAC-7AC2CF2319FF}"/>
                </a:ext>
              </a:extLst>
            </p:cNvPr>
            <p:cNvSpPr>
              <a:spLocks noGrp="1" noRot="1" noMove="1" noResize="1" noEditPoints="1" noAdjustHandles="1" noChangeArrowheads="1" noChangeShapeType="1"/>
            </p:cNvSpPr>
            <p:nvPr/>
          </p:nvSpPr>
          <p:spPr bwMode="auto">
            <a:xfrm>
              <a:off x="1369" y="3103"/>
              <a:ext cx="338" cy="18"/>
            </a:xfrm>
            <a:custGeom>
              <a:avLst/>
              <a:gdLst>
                <a:gd name="T0" fmla="*/ 222 w 228"/>
                <a:gd name="T1" fmla="*/ 12 h 12"/>
                <a:gd name="T2" fmla="*/ 6 w 228"/>
                <a:gd name="T3" fmla="*/ 12 h 12"/>
                <a:gd name="T4" fmla="*/ 0 w 228"/>
                <a:gd name="T5" fmla="*/ 6 h 12"/>
                <a:gd name="T6" fmla="*/ 6 w 228"/>
                <a:gd name="T7" fmla="*/ 0 h 12"/>
                <a:gd name="T8" fmla="*/ 222 w 228"/>
                <a:gd name="T9" fmla="*/ 0 h 12"/>
                <a:gd name="T10" fmla="*/ 228 w 228"/>
                <a:gd name="T11" fmla="*/ 6 h 12"/>
                <a:gd name="T12" fmla="*/ 222 w 22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28" h="12">
                  <a:moveTo>
                    <a:pt x="222" y="12"/>
                  </a:moveTo>
                  <a:cubicBezTo>
                    <a:pt x="6" y="12"/>
                    <a:pt x="6" y="12"/>
                    <a:pt x="6" y="12"/>
                  </a:cubicBezTo>
                  <a:cubicBezTo>
                    <a:pt x="3" y="12"/>
                    <a:pt x="0" y="10"/>
                    <a:pt x="0" y="6"/>
                  </a:cubicBezTo>
                  <a:cubicBezTo>
                    <a:pt x="0" y="3"/>
                    <a:pt x="3" y="0"/>
                    <a:pt x="6" y="0"/>
                  </a:cubicBezTo>
                  <a:cubicBezTo>
                    <a:pt x="222" y="0"/>
                    <a:pt x="222" y="0"/>
                    <a:pt x="222" y="0"/>
                  </a:cubicBezTo>
                  <a:cubicBezTo>
                    <a:pt x="225" y="0"/>
                    <a:pt x="228" y="3"/>
                    <a:pt x="228" y="6"/>
                  </a:cubicBezTo>
                  <a:cubicBezTo>
                    <a:pt x="228" y="10"/>
                    <a:pt x="225" y="12"/>
                    <a:pt x="222"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8" name="Freeform 151">
              <a:extLst>
                <a:ext uri="{FF2B5EF4-FFF2-40B4-BE49-F238E27FC236}">
                  <a16:creationId xmlns:a16="http://schemas.microsoft.com/office/drawing/2014/main" id="{E74142DE-F805-233D-5F2A-EA201C868413}"/>
                </a:ext>
              </a:extLst>
            </p:cNvPr>
            <p:cNvSpPr>
              <a:spLocks noGrp="1" noRot="1" noMove="1" noResize="1" noEditPoints="1" noAdjustHandles="1" noChangeArrowheads="1" noChangeShapeType="1"/>
            </p:cNvSpPr>
            <p:nvPr/>
          </p:nvSpPr>
          <p:spPr bwMode="auto">
            <a:xfrm>
              <a:off x="1369" y="3227"/>
              <a:ext cx="231" cy="18"/>
            </a:xfrm>
            <a:custGeom>
              <a:avLst/>
              <a:gdLst>
                <a:gd name="T0" fmla="*/ 150 w 156"/>
                <a:gd name="T1" fmla="*/ 12 h 12"/>
                <a:gd name="T2" fmla="*/ 6 w 156"/>
                <a:gd name="T3" fmla="*/ 12 h 12"/>
                <a:gd name="T4" fmla="*/ 0 w 156"/>
                <a:gd name="T5" fmla="*/ 6 h 12"/>
                <a:gd name="T6" fmla="*/ 6 w 156"/>
                <a:gd name="T7" fmla="*/ 0 h 12"/>
                <a:gd name="T8" fmla="*/ 150 w 156"/>
                <a:gd name="T9" fmla="*/ 0 h 12"/>
                <a:gd name="T10" fmla="*/ 156 w 156"/>
                <a:gd name="T11" fmla="*/ 6 h 12"/>
                <a:gd name="T12" fmla="*/ 150 w 156"/>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56" h="12">
                  <a:moveTo>
                    <a:pt x="150" y="12"/>
                  </a:moveTo>
                  <a:cubicBezTo>
                    <a:pt x="6" y="12"/>
                    <a:pt x="6" y="12"/>
                    <a:pt x="6" y="12"/>
                  </a:cubicBezTo>
                  <a:cubicBezTo>
                    <a:pt x="3" y="12"/>
                    <a:pt x="0" y="10"/>
                    <a:pt x="0" y="6"/>
                  </a:cubicBezTo>
                  <a:cubicBezTo>
                    <a:pt x="0" y="3"/>
                    <a:pt x="3" y="0"/>
                    <a:pt x="6" y="0"/>
                  </a:cubicBezTo>
                  <a:cubicBezTo>
                    <a:pt x="150" y="0"/>
                    <a:pt x="150" y="0"/>
                    <a:pt x="150" y="0"/>
                  </a:cubicBezTo>
                  <a:cubicBezTo>
                    <a:pt x="153" y="0"/>
                    <a:pt x="156" y="3"/>
                    <a:pt x="156" y="6"/>
                  </a:cubicBezTo>
                  <a:cubicBezTo>
                    <a:pt x="156" y="10"/>
                    <a:pt x="153" y="12"/>
                    <a:pt x="150"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9" name="Freeform 152">
              <a:extLst>
                <a:ext uri="{FF2B5EF4-FFF2-40B4-BE49-F238E27FC236}">
                  <a16:creationId xmlns:a16="http://schemas.microsoft.com/office/drawing/2014/main" id="{D48F190B-BC2B-948A-23FD-EE50A4928035}"/>
                </a:ext>
              </a:extLst>
            </p:cNvPr>
            <p:cNvSpPr>
              <a:spLocks noGrp="1" noRot="1" noMove="1" noResize="1" noEditPoints="1" noAdjustHandles="1" noChangeArrowheads="1" noChangeShapeType="1"/>
            </p:cNvSpPr>
            <p:nvPr/>
          </p:nvSpPr>
          <p:spPr bwMode="auto">
            <a:xfrm>
              <a:off x="1582" y="2997"/>
              <a:ext cx="18" cy="248"/>
            </a:xfrm>
            <a:custGeom>
              <a:avLst/>
              <a:gdLst>
                <a:gd name="T0" fmla="*/ 6 w 12"/>
                <a:gd name="T1" fmla="*/ 168 h 168"/>
                <a:gd name="T2" fmla="*/ 0 w 12"/>
                <a:gd name="T3" fmla="*/ 162 h 168"/>
                <a:gd name="T4" fmla="*/ 0 w 12"/>
                <a:gd name="T5" fmla="*/ 6 h 168"/>
                <a:gd name="T6" fmla="*/ 6 w 12"/>
                <a:gd name="T7" fmla="*/ 0 h 168"/>
                <a:gd name="T8" fmla="*/ 12 w 12"/>
                <a:gd name="T9" fmla="*/ 6 h 168"/>
                <a:gd name="T10" fmla="*/ 12 w 12"/>
                <a:gd name="T11" fmla="*/ 162 h 168"/>
                <a:gd name="T12" fmla="*/ 6 w 12"/>
                <a:gd name="T13" fmla="*/ 168 h 168"/>
              </a:gdLst>
              <a:ahLst/>
              <a:cxnLst>
                <a:cxn ang="0">
                  <a:pos x="T0" y="T1"/>
                </a:cxn>
                <a:cxn ang="0">
                  <a:pos x="T2" y="T3"/>
                </a:cxn>
                <a:cxn ang="0">
                  <a:pos x="T4" y="T5"/>
                </a:cxn>
                <a:cxn ang="0">
                  <a:pos x="T6" y="T7"/>
                </a:cxn>
                <a:cxn ang="0">
                  <a:pos x="T8" y="T9"/>
                </a:cxn>
                <a:cxn ang="0">
                  <a:pos x="T10" y="T11"/>
                </a:cxn>
                <a:cxn ang="0">
                  <a:pos x="T12" y="T13"/>
                </a:cxn>
              </a:cxnLst>
              <a:rect l="0" t="0" r="r" b="b"/>
              <a:pathLst>
                <a:path w="12" h="168">
                  <a:moveTo>
                    <a:pt x="6" y="168"/>
                  </a:moveTo>
                  <a:cubicBezTo>
                    <a:pt x="3" y="168"/>
                    <a:pt x="0" y="166"/>
                    <a:pt x="0" y="162"/>
                  </a:cubicBezTo>
                  <a:cubicBezTo>
                    <a:pt x="0" y="6"/>
                    <a:pt x="0" y="6"/>
                    <a:pt x="0" y="6"/>
                  </a:cubicBezTo>
                  <a:cubicBezTo>
                    <a:pt x="0" y="3"/>
                    <a:pt x="3" y="0"/>
                    <a:pt x="6" y="0"/>
                  </a:cubicBezTo>
                  <a:cubicBezTo>
                    <a:pt x="9" y="0"/>
                    <a:pt x="12" y="3"/>
                    <a:pt x="12" y="6"/>
                  </a:cubicBezTo>
                  <a:cubicBezTo>
                    <a:pt x="12" y="162"/>
                    <a:pt x="12" y="162"/>
                    <a:pt x="12" y="162"/>
                  </a:cubicBezTo>
                  <a:cubicBezTo>
                    <a:pt x="12" y="166"/>
                    <a:pt x="9" y="168"/>
                    <a:pt x="6" y="16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0" name="Freeform 153">
              <a:extLst>
                <a:ext uri="{FF2B5EF4-FFF2-40B4-BE49-F238E27FC236}">
                  <a16:creationId xmlns:a16="http://schemas.microsoft.com/office/drawing/2014/main" id="{70E2871A-D3DC-3F8E-D971-503B07D0FD4A}"/>
                </a:ext>
              </a:extLst>
            </p:cNvPr>
            <p:cNvSpPr>
              <a:spLocks noGrp="1" noRot="1" noMove="1" noResize="1" noEditPoints="1" noAdjustHandles="1" noChangeArrowheads="1" noChangeShapeType="1"/>
            </p:cNvSpPr>
            <p:nvPr/>
          </p:nvSpPr>
          <p:spPr bwMode="auto">
            <a:xfrm>
              <a:off x="1476" y="2997"/>
              <a:ext cx="18" cy="354"/>
            </a:xfrm>
            <a:custGeom>
              <a:avLst/>
              <a:gdLst>
                <a:gd name="T0" fmla="*/ 6 w 12"/>
                <a:gd name="T1" fmla="*/ 240 h 240"/>
                <a:gd name="T2" fmla="*/ 0 w 12"/>
                <a:gd name="T3" fmla="*/ 234 h 240"/>
                <a:gd name="T4" fmla="*/ 0 w 12"/>
                <a:gd name="T5" fmla="*/ 6 h 240"/>
                <a:gd name="T6" fmla="*/ 6 w 12"/>
                <a:gd name="T7" fmla="*/ 0 h 240"/>
                <a:gd name="T8" fmla="*/ 12 w 12"/>
                <a:gd name="T9" fmla="*/ 6 h 240"/>
                <a:gd name="T10" fmla="*/ 12 w 12"/>
                <a:gd name="T11" fmla="*/ 234 h 240"/>
                <a:gd name="T12" fmla="*/ 6 w 12"/>
                <a:gd name="T13" fmla="*/ 240 h 240"/>
              </a:gdLst>
              <a:ahLst/>
              <a:cxnLst>
                <a:cxn ang="0">
                  <a:pos x="T0" y="T1"/>
                </a:cxn>
                <a:cxn ang="0">
                  <a:pos x="T2" y="T3"/>
                </a:cxn>
                <a:cxn ang="0">
                  <a:pos x="T4" y="T5"/>
                </a:cxn>
                <a:cxn ang="0">
                  <a:pos x="T6" y="T7"/>
                </a:cxn>
                <a:cxn ang="0">
                  <a:pos x="T8" y="T9"/>
                </a:cxn>
                <a:cxn ang="0">
                  <a:pos x="T10" y="T11"/>
                </a:cxn>
                <a:cxn ang="0">
                  <a:pos x="T12" y="T13"/>
                </a:cxn>
              </a:cxnLst>
              <a:rect l="0" t="0" r="r" b="b"/>
              <a:pathLst>
                <a:path w="12" h="240">
                  <a:moveTo>
                    <a:pt x="6" y="240"/>
                  </a:moveTo>
                  <a:cubicBezTo>
                    <a:pt x="3" y="240"/>
                    <a:pt x="0" y="238"/>
                    <a:pt x="0" y="234"/>
                  </a:cubicBezTo>
                  <a:cubicBezTo>
                    <a:pt x="0" y="6"/>
                    <a:pt x="0" y="6"/>
                    <a:pt x="0" y="6"/>
                  </a:cubicBezTo>
                  <a:cubicBezTo>
                    <a:pt x="0" y="3"/>
                    <a:pt x="3" y="0"/>
                    <a:pt x="6" y="0"/>
                  </a:cubicBezTo>
                  <a:cubicBezTo>
                    <a:pt x="9" y="0"/>
                    <a:pt x="12" y="3"/>
                    <a:pt x="12" y="6"/>
                  </a:cubicBezTo>
                  <a:cubicBezTo>
                    <a:pt x="12" y="234"/>
                    <a:pt x="12" y="234"/>
                    <a:pt x="12" y="234"/>
                  </a:cubicBezTo>
                  <a:cubicBezTo>
                    <a:pt x="12" y="238"/>
                    <a:pt x="9" y="240"/>
                    <a:pt x="6" y="24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1" name="Freeform 154">
              <a:extLst>
                <a:ext uri="{FF2B5EF4-FFF2-40B4-BE49-F238E27FC236}">
                  <a16:creationId xmlns:a16="http://schemas.microsoft.com/office/drawing/2014/main" id="{2E723ADA-3C70-D9D3-AEEA-120EF7F8D259}"/>
                </a:ext>
              </a:extLst>
            </p:cNvPr>
            <p:cNvSpPr>
              <a:spLocks noGrp="1" noRot="1" noMove="1" noResize="1" noEditPoints="1" noAdjustHandles="1" noChangeArrowheads="1" noChangeShapeType="1"/>
            </p:cNvSpPr>
            <p:nvPr/>
          </p:nvSpPr>
          <p:spPr bwMode="auto">
            <a:xfrm>
              <a:off x="1582" y="3209"/>
              <a:ext cx="214" cy="213"/>
            </a:xfrm>
            <a:custGeom>
              <a:avLst/>
              <a:gdLst>
                <a:gd name="T0" fmla="*/ 138 w 144"/>
                <a:gd name="T1" fmla="*/ 144 h 144"/>
                <a:gd name="T2" fmla="*/ 6 w 144"/>
                <a:gd name="T3" fmla="*/ 144 h 144"/>
                <a:gd name="T4" fmla="*/ 1 w 144"/>
                <a:gd name="T5" fmla="*/ 141 h 144"/>
                <a:gd name="T6" fmla="*/ 0 w 144"/>
                <a:gd name="T7" fmla="*/ 136 h 144"/>
                <a:gd name="T8" fmla="*/ 66 w 144"/>
                <a:gd name="T9" fmla="*/ 4 h 144"/>
                <a:gd name="T10" fmla="*/ 72 w 144"/>
                <a:gd name="T11" fmla="*/ 0 h 144"/>
                <a:gd name="T12" fmla="*/ 77 w 144"/>
                <a:gd name="T13" fmla="*/ 4 h 144"/>
                <a:gd name="T14" fmla="*/ 143 w 144"/>
                <a:gd name="T15" fmla="*/ 136 h 144"/>
                <a:gd name="T16" fmla="*/ 143 w 144"/>
                <a:gd name="T17" fmla="*/ 141 h 144"/>
                <a:gd name="T18" fmla="*/ 138 w 144"/>
                <a:gd name="T19" fmla="*/ 144 h 144"/>
                <a:gd name="T20" fmla="*/ 16 w 144"/>
                <a:gd name="T21" fmla="*/ 132 h 144"/>
                <a:gd name="T22" fmla="*/ 128 w 144"/>
                <a:gd name="T23" fmla="*/ 132 h 144"/>
                <a:gd name="T24" fmla="*/ 72 w 144"/>
                <a:gd name="T25" fmla="*/ 20 h 144"/>
                <a:gd name="T26" fmla="*/ 16 w 144"/>
                <a:gd name="T27" fmla="*/ 132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4" h="144">
                  <a:moveTo>
                    <a:pt x="138" y="144"/>
                  </a:moveTo>
                  <a:cubicBezTo>
                    <a:pt x="6" y="144"/>
                    <a:pt x="6" y="144"/>
                    <a:pt x="6" y="144"/>
                  </a:cubicBezTo>
                  <a:cubicBezTo>
                    <a:pt x="4" y="144"/>
                    <a:pt x="2" y="143"/>
                    <a:pt x="1" y="141"/>
                  </a:cubicBezTo>
                  <a:cubicBezTo>
                    <a:pt x="0" y="140"/>
                    <a:pt x="0" y="137"/>
                    <a:pt x="0" y="136"/>
                  </a:cubicBezTo>
                  <a:cubicBezTo>
                    <a:pt x="66" y="4"/>
                    <a:pt x="66" y="4"/>
                    <a:pt x="66" y="4"/>
                  </a:cubicBezTo>
                  <a:cubicBezTo>
                    <a:pt x="67" y="2"/>
                    <a:pt x="70" y="0"/>
                    <a:pt x="72" y="0"/>
                  </a:cubicBezTo>
                  <a:cubicBezTo>
                    <a:pt x="74" y="0"/>
                    <a:pt x="76" y="2"/>
                    <a:pt x="77" y="4"/>
                  </a:cubicBezTo>
                  <a:cubicBezTo>
                    <a:pt x="143" y="136"/>
                    <a:pt x="143" y="136"/>
                    <a:pt x="143" y="136"/>
                  </a:cubicBezTo>
                  <a:cubicBezTo>
                    <a:pt x="144" y="137"/>
                    <a:pt x="144" y="140"/>
                    <a:pt x="143" y="141"/>
                  </a:cubicBezTo>
                  <a:cubicBezTo>
                    <a:pt x="142" y="143"/>
                    <a:pt x="140" y="144"/>
                    <a:pt x="138" y="144"/>
                  </a:cubicBezTo>
                  <a:close/>
                  <a:moveTo>
                    <a:pt x="16" y="132"/>
                  </a:moveTo>
                  <a:cubicBezTo>
                    <a:pt x="128" y="132"/>
                    <a:pt x="128" y="132"/>
                    <a:pt x="128" y="132"/>
                  </a:cubicBezTo>
                  <a:cubicBezTo>
                    <a:pt x="72" y="20"/>
                    <a:pt x="72" y="20"/>
                    <a:pt x="72" y="20"/>
                  </a:cubicBezTo>
                  <a:lnTo>
                    <a:pt x="16" y="132"/>
                  </a:ln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2" name="Freeform 155">
              <a:extLst>
                <a:ext uri="{FF2B5EF4-FFF2-40B4-BE49-F238E27FC236}">
                  <a16:creationId xmlns:a16="http://schemas.microsoft.com/office/drawing/2014/main" id="{2A185247-B065-C2DE-337B-569EA05FC98F}"/>
                </a:ext>
              </a:extLst>
            </p:cNvPr>
            <p:cNvSpPr>
              <a:spLocks noGrp="1" noRot="1" noMove="1" noResize="1" noEditPoints="1" noAdjustHandles="1" noChangeArrowheads="1" noChangeShapeType="1"/>
            </p:cNvSpPr>
            <p:nvPr/>
          </p:nvSpPr>
          <p:spPr bwMode="auto">
            <a:xfrm>
              <a:off x="1680" y="3289"/>
              <a:ext cx="18" cy="71"/>
            </a:xfrm>
            <a:custGeom>
              <a:avLst/>
              <a:gdLst>
                <a:gd name="T0" fmla="*/ 6 w 12"/>
                <a:gd name="T1" fmla="*/ 48 h 48"/>
                <a:gd name="T2" fmla="*/ 0 w 12"/>
                <a:gd name="T3" fmla="*/ 42 h 48"/>
                <a:gd name="T4" fmla="*/ 0 w 12"/>
                <a:gd name="T5" fmla="*/ 6 h 48"/>
                <a:gd name="T6" fmla="*/ 6 w 12"/>
                <a:gd name="T7" fmla="*/ 0 h 48"/>
                <a:gd name="T8" fmla="*/ 12 w 12"/>
                <a:gd name="T9" fmla="*/ 6 h 48"/>
                <a:gd name="T10" fmla="*/ 12 w 12"/>
                <a:gd name="T11" fmla="*/ 42 h 48"/>
                <a:gd name="T12" fmla="*/ 6 w 12"/>
                <a:gd name="T13" fmla="*/ 48 h 48"/>
              </a:gdLst>
              <a:ahLst/>
              <a:cxnLst>
                <a:cxn ang="0">
                  <a:pos x="T0" y="T1"/>
                </a:cxn>
                <a:cxn ang="0">
                  <a:pos x="T2" y="T3"/>
                </a:cxn>
                <a:cxn ang="0">
                  <a:pos x="T4" y="T5"/>
                </a:cxn>
                <a:cxn ang="0">
                  <a:pos x="T6" y="T7"/>
                </a:cxn>
                <a:cxn ang="0">
                  <a:pos x="T8" y="T9"/>
                </a:cxn>
                <a:cxn ang="0">
                  <a:pos x="T10" y="T11"/>
                </a:cxn>
                <a:cxn ang="0">
                  <a:pos x="T12" y="T13"/>
                </a:cxn>
              </a:cxnLst>
              <a:rect l="0" t="0" r="r" b="b"/>
              <a:pathLst>
                <a:path w="12" h="48">
                  <a:moveTo>
                    <a:pt x="6" y="48"/>
                  </a:moveTo>
                  <a:cubicBezTo>
                    <a:pt x="3" y="48"/>
                    <a:pt x="0" y="46"/>
                    <a:pt x="0" y="42"/>
                  </a:cubicBezTo>
                  <a:cubicBezTo>
                    <a:pt x="0" y="6"/>
                    <a:pt x="0" y="6"/>
                    <a:pt x="0" y="6"/>
                  </a:cubicBezTo>
                  <a:cubicBezTo>
                    <a:pt x="0" y="3"/>
                    <a:pt x="3" y="0"/>
                    <a:pt x="6" y="0"/>
                  </a:cubicBezTo>
                  <a:cubicBezTo>
                    <a:pt x="9" y="0"/>
                    <a:pt x="12" y="3"/>
                    <a:pt x="12" y="6"/>
                  </a:cubicBezTo>
                  <a:cubicBezTo>
                    <a:pt x="12" y="42"/>
                    <a:pt x="12" y="42"/>
                    <a:pt x="12" y="42"/>
                  </a:cubicBezTo>
                  <a:cubicBezTo>
                    <a:pt x="12" y="46"/>
                    <a:pt x="9" y="48"/>
                    <a:pt x="6" y="4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3" name="Oval 156">
              <a:extLst>
                <a:ext uri="{FF2B5EF4-FFF2-40B4-BE49-F238E27FC236}">
                  <a16:creationId xmlns:a16="http://schemas.microsoft.com/office/drawing/2014/main" id="{5FE6CE18-0BF1-838F-7004-63BCCBC7F2B9}"/>
                </a:ext>
              </a:extLst>
            </p:cNvPr>
            <p:cNvSpPr>
              <a:spLocks noGrp="1" noRot="1" noMove="1" noResize="1" noEditPoints="1" noAdjustHandles="1" noChangeArrowheads="1" noChangeShapeType="1"/>
            </p:cNvSpPr>
            <p:nvPr/>
          </p:nvSpPr>
          <p:spPr bwMode="auto">
            <a:xfrm>
              <a:off x="1680" y="3369"/>
              <a:ext cx="18" cy="18"/>
            </a:xfrm>
            <a:prstGeom prst="ellipse">
              <a:avLst/>
            </a:pr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grpSp>
      <p:pic>
        <p:nvPicPr>
          <p:cNvPr id="65" name="Graphic 64" descr="Internet with solid fill">
            <a:extLst>
              <a:ext uri="{FF2B5EF4-FFF2-40B4-BE49-F238E27FC236}">
                <a16:creationId xmlns:a16="http://schemas.microsoft.com/office/drawing/2014/main" id="{98122695-8B8E-AD17-EF38-87B3AAB1640F}"/>
              </a:ext>
            </a:extLst>
          </p:cNvPr>
          <p:cNvPicPr>
            <a:picLocks noGrp="1" noRot="1" noChangeAspect="1" noMove="1" noResize="1" noEditPoints="1" noAdjustHandles="1" noChangeArrowheads="1" noChangeShapeType="1" noCrop="1"/>
          </p:cNvPicPr>
          <p:nvPr userDrawn="1"/>
        </p:nvPicPr>
        <p:blipFill>
          <a:blip r:embed="rId3">
            <a:extLst>
              <a:ext uri="{96DAC541-7B7A-43D3-8B79-37D633B846F1}">
                <asvg:svgBlip xmlns:asvg="http://schemas.microsoft.com/office/drawing/2016/SVG/main" r:embed="rId4"/>
              </a:ext>
            </a:extLst>
          </a:blip>
          <a:stretch>
            <a:fillRect/>
          </a:stretch>
        </p:blipFill>
        <p:spPr>
          <a:xfrm>
            <a:off x="8700172" y="3410870"/>
            <a:ext cx="332880" cy="332880"/>
          </a:xfrm>
          <a:prstGeom prst="rect">
            <a:avLst/>
          </a:prstGeom>
        </p:spPr>
      </p:pic>
      <p:grpSp>
        <p:nvGrpSpPr>
          <p:cNvPr id="66" name="Group 29">
            <a:extLst>
              <a:ext uri="{FF2B5EF4-FFF2-40B4-BE49-F238E27FC236}">
                <a16:creationId xmlns:a16="http://schemas.microsoft.com/office/drawing/2014/main" id="{0598E637-0E6F-3E8F-511F-A0001E17C7EA}"/>
              </a:ext>
            </a:extLst>
          </p:cNvPr>
          <p:cNvGrpSpPr>
            <a:grpSpLocks noGrp="1" noUngrp="1" noRot="1" noChangeAspect="1" noMove="1" noResize="1"/>
          </p:cNvGrpSpPr>
          <p:nvPr userDrawn="1"/>
        </p:nvGrpSpPr>
        <p:grpSpPr bwMode="auto">
          <a:xfrm>
            <a:off x="8706110" y="3766155"/>
            <a:ext cx="263527" cy="262909"/>
            <a:chOff x="3625" y="600"/>
            <a:chExt cx="427" cy="426"/>
          </a:xfrm>
          <a:solidFill>
            <a:schemeClr val="bg1"/>
          </a:solidFill>
        </p:grpSpPr>
        <p:sp>
          <p:nvSpPr>
            <p:cNvPr id="67" name="Freeform 30">
              <a:extLst>
                <a:ext uri="{FF2B5EF4-FFF2-40B4-BE49-F238E27FC236}">
                  <a16:creationId xmlns:a16="http://schemas.microsoft.com/office/drawing/2014/main" id="{131E08DA-90D1-CD78-65D6-F460A929B71B}"/>
                </a:ext>
              </a:extLst>
            </p:cNvPr>
            <p:cNvSpPr>
              <a:spLocks noGrp="1" noRot="1" noMove="1" noResize="1" noEditPoints="1" noAdjustHandles="1" noChangeArrowheads="1" noChangeShapeType="1"/>
            </p:cNvSpPr>
            <p:nvPr/>
          </p:nvSpPr>
          <p:spPr bwMode="auto">
            <a:xfrm>
              <a:off x="3625" y="600"/>
              <a:ext cx="427" cy="426"/>
            </a:xfrm>
            <a:custGeom>
              <a:avLst/>
              <a:gdLst>
                <a:gd name="T0" fmla="*/ 144 w 288"/>
                <a:gd name="T1" fmla="*/ 288 h 288"/>
                <a:gd name="T2" fmla="*/ 0 w 288"/>
                <a:gd name="T3" fmla="*/ 144 h 288"/>
                <a:gd name="T4" fmla="*/ 144 w 288"/>
                <a:gd name="T5" fmla="*/ 0 h 288"/>
                <a:gd name="T6" fmla="*/ 288 w 288"/>
                <a:gd name="T7" fmla="*/ 144 h 288"/>
                <a:gd name="T8" fmla="*/ 282 w 288"/>
                <a:gd name="T9" fmla="*/ 150 h 288"/>
                <a:gd name="T10" fmla="*/ 276 w 288"/>
                <a:gd name="T11" fmla="*/ 144 h 288"/>
                <a:gd name="T12" fmla="*/ 144 w 288"/>
                <a:gd name="T13" fmla="*/ 12 h 288"/>
                <a:gd name="T14" fmla="*/ 12 w 288"/>
                <a:gd name="T15" fmla="*/ 144 h 288"/>
                <a:gd name="T16" fmla="*/ 144 w 288"/>
                <a:gd name="T17" fmla="*/ 276 h 288"/>
                <a:gd name="T18" fmla="*/ 150 w 288"/>
                <a:gd name="T19" fmla="*/ 282 h 288"/>
                <a:gd name="T20" fmla="*/ 144 w 288"/>
                <a:gd name="T21" fmla="*/ 28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8" h="288">
                  <a:moveTo>
                    <a:pt x="144" y="288"/>
                  </a:moveTo>
                  <a:cubicBezTo>
                    <a:pt x="64" y="288"/>
                    <a:pt x="0" y="224"/>
                    <a:pt x="0" y="144"/>
                  </a:cubicBezTo>
                  <a:cubicBezTo>
                    <a:pt x="0" y="65"/>
                    <a:pt x="64" y="0"/>
                    <a:pt x="144" y="0"/>
                  </a:cubicBezTo>
                  <a:cubicBezTo>
                    <a:pt x="223" y="0"/>
                    <a:pt x="288" y="65"/>
                    <a:pt x="288" y="144"/>
                  </a:cubicBezTo>
                  <a:cubicBezTo>
                    <a:pt x="288" y="148"/>
                    <a:pt x="285" y="150"/>
                    <a:pt x="282" y="150"/>
                  </a:cubicBezTo>
                  <a:cubicBezTo>
                    <a:pt x="279" y="150"/>
                    <a:pt x="276" y="148"/>
                    <a:pt x="276" y="144"/>
                  </a:cubicBezTo>
                  <a:cubicBezTo>
                    <a:pt x="276" y="71"/>
                    <a:pt x="217" y="12"/>
                    <a:pt x="144" y="12"/>
                  </a:cubicBezTo>
                  <a:cubicBezTo>
                    <a:pt x="71" y="12"/>
                    <a:pt x="12" y="71"/>
                    <a:pt x="12" y="144"/>
                  </a:cubicBezTo>
                  <a:cubicBezTo>
                    <a:pt x="12" y="217"/>
                    <a:pt x="71" y="276"/>
                    <a:pt x="144" y="276"/>
                  </a:cubicBezTo>
                  <a:cubicBezTo>
                    <a:pt x="147" y="276"/>
                    <a:pt x="150" y="279"/>
                    <a:pt x="150" y="282"/>
                  </a:cubicBezTo>
                  <a:cubicBezTo>
                    <a:pt x="150" y="286"/>
                    <a:pt x="147" y="288"/>
                    <a:pt x="144" y="28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68" name="Freeform 31">
              <a:extLst>
                <a:ext uri="{FF2B5EF4-FFF2-40B4-BE49-F238E27FC236}">
                  <a16:creationId xmlns:a16="http://schemas.microsoft.com/office/drawing/2014/main" id="{1FBCA1D2-3A5E-1ED2-F95E-9371BE5DAE0D}"/>
                </a:ext>
              </a:extLst>
            </p:cNvPr>
            <p:cNvSpPr>
              <a:spLocks noGrp="1" noRot="1" noMove="1" noResize="1" noEditPoints="1" noAdjustHandles="1" noChangeArrowheads="1" noChangeShapeType="1"/>
            </p:cNvSpPr>
            <p:nvPr/>
          </p:nvSpPr>
          <p:spPr bwMode="auto">
            <a:xfrm>
              <a:off x="3821" y="795"/>
              <a:ext cx="231" cy="231"/>
            </a:xfrm>
            <a:custGeom>
              <a:avLst/>
              <a:gdLst>
                <a:gd name="T0" fmla="*/ 78 w 156"/>
                <a:gd name="T1" fmla="*/ 156 h 156"/>
                <a:gd name="T2" fmla="*/ 0 w 156"/>
                <a:gd name="T3" fmla="*/ 78 h 156"/>
                <a:gd name="T4" fmla="*/ 78 w 156"/>
                <a:gd name="T5" fmla="*/ 0 h 156"/>
                <a:gd name="T6" fmla="*/ 156 w 156"/>
                <a:gd name="T7" fmla="*/ 78 h 156"/>
                <a:gd name="T8" fmla="*/ 78 w 156"/>
                <a:gd name="T9" fmla="*/ 156 h 156"/>
                <a:gd name="T10" fmla="*/ 78 w 156"/>
                <a:gd name="T11" fmla="*/ 12 h 156"/>
                <a:gd name="T12" fmla="*/ 12 w 156"/>
                <a:gd name="T13" fmla="*/ 78 h 156"/>
                <a:gd name="T14" fmla="*/ 78 w 156"/>
                <a:gd name="T15" fmla="*/ 144 h 156"/>
                <a:gd name="T16" fmla="*/ 144 w 156"/>
                <a:gd name="T17" fmla="*/ 78 h 156"/>
                <a:gd name="T18" fmla="*/ 78 w 156"/>
                <a:gd name="T19" fmla="*/ 1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6" h="156">
                  <a:moveTo>
                    <a:pt x="78" y="156"/>
                  </a:moveTo>
                  <a:cubicBezTo>
                    <a:pt x="35" y="156"/>
                    <a:pt x="0" y="121"/>
                    <a:pt x="0" y="78"/>
                  </a:cubicBezTo>
                  <a:cubicBezTo>
                    <a:pt x="0" y="35"/>
                    <a:pt x="35" y="0"/>
                    <a:pt x="78" y="0"/>
                  </a:cubicBezTo>
                  <a:cubicBezTo>
                    <a:pt x="121" y="0"/>
                    <a:pt x="156" y="35"/>
                    <a:pt x="156" y="78"/>
                  </a:cubicBezTo>
                  <a:cubicBezTo>
                    <a:pt x="156" y="121"/>
                    <a:pt x="121" y="156"/>
                    <a:pt x="78" y="156"/>
                  </a:cubicBezTo>
                  <a:close/>
                  <a:moveTo>
                    <a:pt x="78" y="12"/>
                  </a:moveTo>
                  <a:cubicBezTo>
                    <a:pt x="41" y="12"/>
                    <a:pt x="12" y="42"/>
                    <a:pt x="12" y="78"/>
                  </a:cubicBezTo>
                  <a:cubicBezTo>
                    <a:pt x="12" y="115"/>
                    <a:pt x="41" y="144"/>
                    <a:pt x="78" y="144"/>
                  </a:cubicBezTo>
                  <a:cubicBezTo>
                    <a:pt x="114" y="144"/>
                    <a:pt x="144" y="115"/>
                    <a:pt x="144" y="78"/>
                  </a:cubicBezTo>
                  <a:cubicBezTo>
                    <a:pt x="144" y="42"/>
                    <a:pt x="114" y="12"/>
                    <a:pt x="78"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69" name="Freeform 32">
              <a:extLst>
                <a:ext uri="{FF2B5EF4-FFF2-40B4-BE49-F238E27FC236}">
                  <a16:creationId xmlns:a16="http://schemas.microsoft.com/office/drawing/2014/main" id="{5BB3C397-8DC9-4C89-29D6-001647A75050}"/>
                </a:ext>
              </a:extLst>
            </p:cNvPr>
            <p:cNvSpPr>
              <a:spLocks noGrp="1" noRot="1" noMove="1" noResize="1" noEditPoints="1" noAdjustHandles="1" noChangeArrowheads="1" noChangeShapeType="1"/>
            </p:cNvSpPr>
            <p:nvPr/>
          </p:nvSpPr>
          <p:spPr bwMode="auto">
            <a:xfrm>
              <a:off x="3902" y="851"/>
              <a:ext cx="68" cy="117"/>
            </a:xfrm>
            <a:custGeom>
              <a:avLst/>
              <a:gdLst>
                <a:gd name="T0" fmla="*/ 23 w 46"/>
                <a:gd name="T1" fmla="*/ 79 h 79"/>
                <a:gd name="T2" fmla="*/ 0 w 46"/>
                <a:gd name="T3" fmla="*/ 56 h 79"/>
                <a:gd name="T4" fmla="*/ 6 w 46"/>
                <a:gd name="T5" fmla="*/ 50 h 79"/>
                <a:gd name="T6" fmla="*/ 12 w 46"/>
                <a:gd name="T7" fmla="*/ 56 h 79"/>
                <a:gd name="T8" fmla="*/ 23 w 46"/>
                <a:gd name="T9" fmla="*/ 67 h 79"/>
                <a:gd name="T10" fmla="*/ 34 w 46"/>
                <a:gd name="T11" fmla="*/ 56 h 79"/>
                <a:gd name="T12" fmla="*/ 23 w 46"/>
                <a:gd name="T13" fmla="*/ 45 h 79"/>
                <a:gd name="T14" fmla="*/ 0 w 46"/>
                <a:gd name="T15" fmla="*/ 23 h 79"/>
                <a:gd name="T16" fmla="*/ 23 w 46"/>
                <a:gd name="T17" fmla="*/ 0 h 79"/>
                <a:gd name="T18" fmla="*/ 46 w 46"/>
                <a:gd name="T19" fmla="*/ 23 h 79"/>
                <a:gd name="T20" fmla="*/ 40 w 46"/>
                <a:gd name="T21" fmla="*/ 29 h 79"/>
                <a:gd name="T22" fmla="*/ 34 w 46"/>
                <a:gd name="T23" fmla="*/ 23 h 79"/>
                <a:gd name="T24" fmla="*/ 23 w 46"/>
                <a:gd name="T25" fmla="*/ 12 h 79"/>
                <a:gd name="T26" fmla="*/ 12 w 46"/>
                <a:gd name="T27" fmla="*/ 23 h 79"/>
                <a:gd name="T28" fmla="*/ 23 w 46"/>
                <a:gd name="T29" fmla="*/ 33 h 79"/>
                <a:gd name="T30" fmla="*/ 46 w 46"/>
                <a:gd name="T31" fmla="*/ 56 h 79"/>
                <a:gd name="T32" fmla="*/ 23 w 46"/>
                <a:gd name="T33" fmla="*/ 79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79">
                  <a:moveTo>
                    <a:pt x="23" y="79"/>
                  </a:moveTo>
                  <a:cubicBezTo>
                    <a:pt x="10" y="79"/>
                    <a:pt x="0" y="69"/>
                    <a:pt x="0" y="56"/>
                  </a:cubicBezTo>
                  <a:cubicBezTo>
                    <a:pt x="0" y="53"/>
                    <a:pt x="3" y="50"/>
                    <a:pt x="6" y="50"/>
                  </a:cubicBezTo>
                  <a:cubicBezTo>
                    <a:pt x="9" y="50"/>
                    <a:pt x="12" y="53"/>
                    <a:pt x="12" y="56"/>
                  </a:cubicBezTo>
                  <a:cubicBezTo>
                    <a:pt x="12" y="62"/>
                    <a:pt x="17" y="67"/>
                    <a:pt x="23" y="67"/>
                  </a:cubicBezTo>
                  <a:cubicBezTo>
                    <a:pt x="29" y="67"/>
                    <a:pt x="34" y="62"/>
                    <a:pt x="34" y="56"/>
                  </a:cubicBezTo>
                  <a:cubicBezTo>
                    <a:pt x="34" y="50"/>
                    <a:pt x="29" y="45"/>
                    <a:pt x="23" y="45"/>
                  </a:cubicBezTo>
                  <a:cubicBezTo>
                    <a:pt x="10" y="45"/>
                    <a:pt x="0" y="35"/>
                    <a:pt x="0" y="23"/>
                  </a:cubicBezTo>
                  <a:cubicBezTo>
                    <a:pt x="0" y="10"/>
                    <a:pt x="10" y="0"/>
                    <a:pt x="23" y="0"/>
                  </a:cubicBezTo>
                  <a:cubicBezTo>
                    <a:pt x="35" y="0"/>
                    <a:pt x="46" y="10"/>
                    <a:pt x="46" y="23"/>
                  </a:cubicBezTo>
                  <a:cubicBezTo>
                    <a:pt x="46" y="26"/>
                    <a:pt x="43" y="29"/>
                    <a:pt x="40" y="29"/>
                  </a:cubicBezTo>
                  <a:cubicBezTo>
                    <a:pt x="36" y="29"/>
                    <a:pt x="34" y="26"/>
                    <a:pt x="34" y="23"/>
                  </a:cubicBezTo>
                  <a:cubicBezTo>
                    <a:pt x="34" y="17"/>
                    <a:pt x="29" y="12"/>
                    <a:pt x="23" y="12"/>
                  </a:cubicBezTo>
                  <a:cubicBezTo>
                    <a:pt x="17" y="12"/>
                    <a:pt x="12" y="17"/>
                    <a:pt x="12" y="23"/>
                  </a:cubicBezTo>
                  <a:cubicBezTo>
                    <a:pt x="12" y="29"/>
                    <a:pt x="17" y="33"/>
                    <a:pt x="23" y="33"/>
                  </a:cubicBezTo>
                  <a:cubicBezTo>
                    <a:pt x="35" y="33"/>
                    <a:pt x="46" y="44"/>
                    <a:pt x="46" y="56"/>
                  </a:cubicBezTo>
                  <a:cubicBezTo>
                    <a:pt x="46" y="69"/>
                    <a:pt x="35" y="79"/>
                    <a:pt x="23" y="79"/>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0" name="Freeform 33">
              <a:extLst>
                <a:ext uri="{FF2B5EF4-FFF2-40B4-BE49-F238E27FC236}">
                  <a16:creationId xmlns:a16="http://schemas.microsoft.com/office/drawing/2014/main" id="{98E014B9-30DD-4A02-BA76-622868153D63}"/>
                </a:ext>
              </a:extLst>
            </p:cNvPr>
            <p:cNvSpPr>
              <a:spLocks noGrp="1" noRot="1" noMove="1" noResize="1" noEditPoints="1" noAdjustHandles="1" noChangeArrowheads="1" noChangeShapeType="1"/>
            </p:cNvSpPr>
            <p:nvPr/>
          </p:nvSpPr>
          <p:spPr bwMode="auto">
            <a:xfrm>
              <a:off x="3927" y="951"/>
              <a:ext cx="18" cy="34"/>
            </a:xfrm>
            <a:custGeom>
              <a:avLst/>
              <a:gdLst>
                <a:gd name="T0" fmla="*/ 6 w 12"/>
                <a:gd name="T1" fmla="*/ 23 h 23"/>
                <a:gd name="T2" fmla="*/ 0 w 12"/>
                <a:gd name="T3" fmla="*/ 17 h 23"/>
                <a:gd name="T4" fmla="*/ 0 w 12"/>
                <a:gd name="T5" fmla="*/ 6 h 23"/>
                <a:gd name="T6" fmla="*/ 6 w 12"/>
                <a:gd name="T7" fmla="*/ 0 h 23"/>
                <a:gd name="T8" fmla="*/ 12 w 12"/>
                <a:gd name="T9" fmla="*/ 6 h 23"/>
                <a:gd name="T10" fmla="*/ 12 w 12"/>
                <a:gd name="T11" fmla="*/ 17 h 23"/>
                <a:gd name="T12" fmla="*/ 6 w 12"/>
                <a:gd name="T13" fmla="*/ 23 h 23"/>
              </a:gdLst>
              <a:ahLst/>
              <a:cxnLst>
                <a:cxn ang="0">
                  <a:pos x="T0" y="T1"/>
                </a:cxn>
                <a:cxn ang="0">
                  <a:pos x="T2" y="T3"/>
                </a:cxn>
                <a:cxn ang="0">
                  <a:pos x="T4" y="T5"/>
                </a:cxn>
                <a:cxn ang="0">
                  <a:pos x="T6" y="T7"/>
                </a:cxn>
                <a:cxn ang="0">
                  <a:pos x="T8" y="T9"/>
                </a:cxn>
                <a:cxn ang="0">
                  <a:pos x="T10" y="T11"/>
                </a:cxn>
                <a:cxn ang="0">
                  <a:pos x="T12" y="T13"/>
                </a:cxn>
              </a:cxnLst>
              <a:rect l="0" t="0" r="r" b="b"/>
              <a:pathLst>
                <a:path w="12" h="23">
                  <a:moveTo>
                    <a:pt x="6" y="23"/>
                  </a:moveTo>
                  <a:cubicBezTo>
                    <a:pt x="3" y="23"/>
                    <a:pt x="0" y="20"/>
                    <a:pt x="0" y="17"/>
                  </a:cubicBezTo>
                  <a:cubicBezTo>
                    <a:pt x="0" y="6"/>
                    <a:pt x="0" y="6"/>
                    <a:pt x="0" y="6"/>
                  </a:cubicBezTo>
                  <a:cubicBezTo>
                    <a:pt x="0" y="2"/>
                    <a:pt x="3" y="0"/>
                    <a:pt x="6" y="0"/>
                  </a:cubicBezTo>
                  <a:cubicBezTo>
                    <a:pt x="9" y="0"/>
                    <a:pt x="12" y="2"/>
                    <a:pt x="12" y="6"/>
                  </a:cubicBezTo>
                  <a:cubicBezTo>
                    <a:pt x="12" y="17"/>
                    <a:pt x="12" y="17"/>
                    <a:pt x="12" y="17"/>
                  </a:cubicBezTo>
                  <a:cubicBezTo>
                    <a:pt x="12" y="20"/>
                    <a:pt x="9" y="23"/>
                    <a:pt x="6" y="23"/>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1" name="Freeform 34">
              <a:extLst>
                <a:ext uri="{FF2B5EF4-FFF2-40B4-BE49-F238E27FC236}">
                  <a16:creationId xmlns:a16="http://schemas.microsoft.com/office/drawing/2014/main" id="{F9B5E6C6-21CE-B802-1438-59FA3277ECDE}"/>
                </a:ext>
              </a:extLst>
            </p:cNvPr>
            <p:cNvSpPr>
              <a:spLocks noGrp="1" noRot="1" noMove="1" noResize="1" noEditPoints="1" noAdjustHandles="1" noChangeArrowheads="1" noChangeShapeType="1"/>
            </p:cNvSpPr>
            <p:nvPr/>
          </p:nvSpPr>
          <p:spPr bwMode="auto">
            <a:xfrm>
              <a:off x="3927" y="835"/>
              <a:ext cx="18" cy="34"/>
            </a:xfrm>
            <a:custGeom>
              <a:avLst/>
              <a:gdLst>
                <a:gd name="T0" fmla="*/ 6 w 12"/>
                <a:gd name="T1" fmla="*/ 23 h 23"/>
                <a:gd name="T2" fmla="*/ 0 w 12"/>
                <a:gd name="T3" fmla="*/ 17 h 23"/>
                <a:gd name="T4" fmla="*/ 0 w 12"/>
                <a:gd name="T5" fmla="*/ 6 h 23"/>
                <a:gd name="T6" fmla="*/ 6 w 12"/>
                <a:gd name="T7" fmla="*/ 0 h 23"/>
                <a:gd name="T8" fmla="*/ 12 w 12"/>
                <a:gd name="T9" fmla="*/ 6 h 23"/>
                <a:gd name="T10" fmla="*/ 12 w 12"/>
                <a:gd name="T11" fmla="*/ 17 h 23"/>
                <a:gd name="T12" fmla="*/ 6 w 12"/>
                <a:gd name="T13" fmla="*/ 23 h 23"/>
              </a:gdLst>
              <a:ahLst/>
              <a:cxnLst>
                <a:cxn ang="0">
                  <a:pos x="T0" y="T1"/>
                </a:cxn>
                <a:cxn ang="0">
                  <a:pos x="T2" y="T3"/>
                </a:cxn>
                <a:cxn ang="0">
                  <a:pos x="T4" y="T5"/>
                </a:cxn>
                <a:cxn ang="0">
                  <a:pos x="T6" y="T7"/>
                </a:cxn>
                <a:cxn ang="0">
                  <a:pos x="T8" y="T9"/>
                </a:cxn>
                <a:cxn ang="0">
                  <a:pos x="T10" y="T11"/>
                </a:cxn>
                <a:cxn ang="0">
                  <a:pos x="T12" y="T13"/>
                </a:cxn>
              </a:cxnLst>
              <a:rect l="0" t="0" r="r" b="b"/>
              <a:pathLst>
                <a:path w="12" h="23">
                  <a:moveTo>
                    <a:pt x="6" y="23"/>
                  </a:moveTo>
                  <a:cubicBezTo>
                    <a:pt x="3" y="23"/>
                    <a:pt x="0" y="20"/>
                    <a:pt x="0" y="17"/>
                  </a:cubicBezTo>
                  <a:cubicBezTo>
                    <a:pt x="0" y="6"/>
                    <a:pt x="0" y="6"/>
                    <a:pt x="0" y="6"/>
                  </a:cubicBezTo>
                  <a:cubicBezTo>
                    <a:pt x="0" y="3"/>
                    <a:pt x="3" y="0"/>
                    <a:pt x="6" y="0"/>
                  </a:cubicBezTo>
                  <a:cubicBezTo>
                    <a:pt x="9" y="0"/>
                    <a:pt x="12" y="3"/>
                    <a:pt x="12" y="6"/>
                  </a:cubicBezTo>
                  <a:cubicBezTo>
                    <a:pt x="12" y="17"/>
                    <a:pt x="12" y="17"/>
                    <a:pt x="12" y="17"/>
                  </a:cubicBezTo>
                  <a:cubicBezTo>
                    <a:pt x="12" y="20"/>
                    <a:pt x="9" y="23"/>
                    <a:pt x="6" y="23"/>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2" name="Freeform 35">
              <a:extLst>
                <a:ext uri="{FF2B5EF4-FFF2-40B4-BE49-F238E27FC236}">
                  <a16:creationId xmlns:a16="http://schemas.microsoft.com/office/drawing/2014/main" id="{E6A2991B-0DB3-557C-E21C-016019BB29BC}"/>
                </a:ext>
              </a:extLst>
            </p:cNvPr>
            <p:cNvSpPr>
              <a:spLocks noGrp="1" noRot="1" noMove="1" noResize="1" noEditPoints="1" noAdjustHandles="1" noChangeArrowheads="1" noChangeShapeType="1"/>
            </p:cNvSpPr>
            <p:nvPr/>
          </p:nvSpPr>
          <p:spPr bwMode="auto">
            <a:xfrm>
              <a:off x="3695" y="607"/>
              <a:ext cx="213" cy="313"/>
            </a:xfrm>
            <a:custGeom>
              <a:avLst/>
              <a:gdLst>
                <a:gd name="T0" fmla="*/ 67 w 144"/>
                <a:gd name="T1" fmla="*/ 211 h 211"/>
                <a:gd name="T2" fmla="*/ 61 w 144"/>
                <a:gd name="T3" fmla="*/ 205 h 211"/>
                <a:gd name="T4" fmla="*/ 61 w 144"/>
                <a:gd name="T5" fmla="*/ 178 h 211"/>
                <a:gd name="T6" fmla="*/ 3 w 144"/>
                <a:gd name="T7" fmla="*/ 132 h 211"/>
                <a:gd name="T8" fmla="*/ 2 w 144"/>
                <a:gd name="T9" fmla="*/ 124 h 211"/>
                <a:gd name="T10" fmla="*/ 29 w 144"/>
                <a:gd name="T11" fmla="*/ 82 h 211"/>
                <a:gd name="T12" fmla="*/ 34 w 144"/>
                <a:gd name="T13" fmla="*/ 79 h 211"/>
                <a:gd name="T14" fmla="*/ 97 w 144"/>
                <a:gd name="T15" fmla="*/ 79 h 211"/>
                <a:gd name="T16" fmla="*/ 97 w 144"/>
                <a:gd name="T17" fmla="*/ 52 h 211"/>
                <a:gd name="T18" fmla="*/ 82 w 144"/>
                <a:gd name="T19" fmla="*/ 42 h 211"/>
                <a:gd name="T20" fmla="*/ 79 w 144"/>
                <a:gd name="T21" fmla="*/ 37 h 211"/>
                <a:gd name="T22" fmla="*/ 82 w 144"/>
                <a:gd name="T23" fmla="*/ 32 h 211"/>
                <a:gd name="T24" fmla="*/ 134 w 144"/>
                <a:gd name="T25" fmla="*/ 2 h 211"/>
                <a:gd name="T26" fmla="*/ 142 w 144"/>
                <a:gd name="T27" fmla="*/ 4 h 211"/>
                <a:gd name="T28" fmla="*/ 140 w 144"/>
                <a:gd name="T29" fmla="*/ 12 h 211"/>
                <a:gd name="T30" fmla="*/ 96 w 144"/>
                <a:gd name="T31" fmla="*/ 38 h 211"/>
                <a:gd name="T32" fmla="*/ 106 w 144"/>
                <a:gd name="T33" fmla="*/ 44 h 211"/>
                <a:gd name="T34" fmla="*/ 109 w 144"/>
                <a:gd name="T35" fmla="*/ 49 h 211"/>
                <a:gd name="T36" fmla="*/ 109 w 144"/>
                <a:gd name="T37" fmla="*/ 85 h 211"/>
                <a:gd name="T38" fmla="*/ 103 w 144"/>
                <a:gd name="T39" fmla="*/ 91 h 211"/>
                <a:gd name="T40" fmla="*/ 37 w 144"/>
                <a:gd name="T41" fmla="*/ 91 h 211"/>
                <a:gd name="T42" fmla="*/ 15 w 144"/>
                <a:gd name="T43" fmla="*/ 126 h 211"/>
                <a:gd name="T44" fmla="*/ 71 w 144"/>
                <a:gd name="T45" fmla="*/ 171 h 211"/>
                <a:gd name="T46" fmla="*/ 73 w 144"/>
                <a:gd name="T47" fmla="*/ 175 h 211"/>
                <a:gd name="T48" fmla="*/ 73 w 144"/>
                <a:gd name="T49" fmla="*/ 205 h 211"/>
                <a:gd name="T50" fmla="*/ 67 w 144"/>
                <a:gd name="T51" fmla="*/ 211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4" h="211">
                  <a:moveTo>
                    <a:pt x="67" y="211"/>
                  </a:moveTo>
                  <a:cubicBezTo>
                    <a:pt x="64" y="211"/>
                    <a:pt x="61" y="209"/>
                    <a:pt x="61" y="205"/>
                  </a:cubicBezTo>
                  <a:cubicBezTo>
                    <a:pt x="61" y="178"/>
                    <a:pt x="61" y="178"/>
                    <a:pt x="61" y="178"/>
                  </a:cubicBezTo>
                  <a:cubicBezTo>
                    <a:pt x="3" y="132"/>
                    <a:pt x="3" y="132"/>
                    <a:pt x="3" y="132"/>
                  </a:cubicBezTo>
                  <a:cubicBezTo>
                    <a:pt x="1" y="130"/>
                    <a:pt x="0" y="127"/>
                    <a:pt x="2" y="124"/>
                  </a:cubicBezTo>
                  <a:cubicBezTo>
                    <a:pt x="29" y="82"/>
                    <a:pt x="29" y="82"/>
                    <a:pt x="29" y="82"/>
                  </a:cubicBezTo>
                  <a:cubicBezTo>
                    <a:pt x="30" y="80"/>
                    <a:pt x="32" y="79"/>
                    <a:pt x="34" y="79"/>
                  </a:cubicBezTo>
                  <a:cubicBezTo>
                    <a:pt x="97" y="79"/>
                    <a:pt x="97" y="79"/>
                    <a:pt x="97" y="79"/>
                  </a:cubicBezTo>
                  <a:cubicBezTo>
                    <a:pt x="97" y="52"/>
                    <a:pt x="97" y="52"/>
                    <a:pt x="97" y="52"/>
                  </a:cubicBezTo>
                  <a:cubicBezTo>
                    <a:pt x="82" y="42"/>
                    <a:pt x="82" y="42"/>
                    <a:pt x="82" y="42"/>
                  </a:cubicBezTo>
                  <a:cubicBezTo>
                    <a:pt x="80" y="41"/>
                    <a:pt x="79" y="39"/>
                    <a:pt x="79" y="37"/>
                  </a:cubicBezTo>
                  <a:cubicBezTo>
                    <a:pt x="79" y="35"/>
                    <a:pt x="80" y="33"/>
                    <a:pt x="82" y="32"/>
                  </a:cubicBezTo>
                  <a:cubicBezTo>
                    <a:pt x="134" y="2"/>
                    <a:pt x="134" y="2"/>
                    <a:pt x="134" y="2"/>
                  </a:cubicBezTo>
                  <a:cubicBezTo>
                    <a:pt x="137" y="0"/>
                    <a:pt x="141" y="1"/>
                    <a:pt x="142" y="4"/>
                  </a:cubicBezTo>
                  <a:cubicBezTo>
                    <a:pt x="144" y="7"/>
                    <a:pt x="143" y="11"/>
                    <a:pt x="140" y="12"/>
                  </a:cubicBezTo>
                  <a:cubicBezTo>
                    <a:pt x="96" y="38"/>
                    <a:pt x="96" y="38"/>
                    <a:pt x="96" y="38"/>
                  </a:cubicBezTo>
                  <a:cubicBezTo>
                    <a:pt x="106" y="44"/>
                    <a:pt x="106" y="44"/>
                    <a:pt x="106" y="44"/>
                  </a:cubicBezTo>
                  <a:cubicBezTo>
                    <a:pt x="108" y="45"/>
                    <a:pt x="109" y="47"/>
                    <a:pt x="109" y="49"/>
                  </a:cubicBezTo>
                  <a:cubicBezTo>
                    <a:pt x="109" y="85"/>
                    <a:pt x="109" y="85"/>
                    <a:pt x="109" y="85"/>
                  </a:cubicBezTo>
                  <a:cubicBezTo>
                    <a:pt x="109" y="89"/>
                    <a:pt x="106" y="91"/>
                    <a:pt x="103" y="91"/>
                  </a:cubicBezTo>
                  <a:cubicBezTo>
                    <a:pt x="37" y="91"/>
                    <a:pt x="37" y="91"/>
                    <a:pt x="37" y="91"/>
                  </a:cubicBezTo>
                  <a:cubicBezTo>
                    <a:pt x="15" y="126"/>
                    <a:pt x="15" y="126"/>
                    <a:pt x="15" y="126"/>
                  </a:cubicBezTo>
                  <a:cubicBezTo>
                    <a:pt x="71" y="171"/>
                    <a:pt x="71" y="171"/>
                    <a:pt x="71" y="171"/>
                  </a:cubicBezTo>
                  <a:cubicBezTo>
                    <a:pt x="72" y="172"/>
                    <a:pt x="73" y="173"/>
                    <a:pt x="73" y="175"/>
                  </a:cubicBezTo>
                  <a:cubicBezTo>
                    <a:pt x="73" y="205"/>
                    <a:pt x="73" y="205"/>
                    <a:pt x="73" y="205"/>
                  </a:cubicBezTo>
                  <a:cubicBezTo>
                    <a:pt x="73" y="209"/>
                    <a:pt x="70" y="211"/>
                    <a:pt x="67" y="211"/>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3" name="Freeform 36">
              <a:extLst>
                <a:ext uri="{FF2B5EF4-FFF2-40B4-BE49-F238E27FC236}">
                  <a16:creationId xmlns:a16="http://schemas.microsoft.com/office/drawing/2014/main" id="{152CDA7D-3D68-3D0A-CBAA-429B459779CE}"/>
                </a:ext>
              </a:extLst>
            </p:cNvPr>
            <p:cNvSpPr>
              <a:spLocks noGrp="1" noRot="1" noMove="1" noResize="1" noEditPoints="1" noAdjustHandles="1" noChangeArrowheads="1" noChangeShapeType="1"/>
            </p:cNvSpPr>
            <p:nvPr/>
          </p:nvSpPr>
          <p:spPr bwMode="auto">
            <a:xfrm>
              <a:off x="3886" y="665"/>
              <a:ext cx="114" cy="108"/>
            </a:xfrm>
            <a:custGeom>
              <a:avLst/>
              <a:gdLst>
                <a:gd name="T0" fmla="*/ 7 w 77"/>
                <a:gd name="T1" fmla="*/ 73 h 73"/>
                <a:gd name="T2" fmla="*/ 3 w 77"/>
                <a:gd name="T3" fmla="*/ 71 h 73"/>
                <a:gd name="T4" fmla="*/ 3 w 77"/>
                <a:gd name="T5" fmla="*/ 63 h 73"/>
                <a:gd name="T6" fmla="*/ 24 w 77"/>
                <a:gd name="T7" fmla="*/ 42 h 73"/>
                <a:gd name="T8" fmla="*/ 28 w 77"/>
                <a:gd name="T9" fmla="*/ 40 h 73"/>
                <a:gd name="T10" fmla="*/ 45 w 77"/>
                <a:gd name="T11" fmla="*/ 40 h 73"/>
                <a:gd name="T12" fmla="*/ 65 w 77"/>
                <a:gd name="T13" fmla="*/ 4 h 73"/>
                <a:gd name="T14" fmla="*/ 73 w 77"/>
                <a:gd name="T15" fmla="*/ 2 h 73"/>
                <a:gd name="T16" fmla="*/ 75 w 77"/>
                <a:gd name="T17" fmla="*/ 10 h 73"/>
                <a:gd name="T18" fmla="*/ 54 w 77"/>
                <a:gd name="T19" fmla="*/ 49 h 73"/>
                <a:gd name="T20" fmla="*/ 49 w 77"/>
                <a:gd name="T21" fmla="*/ 52 h 73"/>
                <a:gd name="T22" fmla="*/ 30 w 77"/>
                <a:gd name="T23" fmla="*/ 52 h 73"/>
                <a:gd name="T24" fmla="*/ 11 w 77"/>
                <a:gd name="T25" fmla="*/ 71 h 73"/>
                <a:gd name="T26" fmla="*/ 7 w 77"/>
                <a:gd name="T27"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7" h="73">
                  <a:moveTo>
                    <a:pt x="7" y="73"/>
                  </a:moveTo>
                  <a:cubicBezTo>
                    <a:pt x="5" y="73"/>
                    <a:pt x="4" y="73"/>
                    <a:pt x="3" y="71"/>
                  </a:cubicBezTo>
                  <a:cubicBezTo>
                    <a:pt x="0" y="69"/>
                    <a:pt x="0" y="65"/>
                    <a:pt x="3" y="63"/>
                  </a:cubicBezTo>
                  <a:cubicBezTo>
                    <a:pt x="24" y="42"/>
                    <a:pt x="24" y="42"/>
                    <a:pt x="24" y="42"/>
                  </a:cubicBezTo>
                  <a:cubicBezTo>
                    <a:pt x="25" y="41"/>
                    <a:pt x="26" y="40"/>
                    <a:pt x="28" y="40"/>
                  </a:cubicBezTo>
                  <a:cubicBezTo>
                    <a:pt x="45" y="40"/>
                    <a:pt x="45" y="40"/>
                    <a:pt x="45" y="40"/>
                  </a:cubicBezTo>
                  <a:cubicBezTo>
                    <a:pt x="65" y="4"/>
                    <a:pt x="65" y="4"/>
                    <a:pt x="65" y="4"/>
                  </a:cubicBezTo>
                  <a:cubicBezTo>
                    <a:pt x="66" y="2"/>
                    <a:pt x="70" y="0"/>
                    <a:pt x="73" y="2"/>
                  </a:cubicBezTo>
                  <a:cubicBezTo>
                    <a:pt x="76" y="4"/>
                    <a:pt x="77" y="7"/>
                    <a:pt x="75" y="10"/>
                  </a:cubicBezTo>
                  <a:cubicBezTo>
                    <a:pt x="54" y="49"/>
                    <a:pt x="54" y="49"/>
                    <a:pt x="54" y="49"/>
                  </a:cubicBezTo>
                  <a:cubicBezTo>
                    <a:pt x="53" y="51"/>
                    <a:pt x="51" y="52"/>
                    <a:pt x="49" y="52"/>
                  </a:cubicBezTo>
                  <a:cubicBezTo>
                    <a:pt x="30" y="52"/>
                    <a:pt x="30" y="52"/>
                    <a:pt x="30" y="52"/>
                  </a:cubicBezTo>
                  <a:cubicBezTo>
                    <a:pt x="11" y="71"/>
                    <a:pt x="11" y="71"/>
                    <a:pt x="11" y="71"/>
                  </a:cubicBezTo>
                  <a:cubicBezTo>
                    <a:pt x="10" y="73"/>
                    <a:pt x="8" y="73"/>
                    <a:pt x="7" y="73"/>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grpSp>
      <p:pic>
        <p:nvPicPr>
          <p:cNvPr id="75" name="Graphic 74" descr="Warning outline">
            <a:extLst>
              <a:ext uri="{FF2B5EF4-FFF2-40B4-BE49-F238E27FC236}">
                <a16:creationId xmlns:a16="http://schemas.microsoft.com/office/drawing/2014/main" id="{2DE9D042-E8AF-77B2-685F-27B67E3AA9FA}"/>
              </a:ext>
            </a:extLst>
          </p:cNvPr>
          <p:cNvPicPr>
            <a:picLocks noGrp="1" noRot="1" noChangeAspect="1" noMove="1" noResize="1" noEditPoints="1" noAdjustHandles="1" noChangeArrowheads="1" noChangeShapeType="1" noCrop="1"/>
          </p:cNvPicPr>
          <p:nvPr userDrawn="1"/>
        </p:nvPicPr>
        <p:blipFill>
          <a:blip r:embed="rId5">
            <a:extLst>
              <a:ext uri="{96DAC541-7B7A-43D3-8B79-37D633B846F1}">
                <asvg:svgBlip xmlns:asvg="http://schemas.microsoft.com/office/drawing/2016/SVG/main" r:embed="rId6"/>
              </a:ext>
            </a:extLst>
          </a:blip>
          <a:stretch>
            <a:fillRect/>
          </a:stretch>
        </p:blipFill>
        <p:spPr>
          <a:xfrm>
            <a:off x="8719357" y="2450825"/>
            <a:ext cx="259001" cy="259001"/>
          </a:xfrm>
          <a:prstGeom prst="rect">
            <a:avLst/>
          </a:prstGeom>
        </p:spPr>
      </p:pic>
      <p:sp>
        <p:nvSpPr>
          <p:cNvPr id="76" name="Title 1">
            <a:extLst>
              <a:ext uri="{FF2B5EF4-FFF2-40B4-BE49-F238E27FC236}">
                <a16:creationId xmlns:a16="http://schemas.microsoft.com/office/drawing/2014/main" id="{CC8E3926-B814-07F3-EA99-88880B2D174E}"/>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Engagement Partners</a:t>
            </a:r>
            <a:endParaRPr lang="en-AE" dirty="0"/>
          </a:p>
        </p:txBody>
      </p:sp>
      <p:sp>
        <p:nvSpPr>
          <p:cNvPr id="77" name="TextBox 76">
            <a:extLst>
              <a:ext uri="{FF2B5EF4-FFF2-40B4-BE49-F238E27FC236}">
                <a16:creationId xmlns:a16="http://schemas.microsoft.com/office/drawing/2014/main" id="{5495B9DB-2223-7720-007E-FD13CCBBF622}"/>
              </a:ext>
            </a:extLst>
          </p:cNvPr>
          <p:cNvSpPr txBox="1">
            <a:spLocks noGrp="1" noRot="1" noMove="1" noResize="1" noEditPoints="1" noAdjustHandles="1" noChangeArrowheads="1" noChangeShapeType="1"/>
          </p:cNvSpPr>
          <p:nvPr userDrawn="1"/>
        </p:nvSpPr>
        <p:spPr>
          <a:xfrm>
            <a:off x="900602" y="1305404"/>
            <a:ext cx="7125067"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Client Excellence</a:t>
            </a:r>
          </a:p>
        </p:txBody>
      </p:sp>
    </p:spTree>
    <p:extLst>
      <p:ext uri="{BB962C8B-B14F-4D97-AF65-F5344CB8AC3E}">
        <p14:creationId xmlns:p14="http://schemas.microsoft.com/office/powerpoint/2010/main" val="416086244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p:cNvSpPr>
          <p:nvPr>
            <p:ph idx="1" hasCustomPrompt="1"/>
          </p:nvPr>
        </p:nvSpPr>
        <p:spPr>
          <a:xfrm>
            <a:off x="838200" y="4433853"/>
            <a:ext cx="7243012" cy="1743110"/>
          </a:xfrm>
        </p:spPr>
        <p:txBody>
          <a:bodyPr/>
          <a:lstStyle>
            <a:lvl1pPr>
              <a:defRPr sz="900"/>
            </a:lvl1pPr>
            <a:lvl2pPr>
              <a:defRPr sz="700"/>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5B1451D5-A6AB-0A43-AF31-BAE02F9C113D}"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dirty="0"/>
          </a:p>
        </p:txBody>
      </p:sp>
      <p:sp>
        <p:nvSpPr>
          <p:cNvPr id="2" name="TextBox 1">
            <a:extLst>
              <a:ext uri="{FF2B5EF4-FFF2-40B4-BE49-F238E27FC236}">
                <a16:creationId xmlns:a16="http://schemas.microsoft.com/office/drawing/2014/main" id="{F55DA05D-D465-9429-E2D5-9F4693C3B407}"/>
              </a:ext>
            </a:extLst>
          </p:cNvPr>
          <p:cNvSpPr txBox="1">
            <a:spLocks/>
          </p:cNvSpPr>
          <p:nvPr userDrawn="1"/>
        </p:nvSpPr>
        <p:spPr>
          <a:xfrm>
            <a:off x="8257296" y="1309784"/>
            <a:ext cx="2792995" cy="584775"/>
          </a:xfrm>
          <a:prstGeom prst="rect">
            <a:avLst/>
          </a:prstGeom>
          <a:noFill/>
        </p:spPr>
        <p:txBody>
          <a:bodyPr wrap="square">
            <a:spAutoFit/>
          </a:bodyPr>
          <a:lstStyle/>
          <a:p>
            <a:pPr algn="l"/>
            <a:r>
              <a:rPr lang="en-US" sz="1600" b="1" i="0" u="none" strike="noStrike" dirty="0">
                <a:solidFill>
                  <a:schemeClr val="bg1"/>
                </a:solidFill>
                <a:effectLst/>
                <a:latin typeface="Aptos ExtraBold" panose="020B0004020202020204" pitchFamily="34" charset="0"/>
              </a:rPr>
              <a:t>Transparent &amp; Value-Driven Pricing</a:t>
            </a:r>
          </a:p>
        </p:txBody>
      </p:sp>
      <p:sp>
        <p:nvSpPr>
          <p:cNvPr id="4" name="Title 1">
            <a:extLst>
              <a:ext uri="{FF2B5EF4-FFF2-40B4-BE49-F238E27FC236}">
                <a16:creationId xmlns:a16="http://schemas.microsoft.com/office/drawing/2014/main" id="{FAD61149-8229-E21A-EF18-7AECB3210A93}"/>
              </a:ext>
            </a:extLst>
          </p:cNvPr>
          <p:cNvSpPr txBox="1"/>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Commercial Proposal for Maximum Value</a:t>
            </a:r>
            <a:endParaRPr lang="en-AE" dirty="0"/>
          </a:p>
        </p:txBody>
      </p:sp>
      <p:sp>
        <p:nvSpPr>
          <p:cNvPr id="15" name="TextBox 14">
            <a:extLst>
              <a:ext uri="{FF2B5EF4-FFF2-40B4-BE49-F238E27FC236}">
                <a16:creationId xmlns:a16="http://schemas.microsoft.com/office/drawing/2014/main" id="{A341D621-5A78-0BF0-37D3-39C99484F389}"/>
              </a:ext>
            </a:extLst>
          </p:cNvPr>
          <p:cNvSpPr txBox="1"/>
          <p:nvPr userDrawn="1"/>
        </p:nvSpPr>
        <p:spPr>
          <a:xfrm>
            <a:off x="8257297" y="1956894"/>
            <a:ext cx="2792995" cy="4147289"/>
          </a:xfrm>
          <a:prstGeom prst="rect">
            <a:avLst/>
          </a:prstGeom>
          <a:noFill/>
        </p:spPr>
        <p:txBody>
          <a:bodyPr wrap="square">
            <a:spAutoFit/>
          </a:bodyPr>
          <a:lstStyle/>
          <a:p>
            <a:pPr marL="285750" indent="-285750" algn="just">
              <a:buFont typeface="Arial" panose="020B0604020202020204" pitchFamily="34" charset="0"/>
              <a:buChar char="•"/>
            </a:pPr>
            <a:r>
              <a:rPr lang="en-GB" sz="850" dirty="0">
                <a:solidFill>
                  <a:schemeClr val="bg1"/>
                </a:solidFill>
              </a:rPr>
              <a:t>Our fee structure is designed to reflect the level of responsibility, expertise, and time commitment required to successfully execute your mandate. We pride ourselves on offering competitive rates that align with the resource commitment and personalized service we provide. </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Our hands-on approach ensures that we contribute significantly to the effort needed for a successful outcome, allowing your team to focus on core business activities without operational interruptions.</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This proposal is based on our estimated time costs, calculated using our standard rates that account for the experience and seniority of the staff involved. </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We are committed to providing transparency and value, ensuring you understand the benefits of engaging Pnyx Hill as your service provider. </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Any additional fees will be communicated and agreed upon in advance, ensuring there are no surprises.</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By choosing us, you can be confident in receiving dedicated support that enables your front office to achieve commercial objectives while we handle the complexities of compliance and regulatory requirements.</a:t>
            </a:r>
          </a:p>
        </p:txBody>
      </p:sp>
    </p:spTree>
    <p:extLst>
      <p:ext uri="{BB962C8B-B14F-4D97-AF65-F5344CB8AC3E}">
        <p14:creationId xmlns:p14="http://schemas.microsoft.com/office/powerpoint/2010/main" val="226516402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pic>
        <p:nvPicPr>
          <p:cNvPr id="12290" name="Picture 2">
            <a:extLst>
              <a:ext uri="{FF2B5EF4-FFF2-40B4-BE49-F238E27FC236}">
                <a16:creationId xmlns:a16="http://schemas.microsoft.com/office/drawing/2014/main" id="{703BD479-8D0B-05E2-C295-FAC9DB1DE323}"/>
              </a:ext>
            </a:extLst>
          </p:cNvPr>
          <p:cNvPicPr>
            <a:picLocks noChangeAspect="1" noChangeArrowheads="1"/>
          </p:cNvPicPr>
          <p:nvPr userDrawn="1"/>
        </p:nvPicPr>
        <p:blipFill rotWithShape="1">
          <a:blip r:embed="rId2" cstate="print">
            <a:extLst>
              <a:ext uri="{28A0092B-C50C-407E-A947-70E740481C1C}">
                <a14:useLocalDpi xmlns:a14="http://schemas.microsoft.com/office/drawing/2010/main"/>
              </a:ext>
            </a:extLst>
          </a:blip>
          <a:srcRect/>
          <a:stretch/>
        </p:blipFill>
        <p:spPr bwMode="auto">
          <a:xfrm>
            <a:off x="0" y="0"/>
            <a:ext cx="452506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Date Placeholder 3">
            <a:extLst>
              <a:ext uri="{FF2B5EF4-FFF2-40B4-BE49-F238E27FC236}">
                <a16:creationId xmlns:a16="http://schemas.microsoft.com/office/drawing/2014/main" id="{0AD7841D-6EC2-B3D3-EFA3-53117598B1D9}"/>
              </a:ext>
            </a:extLst>
          </p:cNvPr>
          <p:cNvSpPr>
            <a:spLocks noGrp="1"/>
          </p:cNvSpPr>
          <p:nvPr>
            <p:ph type="dt" sz="half" idx="10"/>
          </p:nvPr>
        </p:nvSpPr>
        <p:spPr>
          <a:xfrm>
            <a:off x="2018488" y="6356350"/>
            <a:ext cx="1562912" cy="365125"/>
          </a:xfrm>
        </p:spPr>
        <p:txBody>
          <a:bodyPr/>
          <a:lstStyle>
            <a:lvl1pPr algn="r">
              <a:defRPr sz="1000"/>
            </a:lvl1pPr>
          </a:lstStyle>
          <a:p>
            <a:fld id="{6288F501-14FD-8647-8CE2-05776A932237}" type="datetime1">
              <a:rPr lang="en-US" smtClean="0"/>
              <a:t>11/19/2025</a:t>
            </a:fld>
            <a:endParaRPr lang="en-AE"/>
          </a:p>
        </p:txBody>
      </p:sp>
      <p:sp>
        <p:nvSpPr>
          <p:cNvPr id="6" name="Slide Number Placeholder 5">
            <a:extLst>
              <a:ext uri="{FF2B5EF4-FFF2-40B4-BE49-F238E27FC236}">
                <a16:creationId xmlns:a16="http://schemas.microsoft.com/office/drawing/2014/main" id="{230CE271-72F2-688B-3011-83FB7EA0EF45}"/>
              </a:ext>
            </a:extLst>
          </p:cNvPr>
          <p:cNvSpPr>
            <a:spLocks noGrp="1" noRot="1" noMove="1" noResize="1" noEditPoints="1" noAdjustHandles="1" noChangeArrowheads="1" noChangeShapeType="1"/>
          </p:cNvSpPr>
          <p:nvPr>
            <p:ph type="sldNum" sz="quarter" idx="12"/>
          </p:nvPr>
        </p:nvSpPr>
        <p:spPr/>
        <p:txBody>
          <a:bodyPr/>
          <a:lstStyle>
            <a:lvl1pPr>
              <a:defRPr sz="1000"/>
            </a:lvl1pPr>
          </a:lstStyle>
          <a:p>
            <a:fld id="{FEBB2247-6CF9-174D-B1BD-16046E6DC6C6}" type="slidenum">
              <a:rPr lang="en-AE" smtClean="0"/>
              <a:pPr/>
              <a:t>‹#›</a:t>
            </a:fld>
            <a:endParaRPr lang="en-AE"/>
          </a:p>
        </p:txBody>
      </p:sp>
      <p:pic>
        <p:nvPicPr>
          <p:cNvPr id="8" name="Picture 7">
            <a:extLst>
              <a:ext uri="{FF2B5EF4-FFF2-40B4-BE49-F238E27FC236}">
                <a16:creationId xmlns:a16="http://schemas.microsoft.com/office/drawing/2014/main" id="{7C7FE1E5-CA74-1AC3-3235-3992D640428E}"/>
              </a:ext>
            </a:extLst>
          </p:cNvPr>
          <p:cNvPicPr>
            <a:picLocks noGrp="1" noRot="1" noChangeAspec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6811246" y="686060"/>
            <a:ext cx="3127484" cy="967495"/>
          </a:xfrm>
          <a:prstGeom prst="rect">
            <a:avLst/>
          </a:prstGeom>
        </p:spPr>
      </p:pic>
      <p:pic>
        <p:nvPicPr>
          <p:cNvPr id="10" name="Picture 2">
            <a:extLst>
              <a:ext uri="{FF2B5EF4-FFF2-40B4-BE49-F238E27FC236}">
                <a16:creationId xmlns:a16="http://schemas.microsoft.com/office/drawing/2014/main" id="{BAE3F37B-EE43-82B0-5586-5199F8C0DFAC}"/>
              </a:ext>
            </a:extLst>
          </p:cNvPr>
          <p:cNvPicPr>
            <a:picLocks noGrp="1" noRot="1" noChangeAspect="1" noMove="1" noResize="1" noEditPoints="1" noAdjustHandles="1" noChangeArrowheads="1" noChangeShapeType="1" noCrop="1"/>
          </p:cNvPicPr>
          <p:nvPr userDrawn="1"/>
        </p:nvPicPr>
        <p:blipFill>
          <a:blip r:embed="rId4" cstate="print">
            <a:extLst>
              <a:ext uri="{28A0092B-C50C-407E-A947-70E740481C1C}">
                <a14:useLocalDpi xmlns:a14="http://schemas.microsoft.com/office/drawing/2010/main"/>
              </a:ext>
            </a:extLst>
          </a:blip>
          <a:srcRect/>
          <a:stretch/>
        </p:blipFill>
        <p:spPr bwMode="auto">
          <a:xfrm>
            <a:off x="5986197" y="5811316"/>
            <a:ext cx="559183" cy="300894"/>
          </a:xfrm>
          <a:prstGeom prst="rect">
            <a:avLst/>
          </a:prstGeom>
          <a:noFill/>
          <a:extLst>
            <a:ext uri="{909E8E84-426E-40DD-AFC4-6F175D3DCCD1}">
              <a14:hiddenFill xmlns:a14="http://schemas.microsoft.com/office/drawing/2010/main">
                <a:solidFill>
                  <a:srgbClr val="FFFFFF"/>
                </a:solidFill>
              </a14:hiddenFill>
            </a:ext>
          </a:extLst>
        </p:spPr>
      </p:pic>
      <p:sp>
        <p:nvSpPr>
          <p:cNvPr id="19" name="Subtitle 2">
            <a:extLst>
              <a:ext uri="{FF2B5EF4-FFF2-40B4-BE49-F238E27FC236}">
                <a16:creationId xmlns:a16="http://schemas.microsoft.com/office/drawing/2014/main" id="{470A0FF0-4B19-ECEE-B126-8CD833B78BD0}"/>
              </a:ext>
            </a:extLst>
          </p:cNvPr>
          <p:cNvSpPr txBox="1">
            <a:spLocks noGrp="1" noRot="1" noMove="1" noResize="1" noEditPoints="1" noAdjustHandles="1" noChangeArrowheads="1" noChangeShapeType="1"/>
          </p:cNvSpPr>
          <p:nvPr userDrawn="1"/>
        </p:nvSpPr>
        <p:spPr>
          <a:xfrm>
            <a:off x="8011884" y="5497022"/>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900" b="1" i="0" dirty="0">
                <a:solidFill>
                  <a:srgbClr val="0B2339"/>
                </a:solidFill>
                <a:latin typeface="Aptos Light" panose="020B0004020202020204" pitchFamily="34" charset="0"/>
              </a:rPr>
              <a:t>Offices in</a:t>
            </a:r>
            <a:endParaRPr lang="en-AE" sz="900" b="1" i="0" dirty="0">
              <a:solidFill>
                <a:srgbClr val="0B2339"/>
              </a:solidFill>
              <a:latin typeface="Aptos Light" panose="020B0004020202020204" pitchFamily="34" charset="0"/>
            </a:endParaRPr>
          </a:p>
        </p:txBody>
      </p:sp>
      <p:cxnSp>
        <p:nvCxnSpPr>
          <p:cNvPr id="20" name="Straight Connector 19">
            <a:extLst>
              <a:ext uri="{FF2B5EF4-FFF2-40B4-BE49-F238E27FC236}">
                <a16:creationId xmlns:a16="http://schemas.microsoft.com/office/drawing/2014/main" id="{79BB2E00-A5D4-81D6-B7A2-8288920FDEFF}"/>
              </a:ext>
            </a:extLst>
          </p:cNvPr>
          <p:cNvCxnSpPr>
            <a:cxnSpLocks noGrp="1" noRot="1" noMove="1" noResize="1" noEditPoints="1" noAdjustHandles="1" noChangeArrowheads="1" noChangeShapeType="1"/>
          </p:cNvCxnSpPr>
          <p:nvPr userDrawn="1"/>
        </p:nvCxnSpPr>
        <p:spPr>
          <a:xfrm>
            <a:off x="5694091" y="5729393"/>
            <a:ext cx="5845303" cy="1129"/>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22" name="Subtitle 2">
            <a:extLst>
              <a:ext uri="{FF2B5EF4-FFF2-40B4-BE49-F238E27FC236}">
                <a16:creationId xmlns:a16="http://schemas.microsoft.com/office/drawing/2014/main" id="{CD0DB896-FD47-791D-BE48-74F6E86A227F}"/>
              </a:ext>
            </a:extLst>
          </p:cNvPr>
          <p:cNvSpPr txBox="1">
            <a:spLocks noGrp="1" noRot="1" noMove="1" noResize="1" noEditPoints="1" noAdjustHandles="1" noChangeArrowheads="1" noChangeShapeType="1"/>
          </p:cNvSpPr>
          <p:nvPr userDrawn="1"/>
        </p:nvSpPr>
        <p:spPr>
          <a:xfrm>
            <a:off x="7738814" y="5814990"/>
            <a:ext cx="3142658" cy="23237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a:r>
              <a:rPr lang="en-US" sz="1000" b="1" i="0" dirty="0">
                <a:solidFill>
                  <a:srgbClr val="7D4E1D"/>
                </a:solidFill>
                <a:latin typeface="Aptos SemiBold" panose="020B0004020202020204" pitchFamily="34" charset="0"/>
              </a:rPr>
              <a:t>UAE	CYPRUS	GREECE</a:t>
            </a:r>
            <a:endParaRPr lang="en-AE" sz="1000" b="1" i="0" dirty="0">
              <a:solidFill>
                <a:srgbClr val="7D4E1D"/>
              </a:solidFill>
              <a:latin typeface="Aptos SemiBold" panose="020B0004020202020204" pitchFamily="34" charset="0"/>
            </a:endParaRPr>
          </a:p>
        </p:txBody>
      </p:sp>
      <p:sp>
        <p:nvSpPr>
          <p:cNvPr id="12" name="Subtitle 2">
            <a:extLst>
              <a:ext uri="{FF2B5EF4-FFF2-40B4-BE49-F238E27FC236}">
                <a16:creationId xmlns:a16="http://schemas.microsoft.com/office/drawing/2014/main" id="{E70F7C81-9F4A-2CB8-5DD1-E802EA04E8A1}"/>
              </a:ext>
            </a:extLst>
          </p:cNvPr>
          <p:cNvSpPr txBox="1">
            <a:spLocks noGrp="1" noRot="1" noMove="1" noResize="1" noEditPoints="1" noAdjustHandles="1" noChangeArrowheads="1" noChangeShapeType="1"/>
          </p:cNvSpPr>
          <p:nvPr userDrawn="1"/>
        </p:nvSpPr>
        <p:spPr>
          <a:xfrm>
            <a:off x="5694091" y="5497021"/>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900" b="1" i="0" dirty="0">
                <a:solidFill>
                  <a:srgbClr val="0B2339"/>
                </a:solidFill>
                <a:latin typeface="Aptos Light" panose="020B0004020202020204" pitchFamily="34" charset="0"/>
              </a:rPr>
              <a:t>Headquartered in</a:t>
            </a:r>
            <a:endParaRPr lang="en-AE" sz="900" b="1" i="0" dirty="0">
              <a:solidFill>
                <a:srgbClr val="0B2339"/>
              </a:solidFill>
              <a:latin typeface="Aptos Light" panose="020B0004020202020204" pitchFamily="34" charset="0"/>
            </a:endParaRPr>
          </a:p>
        </p:txBody>
      </p:sp>
      <p:sp>
        <p:nvSpPr>
          <p:cNvPr id="13" name="Title 1">
            <a:extLst>
              <a:ext uri="{FF2B5EF4-FFF2-40B4-BE49-F238E27FC236}">
                <a16:creationId xmlns:a16="http://schemas.microsoft.com/office/drawing/2014/main" id="{9F7F6F3E-EBD9-D01B-E56C-4ECCC02BD1EB}"/>
              </a:ext>
            </a:extLst>
          </p:cNvPr>
          <p:cNvSpPr txBox="1">
            <a:spLocks noGrp="1" noRot="1" noMove="1" noResize="1" noEditPoints="1" noAdjustHandles="1" noChangeArrowheads="1" noChangeShapeType="1"/>
          </p:cNvSpPr>
          <p:nvPr userDrawn="1"/>
        </p:nvSpPr>
        <p:spPr>
          <a:xfrm>
            <a:off x="4525060" y="1897534"/>
            <a:ext cx="7666940" cy="583929"/>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pPr algn="ctr">
              <a:spcBef>
                <a:spcPts val="0"/>
              </a:spcBef>
              <a:spcAft>
                <a:spcPts val="300"/>
              </a:spcAft>
            </a:pPr>
            <a:r>
              <a:rPr lang="en-AE" sz="1200" b="0" i="0" dirty="0">
                <a:solidFill>
                  <a:srgbClr val="0B2339"/>
                </a:solidFill>
                <a:latin typeface="Aptos Light" panose="020B0004020202020204" pitchFamily="34" charset="0"/>
              </a:rPr>
              <a:t>Pnyx Hill Ltd</a:t>
            </a:r>
          </a:p>
          <a:p>
            <a:pPr algn="ctr">
              <a:spcBef>
                <a:spcPts val="0"/>
              </a:spcBef>
              <a:spcAft>
                <a:spcPts val="300"/>
              </a:spcAft>
            </a:pPr>
            <a:r>
              <a:rPr lang="en-AE" sz="1200" b="0" i="0" dirty="0">
                <a:solidFill>
                  <a:srgbClr val="0B2339"/>
                </a:solidFill>
                <a:latin typeface="Aptos Light" panose="020B0004020202020204" pitchFamily="34" charset="0"/>
              </a:rPr>
              <a:t>info@pnyxhill.co</a:t>
            </a:r>
          </a:p>
        </p:txBody>
      </p:sp>
      <p:grpSp>
        <p:nvGrpSpPr>
          <p:cNvPr id="24" name="Group 23">
            <a:extLst>
              <a:ext uri="{FF2B5EF4-FFF2-40B4-BE49-F238E27FC236}">
                <a16:creationId xmlns:a16="http://schemas.microsoft.com/office/drawing/2014/main" id="{DB4A5131-C9E9-B022-2783-881416DD905A}"/>
              </a:ext>
            </a:extLst>
          </p:cNvPr>
          <p:cNvGrpSpPr>
            <a:grpSpLocks noGrp="1" noUngrp="1" noRot="1" noMove="1" noResize="1"/>
          </p:cNvGrpSpPr>
          <p:nvPr userDrawn="1"/>
        </p:nvGrpSpPr>
        <p:grpSpPr>
          <a:xfrm>
            <a:off x="5859846" y="2792389"/>
            <a:ext cx="2327524" cy="2078305"/>
            <a:chOff x="5544535" y="3019184"/>
            <a:chExt cx="2327524" cy="2078305"/>
          </a:xfrm>
        </p:grpSpPr>
        <p:pic>
          <p:nvPicPr>
            <p:cNvPr id="15" name="Picture 2">
              <a:extLst>
                <a:ext uri="{FF2B5EF4-FFF2-40B4-BE49-F238E27FC236}">
                  <a16:creationId xmlns:a16="http://schemas.microsoft.com/office/drawing/2014/main" id="{61DD2A2B-F825-769D-147C-465DCCFA4547}"/>
                </a:ext>
              </a:extLst>
            </p:cNvPr>
            <p:cNvPicPr>
              <a:picLocks noGrp="1" noRot="1" noChangeAspect="1" noMove="1" noResize="1" noEditPoints="1" noAdjustHandles="1" noChangeArrowheads="1" noChangeShapeType="1" noCrop="1"/>
            </p:cNvPicPr>
            <p:nvPr userDrawn="1"/>
          </p:nvPicPr>
          <p:blipFill rotWithShape="1">
            <a:blip r:embed="rId5" cstate="print">
              <a:extLst>
                <a:ext uri="{28A0092B-C50C-407E-A947-70E740481C1C}">
                  <a14:useLocalDpi xmlns:a14="http://schemas.microsoft.com/office/drawing/2010/main"/>
                </a:ext>
              </a:extLst>
            </a:blip>
            <a:srcRect/>
            <a:stretch/>
          </p:blipFill>
          <p:spPr bwMode="auto">
            <a:xfrm>
              <a:off x="6098809" y="3019184"/>
              <a:ext cx="1218976" cy="1218976"/>
            </a:xfrm>
            <a:prstGeom prst="ellipse">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8" name="Title 1">
              <a:extLst>
                <a:ext uri="{FF2B5EF4-FFF2-40B4-BE49-F238E27FC236}">
                  <a16:creationId xmlns:a16="http://schemas.microsoft.com/office/drawing/2014/main" id="{B4F2C1AD-0347-5905-3077-5591A01E694C}"/>
                </a:ext>
              </a:extLst>
            </p:cNvPr>
            <p:cNvSpPr txBox="1">
              <a:spLocks noGrp="1" noRot="1" noMove="1" noResize="1" noEditPoints="1" noAdjustHandles="1" noChangeArrowheads="1" noChangeShapeType="1"/>
            </p:cNvSpPr>
            <p:nvPr userDrawn="1"/>
          </p:nvSpPr>
          <p:spPr>
            <a:xfrm>
              <a:off x="5544535" y="4376537"/>
              <a:ext cx="2327524" cy="72095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pPr algn="ctr"/>
              <a:r>
                <a:rPr lang="en-GB" sz="800" dirty="0">
                  <a:solidFill>
                    <a:schemeClr val="tx1"/>
                  </a:solidFill>
                  <a:latin typeface="Aptos" panose="020B0004020202020204" pitchFamily="34" charset="0"/>
                </a:rPr>
                <a:t>Andreas Kourouklaris</a:t>
              </a:r>
            </a:p>
            <a:p>
              <a:pPr algn="ctr"/>
              <a:r>
                <a:rPr lang="en-GB" sz="800" b="0" dirty="0">
                  <a:solidFill>
                    <a:schemeClr val="tx1"/>
                  </a:solidFill>
                  <a:latin typeface="Aptos" panose="020B0004020202020204" pitchFamily="34" charset="0"/>
                </a:rPr>
                <a:t>Co-founder and Group CEO</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GB" sz="800" b="0" i="0" dirty="0">
                <a:solidFill>
                  <a:schemeClr val="tx1"/>
                </a:solidFill>
                <a:latin typeface="Aptos Light" panose="020B00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a:solidFill>
                    <a:schemeClr val="tx1"/>
                  </a:solidFill>
                  <a:latin typeface="Aptos Light" panose="020B0004020202020204" pitchFamily="34" charset="0"/>
                </a:rPr>
                <a:t>+971 58 580 6064</a:t>
              </a: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err="1">
                  <a:solidFill>
                    <a:schemeClr val="tx1"/>
                  </a:solidFill>
                  <a:latin typeface="Aptos Light" panose="020B0004020202020204" pitchFamily="34" charset="0"/>
                </a:rPr>
                <a:t>ak@pnyxhill.co</a:t>
              </a:r>
              <a:endParaRPr lang="en-GB" sz="800" b="0" i="0" dirty="0">
                <a:solidFill>
                  <a:schemeClr val="tx1"/>
                </a:solidFill>
                <a:latin typeface="Aptos Light" panose="020B0004020202020204" pitchFamily="34" charset="0"/>
              </a:endParaRPr>
            </a:p>
            <a:p>
              <a:pPr algn="ctr"/>
              <a:endParaRPr lang="en-GB" sz="800" b="0" dirty="0">
                <a:solidFill>
                  <a:schemeClr val="tx1"/>
                </a:solidFill>
                <a:latin typeface="Aptos" panose="020B0004020202020204" pitchFamily="34" charset="0"/>
              </a:endParaRPr>
            </a:p>
          </p:txBody>
        </p:sp>
      </p:grpSp>
      <p:grpSp>
        <p:nvGrpSpPr>
          <p:cNvPr id="25" name="Group 24">
            <a:extLst>
              <a:ext uri="{FF2B5EF4-FFF2-40B4-BE49-F238E27FC236}">
                <a16:creationId xmlns:a16="http://schemas.microsoft.com/office/drawing/2014/main" id="{BFC26FB6-5F96-C32B-147B-32945F288CC7}"/>
              </a:ext>
            </a:extLst>
          </p:cNvPr>
          <p:cNvGrpSpPr>
            <a:grpSpLocks noGrp="1" noUngrp="1" noRot="1" noMove="1" noResize="1"/>
          </p:cNvGrpSpPr>
          <p:nvPr userDrawn="1"/>
        </p:nvGrpSpPr>
        <p:grpSpPr>
          <a:xfrm>
            <a:off x="9211870" y="2790452"/>
            <a:ext cx="2327524" cy="2039089"/>
            <a:chOff x="8327790" y="3058400"/>
            <a:chExt cx="2327524" cy="2039089"/>
          </a:xfrm>
        </p:grpSpPr>
        <p:pic>
          <p:nvPicPr>
            <p:cNvPr id="16" name="Picture 2">
              <a:extLst>
                <a:ext uri="{FF2B5EF4-FFF2-40B4-BE49-F238E27FC236}">
                  <a16:creationId xmlns:a16="http://schemas.microsoft.com/office/drawing/2014/main" id="{B9747782-BC11-E3DF-DB56-558CE0556C08}"/>
                </a:ext>
              </a:extLst>
            </p:cNvPr>
            <p:cNvPicPr>
              <a:picLocks noGrp="1" noRot="1" noChangeAspect="1" noMove="1" noResize="1" noEditPoints="1" noAdjustHandles="1" noChangeArrowheads="1" noChangeShapeType="1" noCrop="1"/>
            </p:cNvPicPr>
            <p:nvPr userDrawn="1"/>
          </p:nvPicPr>
          <p:blipFill rotWithShape="1">
            <a:blip r:embed="rId6" cstate="print">
              <a:extLst>
                <a:ext uri="{28A0092B-C50C-407E-A947-70E740481C1C}">
                  <a14:useLocalDpi xmlns:a14="http://schemas.microsoft.com/office/drawing/2010/main"/>
                </a:ext>
              </a:extLst>
            </a:blip>
            <a:srcRect/>
            <a:stretch/>
          </p:blipFill>
          <p:spPr bwMode="auto">
            <a:xfrm>
              <a:off x="8882064" y="3058400"/>
              <a:ext cx="1218976" cy="1218976"/>
            </a:xfrm>
            <a:prstGeom prst="ellipse">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1" name="Title 1">
              <a:extLst>
                <a:ext uri="{FF2B5EF4-FFF2-40B4-BE49-F238E27FC236}">
                  <a16:creationId xmlns:a16="http://schemas.microsoft.com/office/drawing/2014/main" id="{FE87F26D-A7C3-EB69-E7FB-D299BE6A4EC2}"/>
                </a:ext>
              </a:extLst>
            </p:cNvPr>
            <p:cNvSpPr txBox="1">
              <a:spLocks noGrp="1" noRot="1" noMove="1" noResize="1" noEditPoints="1" noAdjustHandles="1" noChangeArrowheads="1" noChangeShapeType="1"/>
            </p:cNvSpPr>
            <p:nvPr userDrawn="1"/>
          </p:nvSpPr>
          <p:spPr>
            <a:xfrm>
              <a:off x="8327790" y="4376537"/>
              <a:ext cx="2327524" cy="72095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pPr algn="ctr"/>
              <a:r>
                <a:rPr lang="en-GB" sz="800" b="1" dirty="0">
                  <a:solidFill>
                    <a:schemeClr val="tx1"/>
                  </a:solidFill>
                  <a:latin typeface="Aptos" panose="020B0004020202020204" pitchFamily="34" charset="0"/>
                </a:rPr>
                <a:t>Yiannos Ashiotis</a:t>
              </a:r>
            </a:p>
            <a:p>
              <a:pPr algn="ctr"/>
              <a:r>
                <a:rPr lang="en-GB" sz="800" b="0" dirty="0">
                  <a:solidFill>
                    <a:schemeClr val="tx1"/>
                  </a:solidFill>
                  <a:latin typeface="Aptos" panose="020B0004020202020204" pitchFamily="34" charset="0"/>
                </a:rPr>
                <a:t>Co-founder and Group Managing Partner</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GB" sz="800" b="0" i="0" dirty="0">
                <a:solidFill>
                  <a:schemeClr val="tx1"/>
                </a:solidFill>
                <a:latin typeface="Aptos Light" panose="020B00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a:solidFill>
                    <a:schemeClr val="tx1"/>
                  </a:solidFill>
                  <a:latin typeface="Aptos Light" panose="020B0004020202020204" pitchFamily="34" charset="0"/>
                </a:rPr>
                <a:t>+971 58 508 7787</a:t>
              </a: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err="1">
                  <a:solidFill>
                    <a:schemeClr val="tx1"/>
                  </a:solidFill>
                  <a:latin typeface="Aptos Light" panose="020B0004020202020204" pitchFamily="34" charset="0"/>
                </a:rPr>
                <a:t>ya@pnyxhill.co</a:t>
              </a:r>
              <a:endParaRPr lang="en-GB" sz="800" b="0" i="0" dirty="0">
                <a:solidFill>
                  <a:schemeClr val="tx1"/>
                </a:solidFill>
                <a:latin typeface="Aptos Light" panose="020B0004020202020204" pitchFamily="34" charset="0"/>
              </a:endParaRPr>
            </a:p>
            <a:p>
              <a:pPr algn="ctr"/>
              <a:endParaRPr lang="en-GB" sz="800" b="0" dirty="0">
                <a:solidFill>
                  <a:schemeClr val="tx1"/>
                </a:solidFill>
                <a:latin typeface="Aptos" panose="020B0004020202020204" pitchFamily="34" charset="0"/>
              </a:endParaRPr>
            </a:p>
          </p:txBody>
        </p:sp>
      </p:grpSp>
      <p:pic>
        <p:nvPicPr>
          <p:cNvPr id="3" name="Picture 2" descr="A logo with blue and black text&#10;&#10;AI-generated content may be incorrect.">
            <a:extLst>
              <a:ext uri="{FF2B5EF4-FFF2-40B4-BE49-F238E27FC236}">
                <a16:creationId xmlns:a16="http://schemas.microsoft.com/office/drawing/2014/main" id="{D216A860-4503-45C7-BD79-1FF6A56E922C}"/>
              </a:ext>
            </a:extLst>
          </p:cNvPr>
          <p:cNvPicPr>
            <a:picLocks noChangeAspect="1"/>
          </p:cNvPicPr>
          <p:nvPr userDrawn="1"/>
        </p:nvPicPr>
        <p:blipFill>
          <a:blip r:embed="rId7" cstate="print">
            <a:extLst>
              <a:ext uri="{28A0092B-C50C-407E-A947-70E740481C1C}">
                <a14:useLocalDpi xmlns:a14="http://schemas.microsoft.com/office/drawing/2010/main"/>
              </a:ext>
            </a:extLst>
          </a:blip>
          <a:srcRect/>
          <a:stretch/>
        </p:blipFill>
        <p:spPr>
          <a:xfrm>
            <a:off x="5589346" y="5764384"/>
            <a:ext cx="1221899" cy="583930"/>
          </a:xfrm>
          <a:prstGeom prst="rect">
            <a:avLst/>
          </a:prstGeom>
        </p:spPr>
      </p:pic>
    </p:spTree>
    <p:extLst>
      <p:ext uri="{BB962C8B-B14F-4D97-AF65-F5344CB8AC3E}">
        <p14:creationId xmlns:p14="http://schemas.microsoft.com/office/powerpoint/2010/main" val="168379773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9A2394A9-B416-1144-BCC0-D5B13D1E1099}"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Tree>
    <p:extLst>
      <p:ext uri="{BB962C8B-B14F-4D97-AF65-F5344CB8AC3E}">
        <p14:creationId xmlns:p14="http://schemas.microsoft.com/office/powerpoint/2010/main" val="267881359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3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E8B46457-0550-A94B-A370-CCEFCECD6019}"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Title 1">
            <a:extLst>
              <a:ext uri="{FF2B5EF4-FFF2-40B4-BE49-F238E27FC236}">
                <a16:creationId xmlns:a16="http://schemas.microsoft.com/office/drawing/2014/main" id="{BE6B8B1D-75D3-ED1F-3803-AA01D7297851}"/>
              </a:ext>
            </a:extLst>
          </p:cNvPr>
          <p:cNvSpPr>
            <a:spLocks noGrp="1"/>
          </p:cNvSpPr>
          <p:nvPr>
            <p:ph type="title" hasCustomPrompt="1"/>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5" name="Content Placeholder 3">
            <a:extLst>
              <a:ext uri="{FF2B5EF4-FFF2-40B4-BE49-F238E27FC236}">
                <a16:creationId xmlns:a16="http://schemas.microsoft.com/office/drawing/2014/main" id="{EC2FD9A4-480B-AB0D-75A3-7FB333C41A48}"/>
              </a:ext>
            </a:extLst>
          </p:cNvPr>
          <p:cNvSpPr>
            <a:spLocks noGrp="1"/>
          </p:cNvSpPr>
          <p:nvPr>
            <p:ph sz="half" idx="16"/>
          </p:nvPr>
        </p:nvSpPr>
        <p:spPr>
          <a:xfrm>
            <a:off x="841886" y="131809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4" name="Content Placeholder 3">
            <a:extLst>
              <a:ext uri="{FF2B5EF4-FFF2-40B4-BE49-F238E27FC236}">
                <a16:creationId xmlns:a16="http://schemas.microsoft.com/office/drawing/2014/main" id="{082306F3-2E64-0DAC-C240-6BDE921727ED}"/>
              </a:ext>
            </a:extLst>
          </p:cNvPr>
          <p:cNvSpPr>
            <a:spLocks noGrp="1"/>
          </p:cNvSpPr>
          <p:nvPr>
            <p:ph sz="half" idx="17"/>
          </p:nvPr>
        </p:nvSpPr>
        <p:spPr>
          <a:xfrm>
            <a:off x="838200" y="2521485"/>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7" name="Content Placeholder 3">
            <a:extLst>
              <a:ext uri="{FF2B5EF4-FFF2-40B4-BE49-F238E27FC236}">
                <a16:creationId xmlns:a16="http://schemas.microsoft.com/office/drawing/2014/main" id="{F28A40D3-4F78-F96D-4550-45563A648160}"/>
              </a:ext>
            </a:extLst>
          </p:cNvPr>
          <p:cNvSpPr>
            <a:spLocks noGrp="1"/>
          </p:cNvSpPr>
          <p:nvPr>
            <p:ph sz="half" idx="18"/>
          </p:nvPr>
        </p:nvSpPr>
        <p:spPr>
          <a:xfrm>
            <a:off x="6161398" y="131305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18" name="Content Placeholder 3">
            <a:extLst>
              <a:ext uri="{FF2B5EF4-FFF2-40B4-BE49-F238E27FC236}">
                <a16:creationId xmlns:a16="http://schemas.microsoft.com/office/drawing/2014/main" id="{57F674E6-5CEB-E440-EC2F-D931C9A74B40}"/>
              </a:ext>
            </a:extLst>
          </p:cNvPr>
          <p:cNvSpPr>
            <a:spLocks noGrp="1"/>
          </p:cNvSpPr>
          <p:nvPr>
            <p:ph sz="half" idx="19"/>
          </p:nvPr>
        </p:nvSpPr>
        <p:spPr>
          <a:xfrm>
            <a:off x="3491830" y="2521485"/>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20" name="Content Placeholder 3">
            <a:extLst>
              <a:ext uri="{FF2B5EF4-FFF2-40B4-BE49-F238E27FC236}">
                <a16:creationId xmlns:a16="http://schemas.microsoft.com/office/drawing/2014/main" id="{8CCA28C2-0709-3B37-D743-E8E86AF0D049}"/>
              </a:ext>
            </a:extLst>
          </p:cNvPr>
          <p:cNvSpPr>
            <a:spLocks noGrp="1"/>
          </p:cNvSpPr>
          <p:nvPr>
            <p:ph sz="half" idx="21"/>
          </p:nvPr>
        </p:nvSpPr>
        <p:spPr>
          <a:xfrm>
            <a:off x="6177340" y="2521485"/>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2" name="Content Placeholder 3">
            <a:extLst>
              <a:ext uri="{FF2B5EF4-FFF2-40B4-BE49-F238E27FC236}">
                <a16:creationId xmlns:a16="http://schemas.microsoft.com/office/drawing/2014/main" id="{8CAF84D6-B951-B447-6715-44B061C6688F}"/>
              </a:ext>
            </a:extLst>
          </p:cNvPr>
          <p:cNvSpPr>
            <a:spLocks noGrp="1"/>
          </p:cNvSpPr>
          <p:nvPr>
            <p:ph sz="half" idx="23"/>
          </p:nvPr>
        </p:nvSpPr>
        <p:spPr>
          <a:xfrm>
            <a:off x="3491830" y="131809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3" name="Content Placeholder 3">
            <a:extLst>
              <a:ext uri="{FF2B5EF4-FFF2-40B4-BE49-F238E27FC236}">
                <a16:creationId xmlns:a16="http://schemas.microsoft.com/office/drawing/2014/main" id="{DC6CD525-8ADC-EE4B-BBAF-67F19CCF5B8A}"/>
              </a:ext>
            </a:extLst>
          </p:cNvPr>
          <p:cNvSpPr>
            <a:spLocks noGrp="1"/>
          </p:cNvSpPr>
          <p:nvPr>
            <p:ph sz="half" idx="24"/>
          </p:nvPr>
        </p:nvSpPr>
        <p:spPr>
          <a:xfrm>
            <a:off x="8830967" y="128946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7" name="Content Placeholder 3">
            <a:extLst>
              <a:ext uri="{FF2B5EF4-FFF2-40B4-BE49-F238E27FC236}">
                <a16:creationId xmlns:a16="http://schemas.microsoft.com/office/drawing/2014/main" id="{2CB7C4FB-0F7C-C258-8A4B-4D41617230E2}"/>
              </a:ext>
            </a:extLst>
          </p:cNvPr>
          <p:cNvSpPr>
            <a:spLocks noGrp="1"/>
          </p:cNvSpPr>
          <p:nvPr>
            <p:ph sz="half" idx="25"/>
          </p:nvPr>
        </p:nvSpPr>
        <p:spPr>
          <a:xfrm>
            <a:off x="8826853" y="2521485"/>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0" name="Content Placeholder 3">
            <a:extLst>
              <a:ext uri="{FF2B5EF4-FFF2-40B4-BE49-F238E27FC236}">
                <a16:creationId xmlns:a16="http://schemas.microsoft.com/office/drawing/2014/main" id="{CED19BB9-E50A-EBF3-E2CD-AF3626896EE2}"/>
              </a:ext>
            </a:extLst>
          </p:cNvPr>
          <p:cNvSpPr>
            <a:spLocks noGrp="1"/>
          </p:cNvSpPr>
          <p:nvPr>
            <p:ph sz="half" idx="26"/>
          </p:nvPr>
        </p:nvSpPr>
        <p:spPr>
          <a:xfrm>
            <a:off x="838200" y="3980451"/>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1" name="Content Placeholder 3">
            <a:extLst>
              <a:ext uri="{FF2B5EF4-FFF2-40B4-BE49-F238E27FC236}">
                <a16:creationId xmlns:a16="http://schemas.microsoft.com/office/drawing/2014/main" id="{31427A7D-2EBB-EB53-3582-75CD8D94B60C}"/>
              </a:ext>
            </a:extLst>
          </p:cNvPr>
          <p:cNvSpPr>
            <a:spLocks noGrp="1"/>
          </p:cNvSpPr>
          <p:nvPr>
            <p:ph sz="half" idx="27"/>
          </p:nvPr>
        </p:nvSpPr>
        <p:spPr>
          <a:xfrm>
            <a:off x="3491830" y="3980451"/>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2" name="Content Placeholder 3">
            <a:extLst>
              <a:ext uri="{FF2B5EF4-FFF2-40B4-BE49-F238E27FC236}">
                <a16:creationId xmlns:a16="http://schemas.microsoft.com/office/drawing/2014/main" id="{2163370E-03D1-01E6-0586-7AA428401858}"/>
              </a:ext>
            </a:extLst>
          </p:cNvPr>
          <p:cNvSpPr>
            <a:spLocks noGrp="1"/>
          </p:cNvSpPr>
          <p:nvPr>
            <p:ph sz="half" idx="28"/>
          </p:nvPr>
        </p:nvSpPr>
        <p:spPr>
          <a:xfrm>
            <a:off x="6177340" y="3980451"/>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5" name="Content Placeholder 3">
            <a:extLst>
              <a:ext uri="{FF2B5EF4-FFF2-40B4-BE49-F238E27FC236}">
                <a16:creationId xmlns:a16="http://schemas.microsoft.com/office/drawing/2014/main" id="{26DA2CA2-0AF9-79E5-C103-FBE9145511E6}"/>
              </a:ext>
            </a:extLst>
          </p:cNvPr>
          <p:cNvSpPr>
            <a:spLocks noGrp="1"/>
          </p:cNvSpPr>
          <p:nvPr>
            <p:ph sz="half" idx="29"/>
          </p:nvPr>
        </p:nvSpPr>
        <p:spPr>
          <a:xfrm>
            <a:off x="8826853" y="3980451"/>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330135088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9F8E5778-CF41-8846-BCF8-64651384D266}"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4" name="Rectangle 3">
            <a:extLst>
              <a:ext uri="{FF2B5EF4-FFF2-40B4-BE49-F238E27FC236}">
                <a16:creationId xmlns:a16="http://schemas.microsoft.com/office/drawing/2014/main" id="{B94A91D8-76DC-451C-9EC7-BEF8EFA5569E}"/>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Content Placeholder 5">
            <a:extLst>
              <a:ext uri="{FF2B5EF4-FFF2-40B4-BE49-F238E27FC236}">
                <a16:creationId xmlns:a16="http://schemas.microsoft.com/office/drawing/2014/main" id="{7310415F-38F6-FC23-30B1-5BED6E17FEFD}"/>
              </a:ext>
            </a:extLst>
          </p:cNvPr>
          <p:cNvSpPr>
            <a:spLocks noGrp="1"/>
          </p:cNvSpPr>
          <p:nvPr>
            <p:ph sz="quarter" idx="13"/>
          </p:nvPr>
        </p:nvSpPr>
        <p:spPr>
          <a:xfrm>
            <a:off x="8210780" y="1270196"/>
            <a:ext cx="3141432" cy="4919467"/>
          </a:xfrm>
        </p:spPr>
        <p:txBody>
          <a:bodyPr anchor="ctr">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50745497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6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355AACDA-48EE-B14A-AAB7-B7DD76E73B3B}"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endParaRPr lang="en-AE" dirty="0"/>
          </a:p>
        </p:txBody>
      </p:sp>
      <p:sp>
        <p:nvSpPr>
          <p:cNvPr id="2" name="Content Placeholder 2">
            <a:extLst>
              <a:ext uri="{FF2B5EF4-FFF2-40B4-BE49-F238E27FC236}">
                <a16:creationId xmlns:a16="http://schemas.microsoft.com/office/drawing/2014/main" id="{7B2F871A-671A-E3C4-5E42-68642B529B32}"/>
              </a:ext>
            </a:extLst>
          </p:cNvPr>
          <p:cNvSpPr>
            <a:spLocks noGrp="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379125597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4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762E6944-38EE-544E-9BCD-42DF30DA589E}"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2" name="Content Placeholder 2">
            <a:extLst>
              <a:ext uri="{FF2B5EF4-FFF2-40B4-BE49-F238E27FC236}">
                <a16:creationId xmlns:a16="http://schemas.microsoft.com/office/drawing/2014/main" id="{7B2F871A-671A-E3C4-5E42-68642B529B32}"/>
              </a:ext>
            </a:extLst>
          </p:cNvPr>
          <p:cNvSpPr>
            <a:spLocks noGrp="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133961163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F0EBE7F4-BEFC-D845-9A43-BAA0FD9399BA}"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2" name="Rectangle 1">
            <a:extLst>
              <a:ext uri="{FF2B5EF4-FFF2-40B4-BE49-F238E27FC236}">
                <a16:creationId xmlns:a16="http://schemas.microsoft.com/office/drawing/2014/main" id="{FB4F6065-FF3F-A417-7AA1-95362B2DEF12}"/>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ectangle 3">
            <a:extLst>
              <a:ext uri="{FF2B5EF4-FFF2-40B4-BE49-F238E27FC236}">
                <a16:creationId xmlns:a16="http://schemas.microsoft.com/office/drawing/2014/main" id="{8840A9DE-A11D-9854-DF33-2C6D44D7BC5F}"/>
              </a:ext>
            </a:extLst>
          </p:cNvPr>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15739639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D98231C-BC5A-9014-837F-675BE9849964}"/>
              </a:ext>
            </a:extLst>
          </p:cNvPr>
          <p:cNvSpPr>
            <a:spLocks noGrp="1"/>
          </p:cNvSpPr>
          <p:nvPr>
            <p:ph type="title"/>
          </p:nvPr>
        </p:nvSpPr>
        <p:spPr>
          <a:xfrm>
            <a:off x="838200" y="365125"/>
            <a:ext cx="10515600" cy="1213967"/>
          </a:xfrm>
          <a:prstGeom prst="rect">
            <a:avLst/>
          </a:prstGeom>
        </p:spPr>
        <p:txBody>
          <a:bodyPr vert="horz" lIns="91440" tIns="45720" rIns="91440" bIns="45720" rtlCol="0" anchor="ctr">
            <a:normAutofit/>
          </a:bodyPr>
          <a:lstStyle/>
          <a:p>
            <a:r>
              <a:rPr lang="en-US"/>
              <a:t>Click to edit Master title style</a:t>
            </a:r>
            <a:endParaRPr lang="en-AE" dirty="0"/>
          </a:p>
        </p:txBody>
      </p:sp>
      <p:sp>
        <p:nvSpPr>
          <p:cNvPr id="3" name="Text Placeholder 2">
            <a:extLst>
              <a:ext uri="{FF2B5EF4-FFF2-40B4-BE49-F238E27FC236}">
                <a16:creationId xmlns:a16="http://schemas.microsoft.com/office/drawing/2014/main" id="{7D0C513B-E98B-6D0B-9987-67E71FDC7814}"/>
              </a:ext>
            </a:extLst>
          </p:cNvPr>
          <p:cNvSpPr>
            <a:spLocks noGrp="1"/>
          </p:cNvSpPr>
          <p:nvPr>
            <p:ph type="body" idx="1"/>
          </p:nvPr>
        </p:nvSpPr>
        <p:spPr>
          <a:xfrm>
            <a:off x="838200" y="1737360"/>
            <a:ext cx="10515600" cy="443960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4" name="Date Placeholder 3">
            <a:extLst>
              <a:ext uri="{FF2B5EF4-FFF2-40B4-BE49-F238E27FC236}">
                <a16:creationId xmlns:a16="http://schemas.microsoft.com/office/drawing/2014/main" id="{6733AD28-33AC-0B4A-23E7-04B070FE002E}"/>
              </a:ext>
            </a:extLst>
          </p:cNvPr>
          <p:cNvSpPr>
            <a:spLocks noGrp="1" noRot="1" noMove="1" noResize="1" noEditPoints="1" noAdjustHandles="1" noChangeArrowheads="1" noChangeShapeType="1"/>
          </p:cNvSpPr>
          <p:nvPr>
            <p:ph type="dt" sz="half" idx="2"/>
          </p:nvPr>
        </p:nvSpPr>
        <p:spPr>
          <a:xfrm>
            <a:off x="838200" y="6356350"/>
            <a:ext cx="2743200" cy="365125"/>
          </a:xfrm>
          <a:prstGeom prst="rect">
            <a:avLst/>
          </a:prstGeom>
        </p:spPr>
        <p:txBody>
          <a:bodyPr vert="horz" lIns="91440" tIns="45720" rIns="91440" bIns="45720" rtlCol="0" anchor="ctr"/>
          <a:lstStyle>
            <a:lvl1pPr algn="r">
              <a:defRPr sz="1200" b="0" i="0">
                <a:solidFill>
                  <a:schemeClr val="tx1">
                    <a:lumMod val="75000"/>
                    <a:lumOff val="25000"/>
                  </a:schemeClr>
                </a:solidFill>
                <a:latin typeface="Aptos Light" panose="020B0004020202020204" pitchFamily="34" charset="0"/>
              </a:defRPr>
            </a:lvl1pPr>
          </a:lstStyle>
          <a:p>
            <a:fld id="{6E9873C8-C767-9A40-8D22-2B36E5913080}" type="datetime1">
              <a:rPr lang="en-US" smtClean="0"/>
              <a:t>11/19/2025</a:t>
            </a:fld>
            <a:endParaRPr lang="en-AE"/>
          </a:p>
        </p:txBody>
      </p:sp>
      <p:sp>
        <p:nvSpPr>
          <p:cNvPr id="6" name="Slide Number Placeholder 5">
            <a:extLst>
              <a:ext uri="{FF2B5EF4-FFF2-40B4-BE49-F238E27FC236}">
                <a16:creationId xmlns:a16="http://schemas.microsoft.com/office/drawing/2014/main" id="{0E09F46D-D686-930F-1B26-EFFF8905DC19}"/>
              </a:ext>
            </a:extLst>
          </p:cNvPr>
          <p:cNvSpPr>
            <a:spLocks noGrp="1" noRot="1" noMove="1" noResize="1" noEditPoints="1" noAdjustHandles="1" noChangeArrowheads="1" noChangeShapeType="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chemeClr val="tx1">
                    <a:lumMod val="75000"/>
                    <a:lumOff val="25000"/>
                  </a:schemeClr>
                </a:solidFill>
                <a:latin typeface="Aptos Light" panose="020B0004020202020204" pitchFamily="34" charset="0"/>
              </a:defRPr>
            </a:lvl1pPr>
          </a:lstStyle>
          <a:p>
            <a:fld id="{FEBB2247-6CF9-174D-B1BD-16046E6DC6C6}" type="slidenum">
              <a:rPr lang="en-AE" smtClean="0"/>
              <a:pPr/>
              <a:t>‹#›</a:t>
            </a:fld>
            <a:endParaRPr lang="en-AE"/>
          </a:p>
        </p:txBody>
      </p:sp>
      <p:sp>
        <p:nvSpPr>
          <p:cNvPr id="5" name="TextBox 4">
            <a:extLst>
              <a:ext uri="{FF2B5EF4-FFF2-40B4-BE49-F238E27FC236}">
                <a16:creationId xmlns:a16="http://schemas.microsoft.com/office/drawing/2014/main" id="{EE4C0AD7-49BD-25E2-E7A6-A53CC83AD2DE}"/>
              </a:ext>
            </a:extLst>
          </p:cNvPr>
          <p:cNvSpPr txBox="1">
            <a:spLocks/>
          </p:cNvSpPr>
          <p:nvPr userDrawn="1"/>
        </p:nvSpPr>
        <p:spPr>
          <a:xfrm>
            <a:off x="3628062" y="6495414"/>
            <a:ext cx="4935876" cy="230832"/>
          </a:xfrm>
          <a:prstGeom prst="rect">
            <a:avLst/>
          </a:prstGeom>
          <a:noFill/>
        </p:spPr>
        <p:txBody>
          <a:bodyPr wrap="square">
            <a:spAutoFit/>
          </a:bodyPr>
          <a:lstStyle/>
          <a:p>
            <a:pPr algn="ctr"/>
            <a:r>
              <a:rPr lang="en-US" sz="900" i="1" dirty="0">
                <a:solidFill>
                  <a:schemeClr val="tx1">
                    <a:lumMod val="50000"/>
                    <a:lumOff val="50000"/>
                  </a:schemeClr>
                </a:solidFill>
              </a:rPr>
              <a:t>Copyright © Pnyx Hill Group. All rights reserved – Confidential </a:t>
            </a:r>
          </a:p>
        </p:txBody>
      </p:sp>
    </p:spTree>
    <p:extLst>
      <p:ext uri="{BB962C8B-B14F-4D97-AF65-F5344CB8AC3E}">
        <p14:creationId xmlns:p14="http://schemas.microsoft.com/office/powerpoint/2010/main" val="3492164167"/>
      </p:ext>
    </p:extLst>
  </p:cSld>
  <p:clrMap bg1="lt1" tx1="dk1" bg2="lt2" tx2="dk2" accent1="accent1" accent2="accent2" accent3="accent3" accent4="accent4" accent5="accent5" accent6="accent6" hlink="hlink" folHlink="folHlink"/>
  <p:sldLayoutIdLst>
    <p:sldLayoutId id="2147483649" r:id="rId1"/>
    <p:sldLayoutId id="2147483664" r:id="rId2"/>
    <p:sldLayoutId id="2147483671" r:id="rId3"/>
    <p:sldLayoutId id="2147483650" r:id="rId4"/>
    <p:sldLayoutId id="2147483668" r:id="rId5"/>
    <p:sldLayoutId id="2147483673" r:id="rId6"/>
    <p:sldLayoutId id="2147483675" r:id="rId7"/>
    <p:sldLayoutId id="2147483683" r:id="rId8"/>
    <p:sldLayoutId id="2147483684" r:id="rId9"/>
    <p:sldLayoutId id="2147483685" r:id="rId10"/>
    <p:sldLayoutId id="2147483686" r:id="rId11"/>
    <p:sldLayoutId id="2147483674" r:id="rId12"/>
    <p:sldLayoutId id="2147483661" r:id="rId13"/>
    <p:sldLayoutId id="2147483667" r:id="rId14"/>
    <p:sldLayoutId id="2147483676" r:id="rId15"/>
    <p:sldLayoutId id="2147483677" r:id="rId16"/>
    <p:sldLayoutId id="2147483688" r:id="rId17"/>
    <p:sldLayoutId id="2147483666" r:id="rId18"/>
    <p:sldLayoutId id="2147483653" r:id="rId19"/>
    <p:sldLayoutId id="2147483687" r:id="rId20"/>
    <p:sldLayoutId id="2147483679" r:id="rId21"/>
    <p:sldLayoutId id="2147483680" r:id="rId22"/>
    <p:sldLayoutId id="2147483678" r:id="rId23"/>
    <p:sldLayoutId id="2147483669" r:id="rId24"/>
    <p:sldLayoutId id="2147483660" r:id="rId25"/>
    <p:sldLayoutId id="2147483681" r:id="rId26"/>
    <p:sldLayoutId id="2147483682" r:id="rId27"/>
    <p:sldLayoutId id="2147483665" r:id="rId28"/>
    <p:sldLayoutId id="2147483662" r:id="rId29"/>
    <p:sldLayoutId id="2147483654" r:id="rId30"/>
    <p:sldLayoutId id="2147483672" r:id="rId31"/>
    <p:sldLayoutId id="2147483670" r:id="rId32"/>
    <p:sldLayoutId id="2147483663" r:id="rId33"/>
  </p:sldLayoutIdLst>
  <p:hf hdr="0" ftr="0" dt="0"/>
  <p:txStyles>
    <p:title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A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microsoft.com/office/2018/10/relationships/comments" Target="../comments/modernComment_11A_A187FA2C.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microsoft.com/office/2018/10/relationships/comments" Target="../comments/modernComment_134_844B3DA2.xml"/><Relationship Id="rId3" Type="http://schemas.openxmlformats.org/officeDocument/2006/relationships/image" Target="../media/image3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microsoft.com/office/2018/10/relationships/comments" Target="../comments/modernComment_135_C4FCC28.xml"/><Relationship Id="rId3" Type="http://schemas.openxmlformats.org/officeDocument/2006/relationships/image" Target="../media/image3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xml"/><Relationship Id="rId3" Type="http://schemas.openxmlformats.org/officeDocument/2006/relationships/image" Target="../media/image38.png"/><Relationship Id="rId4" Type="http://schemas.microsoft.com/office/2007/relationships/hdphoto" Target="../media/hdphoto2.wdp"/><Relationship Id="rId5" Type="http://schemas.openxmlformats.org/officeDocument/2006/relationships/image" Target="../media/image39.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BAEFF-18C6-2C57-F6D8-DA60A617955B}"/>
              </a:ext>
            </a:extLst>
          </p:cNvPr>
          <p:cNvSpPr>
            <a:spLocks noGrp="1" noRot="1" noMove="1" noResize="1" noEditPoints="1" noAdjustHandles="1" noChangeArrowheads="1" noChangeShapeType="1"/>
          </p:cNvSpPr>
          <p:nvPr>
            <p:ph type="ctrTitle"/>
          </p:nvPr>
        </p:nvSpPr>
        <p:spPr>
          <a:xfrm>
            <a:off x="908953" y="2638511"/>
            <a:ext cx="6657150" cy="1476289"/>
          </a:xfrm>
        </p:spPr>
        <p:txBody>
          <a:bodyPr anchor="t">
            <a:normAutofit/>
          </a:bodyPr>
          <a:lstStyle/>
          <a:p>
            <a:r>
              <a:t>Strategic Growth &amp; Digital Transformation Proposal for Hyke</a:t>
            </a:r>
            <a:endParaRPr dirty="0"/>
          </a:p>
        </p:txBody>
      </p:sp>
      <p:sp>
        <p:nvSpPr>
          <p:cNvPr id="3" name="Subtitle 2">
            <a:extLst>
              <a:ext uri="{FF2B5EF4-FFF2-40B4-BE49-F238E27FC236}">
                <a16:creationId xmlns:a16="http://schemas.microsoft.com/office/drawing/2014/main" id="{15512898-28DC-4FA8-3D8D-BE9CA956A398}"/>
              </a:ext>
            </a:extLst>
          </p:cNvPr>
          <p:cNvSpPr>
            <a:spLocks noGrp="1"/>
          </p:cNvSpPr>
          <p:nvPr>
            <p:ph type="subTitle" idx="1"/>
          </p:nvPr>
        </p:nvSpPr>
        <p:spPr>
          <a:xfrm>
            <a:off x="908954" y="3603975"/>
            <a:ext cx="6657149" cy="309264"/>
          </a:xfrm>
        </p:spPr>
        <p:txBody>
          <a:bodyPr>
            <a:noAutofit/>
          </a:bodyPr>
          <a:lstStyle/>
          <a:p>
            <a:r>
              <a:t>July 25, 2024</a:t>
            </a:r>
            <a:endParaRPr sz="1000" dirty="0"/>
          </a:p>
        </p:txBody>
      </p:sp>
      <p:sp>
        <p:nvSpPr>
          <p:cNvPr id="8" name="Slide Number Placeholder 7">
            <a:extLst>
              <a:ext uri="{FF2B5EF4-FFF2-40B4-BE49-F238E27FC236}">
                <a16:creationId xmlns:a16="http://schemas.microsoft.com/office/drawing/2014/main" id="{482CC506-10D0-A6E5-801A-5DEE0097752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nchor="ctr">
            <a:normAutofit fontScale="47500" lnSpcReduction="20000"/>
          </a:bodyPr>
          <a:lstStyle/>
          <a:p>
            <a:pPr>
              <a:spcAft>
                <a:spcPts val="600"/>
              </a:spcAft>
            </a:pPr>
            <a:r>
              <a:t>Strategic Growth &amp; Digital Transformation Proposal for Hyke</a:t>
            </a:r>
            <a:endParaRPr lang="en-AE"/>
          </a:p>
        </p:txBody>
      </p:sp>
      <p:sp>
        <p:nvSpPr>
          <p:cNvPr id="4" name="TextBox 3">
            <a:extLst>
              <a:ext uri="{FF2B5EF4-FFF2-40B4-BE49-F238E27FC236}">
                <a16:creationId xmlns:a16="http://schemas.microsoft.com/office/drawing/2014/main" id="{54D84B09-EA48-A07A-61BE-CC46E8F2A0C4}"/>
              </a:ext>
            </a:extLst>
          </p:cNvPr>
          <p:cNvSpPr txBox="1"/>
          <p:nvPr/>
        </p:nvSpPr>
        <p:spPr>
          <a:xfrm>
            <a:off x="6096000" y="985382"/>
            <a:ext cx="1358686" cy="646331"/>
          </a:xfrm>
          <a:prstGeom prst="rect">
            <a:avLst/>
          </a:prstGeom>
          <a:noFill/>
        </p:spPr>
        <p:txBody>
          <a:bodyPr wrap="square" rtlCol="0">
            <a:spAutoFit/>
          </a:bodyPr>
          <a:lstStyle/>
          <a:p>
            <a:r>
              <a:t>HYKE LOGO</a:t>
            </a:r>
            <a:endParaRPr lang="en-AE" sz="1200" dirty="0"/>
          </a:p>
        </p:txBody>
      </p:sp>
    </p:spTree>
    <p:extLst>
      <p:ext uri="{BB962C8B-B14F-4D97-AF65-F5344CB8AC3E}">
        <p14:creationId xmlns:p14="http://schemas.microsoft.com/office/powerpoint/2010/main" val="17734227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6335B335-9496-5AD8-46B0-D3A7D1D73B7D}"/>
              </a:ext>
            </a:extLst>
          </p:cNvPr>
          <p:cNvSpPr txBox="1">
            <a:spLocks noGrp="1"/>
          </p:cNvSpPr>
          <p:nvPr>
            <p:ph idx="1"/>
          </p:nvPr>
        </p:nvSpPr>
        <p:spPr>
          <a:xfrm>
            <a:off x="946298" y="879543"/>
            <a:ext cx="10407502" cy="4822456"/>
          </a:xfrm>
          <a:prstGeom prst="rect">
            <a:avLst/>
          </a:prstGeom>
          <a:noFill/>
        </p:spPr>
        <p:txBody>
          <a:bodyPr wrap="square" lIns="0" tIns="0" rIns="0" bIns="45720" rtlCol="0">
            <a:noAutofit/>
          </a:bodyPr>
          <a:lstStyle/>
          <a:p>
            <a:pPr marL="7938" indent="-7938">
              <a:lnSpc>
                <a:spcPct val="100000"/>
              </a:lnSpc>
              <a:spcBef>
                <a:spcPts val="200"/>
              </a:spcBef>
              <a:spcAft>
                <a:spcPts val="200"/>
              </a:spcAft>
              <a:buNone/>
            </a:pPr>
            <a:r>
              <a:t>Dear Hyke Leadership Team,</a:t>
            </a:r>
            <a:br/>
            <a:br/>
            <a:r>
              <a:t>Pnyx Hill is delighted to present this strategic proposal, outlining our recommended approach to accelerate Hyke's growth trajectory and solidify its market position. We deeply appreciate your vision for redefining productivity and enhancing user engagement through innovative digital solutions. This document details how Pnyx Hill, as your trusted strategic partner, will leverage our deep industry expertise, analytical rigor, and proven methodologies to address your unique challenges and unlock significant value.</a:t>
            </a:r>
            <a:br/>
            <a:br/>
            <a:r>
              <a:t>Our proposal is meticulously designed to align with your strategic ambitions, focusing on tangible outcomes and sustainable impact. We are excited about the prospect of collaborating with your team, bringing a fresh perspective and actionable insights to drive your next phase of success. We are confident that our partnership will yield transformative results, enabling Hyke to capture new opportunities and achieve lasting competitive advantage.</a:t>
            </a:r>
            <a:br/>
            <a:br/>
            <a:r>
              <a:t>Sincerely,</a:t>
            </a:r>
            <a:br/>
            <a:r>
              <a:t>Dr. Alex Stone</a:t>
            </a:r>
            <a:br/>
            <a:r>
              <a:t>Senior Strategy Consultant</a:t>
            </a:r>
            <a:br/>
            <a:r>
              <a:t>Pnyx Hill</a:t>
            </a:r>
            <a:endParaRPr sz="1200" dirty="0"/>
          </a:p>
        </p:txBody>
      </p:sp>
      <p:sp>
        <p:nvSpPr>
          <p:cNvPr id="2" name="Slide Number Placeholder 10">
            <a:extLst>
              <a:ext uri="{FF2B5EF4-FFF2-40B4-BE49-F238E27FC236}">
                <a16:creationId xmlns:a16="http://schemas.microsoft.com/office/drawing/2014/main" id="{1180B436-073C-1FE1-74B5-603168612A49}"/>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768529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1FB8C3-1CFE-D663-4089-4F28CD2A8FA1}"/>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4CE3A302-71F3-A505-7068-C326BC33BADD}"/>
              </a:ext>
            </a:extLst>
          </p:cNvPr>
          <p:cNvSpPr txBox="1"/>
          <p:nvPr/>
        </p:nvSpPr>
        <p:spPr>
          <a:xfrm>
            <a:off x="967563" y="867938"/>
            <a:ext cx="10596252" cy="600164"/>
          </a:xfrm>
          <a:prstGeom prst="rect">
            <a:avLst/>
          </a:prstGeom>
          <a:noFill/>
        </p:spPr>
        <p:txBody>
          <a:bodyPr wrap="square" lIns="0" tIns="0" rIns="0" bIns="45720" rtlCol="0">
            <a:spAutoFit/>
          </a:bodyPr>
          <a:lstStyle/>
          <a:p>
            <a:pPr>
              <a:buNone/>
            </a:pPr>
            <a:r>
              <a:t>1. **Growth Ambition**: Hyke stands at a pivotal juncture, poised to redefine its role in the competitive productivity software market. The ambition is to enhance user engagement, expand market share, and innovate its product offering to meet evolving digital demands.</a:t>
            </a:r>
            <a:br/>
            <a:br/>
            <a:r>
              <a:t>2. **Our Value Proposition**:</a:t>
            </a:r>
            <a:br/>
            <a:r>
              <a:t>• Pnyx Hill brings unparalleled expertise in digital strategy, market analysis, and organizational transformation.</a:t>
            </a:r>
            <a:br/>
            <a:r>
              <a:t>• We offer a data-driven, collaborative approach to identify high-impact opportunities and develop actionable strategies.</a:t>
            </a:r>
            <a:br/>
            <a:r>
              <a:t>• Our focus is on delivering sustainable growth and operational excellence, ensuring long-term value creation.</a:t>
            </a:r>
            <a:br/>
            <a:r>
              <a:t>• We provide strategic sparring and hands-on support to navigate complex market dynamics and execute with precision.</a:t>
            </a:r>
            <a:br/>
            <a:br/>
            <a:r>
              <a:t>3. **Key Project Highlights**:</a:t>
            </a:r>
            <a:br/>
            <a:r>
              <a:t>• Market Landscape &amp; Competitive Advantage Analysis</a:t>
            </a:r>
            <a:br/>
            <a:r>
              <a:t>• Digital Product Innovation &amp; Roadmap Definition</a:t>
            </a:r>
            <a:br/>
            <a:r>
              <a:t>• User Experience (UX) &amp; Engagement Strategy</a:t>
            </a:r>
            <a:br/>
            <a:r>
              <a:t>• Advanced Analytics &amp; AI Integration Strategy</a:t>
            </a:r>
            <a:br/>
            <a:r>
              <a:t>• Agile Operating Model Design &amp; Implementation Support</a:t>
            </a:r>
            <a:br/>
            <a:r>
              <a:t>• Go-to-Market Strategy for New Offerings</a:t>
            </a:r>
            <a:br/>
            <a:r>
              <a:t>• Performance Measurement &amp; Value Realization Framework</a:t>
            </a:r>
            <a:br/>
            <a:br/>
            <a:r>
              <a:t>4. **Strategic Outlook**: This proposal outlines a comprehensive partnership designed to empower Hyke with the strategic clarity and operational capabilities required to achieve its ambitious growth objectives and secure a future-proof market leadership position.</a:t>
            </a:r>
            <a:endParaRPr sz="1200" dirty="0"/>
          </a:p>
        </p:txBody>
      </p:sp>
      <p:sp>
        <p:nvSpPr>
          <p:cNvPr id="2" name="Slide Number Placeholder 10">
            <a:extLst>
              <a:ext uri="{FF2B5EF4-FFF2-40B4-BE49-F238E27FC236}">
                <a16:creationId xmlns:a16="http://schemas.microsoft.com/office/drawing/2014/main" id="{510509ED-FDFA-9AF0-64A5-B641CF67DE64}"/>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3369929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5">
            <a:extLst>
              <a:ext uri="{FF2B5EF4-FFF2-40B4-BE49-F238E27FC236}">
                <a16:creationId xmlns:a16="http://schemas.microsoft.com/office/drawing/2014/main" id="{B56FACEC-1F21-FF8A-3914-0B65A0CCF8AA}"/>
              </a:ext>
            </a:extLst>
          </p:cNvPr>
          <p:cNvGraphicFramePr>
            <a:graphicFrameLocks/>
          </p:cNvGraphicFramePr>
          <p:nvPr>
            <p:extLst>
              <p:ext uri="{D42A27DB-BD31-4B8C-83A1-F6EECF244321}">
                <p14:modId xmlns:p14="http://schemas.microsoft.com/office/powerpoint/2010/main" val="1494379163"/>
              </p:ext>
            </p:extLst>
          </p:nvPr>
        </p:nvGraphicFramePr>
        <p:xfrm>
          <a:off x="1763233" y="1610242"/>
          <a:ext cx="5384470" cy="3972960"/>
        </p:xfrm>
        <a:graphic>
          <a:graphicData uri="http://schemas.openxmlformats.org/drawingml/2006/table">
            <a:tbl>
              <a:tblPr firstRow="1" bandRow="1">
                <a:tableStyleId>{5C22544A-7EE6-4342-B048-85BDC9FD1C3A}</a:tableStyleId>
              </a:tblPr>
              <a:tblGrid>
                <a:gridCol w="4207404">
                  <a:extLst>
                    <a:ext uri="{9D8B030D-6E8A-4147-A177-3AD203B41FA5}">
                      <a16:colId xmlns:a16="http://schemas.microsoft.com/office/drawing/2014/main" val="1361501591"/>
                    </a:ext>
                  </a:extLst>
                </a:gridCol>
                <a:gridCol w="1177066">
                  <a:extLst>
                    <a:ext uri="{9D8B030D-6E8A-4147-A177-3AD203B41FA5}">
                      <a16:colId xmlns:a16="http://schemas.microsoft.com/office/drawing/2014/main" val="1247309486"/>
                    </a:ext>
                  </a:extLst>
                </a:gridCol>
              </a:tblGrid>
              <a:tr h="496620">
                <a:tc>
                  <a:txBody>
                    <a:bodyPr/>
                    <a:lstStyle/>
                    <a:p>
                      <a:r>
                        <a:rPr lang="en-AE" sz="1200" b="1" i="0" dirty="0">
                          <a:solidFill>
                            <a:srgbClr val="0B2339"/>
                          </a:solidFill>
                          <a:latin typeface="+mn-lt"/>
                        </a:rPr>
                        <a:t>About Pnyx Hill</a:t>
                      </a:r>
                    </a:p>
                  </a:txBody>
                  <a:tcPr anchor="ctr">
                    <a:lnL w="12700" cmpd="sng">
                      <a:noFill/>
                    </a:lnL>
                    <a:lnR w="12700" cmpd="sng">
                      <a:noFill/>
                    </a:lnR>
                    <a:lnT w="12700" cmpd="sng">
                      <a:noFill/>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dirty="0">
                          <a:solidFill>
                            <a:srgbClr val="0B2339"/>
                          </a:solidFill>
                          <a:latin typeface="+mn-lt"/>
                        </a:rPr>
                        <a:t>5</a:t>
                      </a:r>
                    </a:p>
                  </a:txBody>
                  <a:tcPr anchor="ctr">
                    <a:lnL w="12700" cmpd="sng">
                      <a:noFill/>
                    </a:lnL>
                    <a:lnR w="12700" cmpd="sng">
                      <a:noFill/>
                    </a:lnR>
                    <a:lnT w="12700" cmpd="sng">
                      <a:noFill/>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89102406"/>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i="0" dirty="0">
                          <a:solidFill>
                            <a:srgbClr val="0B2339"/>
                          </a:solidFill>
                          <a:latin typeface="+mn-lt"/>
                        </a:rPr>
                        <a:t>Our Understanding &amp; POV</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a:solidFill>
                            <a:srgbClr val="0B2339"/>
                          </a:solidFill>
                          <a:latin typeface="+mn-lt"/>
                        </a:rPr>
                        <a:t>1</a:t>
                      </a:r>
                      <a:r>
                        <a:rPr lang="en-US" sz="1200" b="1" i="0" dirty="0">
                          <a:solidFill>
                            <a:srgbClr val="0B2339"/>
                          </a:solidFill>
                          <a:latin typeface="+mn-lt"/>
                        </a:rPr>
                        <a:t>3</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73221479"/>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dirty="0">
                          <a:solidFill>
                            <a:srgbClr val="0B2339"/>
                          </a:solidFill>
                          <a:latin typeface="+mn-lt"/>
                        </a:rPr>
                        <a:t>Our Approach</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a:solidFill>
                            <a:srgbClr val="0B2339"/>
                          </a:solidFill>
                          <a:latin typeface="+mn-lt"/>
                        </a:rPr>
                        <a:t>1</a:t>
                      </a:r>
                      <a:r>
                        <a:rPr lang="en-US" sz="1200" b="1" i="0" dirty="0">
                          <a:solidFill>
                            <a:srgbClr val="0B2339"/>
                          </a:solidFill>
                          <a:latin typeface="+mn-lt"/>
                        </a:rPr>
                        <a:t>4</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29644756"/>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i="0" dirty="0">
                          <a:solidFill>
                            <a:srgbClr val="0B2339"/>
                          </a:solidFill>
                          <a:latin typeface="+mn-lt"/>
                        </a:rPr>
                        <a:t>Scope of Services</a:t>
                      </a:r>
                      <a:r>
                        <a:rPr lang="en-US" sz="1200" b="1" i="0" dirty="0">
                          <a:solidFill>
                            <a:srgbClr val="0B2339"/>
                          </a:solidFill>
                          <a:latin typeface="+mn-lt"/>
                        </a:rPr>
                        <a:t> and Service Deliverables</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dirty="0">
                          <a:solidFill>
                            <a:srgbClr val="0B2339"/>
                          </a:solidFill>
                          <a:latin typeface="+mn-lt"/>
                        </a:rPr>
                        <a:t>1</a:t>
                      </a:r>
                      <a:r>
                        <a:rPr lang="en-US" sz="1200" b="1" i="0" dirty="0">
                          <a:solidFill>
                            <a:srgbClr val="0B2339"/>
                          </a:solidFill>
                          <a:latin typeface="+mn-lt"/>
                        </a:rPr>
                        <a:t>6</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49255129"/>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0B2339"/>
                          </a:solidFill>
                          <a:latin typeface="+mn-lt"/>
                        </a:rPr>
                        <a:t>Optional After Service Support</a:t>
                      </a:r>
                      <a:endParaRPr lang="en-AE" sz="1200" b="1"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a:solidFill>
                            <a:srgbClr val="0B2339"/>
                          </a:solidFill>
                          <a:latin typeface="+mn-lt"/>
                        </a:rPr>
                        <a:t>21</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82479450"/>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dirty="0">
                          <a:solidFill>
                            <a:srgbClr val="0B2339"/>
                          </a:solidFill>
                          <a:latin typeface="+mn-lt"/>
                        </a:rPr>
                        <a:t>Engagement Leaders</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dirty="0">
                          <a:solidFill>
                            <a:srgbClr val="0B2339"/>
                          </a:solidFill>
                          <a:latin typeface="+mn-lt"/>
                        </a:rPr>
                        <a:t>23</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600085"/>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dirty="0">
                          <a:solidFill>
                            <a:srgbClr val="0B2339"/>
                          </a:solidFill>
                          <a:latin typeface="+mn-lt"/>
                        </a:rPr>
                        <a:t>Commercial Proposal</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dirty="0">
                          <a:solidFill>
                            <a:srgbClr val="0B2339"/>
                          </a:solidFill>
                          <a:latin typeface="+mn-lt"/>
                        </a:rPr>
                        <a:t>24</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17092016"/>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dirty="0">
                          <a:solidFill>
                            <a:srgbClr val="0B2339"/>
                          </a:solidFill>
                          <a:latin typeface="+mn-lt"/>
                        </a:rPr>
                        <a:t>Let’s Talk</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dirty="0">
                          <a:solidFill>
                            <a:srgbClr val="0B2339"/>
                          </a:solidFill>
                          <a:latin typeface="+mn-lt"/>
                        </a:rPr>
                        <a:t>25</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46821195"/>
                  </a:ext>
                </a:extLst>
              </a:tr>
            </a:tbl>
          </a:graphicData>
        </a:graphic>
      </p:graphicFrame>
      <p:sp>
        <p:nvSpPr>
          <p:cNvPr id="2" name="Slide Number Placeholder 10">
            <a:extLst>
              <a:ext uri="{FF2B5EF4-FFF2-40B4-BE49-F238E27FC236}">
                <a16:creationId xmlns:a16="http://schemas.microsoft.com/office/drawing/2014/main" id="{70F94601-D300-9A60-36F3-043D3C2A1970}"/>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38549246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0">
            <a:extLst>
              <a:ext uri="{FF2B5EF4-FFF2-40B4-BE49-F238E27FC236}">
                <a16:creationId xmlns:a16="http://schemas.microsoft.com/office/drawing/2014/main" id="{0304D152-BA33-F0F1-48FF-801A9B032E6B}"/>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17404716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A82FBC88-82DB-42DA-D37F-0FCFBA8AD103}"/>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18169218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B8E8124F-0E3B-E031-2C5D-7265461893A0}"/>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8864521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CBDD09F1-AC85-E6BB-E077-FB0F9A53AC1D}"/>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33186578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29A68F79-5343-74A9-9547-123447F2F2DF}"/>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3219379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F4361917-790E-8E8D-E566-3BF588980ECA}"/>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14460932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E1ADB767-4E35-0D94-8A50-F35437C2FEED}"/>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0874802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ED7E01-6FEC-86FE-AB37-613C15352DAD}"/>
            </a:ext>
          </a:extLst>
        </p:cNvPr>
        <p:cNvGrpSpPr/>
        <p:nvPr/>
      </p:nvGrpSpPr>
      <p:grpSpPr>
        <a:xfrm>
          <a:off x="0" y="0"/>
          <a:ext cx="0" cy="0"/>
          <a:chOff x="0" y="0"/>
          <a:chExt cx="0" cy="0"/>
        </a:xfrm>
      </p:grpSpPr>
    </p:spTree>
    <p:extLst>
      <p:ext uri="{BB962C8B-B14F-4D97-AF65-F5344CB8AC3E}">
        <p14:creationId xmlns:p14="http://schemas.microsoft.com/office/powerpoint/2010/main" val="16950900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BB5F4F5-A561-A2BF-50AD-2135E2BD4A6A}"/>
              </a:ext>
            </a:extLst>
          </p:cNvPr>
          <p:cNvSpPr>
            <a:spLocks noGrp="1" noRot="1" noMove="1" noResize="1" noEditPoints="1" noAdjustHandles="1" noChangeArrowheads="1" noChangeShapeType="1"/>
          </p:cNvSpPr>
          <p:nvPr>
            <p:ph sz="half" idx="2"/>
          </p:nvPr>
        </p:nvSpPr>
        <p:spPr/>
        <p:txBody>
          <a:bodyPr>
            <a:normAutofit/>
          </a:bodyPr>
          <a:lstStyle/>
          <a:p>
            <a:pPr marL="0" indent="0">
              <a:buNone/>
            </a:pPr>
            <a:r>
              <a:t>The productivity software market is experiencing rapid evolution, driven by demand for seamless collaboration, intuitive interfaces, and intelligent automation. Hyke, while possessing a strong foundational product and a dedicated user base, operates within a highly competitive landscape dominated by well-established players and emerging innovators. Key aspects include:</a:t>
            </a:r>
            <a:br/>
            <a:r>
              <a:t>•  Intensifying competition from feature-rich platforms and niche solutions.</a:t>
            </a:r>
            <a:br/>
            <a:r>
              <a:t>•  Evolving user expectations for AI-driven insights, personalized experiences, and cross-platform integration.</a:t>
            </a:r>
            <a:br/>
            <a:r>
              <a:t>•  The necessity for continuous product innovation and differentiation to maintain relevance and attract new users.</a:t>
            </a:r>
            <a:br/>
            <a:r>
              <a:t>•  Pressure to optimize monetization strategies and expand revenue streams beyond core offerings.</a:t>
            </a:r>
            <a:br/>
            <a:r>
              <a:t>•  Challenges in scaling technical infrastructure and organizational capabilities to support rapid growth.</a:t>
            </a:r>
            <a:endParaRPr dirty="0"/>
          </a:p>
        </p:txBody>
      </p:sp>
      <p:sp>
        <p:nvSpPr>
          <p:cNvPr id="3" name="Content Placeholder 2">
            <a:extLst>
              <a:ext uri="{FF2B5EF4-FFF2-40B4-BE49-F238E27FC236}">
                <a16:creationId xmlns:a16="http://schemas.microsoft.com/office/drawing/2014/main" id="{79C84FDE-81DE-1361-1FBF-9AB8614A6D28}"/>
              </a:ext>
            </a:extLst>
          </p:cNvPr>
          <p:cNvSpPr>
            <a:spLocks noGrp="1"/>
          </p:cNvSpPr>
          <p:nvPr>
            <p:ph sz="quarter" idx="4"/>
          </p:nvPr>
        </p:nvSpPr>
        <p:spPr/>
        <p:txBody>
          <a:bodyPr>
            <a:normAutofit/>
          </a:bodyPr>
          <a:lstStyle/>
          <a:p>
            <a:pPr>
              <a:lnSpc>
                <a:spcPct val="110000"/>
              </a:lnSpc>
              <a:buFont typeface="Wingdings" panose="05000000000000000000" pitchFamily="2" charset="2"/>
              <a:buChar char="§"/>
            </a:pPr>
            <a:r>
              <a:t>•  **Market Differentiation &amp; Value Proposition**: Standing out amidst a crowded field and clearly articulating Hyke's unique value.</a:t>
            </a:r>
            <a:br/>
            <a:r>
              <a:t>•  **User Acquisition &amp; Retention**: Overcoming acquisition plateaus and enhancing loyalty in a high-churn environment.</a:t>
            </a:r>
            <a:br/>
            <a:r>
              <a:t>•  **Monetization Strategy Evolution**: Developing sustainable revenue models beyond existing frameworks.</a:t>
            </a:r>
            <a:br/>
            <a:r>
              <a:t>•  **Technological Advancement &amp; AI Integration**: Incorporating cutting-edge AI capabilities to deliver predictive insights and automation.</a:t>
            </a:r>
            <a:br/>
            <a:r>
              <a:t>•  **Organizational Agility &amp; Talent Development**: Ensuring the internal structure and talent pool can support rapid strategic shifts and product development.</a:t>
            </a:r>
            <a:endParaRPr dirty="0"/>
          </a:p>
        </p:txBody>
      </p:sp>
      <p:sp>
        <p:nvSpPr>
          <p:cNvPr id="4" name="Content Placeholder 3">
            <a:extLst>
              <a:ext uri="{FF2B5EF4-FFF2-40B4-BE49-F238E27FC236}">
                <a16:creationId xmlns:a16="http://schemas.microsoft.com/office/drawing/2014/main" id="{A88DB71A-D56C-4634-2BEE-CCCF3CB0F3E7}"/>
              </a:ext>
            </a:extLst>
          </p:cNvPr>
          <p:cNvSpPr>
            <a:spLocks noGrp="1" noRot="1" noMove="1" noResize="1" noEditPoints="1" noAdjustHandles="1" noChangeArrowheads="1" noChangeShapeType="1"/>
          </p:cNvSpPr>
          <p:nvPr>
            <p:ph sz="quarter" idx="13"/>
          </p:nvPr>
        </p:nvSpPr>
        <p:spPr/>
        <p:txBody>
          <a:bodyPr>
            <a:noAutofit/>
          </a:bodyPr>
          <a:lstStyle/>
          <a:p>
            <a:pPr algn="l"/>
            <a:r>
              <a:t>•  Achieve significant market share growth and expand user base within target segments.</a:t>
            </a:r>
            <a:br/>
            <a:r>
              <a:t>•  Elevate user engagement and satisfaction through innovative product features and enhanced UX.</a:t>
            </a:r>
            <a:br/>
            <a:r>
              <a:t>•  Diversify and increase revenue streams through optimized monetization and new service offerings.</a:t>
            </a:r>
            <a:br/>
            <a:r>
              <a:t>•  Establish Hyke as a leader in intelligent productivity solutions, leveraging advanced AI capabilities.</a:t>
            </a:r>
            <a:br/>
            <a:r>
              <a:t>•  Foster an agile, future-ready organization capable of sustained innovation and efficient execution.</a:t>
            </a:r>
            <a:endParaRPr dirty="0"/>
          </a:p>
        </p:txBody>
      </p:sp>
      <p:sp>
        <p:nvSpPr>
          <p:cNvPr id="6" name="Slide Number Placeholder 10">
            <a:extLst>
              <a:ext uri="{FF2B5EF4-FFF2-40B4-BE49-F238E27FC236}">
                <a16:creationId xmlns:a16="http://schemas.microsoft.com/office/drawing/2014/main" id="{2D0E21F0-A1CC-72EB-D88E-A42FCE0E424D}"/>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13964475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3F4BD2E-E227-A41F-33BD-EF5E3E53F344}"/>
              </a:ext>
            </a:extLst>
          </p:cNvPr>
          <p:cNvSpPr>
            <a:spLocks noGrp="1" noRot="1" noMove="1" noResize="1" noEditPoints="1" noAdjustHandles="1" noChangeArrowheads="1" noChangeShapeType="1"/>
          </p:cNvSpPr>
          <p:nvPr>
            <p:ph type="title"/>
          </p:nvPr>
        </p:nvSpPr>
        <p:spPr/>
        <p:txBody>
          <a:bodyPr>
            <a:normAutofit fontScale="90000"/>
          </a:bodyPr>
          <a:lstStyle/>
          <a:p>
            <a:endParaRPr lang="en-GB" dirty="0"/>
          </a:p>
          <a:p>
            <a:r>
              <a:rPr lang="en-US" dirty="0"/>
              <a:t>OUR PROPOSED APPROACH</a:t>
            </a:r>
            <a:endParaRPr dirty="0"/>
          </a:p>
        </p:txBody>
      </p:sp>
      <p:sp>
        <p:nvSpPr>
          <p:cNvPr id="9" name="Text Placeholder 3">
            <a:extLst>
              <a:ext uri="{FF2B5EF4-FFF2-40B4-BE49-F238E27FC236}">
                <a16:creationId xmlns:a16="http://schemas.microsoft.com/office/drawing/2014/main" id="{DFBC7929-B570-8AB1-9208-301A6F237D7F}"/>
              </a:ext>
            </a:extLst>
          </p:cNvPr>
          <p:cNvSpPr>
            <a:spLocks noGrp="1"/>
          </p:cNvSpPr>
          <p:nvPr>
            <p:ph type="body" idx="13"/>
          </p:nvPr>
        </p:nvSpPr>
        <p:spPr>
          <a:xfrm>
            <a:off x="839788" y="1632155"/>
            <a:ext cx="7243011" cy="316538"/>
          </a:xfrm>
        </p:spPr>
        <p:txBody>
          <a:bodyPr>
            <a:noAutofit/>
          </a:bodyPr>
          <a:lstStyle/>
          <a:p>
            <a:r>
              <a:t>Strategic Foundation &amp; Diagnostic</a:t>
            </a:r>
            <a:endParaRPr lang="en-GB" dirty="0"/>
          </a:p>
        </p:txBody>
      </p:sp>
      <p:sp>
        <p:nvSpPr>
          <p:cNvPr id="14" name="Text Placeholder 3">
            <a:extLst>
              <a:ext uri="{FF2B5EF4-FFF2-40B4-BE49-F238E27FC236}">
                <a16:creationId xmlns:a16="http://schemas.microsoft.com/office/drawing/2014/main" id="{F68783C2-B190-F13A-AE22-9AFA09E4C25B}"/>
              </a:ext>
            </a:extLst>
          </p:cNvPr>
          <p:cNvSpPr txBox="1">
            <a:spLocks/>
          </p:cNvSpPr>
          <p:nvPr/>
        </p:nvSpPr>
        <p:spPr>
          <a:xfrm>
            <a:off x="852711" y="3014691"/>
            <a:ext cx="6481944" cy="948937"/>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rgbClr val="7D4E1D"/>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i="0" kern="1200">
                <a:solidFill>
                  <a:schemeClr val="tx1">
                    <a:lumMod val="75000"/>
                    <a:lumOff val="25000"/>
                  </a:schemeClr>
                </a:solidFill>
                <a:latin typeface="Aptos Light" panose="020B0004020202020204" pitchFamily="34" charset="0"/>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i="1" kern="1200">
                <a:solidFill>
                  <a:schemeClr val="tx1">
                    <a:lumMod val="75000"/>
                    <a:lumOff val="25000"/>
                  </a:schemeClr>
                </a:solidFill>
                <a:latin typeface="Aptos Light" panose="020B0004020202020204" pitchFamily="34"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i="1" kern="1200">
                <a:solidFill>
                  <a:schemeClr val="tx1">
                    <a:lumMod val="75000"/>
                    <a:lumOff val="25000"/>
                  </a:schemeClr>
                </a:solidFill>
                <a:latin typeface="Aptos Light" panose="020B0004020202020204" pitchFamily="34" charset="0"/>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i="1" kern="1200">
                <a:solidFill>
                  <a:schemeClr val="tx1">
                    <a:lumMod val="75000"/>
                    <a:lumOff val="25000"/>
                  </a:schemeClr>
                </a:solidFill>
                <a:latin typeface="Aptos Light" panose="020B0004020202020204" pitchFamily="34" charset="0"/>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t>Solution Co-creation &amp; Design</a:t>
            </a:r>
            <a:endParaRPr dirty="0"/>
          </a:p>
        </p:txBody>
      </p:sp>
      <p:sp>
        <p:nvSpPr>
          <p:cNvPr id="15" name="Text Placeholder 3">
            <a:extLst>
              <a:ext uri="{FF2B5EF4-FFF2-40B4-BE49-F238E27FC236}">
                <a16:creationId xmlns:a16="http://schemas.microsoft.com/office/drawing/2014/main" id="{9CAA5706-E44C-CB8B-FD39-98E004E80F83}"/>
              </a:ext>
            </a:extLst>
          </p:cNvPr>
          <p:cNvSpPr txBox="1">
            <a:spLocks/>
          </p:cNvSpPr>
          <p:nvPr/>
        </p:nvSpPr>
        <p:spPr>
          <a:xfrm>
            <a:off x="852711" y="4336961"/>
            <a:ext cx="6481943" cy="948937"/>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rgbClr val="7D4E1D"/>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i="0" kern="1200">
                <a:solidFill>
                  <a:schemeClr val="tx1">
                    <a:lumMod val="75000"/>
                    <a:lumOff val="25000"/>
                  </a:schemeClr>
                </a:solidFill>
                <a:latin typeface="Aptos Light" panose="020B0004020202020204" pitchFamily="34" charset="0"/>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i="1" kern="1200">
                <a:solidFill>
                  <a:schemeClr val="tx1">
                    <a:lumMod val="75000"/>
                    <a:lumOff val="25000"/>
                  </a:schemeClr>
                </a:solidFill>
                <a:latin typeface="Aptos Light" panose="020B0004020202020204" pitchFamily="34"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i="1" kern="1200">
                <a:solidFill>
                  <a:schemeClr val="tx1">
                    <a:lumMod val="75000"/>
                    <a:lumOff val="25000"/>
                  </a:schemeClr>
                </a:solidFill>
                <a:latin typeface="Aptos Light" panose="020B0004020202020204" pitchFamily="34" charset="0"/>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i="1" kern="1200">
                <a:solidFill>
                  <a:schemeClr val="tx1">
                    <a:lumMod val="75000"/>
                    <a:lumOff val="25000"/>
                  </a:schemeClr>
                </a:solidFill>
                <a:latin typeface="Aptos Light" panose="020B0004020202020204" pitchFamily="34" charset="0"/>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t>Implementation &amp; Value Realization</a:t>
            </a:r>
            <a:endParaRPr dirty="0"/>
          </a:p>
        </p:txBody>
      </p:sp>
      <p:sp>
        <p:nvSpPr>
          <p:cNvPr id="2" name="Slide Number Placeholder 10">
            <a:extLst>
              <a:ext uri="{FF2B5EF4-FFF2-40B4-BE49-F238E27FC236}">
                <a16:creationId xmlns:a16="http://schemas.microsoft.com/office/drawing/2014/main" id="{3BAF4667-BBC8-FCF0-9CCF-304ECC450F66}"/>
              </a:ext>
            </a:extLst>
          </p:cNvPr>
          <p:cNvSpPr>
            <a:spLocks noGrp="1"/>
          </p:cNvSpPr>
          <p:nvPr>
            <p:ph type="sldNum" sz="quarter" idx="12"/>
          </p:nvPr>
        </p:nvSpPr>
        <p:spPr>
          <a:xfrm>
            <a:off x="8610600" y="6356350"/>
            <a:ext cx="2743200" cy="365125"/>
          </a:xfrm>
        </p:spPr>
        <p:txBody>
          <a:bodyPr/>
          <a:lstStyle/>
          <a:p>
            <a:endParaRPr dirty="0"/>
          </a:p>
        </p:txBody>
      </p:sp>
      <p:sp>
        <p:nvSpPr>
          <p:cNvPr id="4" name="TextBox 3">
            <a:extLst>
              <a:ext uri="{FF2B5EF4-FFF2-40B4-BE49-F238E27FC236}">
                <a16:creationId xmlns:a16="http://schemas.microsoft.com/office/drawing/2014/main" id="{29329F9D-0AF1-17BD-69B7-6FAD2BDB5041}"/>
              </a:ext>
            </a:extLst>
          </p:cNvPr>
          <p:cNvSpPr txBox="1"/>
          <p:nvPr/>
        </p:nvSpPr>
        <p:spPr>
          <a:xfrm>
            <a:off x="839781" y="1025598"/>
            <a:ext cx="7146628" cy="615553"/>
          </a:xfrm>
          <a:prstGeom prst="rect">
            <a:avLst/>
          </a:prstGeom>
          <a:noFill/>
        </p:spPr>
        <p:txBody>
          <a:bodyPr wrap="square">
            <a:spAutoFit/>
          </a:bodyPr>
          <a:lstStyle/>
          <a:p>
            <a:r>
              <a:t>Our proposed approach is a structured, phased methodology designed to deliver impactful, sustainable results. It combines deep analytical rigor with collaborative co-creation, ensuring solutions are tailored to Hyke's specific context and ambitions. This insight-led journey focuses on building a robust strategic foundation before moving into design and ultimately, successful execution.</a:t>
            </a:r>
            <a:endParaRPr lang="en-AE" sz="1200" i="1" dirty="0"/>
          </a:p>
        </p:txBody>
      </p:sp>
      <p:sp>
        <p:nvSpPr>
          <p:cNvPr id="5" name="TextBox 4">
            <a:extLst>
              <a:ext uri="{FF2B5EF4-FFF2-40B4-BE49-F238E27FC236}">
                <a16:creationId xmlns:a16="http://schemas.microsoft.com/office/drawing/2014/main" id="{CDAE5125-04B1-01B0-4C67-6FA85EDFA467}"/>
              </a:ext>
            </a:extLst>
          </p:cNvPr>
          <p:cNvSpPr txBox="1"/>
          <p:nvPr/>
        </p:nvSpPr>
        <p:spPr>
          <a:xfrm>
            <a:off x="992181" y="2248042"/>
            <a:ext cx="7146628" cy="646331"/>
          </a:xfrm>
          <a:prstGeom prst="rect">
            <a:avLst/>
          </a:prstGeom>
          <a:noFill/>
        </p:spPr>
        <p:txBody>
          <a:bodyPr wrap="square">
            <a:spAutoFit/>
          </a:bodyPr>
          <a:lstStyle/>
          <a:p>
            <a:pPr/>
            <a:r>
              <a:t>•  Conduct comprehensive market analysis, competitor benchmarking, and user insights gathering.</a:t>
            </a:r>
            <a:endParaRPr lang="en-AE" sz="1200" i="1" dirty="0"/>
          </a:p>
          <a:p>
            <a:pPr/>
            <a:r>
              <a:t>•  Perform internal capabilities assessment, including product, technology, and organizational strengths.</a:t>
            </a:r>
          </a:p>
          <a:p>
            <a:pPr/>
            <a:r>
              <a:t>•  Define key strategic hypotheses and identify critical opportunities for growth and differentiation.</a:t>
            </a:r>
          </a:p>
          <a:p>
            <a:pPr/>
            <a:r>
              <a:t>•  Engage key stakeholders through interviews and workshops to align on strategic priorities and success metrics.</a:t>
            </a:r>
          </a:p>
        </p:txBody>
      </p:sp>
      <p:sp>
        <p:nvSpPr>
          <p:cNvPr id="6" name="TextBox 5">
            <a:extLst>
              <a:ext uri="{FF2B5EF4-FFF2-40B4-BE49-F238E27FC236}">
                <a16:creationId xmlns:a16="http://schemas.microsoft.com/office/drawing/2014/main" id="{27F7C101-EA36-10D2-4D7E-7A99FFA4C026}"/>
              </a:ext>
            </a:extLst>
          </p:cNvPr>
          <p:cNvSpPr txBox="1"/>
          <p:nvPr/>
        </p:nvSpPr>
        <p:spPr>
          <a:xfrm>
            <a:off x="998665" y="3645583"/>
            <a:ext cx="7146628" cy="615553"/>
          </a:xfrm>
          <a:prstGeom prst="rect">
            <a:avLst/>
          </a:prstGeom>
          <a:noFill/>
        </p:spPr>
        <p:txBody>
          <a:bodyPr wrap="square">
            <a:spAutoFit/>
          </a:bodyPr>
          <a:lstStyle/>
          <a:p>
            <a:pPr/>
            <a:r>
              <a:t>•  Facilitate strategy co-creation workshops to develop a future-state vision and detailed strategic roadmap.</a:t>
            </a:r>
            <a:endParaRPr lang="en-AE" sz="1200" i="1" dirty="0"/>
          </a:p>
          <a:p>
            <a:pPr/>
            <a:r>
              <a:t>•  Design innovative product concepts, service models, and enhanced user experiences.</a:t>
            </a:r>
          </a:p>
          <a:p>
            <a:pPr/>
            <a:r>
              <a:t>•  Develop detailed business cases and financial models to quantify impact and prioritize initiatives.</a:t>
            </a:r>
          </a:p>
          <a:p>
            <a:pPr/>
            <a:r>
              <a:t>•  Formulate a clear Go-to-Market strategy for new features and offerings.</a:t>
            </a:r>
          </a:p>
        </p:txBody>
      </p:sp>
      <p:sp>
        <p:nvSpPr>
          <p:cNvPr id="7" name="TextBox 6">
            <a:extLst>
              <a:ext uri="{FF2B5EF4-FFF2-40B4-BE49-F238E27FC236}">
                <a16:creationId xmlns:a16="http://schemas.microsoft.com/office/drawing/2014/main" id="{4E479D7B-18FE-0D1F-CF1E-8BF85800C5C2}"/>
              </a:ext>
            </a:extLst>
          </p:cNvPr>
          <p:cNvSpPr txBox="1"/>
          <p:nvPr/>
        </p:nvSpPr>
        <p:spPr>
          <a:xfrm>
            <a:off x="998665" y="4975916"/>
            <a:ext cx="7146628" cy="615553"/>
          </a:xfrm>
          <a:prstGeom prst="rect">
            <a:avLst/>
          </a:prstGeom>
          <a:noFill/>
        </p:spPr>
        <p:txBody>
          <a:bodyPr wrap="square">
            <a:spAutoFit/>
          </a:bodyPr>
          <a:lstStyle/>
          <a:p>
            <a:pPr/>
            <a:r>
              <a:t>•  Provide hands-on support for pilot implementations and change management initiatives.</a:t>
            </a:r>
            <a:endParaRPr lang="en-AE" sz="1200" i="1" dirty="0"/>
          </a:p>
          <a:p>
            <a:pPr/>
            <a:r>
              <a:t>•  Establish a robust performance measurement framework and KPI dashboards to track progress.</a:t>
            </a:r>
          </a:p>
          <a:p>
            <a:pPr/>
            <a:r>
              <a:t>•  Conduct regular reviews and provide strategic sparring to address emerging challenges and optimize execution.</a:t>
            </a:r>
          </a:p>
          <a:p>
            <a:pPr/>
            <a:r>
              <a:t>•  Develop capabilities for continuous innovation and internal ownership of strategic initiatives.</a:t>
            </a:r>
          </a:p>
        </p:txBody>
      </p:sp>
    </p:spTree>
    <p:extLst>
      <p:ext uri="{BB962C8B-B14F-4D97-AF65-F5344CB8AC3E}">
        <p14:creationId xmlns:p14="http://schemas.microsoft.com/office/powerpoint/2010/main" val="2710043180"/>
      </p:ext>
    </p:extLst>
  </p:cSld>
  <p:clrMapOvr>
    <a:masterClrMapping/>
  </p:clrMapOvr>
  <p:extLst>
    <p:ext uri="{6950BFC3-D8DA-4A85-94F7-54DA5524770B}">
      <p188:commentRel xmlns:p188="http://schemas.microsoft.com/office/powerpoint/2018/8/main" r:id="rId3"/>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0908150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13913-5321-D93D-18DC-679B11DCBA48}"/>
              </a:ext>
            </a:extLst>
          </p:cNvPr>
          <p:cNvSpPr>
            <a:spLocks noGrp="1" noRot="1" noMove="1" noResize="1" noEditPoints="1" noAdjustHandles="1" noChangeArrowheads="1" noChangeShapeType="1"/>
          </p:cNvSpPr>
          <p:nvPr>
            <p:ph type="title"/>
          </p:nvPr>
        </p:nvSpPr>
        <p:spPr/>
        <p:txBody>
          <a:bodyPr>
            <a:normAutofit/>
          </a:bodyPr>
          <a:lstStyle/>
          <a:p>
            <a:r>
              <a:rPr lang="en-US" sz="2200" dirty="0"/>
              <a:t>Pnyx Hill’s SCOPE OF SERVICES</a:t>
            </a:r>
            <a:endParaRPr sz="1800" dirty="0"/>
          </a:p>
        </p:txBody>
      </p:sp>
      <p:sp>
        <p:nvSpPr>
          <p:cNvPr id="4" name="Content Placeholder 3">
            <a:extLst>
              <a:ext uri="{FF2B5EF4-FFF2-40B4-BE49-F238E27FC236}">
                <a16:creationId xmlns:a16="http://schemas.microsoft.com/office/drawing/2014/main" id="{92680D53-D430-E573-E195-D777B3715BA9}"/>
              </a:ext>
            </a:extLst>
          </p:cNvPr>
          <p:cNvSpPr>
            <a:spLocks noGrp="1"/>
          </p:cNvSpPr>
          <p:nvPr>
            <p:ph sz="half" idx="16"/>
          </p:nvPr>
        </p:nvSpPr>
        <p:spPr>
          <a:xfrm>
            <a:off x="838200" y="1243937"/>
            <a:ext cx="1275996" cy="1706030"/>
          </a:xfrm>
        </p:spPr>
        <p:txBody>
          <a:bodyPr/>
          <a:lstStyle/>
          <a:p>
            <a:r>
              <a:rPr lang="en-US" dirty="0"/>
              <a:t>STRATEGIC SUPPORT</a:t>
            </a:r>
            <a:br>
              <a:rPr dirty="0"/>
            </a:br>
            <a:endParaRPr dirty="0"/>
          </a:p>
        </p:txBody>
      </p:sp>
      <p:sp>
        <p:nvSpPr>
          <p:cNvPr id="6" name="Content Placeholder 5">
            <a:extLst>
              <a:ext uri="{FF2B5EF4-FFF2-40B4-BE49-F238E27FC236}">
                <a16:creationId xmlns:a16="http://schemas.microsoft.com/office/drawing/2014/main" id="{CCA89EA0-E269-44B2-36DE-06A5BBD705F9}"/>
              </a:ext>
            </a:extLst>
          </p:cNvPr>
          <p:cNvSpPr>
            <a:spLocks noGrp="1"/>
          </p:cNvSpPr>
          <p:nvPr>
            <p:ph sz="half" idx="18"/>
          </p:nvPr>
        </p:nvSpPr>
        <p:spPr>
          <a:xfrm>
            <a:off x="838200" y="3125547"/>
            <a:ext cx="1275996" cy="1751835"/>
          </a:xfrm>
        </p:spPr>
        <p:txBody>
          <a:bodyPr/>
          <a:lstStyle/>
          <a:p>
            <a:endParaRPr dirty="0"/>
          </a:p>
          <a:p>
            <a:r>
              <a:rPr lang="en-US" dirty="0"/>
              <a:t>STRUCTURING &amp; ENABLERS</a:t>
            </a:r>
            <a:endParaRPr dirty="0"/>
          </a:p>
        </p:txBody>
      </p:sp>
      <p:sp>
        <p:nvSpPr>
          <p:cNvPr id="8" name="Content Placeholder 7">
            <a:extLst>
              <a:ext uri="{FF2B5EF4-FFF2-40B4-BE49-F238E27FC236}">
                <a16:creationId xmlns:a16="http://schemas.microsoft.com/office/drawing/2014/main" id="{2103AB6B-A72F-150F-7BC6-3358D22431D9}"/>
              </a:ext>
            </a:extLst>
          </p:cNvPr>
          <p:cNvSpPr>
            <a:spLocks noGrp="1"/>
          </p:cNvSpPr>
          <p:nvPr>
            <p:ph sz="half" idx="20"/>
          </p:nvPr>
        </p:nvSpPr>
        <p:spPr>
          <a:xfrm>
            <a:off x="838200" y="5052962"/>
            <a:ext cx="1275996" cy="1043038"/>
          </a:xfrm>
        </p:spPr>
        <p:txBody>
          <a:bodyPr>
            <a:normAutofit/>
          </a:bodyPr>
          <a:lstStyle/>
          <a:p>
            <a:endParaRPr lang="en-AE" sz="1100" dirty="0"/>
          </a:p>
          <a:p>
            <a:r>
              <a:rPr lang="en-US" sz="1300" dirty="0"/>
              <a:t>ONGOING SUPPORT</a:t>
            </a:r>
            <a:br>
              <a:rPr sz="1300" dirty="0"/>
            </a:br>
            <a:endParaRPr dirty="0"/>
          </a:p>
        </p:txBody>
      </p:sp>
      <p:sp>
        <p:nvSpPr>
          <p:cNvPr id="16" name="Content Placeholder 2">
            <a:extLst>
              <a:ext uri="{FF2B5EF4-FFF2-40B4-BE49-F238E27FC236}">
                <a16:creationId xmlns:a16="http://schemas.microsoft.com/office/drawing/2014/main" id="{46C6D46A-7965-B435-7C14-57F22175C380}"/>
              </a:ext>
            </a:extLst>
          </p:cNvPr>
          <p:cNvSpPr>
            <a:spLocks noGrp="1"/>
          </p:cNvSpPr>
          <p:nvPr>
            <p:ph sz="half" idx="2"/>
          </p:nvPr>
        </p:nvSpPr>
        <p:spPr>
          <a:xfrm>
            <a:off x="2428565" y="1243937"/>
            <a:ext cx="9224914" cy="1706030"/>
          </a:xfrm>
        </p:spPr>
        <p:txBody>
          <a:bodyPr>
            <a:normAutofit/>
          </a:bodyPr>
          <a:lstStyle/>
          <a:p>
            <a:pPr>
              <a:lnSpc>
                <a:spcPct val="120000"/>
              </a:lnSpc>
              <a:spcBef>
                <a:spcPts val="0"/>
              </a:spcBef>
              <a:spcAft>
                <a:spcPts val="600"/>
              </a:spcAft>
              <a:buFont typeface="Wingdings" panose="05000000000000000000" pitchFamily="2" charset="2"/>
              <a:buChar char="§"/>
            </a:pPr>
            <a:r>
              <a:t>•  **Growth Strategy Formulation**: Defining clear strategic pathways for market expansion, user acquisition, and revenue diversification.</a:t>
            </a:r>
            <a:endParaRPr dirty="0"/>
          </a:p>
          <a:p>
            <a:pPr/>
            <a:r>
              <a:t>•  **Digital Product &amp; Innovation Strategy**: Developing a forward-looking product roadmap that integrates emerging technologies like AI and enhances user value.</a:t>
            </a:r>
          </a:p>
          <a:p>
            <a:pPr/>
            <a:r>
              <a:t>•  **Competitive Intelligence &amp; Market Entry**: Providing deep insights into competitor strategies, market trends, and evaluating opportunities for new market penetration.</a:t>
            </a:r>
          </a:p>
          <a:p>
            <a:pPr/>
            <a:r>
              <a:t>•  **Business Model Transformation**: Assessing and redesigning current business models to unlock new revenue streams and improve profitability.</a:t>
            </a:r>
          </a:p>
        </p:txBody>
      </p:sp>
      <p:sp>
        <p:nvSpPr>
          <p:cNvPr id="12" name="Content Placeholder 2">
            <a:extLst>
              <a:ext uri="{FF2B5EF4-FFF2-40B4-BE49-F238E27FC236}">
                <a16:creationId xmlns:a16="http://schemas.microsoft.com/office/drawing/2014/main" id="{2DF705CC-6974-7258-485D-3EB82444ABBD}"/>
              </a:ext>
            </a:extLst>
          </p:cNvPr>
          <p:cNvSpPr txBox="1">
            <a:spLocks/>
          </p:cNvSpPr>
          <p:nvPr/>
        </p:nvSpPr>
        <p:spPr>
          <a:xfrm>
            <a:off x="2428565" y="3334642"/>
            <a:ext cx="9224914" cy="170603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900" b="0" i="0" kern="1200">
                <a:solidFill>
                  <a:schemeClr val="tx1">
                    <a:lumMod val="75000"/>
                    <a:lumOff val="25000"/>
                  </a:schemeClr>
                </a:solidFill>
                <a:latin typeface="Aptos" panose="020B00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0"/>
              </a:spcBef>
              <a:spcAft>
                <a:spcPts val="600"/>
              </a:spcAft>
              <a:buFont typeface="Wingdings" panose="05000000000000000000" pitchFamily="2" charset="2"/>
              <a:buChar char="§"/>
            </a:pPr>
            <a:r>
              <a:t>•  **Agile Operating Model Design**: Developing and implementing an agile framework to enhance speed, flexibility, and collaboration across product, engineering, and marketing teams.</a:t>
            </a:r>
            <a:endParaRPr dirty="0"/>
          </a:p>
          <a:p>
            <a:pPr/>
            <a:r>
              <a:t>•  **Data &amp; Analytics Capability Building**: Establishing a robust data infrastructure, governance model, and analytics capabilities to drive data-informed decision-making and AI integration.</a:t>
            </a:r>
          </a:p>
          <a:p>
            <a:pPr/>
            <a:r>
              <a:t>•  **Organizational Design &amp; Talent Strategy**: Optimizing organizational structure and developing a talent acquisition and retention strategy to support future growth and innovation.</a:t>
            </a:r>
          </a:p>
          <a:p>
            <a:pPr/>
            <a:r>
              <a:t>•  **Process Optimization**: Streamlining core business processes to reduce inefficiencies and improve operational effectiveness across the value chain.</a:t>
            </a:r>
          </a:p>
        </p:txBody>
      </p:sp>
      <p:sp>
        <p:nvSpPr>
          <p:cNvPr id="13" name="Content Placeholder 2">
            <a:extLst>
              <a:ext uri="{FF2B5EF4-FFF2-40B4-BE49-F238E27FC236}">
                <a16:creationId xmlns:a16="http://schemas.microsoft.com/office/drawing/2014/main" id="{53187A2B-B3C3-BD47-812E-C9AF78225BCD}"/>
              </a:ext>
            </a:extLst>
          </p:cNvPr>
          <p:cNvSpPr txBox="1">
            <a:spLocks/>
          </p:cNvSpPr>
          <p:nvPr/>
        </p:nvSpPr>
        <p:spPr>
          <a:xfrm>
            <a:off x="2428565" y="5040672"/>
            <a:ext cx="9224914" cy="57339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900" b="0" i="0" kern="1200">
                <a:solidFill>
                  <a:schemeClr val="tx1">
                    <a:lumMod val="75000"/>
                    <a:lumOff val="25000"/>
                  </a:schemeClr>
                </a:solidFill>
                <a:latin typeface="Aptos" panose="020B00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0"/>
              </a:spcBef>
              <a:spcAft>
                <a:spcPts val="600"/>
              </a:spcAft>
              <a:buFont typeface="Wingdings" panose="05000000000000000000" pitchFamily="2" charset="2"/>
              <a:buChar char="§"/>
            </a:pPr>
            <a:r>
              <a:t>•  **Executive Coaching &amp; Strategic Sparring**: Providing leadership with ongoing advisory support, critical perspectives, and a sounding board for key strategic decisions.</a:t>
            </a:r>
            <a:endParaRPr dirty="0"/>
          </a:p>
          <a:p>
            <a:pPr/>
            <a:r>
              <a:t>•  **Performance Monitoring &amp; Optimization**: Implementing and continuously refining performance dashboards and metrics to track strategy execution and identify areas for optimization.</a:t>
            </a:r>
          </a:p>
          <a:p>
            <a:pPr/>
            <a:r>
              <a:t>•  **Change Management &amp; Adoption**: Supporting the organization through strategic transitions, ensuring successful adoption of new processes, technologies, and operating models.</a:t>
            </a:r>
          </a:p>
          <a:p>
            <a:pPr/>
            <a:r>
              <a:t>•  **Future-State Scenario Planning**: Collaborating on long-term foresight, preparing Hyke for potential disruptions and emerging opportunities in the evolving market.</a:t>
            </a:r>
          </a:p>
        </p:txBody>
      </p:sp>
      <p:sp>
        <p:nvSpPr>
          <p:cNvPr id="3" name="Slide Number Placeholder 10">
            <a:extLst>
              <a:ext uri="{FF2B5EF4-FFF2-40B4-BE49-F238E27FC236}">
                <a16:creationId xmlns:a16="http://schemas.microsoft.com/office/drawing/2014/main" id="{71D706F6-78B4-8187-8249-53FE450C24F8}"/>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16321278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223AF8-0042-0AA0-134B-D6408C3F268F}"/>
            </a:ext>
          </a:extLst>
        </p:cNvPr>
        <p:cNvGrpSpPr/>
        <p:nvPr/>
      </p:nvGrpSpPr>
      <p:grpSpPr>
        <a:xfrm>
          <a:off x="0" y="0"/>
          <a:ext cx="0" cy="0"/>
          <a:chOff x="0" y="0"/>
          <a:chExt cx="0" cy="0"/>
        </a:xfrm>
      </p:grpSpPr>
      <p:sp>
        <p:nvSpPr>
          <p:cNvPr id="29" name="Title 1">
            <a:extLst>
              <a:ext uri="{FF2B5EF4-FFF2-40B4-BE49-F238E27FC236}">
                <a16:creationId xmlns:a16="http://schemas.microsoft.com/office/drawing/2014/main" id="{91E528CC-1DEC-1EC7-A1A6-A2DB81B728AA}"/>
              </a:ext>
            </a:extLst>
          </p:cNvPr>
          <p:cNvSpPr>
            <a:spLocks noGrp="1"/>
          </p:cNvSpPr>
          <p:nvPr>
            <p:ph type="title"/>
          </p:nvPr>
        </p:nvSpPr>
        <p:spPr>
          <a:xfrm>
            <a:off x="839787" y="88506"/>
            <a:ext cx="7390693" cy="823912"/>
          </a:xfrm>
        </p:spPr>
        <p:txBody>
          <a:bodyPr>
            <a:noAutofit/>
          </a:bodyPr>
          <a:lstStyle/>
          <a:p>
            <a:endParaRPr lang="en-AE" sz="2200" dirty="0"/>
          </a:p>
          <a:p>
            <a:r>
              <a:rPr sz="2200" dirty="0"/>
              <a:t>SERVICES DELIVERABLES</a:t>
            </a:r>
            <a:br>
              <a:rPr sz="2200" dirty="0"/>
            </a:br>
            <a:endParaRPr sz="1800" dirty="0"/>
          </a:p>
        </p:txBody>
      </p:sp>
      <p:pic>
        <p:nvPicPr>
          <p:cNvPr id="34" name="Picture 33">
            <a:extLst>
              <a:ext uri="{FF2B5EF4-FFF2-40B4-BE49-F238E27FC236}">
                <a16:creationId xmlns:a16="http://schemas.microsoft.com/office/drawing/2014/main" id="{88859C87-E646-C027-C9BA-64255063915F}"/>
              </a:ext>
            </a:extLst>
          </p:cNvPr>
          <p:cNvPicPr>
            <a:picLocks noChangeAspect="1"/>
          </p:cNvPicPr>
          <p:nvPr/>
        </p:nvPicPr>
        <p:blipFill>
          <a:blip r:embed="rId3"/>
          <a:stretch>
            <a:fillRect/>
          </a:stretch>
        </p:blipFill>
        <p:spPr>
          <a:xfrm>
            <a:off x="8230480" y="304016"/>
            <a:ext cx="3121732" cy="5923287"/>
          </a:xfrm>
          <a:prstGeom prst="rect">
            <a:avLst/>
          </a:prstGeom>
        </p:spPr>
      </p:pic>
      <p:grpSp>
        <p:nvGrpSpPr>
          <p:cNvPr id="42" name="Group 41">
            <a:extLst>
              <a:ext uri="{FF2B5EF4-FFF2-40B4-BE49-F238E27FC236}">
                <a16:creationId xmlns:a16="http://schemas.microsoft.com/office/drawing/2014/main" id="{4D001741-0E13-D437-6CD9-AB97C8214DB1}"/>
              </a:ext>
            </a:extLst>
          </p:cNvPr>
          <p:cNvGrpSpPr/>
          <p:nvPr/>
        </p:nvGrpSpPr>
        <p:grpSpPr>
          <a:xfrm>
            <a:off x="839787" y="1289860"/>
            <a:ext cx="3548778" cy="4919468"/>
            <a:chOff x="839787" y="1289860"/>
            <a:chExt cx="3548778" cy="4919468"/>
          </a:xfrm>
        </p:grpSpPr>
        <p:sp>
          <p:nvSpPr>
            <p:cNvPr id="31" name="Rectangle 30">
              <a:extLst>
                <a:ext uri="{FF2B5EF4-FFF2-40B4-BE49-F238E27FC236}">
                  <a16:creationId xmlns:a16="http://schemas.microsoft.com/office/drawing/2014/main" id="{72E93958-AA01-4050-4D6F-A87196AD7D68}"/>
                </a:ext>
              </a:extLst>
            </p:cNvPr>
            <p:cNvSpPr/>
            <p:nvPr/>
          </p:nvSpPr>
          <p:spPr>
            <a:xfrm>
              <a:off x="839787"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cxnSp>
          <p:nvCxnSpPr>
            <p:cNvPr id="36" name="Straight Connector 35">
              <a:extLst>
                <a:ext uri="{FF2B5EF4-FFF2-40B4-BE49-F238E27FC236}">
                  <a16:creationId xmlns:a16="http://schemas.microsoft.com/office/drawing/2014/main" id="{1869EE52-9D7E-2FC5-04E9-B113EA08C4B4}"/>
                </a:ext>
              </a:extLst>
            </p:cNvPr>
            <p:cNvCxnSpPr>
              <a:cxnSpLocks/>
            </p:cNvCxnSpPr>
            <p:nvPr/>
          </p:nvCxnSpPr>
          <p:spPr>
            <a:xfrm>
              <a:off x="839787" y="1897626"/>
              <a:ext cx="3538946" cy="0"/>
            </a:xfrm>
            <a:prstGeom prst="line">
              <a:avLst/>
            </a:prstGeom>
            <a:ln w="9525"/>
          </p:spPr>
          <p:style>
            <a:lnRef idx="2">
              <a:schemeClr val="dk1"/>
            </a:lnRef>
            <a:fillRef idx="0">
              <a:schemeClr val="dk1"/>
            </a:fillRef>
            <a:effectRef idx="1">
              <a:schemeClr val="dk1"/>
            </a:effectRef>
            <a:fontRef idx="minor">
              <a:schemeClr val="tx1"/>
            </a:fontRef>
          </p:style>
        </p:cxnSp>
      </p:grpSp>
      <p:grpSp>
        <p:nvGrpSpPr>
          <p:cNvPr id="43" name="Group 42">
            <a:extLst>
              <a:ext uri="{FF2B5EF4-FFF2-40B4-BE49-F238E27FC236}">
                <a16:creationId xmlns:a16="http://schemas.microsoft.com/office/drawing/2014/main" id="{7B6C4BDD-A4ED-1302-9F17-1E25FCDD7D6A}"/>
              </a:ext>
            </a:extLst>
          </p:cNvPr>
          <p:cNvGrpSpPr/>
          <p:nvPr/>
        </p:nvGrpSpPr>
        <p:grpSpPr>
          <a:xfrm>
            <a:off x="4573048" y="1289860"/>
            <a:ext cx="3548778" cy="4919468"/>
            <a:chOff x="4573048" y="1289860"/>
            <a:chExt cx="3548778" cy="4919468"/>
          </a:xfrm>
        </p:grpSpPr>
        <p:sp>
          <p:nvSpPr>
            <p:cNvPr id="33" name="Rectangle 32">
              <a:extLst>
                <a:ext uri="{FF2B5EF4-FFF2-40B4-BE49-F238E27FC236}">
                  <a16:creationId xmlns:a16="http://schemas.microsoft.com/office/drawing/2014/main" id="{84E59DC3-2527-4E6C-FFFE-13D74BCA0E9B}"/>
                </a:ext>
              </a:extLst>
            </p:cNvPr>
            <p:cNvSpPr/>
            <p:nvPr/>
          </p:nvSpPr>
          <p:spPr>
            <a:xfrm>
              <a:off x="4573048"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cxnSp>
          <p:nvCxnSpPr>
            <p:cNvPr id="40" name="Straight Connector 39">
              <a:extLst>
                <a:ext uri="{FF2B5EF4-FFF2-40B4-BE49-F238E27FC236}">
                  <a16:creationId xmlns:a16="http://schemas.microsoft.com/office/drawing/2014/main" id="{5DE1FAB0-FDB8-7077-6D2B-E0645262816D}"/>
                </a:ext>
              </a:extLst>
            </p:cNvPr>
            <p:cNvCxnSpPr>
              <a:cxnSpLocks/>
            </p:cNvCxnSpPr>
            <p:nvPr/>
          </p:nvCxnSpPr>
          <p:spPr>
            <a:xfrm>
              <a:off x="4573048" y="1907460"/>
              <a:ext cx="3538946" cy="0"/>
            </a:xfrm>
            <a:prstGeom prst="line">
              <a:avLst/>
            </a:prstGeom>
            <a:ln w="9525"/>
          </p:spPr>
          <p:style>
            <a:lnRef idx="2">
              <a:schemeClr val="dk1"/>
            </a:lnRef>
            <a:fillRef idx="0">
              <a:schemeClr val="dk1"/>
            </a:fillRef>
            <a:effectRef idx="1">
              <a:schemeClr val="dk1"/>
            </a:effectRef>
            <a:fontRef idx="minor">
              <a:schemeClr val="tx1"/>
            </a:fontRef>
          </p:style>
        </p:cxnSp>
      </p:grpSp>
      <p:sp>
        <p:nvSpPr>
          <p:cNvPr id="41" name="Text Placeholder 1">
            <a:extLst>
              <a:ext uri="{FF2B5EF4-FFF2-40B4-BE49-F238E27FC236}">
                <a16:creationId xmlns:a16="http://schemas.microsoft.com/office/drawing/2014/main" id="{2374A811-6337-EEA3-6CA1-983BD6A9DA32}"/>
              </a:ext>
            </a:extLst>
          </p:cNvPr>
          <p:cNvSpPr txBox="1">
            <a:spLocks/>
          </p:cNvSpPr>
          <p:nvPr/>
        </p:nvSpPr>
        <p:spPr>
          <a:xfrm>
            <a:off x="829954" y="1171341"/>
            <a:ext cx="3548779" cy="54876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AutoNum type="arabicPeriod"/>
            </a:pPr>
            <a:r>
              <a:t>Strategic Insights &amp; Market Blueprint</a:t>
            </a:r>
            <a:endParaRPr lang="en-GB" sz="1500" b="1" dirty="0">
              <a:solidFill>
                <a:srgbClr val="7D4E1D"/>
              </a:solidFill>
            </a:endParaRPr>
          </a:p>
        </p:txBody>
      </p:sp>
      <p:sp>
        <p:nvSpPr>
          <p:cNvPr id="2" name="Text Placeholder 1">
            <a:extLst>
              <a:ext uri="{FF2B5EF4-FFF2-40B4-BE49-F238E27FC236}">
                <a16:creationId xmlns:a16="http://schemas.microsoft.com/office/drawing/2014/main" id="{2CA04B7F-0889-575D-C56A-F0A2DAA5BED3}"/>
              </a:ext>
            </a:extLst>
          </p:cNvPr>
          <p:cNvSpPr txBox="1">
            <a:spLocks/>
          </p:cNvSpPr>
          <p:nvPr/>
        </p:nvSpPr>
        <p:spPr>
          <a:xfrm>
            <a:off x="4627374" y="1169972"/>
            <a:ext cx="3548779" cy="54876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t>Product &amp; User Experience Roadmapping</a:t>
            </a:r>
            <a:endParaRPr lang="en-GB" sz="1500" b="1" dirty="0">
              <a:solidFill>
                <a:srgbClr val="7D4E1D"/>
              </a:solidFill>
            </a:endParaRPr>
          </a:p>
        </p:txBody>
      </p:sp>
      <p:sp>
        <p:nvSpPr>
          <p:cNvPr id="4" name="TextBox 3">
            <a:extLst>
              <a:ext uri="{FF2B5EF4-FFF2-40B4-BE49-F238E27FC236}">
                <a16:creationId xmlns:a16="http://schemas.microsoft.com/office/drawing/2014/main" id="{F41ACD24-4209-A5D8-1097-891D1D5DA49C}"/>
              </a:ext>
            </a:extLst>
          </p:cNvPr>
          <p:cNvSpPr txBox="1"/>
          <p:nvPr/>
        </p:nvSpPr>
        <p:spPr>
          <a:xfrm>
            <a:off x="977104" y="2075145"/>
            <a:ext cx="3254477" cy="646331"/>
          </a:xfrm>
          <a:prstGeom prst="rect">
            <a:avLst/>
          </a:prstGeom>
          <a:noFill/>
        </p:spPr>
        <p:txBody>
          <a:bodyPr wrap="square">
            <a:spAutoFit/>
          </a:bodyPr>
          <a:lstStyle/>
          <a:p>
            <a:pPr/>
            <a:r>
              <a:t>•  Detailed market sizing and segmentation analysis, identifying high-potential growth areas.</a:t>
            </a:r>
            <a:endParaRPr lang="en-AE" sz="1200" i="1" dirty="0"/>
          </a:p>
          <a:p>
            <a:pPr/>
            <a:r>
              <a:t>•  Competitive landscape analysis, including competitor profiles, strengths, weaknesses, and strategic moves.</a:t>
            </a:r>
          </a:p>
          <a:p>
            <a:pPr/>
            <a:r>
              <a:t>•  Opportunity matrix outlining white spaces and differentiated value propositions for Hyke.</a:t>
            </a:r>
          </a:p>
          <a:p>
            <a:pPr/>
            <a:r>
              <a:t>•  Growth hypothesis validation based on primary and secondary research.</a:t>
            </a:r>
          </a:p>
        </p:txBody>
      </p:sp>
      <p:sp>
        <p:nvSpPr>
          <p:cNvPr id="5" name="TextBox 4">
            <a:extLst>
              <a:ext uri="{FF2B5EF4-FFF2-40B4-BE49-F238E27FC236}">
                <a16:creationId xmlns:a16="http://schemas.microsoft.com/office/drawing/2014/main" id="{0129D5FA-8B59-B1A8-3B87-F2F778D1E6E5}"/>
              </a:ext>
            </a:extLst>
          </p:cNvPr>
          <p:cNvSpPr txBox="1"/>
          <p:nvPr/>
        </p:nvSpPr>
        <p:spPr>
          <a:xfrm>
            <a:off x="4715282" y="2075144"/>
            <a:ext cx="3254477" cy="646331"/>
          </a:xfrm>
          <a:prstGeom prst="rect">
            <a:avLst/>
          </a:prstGeom>
          <a:noFill/>
        </p:spPr>
        <p:txBody>
          <a:bodyPr wrap="square">
            <a:spAutoFit/>
          </a:bodyPr>
          <a:lstStyle/>
          <a:p>
            <a:pPr/>
            <a:r>
              <a:t>•  Comprehensive UX/UI audit report with actionable recommendations for design and feature enhancements.</a:t>
            </a:r>
            <a:endParaRPr lang="en-AE" sz="1200" i="1" dirty="0"/>
          </a:p>
          <a:p>
            <a:pPr/>
            <a:r>
              <a:t>•  Prioritized feature backlog and release plan, balancing user needs with technical feasibility and business impact.</a:t>
            </a:r>
          </a:p>
          <a:p>
            <a:pPr/>
            <a:r>
              <a:t>•  User journey maps and persona development to inform targeted product development.</a:t>
            </a:r>
          </a:p>
          <a:p>
            <a:pPr/>
            <a:r>
              <a:t>•  Prototyping and testing framework for new product features and user flows.</a:t>
            </a:r>
          </a:p>
        </p:txBody>
      </p:sp>
      <p:sp>
        <p:nvSpPr>
          <p:cNvPr id="3" name="Slide Number Placeholder 10">
            <a:extLst>
              <a:ext uri="{FF2B5EF4-FFF2-40B4-BE49-F238E27FC236}">
                <a16:creationId xmlns:a16="http://schemas.microsoft.com/office/drawing/2014/main" id="{23DDFFE6-02F5-2FD5-A8F3-82A624B5B06F}"/>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219523490"/>
      </p:ext>
    </p:extLst>
  </p:cSld>
  <p:clrMapOvr>
    <a:masterClrMapping/>
  </p:clrMapOvr>
  <p:extLst>
    <p:ext uri="{6950BFC3-D8DA-4A85-94F7-54DA5524770B}">
      <p188:commentRel xmlns:p188="http://schemas.microsoft.com/office/powerpoint/2018/8/main" r:id="rId2"/>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43142F-4A41-3D4E-BE21-65EFC2E2F9A2}"/>
            </a:ext>
          </a:extLst>
        </p:cNvPr>
        <p:cNvGrpSpPr/>
        <p:nvPr/>
      </p:nvGrpSpPr>
      <p:grpSpPr>
        <a:xfrm>
          <a:off x="0" y="0"/>
          <a:ext cx="0" cy="0"/>
          <a:chOff x="0" y="0"/>
          <a:chExt cx="0" cy="0"/>
        </a:xfrm>
      </p:grpSpPr>
      <p:sp>
        <p:nvSpPr>
          <p:cNvPr id="11" name="Slide Number Placeholder 10">
            <a:extLst>
              <a:ext uri="{FF2B5EF4-FFF2-40B4-BE49-F238E27FC236}">
                <a16:creationId xmlns:a16="http://schemas.microsoft.com/office/drawing/2014/main" id="{4378B34E-EAB7-F8D1-AD02-1CBCD552E977}"/>
              </a:ext>
            </a:extLst>
          </p:cNvPr>
          <p:cNvSpPr>
            <a:spLocks noGrp="1" noRot="1" noMove="1" noResize="1" noEditPoints="1" noAdjustHandles="1" noChangeArrowheads="1" noChangeShapeType="1"/>
          </p:cNvSpPr>
          <p:nvPr>
            <p:ph type="sldNum" sz="quarter" idx="12"/>
          </p:nvPr>
        </p:nvSpPr>
        <p:spPr/>
        <p:txBody>
          <a:bodyPr/>
          <a:lstStyle/>
          <a:p>
            <a:endParaRPr dirty="0"/>
          </a:p>
        </p:txBody>
      </p:sp>
      <p:pic>
        <p:nvPicPr>
          <p:cNvPr id="34" name="Picture 33">
            <a:extLst>
              <a:ext uri="{FF2B5EF4-FFF2-40B4-BE49-F238E27FC236}">
                <a16:creationId xmlns:a16="http://schemas.microsoft.com/office/drawing/2014/main" id="{C71C5D2C-C8ED-CFA1-684E-0CD12675CF77}"/>
              </a:ext>
            </a:extLst>
          </p:cNvPr>
          <p:cNvPicPr>
            <a:picLocks noChangeAspect="1"/>
          </p:cNvPicPr>
          <p:nvPr/>
        </p:nvPicPr>
        <p:blipFill>
          <a:blip r:embed="rId3"/>
          <a:stretch>
            <a:fillRect/>
          </a:stretch>
        </p:blipFill>
        <p:spPr>
          <a:xfrm>
            <a:off x="8230480" y="304016"/>
            <a:ext cx="3121732" cy="5923287"/>
          </a:xfrm>
          <a:prstGeom prst="rect">
            <a:avLst/>
          </a:prstGeom>
        </p:spPr>
      </p:pic>
      <p:grpSp>
        <p:nvGrpSpPr>
          <p:cNvPr id="42" name="Group 41">
            <a:extLst>
              <a:ext uri="{FF2B5EF4-FFF2-40B4-BE49-F238E27FC236}">
                <a16:creationId xmlns:a16="http://schemas.microsoft.com/office/drawing/2014/main" id="{9373A9C4-32B2-B0A9-BEC8-730358AB11F7}"/>
              </a:ext>
            </a:extLst>
          </p:cNvPr>
          <p:cNvGrpSpPr/>
          <p:nvPr/>
        </p:nvGrpSpPr>
        <p:grpSpPr>
          <a:xfrm>
            <a:off x="839787" y="1289860"/>
            <a:ext cx="3548778" cy="4919468"/>
            <a:chOff x="839787" y="1289860"/>
            <a:chExt cx="3548778" cy="4919468"/>
          </a:xfrm>
        </p:grpSpPr>
        <p:sp>
          <p:nvSpPr>
            <p:cNvPr id="31" name="Rectangle 30">
              <a:extLst>
                <a:ext uri="{FF2B5EF4-FFF2-40B4-BE49-F238E27FC236}">
                  <a16:creationId xmlns:a16="http://schemas.microsoft.com/office/drawing/2014/main" id="{4CC3FF8C-4F21-3616-97A9-145CDFB103FB}"/>
                </a:ext>
              </a:extLst>
            </p:cNvPr>
            <p:cNvSpPr/>
            <p:nvPr/>
          </p:nvSpPr>
          <p:spPr>
            <a:xfrm>
              <a:off x="839787"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cxnSp>
          <p:nvCxnSpPr>
            <p:cNvPr id="36" name="Straight Connector 35">
              <a:extLst>
                <a:ext uri="{FF2B5EF4-FFF2-40B4-BE49-F238E27FC236}">
                  <a16:creationId xmlns:a16="http://schemas.microsoft.com/office/drawing/2014/main" id="{5DF781A6-D7A4-EF12-3034-22E9D3E364E9}"/>
                </a:ext>
              </a:extLst>
            </p:cNvPr>
            <p:cNvCxnSpPr>
              <a:cxnSpLocks/>
            </p:cNvCxnSpPr>
            <p:nvPr/>
          </p:nvCxnSpPr>
          <p:spPr>
            <a:xfrm>
              <a:off x="839787" y="1897626"/>
              <a:ext cx="3538946" cy="0"/>
            </a:xfrm>
            <a:prstGeom prst="line">
              <a:avLst/>
            </a:prstGeom>
            <a:ln w="9525"/>
          </p:spPr>
          <p:style>
            <a:lnRef idx="2">
              <a:schemeClr val="dk1"/>
            </a:lnRef>
            <a:fillRef idx="0">
              <a:schemeClr val="dk1"/>
            </a:fillRef>
            <a:effectRef idx="1">
              <a:schemeClr val="dk1"/>
            </a:effectRef>
            <a:fontRef idx="minor">
              <a:schemeClr val="tx1"/>
            </a:fontRef>
          </p:style>
        </p:cxnSp>
      </p:grpSp>
      <p:grpSp>
        <p:nvGrpSpPr>
          <p:cNvPr id="43" name="Group 42">
            <a:extLst>
              <a:ext uri="{FF2B5EF4-FFF2-40B4-BE49-F238E27FC236}">
                <a16:creationId xmlns:a16="http://schemas.microsoft.com/office/drawing/2014/main" id="{0CF6BD07-223A-9FD0-0E6A-43CBF93285FA}"/>
              </a:ext>
            </a:extLst>
          </p:cNvPr>
          <p:cNvGrpSpPr/>
          <p:nvPr/>
        </p:nvGrpSpPr>
        <p:grpSpPr>
          <a:xfrm>
            <a:off x="4573048" y="1289860"/>
            <a:ext cx="3548778" cy="4919468"/>
            <a:chOff x="4573048" y="1289860"/>
            <a:chExt cx="3548778" cy="4919468"/>
          </a:xfrm>
        </p:grpSpPr>
        <p:sp>
          <p:nvSpPr>
            <p:cNvPr id="33" name="Rectangle 32">
              <a:extLst>
                <a:ext uri="{FF2B5EF4-FFF2-40B4-BE49-F238E27FC236}">
                  <a16:creationId xmlns:a16="http://schemas.microsoft.com/office/drawing/2014/main" id="{90FC3E5C-7A3E-2CA7-BCBE-820BEB035615}"/>
                </a:ext>
              </a:extLst>
            </p:cNvPr>
            <p:cNvSpPr/>
            <p:nvPr/>
          </p:nvSpPr>
          <p:spPr>
            <a:xfrm>
              <a:off x="4573048"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cxnSp>
          <p:nvCxnSpPr>
            <p:cNvPr id="40" name="Straight Connector 39">
              <a:extLst>
                <a:ext uri="{FF2B5EF4-FFF2-40B4-BE49-F238E27FC236}">
                  <a16:creationId xmlns:a16="http://schemas.microsoft.com/office/drawing/2014/main" id="{0F47EEBB-67D4-6422-6568-152ADA8832D9}"/>
                </a:ext>
              </a:extLst>
            </p:cNvPr>
            <p:cNvCxnSpPr>
              <a:cxnSpLocks/>
            </p:cNvCxnSpPr>
            <p:nvPr/>
          </p:nvCxnSpPr>
          <p:spPr>
            <a:xfrm>
              <a:off x="4573048" y="1907460"/>
              <a:ext cx="3538946" cy="0"/>
            </a:xfrm>
            <a:prstGeom prst="line">
              <a:avLst/>
            </a:prstGeom>
            <a:ln w="9525"/>
          </p:spPr>
          <p:style>
            <a:lnRef idx="2">
              <a:schemeClr val="dk1"/>
            </a:lnRef>
            <a:fillRef idx="0">
              <a:schemeClr val="dk1"/>
            </a:fillRef>
            <a:effectRef idx="1">
              <a:schemeClr val="dk1"/>
            </a:effectRef>
            <a:fontRef idx="minor">
              <a:schemeClr val="tx1"/>
            </a:fontRef>
          </p:style>
        </p:cxnSp>
      </p:grpSp>
      <p:sp>
        <p:nvSpPr>
          <p:cNvPr id="4" name="Text Placeholder 1">
            <a:extLst>
              <a:ext uri="{FF2B5EF4-FFF2-40B4-BE49-F238E27FC236}">
                <a16:creationId xmlns:a16="http://schemas.microsoft.com/office/drawing/2014/main" id="{F61DCCE8-571B-4F7C-77CA-391BAE27EF69}"/>
              </a:ext>
            </a:extLst>
          </p:cNvPr>
          <p:cNvSpPr txBox="1">
            <a:spLocks/>
          </p:cNvSpPr>
          <p:nvPr/>
        </p:nvSpPr>
        <p:spPr>
          <a:xfrm>
            <a:off x="4681701" y="1229646"/>
            <a:ext cx="3548779" cy="54876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t>Implementation &amp; Growth Acceleration Plan</a:t>
            </a:r>
            <a:endParaRPr lang="en-GB" sz="1500" b="1" dirty="0">
              <a:solidFill>
                <a:srgbClr val="7D4E1D"/>
              </a:solidFill>
            </a:endParaRPr>
          </a:p>
        </p:txBody>
      </p:sp>
      <p:sp>
        <p:nvSpPr>
          <p:cNvPr id="5" name="Text Placeholder 1">
            <a:extLst>
              <a:ext uri="{FF2B5EF4-FFF2-40B4-BE49-F238E27FC236}">
                <a16:creationId xmlns:a16="http://schemas.microsoft.com/office/drawing/2014/main" id="{1BC761C1-D21A-DAE3-F71A-97F5A50D23FF}"/>
              </a:ext>
            </a:extLst>
          </p:cNvPr>
          <p:cNvSpPr txBox="1">
            <a:spLocks/>
          </p:cNvSpPr>
          <p:nvPr/>
        </p:nvSpPr>
        <p:spPr>
          <a:xfrm>
            <a:off x="877701" y="1241420"/>
            <a:ext cx="3548779" cy="54876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t>Operational Excellence &amp; AI Integration</a:t>
            </a:r>
            <a:endParaRPr lang="en-GB" sz="1500" b="1" dirty="0">
              <a:solidFill>
                <a:srgbClr val="7D4E1D"/>
              </a:solidFill>
            </a:endParaRPr>
          </a:p>
        </p:txBody>
      </p:sp>
      <p:sp>
        <p:nvSpPr>
          <p:cNvPr id="12" name="Title 1">
            <a:extLst>
              <a:ext uri="{FF2B5EF4-FFF2-40B4-BE49-F238E27FC236}">
                <a16:creationId xmlns:a16="http://schemas.microsoft.com/office/drawing/2014/main" id="{69386124-EC2C-4293-F431-CD6463A69F95}"/>
              </a:ext>
            </a:extLst>
          </p:cNvPr>
          <p:cNvSpPr>
            <a:spLocks noGrp="1"/>
          </p:cNvSpPr>
          <p:nvPr>
            <p:ph type="title"/>
          </p:nvPr>
        </p:nvSpPr>
        <p:spPr>
          <a:xfrm>
            <a:off x="839787" y="88506"/>
            <a:ext cx="7390693" cy="823912"/>
          </a:xfrm>
        </p:spPr>
        <p:txBody>
          <a:bodyPr>
            <a:noAutofit/>
          </a:bodyPr>
          <a:lstStyle/>
          <a:p>
            <a:endParaRPr lang="en-AE" sz="2200" dirty="0"/>
          </a:p>
          <a:p>
            <a:r>
              <a:rPr sz="2200" dirty="0"/>
              <a:t>SERVICES DELIVERABLES</a:t>
            </a:r>
            <a:br>
              <a:rPr sz="2200" dirty="0"/>
            </a:br>
            <a:endParaRPr sz="1800" dirty="0"/>
          </a:p>
        </p:txBody>
      </p:sp>
      <p:sp>
        <p:nvSpPr>
          <p:cNvPr id="13" name="TextBox 12">
            <a:extLst>
              <a:ext uri="{FF2B5EF4-FFF2-40B4-BE49-F238E27FC236}">
                <a16:creationId xmlns:a16="http://schemas.microsoft.com/office/drawing/2014/main" id="{72139180-8083-B418-4FEC-002D4F85DDDB}"/>
              </a:ext>
            </a:extLst>
          </p:cNvPr>
          <p:cNvSpPr txBox="1"/>
          <p:nvPr/>
        </p:nvSpPr>
        <p:spPr>
          <a:xfrm>
            <a:off x="977104" y="2075145"/>
            <a:ext cx="3254477" cy="461665"/>
          </a:xfrm>
          <a:prstGeom prst="rect">
            <a:avLst/>
          </a:prstGeom>
          <a:noFill/>
        </p:spPr>
        <p:txBody>
          <a:bodyPr wrap="square">
            <a:spAutoFit/>
          </a:bodyPr>
          <a:lstStyle/>
          <a:p>
            <a:pPr/>
            <a:r>
              <a:t>•  Agile transformation roadmap, including recommended ceremonies, roles, and tools.</a:t>
            </a:r>
            <a:endParaRPr lang="en-US" sz="1200" i="1" dirty="0"/>
          </a:p>
          <a:p>
            <a:pPr/>
            <a:r>
              <a:t>•  AI capability assessment and technology roadmap for integrating machine learning into Hyke's product.</a:t>
            </a:r>
          </a:p>
          <a:p>
            <a:pPr/>
            <a:r>
              <a:t>•  Data strategy framework encompassing collection, governance, and analytics pipelines.</a:t>
            </a:r>
          </a:p>
          <a:p>
            <a:pPr/>
            <a:r>
              <a:t>•  Recommendations for optimizing operational workflows and resource allocation.</a:t>
            </a:r>
          </a:p>
        </p:txBody>
      </p:sp>
      <p:sp>
        <p:nvSpPr>
          <p:cNvPr id="14" name="TextBox 13">
            <a:extLst>
              <a:ext uri="{FF2B5EF4-FFF2-40B4-BE49-F238E27FC236}">
                <a16:creationId xmlns:a16="http://schemas.microsoft.com/office/drawing/2014/main" id="{FA44F50F-174E-BDE9-23CB-65A44E70D000}"/>
              </a:ext>
            </a:extLst>
          </p:cNvPr>
          <p:cNvSpPr txBox="1"/>
          <p:nvPr/>
        </p:nvSpPr>
        <p:spPr>
          <a:xfrm>
            <a:off x="4715282" y="2075144"/>
            <a:ext cx="3254477" cy="461665"/>
          </a:xfrm>
          <a:prstGeom prst="rect">
            <a:avLst/>
          </a:prstGeom>
          <a:noFill/>
        </p:spPr>
        <p:txBody>
          <a:bodyPr wrap="square">
            <a:spAutoFit/>
          </a:bodyPr>
          <a:lstStyle/>
          <a:p>
            <a:pPr/>
            <a:r>
              <a:t>•  Detailed Go-to-Market (GTM) strategy document for launching new features or services, including pricing, channels, and messaging.</a:t>
            </a:r>
            <a:endParaRPr lang="en-AE" sz="1200" i="1" dirty="0"/>
          </a:p>
          <a:p>
            <a:pPr/>
            <a:r>
              <a:t>•  Customized performance KPI dashboard and reporting framework for continuous monitoring and decision-making.</a:t>
            </a:r>
          </a:p>
          <a:p>
            <a:pPr/>
            <a:r>
              <a:t>•  Change management playbook to facilitate smooth organizational adoption and transition.</a:t>
            </a:r>
          </a:p>
          <a:p>
            <a:pPr/>
            <a:r>
              <a:t>•  Recommendations for iterative improvement and a framework for measuring ROI of strategic initiatives.</a:t>
            </a:r>
          </a:p>
        </p:txBody>
      </p:sp>
    </p:spTree>
    <p:extLst>
      <p:ext uri="{BB962C8B-B14F-4D97-AF65-F5344CB8AC3E}">
        <p14:creationId xmlns:p14="http://schemas.microsoft.com/office/powerpoint/2010/main" val="206556200"/>
      </p:ext>
    </p:extLst>
  </p:cSld>
  <p:clrMapOvr>
    <a:masterClrMapping/>
  </p:clrMapOvr>
  <p:extLst>
    <p:ext uri="{6950BFC3-D8DA-4A85-94F7-54DA5524770B}">
      <p188:commentRel xmlns:p188="http://schemas.microsoft.com/office/powerpoint/2018/8/main" r:id="rId2"/>
    </p:ext>
  </p:extLs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D8D830-DE7A-1950-0ABE-3643403EB0B8}"/>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84D8A6CE-3187-9226-930C-4F60EC626DE0}"/>
              </a:ext>
            </a:extLst>
          </p:cNvPr>
          <p:cNvSpPr/>
          <p:nvPr/>
        </p:nvSpPr>
        <p:spPr>
          <a:xfrm>
            <a:off x="836610" y="1278194"/>
            <a:ext cx="7245506" cy="4945982"/>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sp>
        <p:nvSpPr>
          <p:cNvPr id="3" name="Title 2">
            <a:extLst>
              <a:ext uri="{FF2B5EF4-FFF2-40B4-BE49-F238E27FC236}">
                <a16:creationId xmlns:a16="http://schemas.microsoft.com/office/drawing/2014/main" id="{F2B985C6-58F0-C5C3-7EC3-8ED1EF1656BF}"/>
              </a:ext>
            </a:extLst>
          </p:cNvPr>
          <p:cNvSpPr>
            <a:spLocks noGrp="1"/>
          </p:cNvSpPr>
          <p:nvPr>
            <p:ph type="title"/>
          </p:nvPr>
        </p:nvSpPr>
        <p:spPr>
          <a:xfrm>
            <a:off x="839788" y="365126"/>
            <a:ext cx="7243012" cy="502722"/>
          </a:xfrm>
        </p:spPr>
        <p:txBody>
          <a:bodyPr/>
          <a:lstStyle/>
          <a:p>
            <a:r>
              <a:rPr lang="en-US" dirty="0"/>
              <a:t>Engagement Partners</a:t>
            </a:r>
            <a:endParaRPr lang="en-AE" dirty="0"/>
          </a:p>
        </p:txBody>
      </p:sp>
      <p:sp>
        <p:nvSpPr>
          <p:cNvPr id="8" name="Content Placeholder 5">
            <a:extLst>
              <a:ext uri="{FF2B5EF4-FFF2-40B4-BE49-F238E27FC236}">
                <a16:creationId xmlns:a16="http://schemas.microsoft.com/office/drawing/2014/main" id="{7C33B09B-7059-DB7F-94DB-26EAA331BEC5}"/>
              </a:ext>
            </a:extLst>
          </p:cNvPr>
          <p:cNvSpPr txBox="1">
            <a:spLocks/>
          </p:cNvSpPr>
          <p:nvPr/>
        </p:nvSpPr>
        <p:spPr>
          <a:xfrm>
            <a:off x="836610" y="3367850"/>
            <a:ext cx="1912175" cy="55912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dirty="0"/>
              <a:t>Andreas Kourouklaris</a:t>
            </a:r>
          </a:p>
          <a:p>
            <a:pPr marL="0" indent="0" algn="ctr">
              <a:buNone/>
            </a:pPr>
            <a:r>
              <a:rPr lang="en-US" dirty="0">
                <a:solidFill>
                  <a:srgbClr val="0B2339"/>
                </a:solidFill>
                <a:latin typeface="Aptos Light" panose="020B0004020202020204" pitchFamily="34" charset="0"/>
              </a:rPr>
              <a:t>Co-founder and Group CEO</a:t>
            </a:r>
            <a:endParaRPr lang="en-AE" dirty="0">
              <a:solidFill>
                <a:srgbClr val="0B2339"/>
              </a:solidFill>
              <a:latin typeface="Aptos Light" panose="020B0004020202020204" pitchFamily="34" charset="0"/>
            </a:endParaRPr>
          </a:p>
        </p:txBody>
      </p:sp>
      <p:sp>
        <p:nvSpPr>
          <p:cNvPr id="9" name="Content Placeholder 10">
            <a:extLst>
              <a:ext uri="{FF2B5EF4-FFF2-40B4-BE49-F238E27FC236}">
                <a16:creationId xmlns:a16="http://schemas.microsoft.com/office/drawing/2014/main" id="{16FBFFEF-406D-D3FA-6C4C-44BE980BB2C4}"/>
              </a:ext>
            </a:extLst>
          </p:cNvPr>
          <p:cNvSpPr txBox="1">
            <a:spLocks/>
          </p:cNvSpPr>
          <p:nvPr/>
        </p:nvSpPr>
        <p:spPr>
          <a:xfrm>
            <a:off x="2886516" y="1742349"/>
            <a:ext cx="5057868" cy="218461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Andreas is a senior executive, serial entrepreneur, and expert strategist specializing in hyper-growth sustainable strategy, operations, and business development. He has led global regulatory initiatives, commercial operations, investor relations, and fundraising efforts. </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Andreas has held C-level positions and served as an executive director in several international licensed entities. He has launched local and international operations, achieving significant transaction volumes and revenue in multiple countries across MEA, SEA, CA, and EU, including the UAE, Bahrain, Kenya, Mozambique, Uganda, Philippines, Bangladesh, Kazakhstan, Singapore, Cyprus, and others. </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Andreas has managed under operational structures over 300 employees and directly/indirectly secured over USD 50 million in equity investments. He holds a BSc and MSc in engineering from AUTH University of Thessaloniki, Greece.</a:t>
            </a:r>
          </a:p>
        </p:txBody>
      </p:sp>
      <p:pic>
        <p:nvPicPr>
          <p:cNvPr id="10" name="Picture 9">
            <a:extLst>
              <a:ext uri="{FF2B5EF4-FFF2-40B4-BE49-F238E27FC236}">
                <a16:creationId xmlns:a16="http://schemas.microsoft.com/office/drawing/2014/main" id="{33390038-1182-B041-399A-73C4093421C1}"/>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16000" contrast="-19000"/>
                    </a14:imgEffect>
                  </a14:imgLayer>
                </a14:imgProps>
              </a:ext>
            </a:extLst>
          </a:blip>
          <a:srcRect l="4825" r="4825"/>
          <a:stretch/>
        </p:blipFill>
        <p:spPr bwMode="auto">
          <a:xfrm>
            <a:off x="995254" y="1746457"/>
            <a:ext cx="1594886" cy="1594886"/>
          </a:xfrm>
          <a:prstGeom prst="ellipse">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cxnSp>
        <p:nvCxnSpPr>
          <p:cNvPr id="14" name="Straight Connector 13">
            <a:extLst>
              <a:ext uri="{FF2B5EF4-FFF2-40B4-BE49-F238E27FC236}">
                <a16:creationId xmlns:a16="http://schemas.microsoft.com/office/drawing/2014/main" id="{50F5ED5D-5AB0-7524-6A2C-92C5F2CA5B8C}"/>
              </a:ext>
            </a:extLst>
          </p:cNvPr>
          <p:cNvCxnSpPr>
            <a:cxnSpLocks/>
          </p:cNvCxnSpPr>
          <p:nvPr/>
        </p:nvCxnSpPr>
        <p:spPr>
          <a:xfrm>
            <a:off x="839787" y="1661654"/>
            <a:ext cx="7242329" cy="0"/>
          </a:xfrm>
          <a:prstGeom prst="line">
            <a:avLst/>
          </a:prstGeom>
          <a:ln w="9525"/>
        </p:spPr>
        <p:style>
          <a:lnRef idx="2">
            <a:schemeClr val="dk1"/>
          </a:lnRef>
          <a:fillRef idx="0">
            <a:schemeClr val="dk1"/>
          </a:fillRef>
          <a:effectRef idx="1">
            <a:schemeClr val="dk1"/>
          </a:effectRef>
          <a:fontRef idx="minor">
            <a:schemeClr val="tx1"/>
          </a:fontRef>
        </p:style>
      </p:cxnSp>
      <p:sp>
        <p:nvSpPr>
          <p:cNvPr id="16" name="Text Placeholder 1">
            <a:extLst>
              <a:ext uri="{FF2B5EF4-FFF2-40B4-BE49-F238E27FC236}">
                <a16:creationId xmlns:a16="http://schemas.microsoft.com/office/drawing/2014/main" id="{896E69A8-7132-3897-EEB0-7324EA71D385}"/>
              </a:ext>
            </a:extLst>
          </p:cNvPr>
          <p:cNvSpPr txBox="1">
            <a:spLocks/>
          </p:cNvSpPr>
          <p:nvPr/>
        </p:nvSpPr>
        <p:spPr>
          <a:xfrm>
            <a:off x="839787" y="1358889"/>
            <a:ext cx="3548779" cy="30276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700" b="1" dirty="0">
                <a:solidFill>
                  <a:srgbClr val="7D4E1D"/>
                </a:solidFill>
              </a:rPr>
              <a:t>Client Excellence </a:t>
            </a:r>
            <a:endParaRPr lang="en-GB" sz="1700" b="1" dirty="0">
              <a:solidFill>
                <a:srgbClr val="7D4E1D"/>
              </a:solidFill>
            </a:endParaRPr>
          </a:p>
        </p:txBody>
      </p:sp>
      <p:sp>
        <p:nvSpPr>
          <p:cNvPr id="19" name="TextBox 18">
            <a:extLst>
              <a:ext uri="{FF2B5EF4-FFF2-40B4-BE49-F238E27FC236}">
                <a16:creationId xmlns:a16="http://schemas.microsoft.com/office/drawing/2014/main" id="{8EB3B24F-5900-545B-30C0-6A1F793945E6}"/>
              </a:ext>
            </a:extLst>
          </p:cNvPr>
          <p:cNvSpPr txBox="1"/>
          <p:nvPr/>
        </p:nvSpPr>
        <p:spPr>
          <a:xfrm>
            <a:off x="8701549" y="683182"/>
            <a:ext cx="2340077" cy="369332"/>
          </a:xfrm>
          <a:prstGeom prst="rect">
            <a:avLst/>
          </a:prstGeom>
          <a:solidFill>
            <a:srgbClr val="0B2339"/>
          </a:solidFill>
        </p:spPr>
        <p:txBody>
          <a:bodyPr wrap="square" rtlCol="0">
            <a:spAutoFit/>
          </a:bodyPr>
          <a:lstStyle/>
          <a:p>
            <a:endParaRPr lang="en-AE" dirty="0"/>
          </a:p>
        </p:txBody>
      </p:sp>
      <p:sp>
        <p:nvSpPr>
          <p:cNvPr id="21" name="Text Placeholder 1">
            <a:extLst>
              <a:ext uri="{FF2B5EF4-FFF2-40B4-BE49-F238E27FC236}">
                <a16:creationId xmlns:a16="http://schemas.microsoft.com/office/drawing/2014/main" id="{B2792EF3-DD65-5864-063C-C9AB1A5C9CCD}"/>
              </a:ext>
            </a:extLst>
          </p:cNvPr>
          <p:cNvSpPr txBox="1">
            <a:spLocks/>
          </p:cNvSpPr>
          <p:nvPr/>
        </p:nvSpPr>
        <p:spPr>
          <a:xfrm>
            <a:off x="8258226" y="1332173"/>
            <a:ext cx="2743199" cy="36512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700" b="1" dirty="0">
                <a:solidFill>
                  <a:schemeClr val="bg1"/>
                </a:solidFill>
              </a:rPr>
              <a:t>Expertise Driving Impact</a:t>
            </a:r>
          </a:p>
        </p:txBody>
      </p:sp>
      <p:sp>
        <p:nvSpPr>
          <p:cNvPr id="22" name="Content Placeholder 10">
            <a:extLst>
              <a:ext uri="{FF2B5EF4-FFF2-40B4-BE49-F238E27FC236}">
                <a16:creationId xmlns:a16="http://schemas.microsoft.com/office/drawing/2014/main" id="{A19C0737-A013-DC33-ECBE-614F88A01040}"/>
              </a:ext>
            </a:extLst>
          </p:cNvPr>
          <p:cNvSpPr txBox="1">
            <a:spLocks/>
          </p:cNvSpPr>
          <p:nvPr/>
        </p:nvSpPr>
        <p:spPr>
          <a:xfrm>
            <a:off x="8258226" y="1742349"/>
            <a:ext cx="3019374" cy="218461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At Pnyx Hill, our strength lies in our people.</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We are a powerhouse of seasoned experts, bringing together deep knowledge across:</a:t>
            </a:r>
          </a:p>
          <a:p>
            <a:pPr marL="0" indent="0" algn="just">
              <a:lnSpc>
                <a:spcPct val="100000"/>
              </a:lnSpc>
              <a:spcBef>
                <a:spcPts val="400"/>
              </a:spcBef>
              <a:spcAft>
                <a:spcPts val="400"/>
              </a:spcAft>
              <a:buFont typeface="Arial" panose="020B0604020202020204" pitchFamily="34" charset="0"/>
              <a:buNone/>
            </a:pPr>
            <a:br>
              <a:rPr lang="en-US" dirty="0">
                <a:solidFill>
                  <a:schemeClr val="bg1"/>
                </a:solidFill>
              </a:rPr>
            </a:br>
            <a:r>
              <a:rPr lang="en-US" dirty="0">
                <a:solidFill>
                  <a:schemeClr val="bg1"/>
                </a:solidFill>
              </a:rPr>
              <a:t>🧠 Business Development</a:t>
            </a:r>
          </a:p>
          <a:p>
            <a:pPr marL="0" indent="0" algn="just">
              <a:lnSpc>
                <a:spcPct val="100000"/>
              </a:lnSpc>
              <a:spcBef>
                <a:spcPts val="400"/>
              </a:spcBef>
              <a:spcAft>
                <a:spcPts val="400"/>
              </a:spcAft>
              <a:buFont typeface="Arial" panose="020B0604020202020204" pitchFamily="34" charset="0"/>
              <a:buNone/>
            </a:pPr>
            <a:r>
              <a:rPr lang="en-AE" dirty="0"/>
              <a:t>🌍 </a:t>
            </a:r>
            <a:r>
              <a:rPr lang="en-US" dirty="0">
                <a:solidFill>
                  <a:schemeClr val="bg1"/>
                </a:solidFill>
              </a:rPr>
              <a:t>Fundraising &amp; Market Entry</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 Go-to-Market Design</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 Strategic Planning &amp; Commercial Modelling</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 Growth &amp; Expansion Advisory</a:t>
            </a:r>
          </a:p>
          <a:p>
            <a:pPr marL="0" indent="0" algn="just">
              <a:lnSpc>
                <a:spcPct val="100000"/>
              </a:lnSpc>
              <a:spcBef>
                <a:spcPts val="400"/>
              </a:spcBef>
              <a:spcAft>
                <a:spcPts val="400"/>
              </a:spcAft>
              <a:buFont typeface="Arial" panose="020B0604020202020204" pitchFamily="34" charset="0"/>
              <a:buNone/>
            </a:pPr>
            <a:r>
              <a:rPr lang="en-AE" dirty="0"/>
              <a:t>📜 </a:t>
            </a:r>
            <a:r>
              <a:rPr lang="en-US" dirty="0">
                <a:solidFill>
                  <a:schemeClr val="bg1"/>
                </a:solidFill>
              </a:rPr>
              <a:t>Licensing &amp; Compliance</a:t>
            </a:r>
          </a:p>
          <a:p>
            <a:pPr marL="0" indent="0" algn="just">
              <a:lnSpc>
                <a:spcPct val="100000"/>
              </a:lnSpc>
              <a:spcBef>
                <a:spcPts val="400"/>
              </a:spcBef>
              <a:spcAft>
                <a:spcPts val="400"/>
              </a:spcAft>
              <a:buFont typeface="Arial" panose="020B0604020202020204" pitchFamily="34" charset="0"/>
              <a:buNone/>
            </a:pPr>
            <a:r>
              <a:rPr lang="en-US" dirty="0"/>
              <a:t>⚖️ </a:t>
            </a:r>
            <a:r>
              <a:rPr lang="en-US" dirty="0">
                <a:solidFill>
                  <a:schemeClr val="bg1"/>
                </a:solidFill>
              </a:rPr>
              <a:t>Risk &amp; Governance</a:t>
            </a:r>
          </a:p>
          <a:p>
            <a:pPr marL="0" indent="0" algn="just">
              <a:lnSpc>
                <a:spcPct val="100000"/>
              </a:lnSpc>
              <a:spcBef>
                <a:spcPts val="400"/>
              </a:spcBef>
              <a:spcAft>
                <a:spcPts val="400"/>
              </a:spcAft>
              <a:buFont typeface="Arial" panose="020B0604020202020204" pitchFamily="34" charset="0"/>
              <a:buNone/>
            </a:pPr>
            <a:endParaRPr lang="en-US" dirty="0">
              <a:solidFill>
                <a:schemeClr val="bg1"/>
              </a:solidFill>
            </a:endParaRP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Driven by continuous learning and collaboration, we stay ahead of industry shifts, delivering sharp, forward-thinking solutions. Our commitments to innovation we lead, adapt and set the pace in a rapidly evolving landscape.</a:t>
            </a:r>
          </a:p>
        </p:txBody>
      </p:sp>
      <p:sp>
        <p:nvSpPr>
          <p:cNvPr id="7" name="Content Placeholder 5">
            <a:extLst>
              <a:ext uri="{FF2B5EF4-FFF2-40B4-BE49-F238E27FC236}">
                <a16:creationId xmlns:a16="http://schemas.microsoft.com/office/drawing/2014/main" id="{7C68B99D-AD39-D64F-12C3-AA2805841879}"/>
              </a:ext>
            </a:extLst>
          </p:cNvPr>
          <p:cNvSpPr txBox="1">
            <a:spLocks/>
          </p:cNvSpPr>
          <p:nvPr/>
        </p:nvSpPr>
        <p:spPr>
          <a:xfrm>
            <a:off x="775885" y="5494978"/>
            <a:ext cx="2033623" cy="55912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dirty="0"/>
              <a:t>Pallavi Khajuria</a:t>
            </a:r>
          </a:p>
          <a:p>
            <a:pPr marL="0" indent="0" algn="ctr">
              <a:buNone/>
            </a:pPr>
            <a:r>
              <a:rPr lang="en-US" dirty="0">
                <a:solidFill>
                  <a:srgbClr val="0B2339"/>
                </a:solidFill>
                <a:latin typeface="Aptos Light" panose="020B0004020202020204" pitchFamily="34" charset="0"/>
              </a:rPr>
              <a:t>Strategy Engagement Manager</a:t>
            </a:r>
            <a:endParaRPr lang="en-AE" dirty="0">
              <a:solidFill>
                <a:srgbClr val="0B2339"/>
              </a:solidFill>
              <a:latin typeface="Aptos Light" panose="020B0004020202020204" pitchFamily="34" charset="0"/>
            </a:endParaRPr>
          </a:p>
        </p:txBody>
      </p:sp>
      <p:pic>
        <p:nvPicPr>
          <p:cNvPr id="20" name="Picture 19" descr="A person and person standing together&#10;&#10;AI-generated content may be incorrect.">
            <a:extLst>
              <a:ext uri="{FF2B5EF4-FFF2-40B4-BE49-F238E27FC236}">
                <a16:creationId xmlns:a16="http://schemas.microsoft.com/office/drawing/2014/main" id="{40436E7F-B926-0DA1-5B77-3780292D1652}"/>
              </a:ext>
            </a:extLst>
          </p:cNvPr>
          <p:cNvPicPr>
            <a:picLocks noChangeAspect="1"/>
          </p:cNvPicPr>
          <p:nvPr/>
        </p:nvPicPr>
        <p:blipFill>
          <a:blip r:embed="rId5"/>
          <a:srcRect l="10394" t="19018" r="49585" b="53270"/>
          <a:stretch/>
        </p:blipFill>
        <p:spPr>
          <a:xfrm>
            <a:off x="995254" y="3922842"/>
            <a:ext cx="1517038" cy="1576269"/>
          </a:xfrm>
          <a:prstGeom prst="ellipse">
            <a:avLst/>
          </a:prstGeom>
          <a:ln w="63500" cap="rnd">
            <a:no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25" name="Content Placeholder 10">
            <a:extLst>
              <a:ext uri="{FF2B5EF4-FFF2-40B4-BE49-F238E27FC236}">
                <a16:creationId xmlns:a16="http://schemas.microsoft.com/office/drawing/2014/main" id="{39E2A46A-E1A9-BFC0-35A0-3BA0C81E47F2}"/>
              </a:ext>
            </a:extLst>
          </p:cNvPr>
          <p:cNvSpPr txBox="1">
            <a:spLocks/>
          </p:cNvSpPr>
          <p:nvPr/>
        </p:nvSpPr>
        <p:spPr>
          <a:xfrm>
            <a:off x="2886516" y="4108402"/>
            <a:ext cx="5057868" cy="138657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Pallavi is a strategy and execution advisor, enabling C-suite executives to drive market expansion, revenue acceleration, and operational excellence across high-growth sectors.</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Pallavi has delivered large-scale, cross-functional projects across multiple industries - translating executive vision into measurable outcomes through data-led strategy. Her work spans the GCC, where she has led high-impact initiatives in growth, transformation, and operational scale-up.</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Pallavi holds a BTech in Computer Science Engineering and a postgraduate specialization in Software Systems from BITS Pilani, Dubai.</a:t>
            </a:r>
          </a:p>
        </p:txBody>
      </p:sp>
      <p:sp>
        <p:nvSpPr>
          <p:cNvPr id="2" name="Slide Number Placeholder 10">
            <a:extLst>
              <a:ext uri="{FF2B5EF4-FFF2-40B4-BE49-F238E27FC236}">
                <a16:creationId xmlns:a16="http://schemas.microsoft.com/office/drawing/2014/main" id="{17313117-93F2-00BB-CA48-6E2DE8395900}"/>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3609987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8733881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22" id="{32B648E2-58BB-A243-8B18-25920F3ADED8}" vid="{E1A385E8-7CB9-5E4E-BFF7-112469D7586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8595e4f0-9d1f-4608-89ed-881210b0bb57" xsi:nil="true"/>
    <lcf76f155ced4ddcb4097134ff3c332f xmlns="d43c6782-26e2-4abe-801e-f1cb2385751a">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CFA8D36AB86D8C4BB58183D55C094C1D" ma:contentTypeVersion="13" ma:contentTypeDescription="Create a new document." ma:contentTypeScope="" ma:versionID="a867ca6b4bf85018f78c7a13482190bb">
  <xsd:schema xmlns:xsd="http://www.w3.org/2001/XMLSchema" xmlns:xs="http://www.w3.org/2001/XMLSchema" xmlns:p="http://schemas.microsoft.com/office/2006/metadata/properties" xmlns:ns2="d43c6782-26e2-4abe-801e-f1cb2385751a" xmlns:ns3="8595e4f0-9d1f-4608-89ed-881210b0bb57" targetNamespace="http://schemas.microsoft.com/office/2006/metadata/properties" ma:root="true" ma:fieldsID="5411884e7fe3e1a06e23351a04c43061" ns2:_="" ns3:_="">
    <xsd:import namespace="d43c6782-26e2-4abe-801e-f1cb2385751a"/>
    <xsd:import namespace="8595e4f0-9d1f-4608-89ed-881210b0bb57"/>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SearchPropertie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3c6782-26e2-4abe-801e-f1cb2385751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f50e1a3f-7a1b-4ba8-8545-a9e8f23430e4"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element name="MediaServiceDateTaken" ma:index="20"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595e4f0-9d1f-4608-89ed-881210b0bb57"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0f434b97-4ab7-4b98-87f7-9f67d7cb0300}" ma:internalName="TaxCatchAll" ma:showField="CatchAllData" ma:web="8595e4f0-9d1f-4608-89ed-881210b0bb57">
      <xsd:complexType>
        <xsd:complexContent>
          <xsd:extension base="dms:MultiChoiceLookup">
            <xsd:sequence>
              <xsd:element name="Value" type="dms:Lookup" maxOccurs="unbounded" minOccurs="0" nillable="true"/>
            </xsd:sequence>
          </xsd:extension>
        </xsd:complexContent>
      </xsd:complexType>
    </xsd:element>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D630DA8-F7E3-4203-B4C7-4D4CA876A9CF}">
  <ds:schemaRefs>
    <ds:schemaRef ds:uri="http://schemas.microsoft.com/office/2006/metadata/properties"/>
    <ds:schemaRef ds:uri="http://purl.org/dc/elements/1.1/"/>
    <ds:schemaRef ds:uri="http://www.w3.org/XML/1998/namespace"/>
    <ds:schemaRef ds:uri="8595e4f0-9d1f-4608-89ed-881210b0bb57"/>
    <ds:schemaRef ds:uri="d43c6782-26e2-4abe-801e-f1cb2385751a"/>
    <ds:schemaRef ds:uri="http://schemas.microsoft.com/office/2006/documentManagement/types"/>
    <ds:schemaRef ds:uri="http://schemas.microsoft.com/office/infopath/2007/PartnerControls"/>
    <ds:schemaRef ds:uri="http://schemas.openxmlformats.org/package/2006/metadata/core-properties"/>
    <ds:schemaRef ds:uri="http://purl.org/dc/dcmitype/"/>
    <ds:schemaRef ds:uri="http://purl.org/dc/terms/"/>
  </ds:schemaRefs>
</ds:datastoreItem>
</file>

<file path=customXml/itemProps2.xml><?xml version="1.0" encoding="utf-8"?>
<ds:datastoreItem xmlns:ds="http://schemas.openxmlformats.org/officeDocument/2006/customXml" ds:itemID="{6D973E15-8E14-4BE4-9B21-86205533BA5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43c6782-26e2-4abe-801e-f1cb2385751a"/>
    <ds:schemaRef ds:uri="8595e4f0-9d1f-4608-89ed-881210b0bb5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93C7658-BDAA-4AE2-AB2D-F9763CAF658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10678</TotalTime>
  <Words>609</Words>
  <Application>Microsoft Office PowerPoint</Application>
  <PresentationFormat>Widescreen</PresentationFormat>
  <Paragraphs>108</Paragraphs>
  <Slides>20</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Aptos</vt:lpstr>
      <vt:lpstr>Aptos ExtraBold</vt:lpstr>
      <vt:lpstr>Aptos Light</vt:lpstr>
      <vt:lpstr>Aptos SemiBold</vt:lpstr>
      <vt:lpstr>Arial</vt:lpstr>
      <vt:lpstr>Wingdings</vt:lpstr>
      <vt:lpstr>YACkoA9eHeY 0</vt:lpstr>
      <vt:lpstr>Office Theme</vt:lpstr>
      <vt:lpstr>{{COVER TITLE}}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OUR PROPOSED APPROACH</vt:lpstr>
      <vt:lpstr>PowerPoint Presentation</vt:lpstr>
      <vt:lpstr>Pnyx Hill’s SCOPE OF SERVICES</vt:lpstr>
      <vt:lpstr> SERVICES DELIVERABLES </vt:lpstr>
      <vt:lpstr> SERVICES DELIVERABLES </vt:lpstr>
      <vt:lpstr>Engagement Partners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NIINA WESTERHOLM</dc:creator>
  <cp:lastModifiedBy>Raghavendra Gavuji</cp:lastModifiedBy>
  <cp:revision>34</cp:revision>
  <dcterms:created xsi:type="dcterms:W3CDTF">2025-03-19T09:34:50Z</dcterms:created>
  <dcterms:modified xsi:type="dcterms:W3CDTF">2025-11-19T15:43:23Z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0x010100CFA8D36AB86D8C4BB58183D55C094C1D</vt:lpwstr>
  </property>
  <property fmtid="{D5CDD505-2E9C-101B-9397-08002B2CF9AE}" pid="3" name="MediaServiceImageTags">
    <vt:lpwstr/>
  </property>
</Properties>
</file>