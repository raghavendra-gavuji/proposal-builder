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Operational Excellence Proposal for Hyke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Operational Excellence Proposal for Hyke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Hyke Logo Placeholder</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Hyke Leadership Team,</a:t>
            </a:r>
            <a:br/>
            <a:br/>
            <a:r>
              <a:t>Pnyx Hill is delighted to present this strategic proposal, outlining a tailored approach to accelerate Hyke's growth trajectory and enhance operational excellence within the dynamic last-mile logistics and field service management landscape. We have closely followed Hyke's impressive market penetration and innovative solutions, recognizing the significant potential for continued expansion and leadership in this evolving sector.</a:t>
            </a:r>
            <a:br/>
            <a:br/>
            <a:r>
              <a:t>Our proposal reflects a deep understanding of the market's complexities, the burgeoning demand for efficient last-mile solutions, and the strategic imperatives facing your organization. We are committed to partnering with Hyke to navigate challenges, capitalize on opportunities, and translate your vision into tangible, sustainable outcomes. This document details how Pnyx Hill's expertise in strategic planning, operational optimization, and digital transformation can serve as a catalyst for your next phase of success.</a:t>
            </a:r>
            <a:br/>
            <a:br/>
            <a:r>
              <a:t>We look forward to discussing this proposal and exploring how our partnership can empower Hyke to achieve its ambitious goals.</a:t>
            </a:r>
            <a:br/>
            <a:br/>
            <a:r>
              <a:t>Sincerely,</a:t>
            </a:r>
            <a:br/>
            <a:r>
              <a:t>[Your Name]</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Hyke stands at a pivotal juncture in the rapidly expanding last-mile logistics and field service management sector. With increasing demand for seamless, efficient, and transparent delivery and service execution, Hyke is uniquely positioned to cement its market leadership through strategic scaling and operational innovation.</a:t>
            </a:r>
            <a:br/>
            <a:br/>
            <a:r>
              <a:t>2. **Our Value Proposition**</a:t>
            </a:r>
            <a:br/>
            <a:r>
              <a:t>•   Accelerate market share growth by identifying and penetrating high-potential segments.</a:t>
            </a:r>
            <a:br/>
            <a:r>
              <a:t>•   Optimize operational efficiency to enhance profitability and service delivery.</a:t>
            </a:r>
            <a:br/>
            <a:r>
              <a:t>•   Leverage advanced analytics and technology for data-driven decision-making.</a:t>
            </a:r>
            <a:br/>
            <a:r>
              <a:t>•   Build a scalable organizational structure resilient to future market shifts.</a:t>
            </a:r>
            <a:br/>
            <a:br/>
            <a:r>
              <a:t>3. **Key Project Highlights**</a:t>
            </a:r>
            <a:br/>
            <a:r>
              <a:t>•   Market Expansion Strategy &amp; Execution Roadmapping</a:t>
            </a:r>
            <a:br/>
            <a:r>
              <a:t>•   Last-Mile Delivery Network Optimization</a:t>
            </a:r>
            <a:br/>
            <a:r>
              <a:t>•   Field Service Workflow Re-engineering</a:t>
            </a:r>
            <a:br/>
            <a:r>
              <a:t>•   Technology Stack Assessment &amp; Digital Transformation Roadmap</a:t>
            </a:r>
            <a:br/>
            <a:r>
              <a:t>•   Unit Economics &amp; Profitability Enhancement</a:t>
            </a:r>
            <a:br/>
            <a:r>
              <a:t>•   Talent Acquisition &amp; Retention Strategy</a:t>
            </a:r>
            <a:br/>
            <a:r>
              <a:t>•   Competitive Benchmarking &amp; Strategic Positioning</a:t>
            </a:r>
            <a:br/>
            <a:r>
              <a:t>•   Customer Experience (CX) Journey Mapping</a:t>
            </a:r>
            <a:br/>
            <a:br/>
            <a:r>
              <a:t>4. **Strategic Outlook**</a:t>
            </a:r>
            <a:br/>
            <a:r>
              <a:t>This comprehensive engagement is designed to equip Hyke with the strategic clarity, operational blueprints, and execution capabilities required for sustainable, industry-leading growth and enduring competitive advantage.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Hyke operates within a hyper-competitive and rapidly evolving last-mile logistics and field service management market. While experiencing significant growth in key urban centers, driven by its intuitive platform and robust technology, the company faces mounting pressures. Market dynamics are characterized by surging customer expectations for speed and transparency, alongside increasing operational costs related to fuel, labor, and technology. Competitors are aggressively vying for market share, often leveraging deep pockets or niche specializations. Hyke's current infrastructure, while effective for its initial growth phase, requires strategic enhancement to support ambitious scaling plans, particularly in optimizing routing, managing a growing workforce, and leveraging real-time data for predictive insights. Unmet needs include a more refined approach to unit economics, robust talent management strategies, and a scalable technology roadmap that future-proofs the business against emergent disruptions.</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Scaling Infrastructure: Rapid expansion strains existing operational and technological infrastructure.</a:t>
            </a:r>
            <a:endParaRPr dirty="0"/>
          </a:p>
          <a:p>
            <a:pPr/>
            <a:r>
              <a:t>Competitive Intensity: Increasing pressure from well-funded startups and established logistics giants.</a:t>
            </a:r>
          </a:p>
          <a:p>
            <a:pPr/>
            <a:r>
              <a:t>Driver/Technician Retention: High churn rates impact service quality and operational costs.</a:t>
            </a:r>
          </a:p>
          <a:p>
            <a:pPr/>
            <a:r>
              <a:t>Profitability per Delivery/Service: Balancing growth with optimizing unit economics in dense urban environments.</a:t>
            </a:r>
          </a:p>
          <a:p>
            <a:pPr/>
            <a:r>
              <a:t>Customer Experience Consistency: Ensuring uniform high-quality service across diverse geographical areas.</a:t>
            </a:r>
          </a:p>
          <a:p>
            <a:pPr/>
            <a:r>
              <a:t>Data Utilization: Harnessing vast operational data for actionable insights and predictive analytics.</a:t>
            </a:r>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Achieve significant market share growth in targeted regions within 18-24 months.</a:t>
            </a:r>
            <a:endParaRPr dirty="0"/>
          </a:p>
          <a:p>
            <a:pPr/>
            <a:r>
              <a:t>Improve operational efficiency by 15-20% through optimized routing and workflow automation.</a:t>
            </a:r>
          </a:p>
          <a:p>
            <a:pPr/>
            <a:r>
              <a:t>Enhance driver/technician retention rates by 25% through improved engagement and incentive programs.</a:t>
            </a:r>
          </a:p>
          <a:p>
            <a:pPr/>
            <a:r>
              <a:t>Increase profitability per delivery/service through refined pricing strategies and cost reductions.</a:t>
            </a:r>
          </a:p>
          <a:p>
            <a:pPr/>
            <a:r>
              <a:t>Establish a scalable technology architecture to support multi-regional expansion and new service offerings.</a:t>
            </a:r>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Design &amp; Optimize</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Accelerate &amp; Sustain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46331"/>
          </a:xfrm>
          <a:prstGeom prst="rect">
            <a:avLst/>
          </a:prstGeom>
          <a:noFill/>
        </p:spPr>
        <p:txBody>
          <a:bodyPr wrap="square">
            <a:spAutoFit/>
          </a:bodyPr>
          <a:lstStyle/>
          <a:p>
            <a:r>
              <a:t>Pnyx Hill proposes a robust, phased approach designed to deliver rapid impact and sustainable long-term value for Hyke. Our methodology combines deep industry expertise with data-driven insights, ensuring that strategic recommendations are pragmatic, implementable, and directly aligned with your growth ambitions.</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Conduct comprehensive market and competitive landscape analysis.</a:t>
            </a:r>
            <a:endParaRPr lang="en-AE" sz="1200" i="1" dirty="0"/>
          </a:p>
          <a:p>
            <a:pPr/>
            <a:r>
              <a:t>Assess current operational processes, technology stack, and organizational capabilities.</a:t>
            </a:r>
          </a:p>
          <a:p>
            <a:pPr/>
            <a:r>
              <a:t>Identify key strategic gaps and high-impact improvement areas.</a:t>
            </a:r>
          </a:p>
          <a:p>
            <a:pPr/>
            <a:r>
              <a:t>Develop a refined strategic hypothesis and prioritize immediate opportunities.</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46331"/>
          </a:xfrm>
          <a:prstGeom prst="rect">
            <a:avLst/>
          </a:prstGeom>
          <a:noFill/>
        </p:spPr>
        <p:txBody>
          <a:bodyPr wrap="square">
            <a:spAutoFit/>
          </a:bodyPr>
          <a:lstStyle/>
          <a:p>
            <a:pPr/>
            <a:r>
              <a:t>Design tailored solutions for last-mile optimization and field service workflow.</a:t>
            </a:r>
            <a:endParaRPr lang="en-AE" sz="1200" i="1" dirty="0"/>
          </a:p>
          <a:p>
            <a:pPr/>
            <a:r>
              <a:t>Develop detailed market entry strategies for expansion geographies.</a:t>
            </a:r>
          </a:p>
          <a:p>
            <a:pPr/>
            <a:r>
              <a:t>Formulate talent management and retention programs.</a:t>
            </a:r>
          </a:p>
          <a:p>
            <a:pPr/>
            <a:r>
              <a:t>Create a phased technology roadmap for digital transformation.</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46331"/>
          </a:xfrm>
          <a:prstGeom prst="rect">
            <a:avLst/>
          </a:prstGeom>
          <a:noFill/>
        </p:spPr>
        <p:txBody>
          <a:bodyPr wrap="square">
            <a:spAutoFit/>
          </a:bodyPr>
          <a:lstStyle/>
          <a:p>
            <a:pPr/>
            <a:r>
              <a:t>Support pilot implementation and initial rollout of key initiatives.</a:t>
            </a:r>
            <a:endParaRPr lang="en-AE" sz="1200" i="1" dirty="0"/>
          </a:p>
          <a:p>
            <a:pPr/>
            <a:r>
              <a:t>Develop performance monitoring frameworks and dashboards.</a:t>
            </a:r>
          </a:p>
          <a:p>
            <a:pPr/>
            <a:r>
              <a:t>Provide ongoing advisory to refine strategies based on real-world feedback.</a:t>
            </a:r>
          </a:p>
          <a:p>
            <a:pPr/>
            <a:r>
              <a:t>Facilitate knowledge transfer and build internal capabilities for sustained success.</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Operational Model Design: Streamlining last-mile delivery and field service workflows for maximum efficiency and cost-effectiveness.</a:t>
            </a:r>
            <a:endParaRPr dirty="0"/>
          </a:p>
          <a:p>
            <a:pPr/>
            <a:r>
              <a:t>Technology Roadmap &amp; Integration: Assessing current tech infrastructure and designing a scalable roadmap for new feature development and seamless integration.</a:t>
            </a:r>
          </a:p>
          <a:p>
            <a:pPr/>
            <a:r>
              <a:t>Talent &amp; Organization Optimization: Developing strategies for driver/technician recruitment, training, retention, and performance management.</a:t>
            </a:r>
          </a:p>
          <a:p>
            <a:pPr/>
            <a:r>
              <a:t>Performance Management Frameworks: Establishing clear KPIs, reporting mechanisms, and dashboards to monitor operational health and strategic progress.</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Execution Advisory: Providing continuous guidance during the implementation of strategic initiatives and operational changes.</a:t>
            </a:r>
            <a:endParaRPr dirty="0"/>
          </a:p>
          <a:p>
            <a:pPr/>
            <a:r>
              <a:t>Market Intelligence &amp; Foresight: Offering regular updates on market shifts, competitor activities, and emerging technologies to inform proactive adjustments.</a:t>
            </a:r>
          </a:p>
          <a:p>
            <a:pPr/>
            <a:r>
              <a:t>Capability Building Workshops: Conducting bespoke workshops to upskill internal teams in areas such as data analytics, strategic planning, and change management.</a:t>
            </a:r>
          </a:p>
          <a:p>
            <a:pPr/>
            <a:r>
              <a:t>Strategic Review &amp; Refinement: Periodic reviews to assess the effectiveness of implemented strategies and refine plans for sustained competitive advantage.</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Last-Mile &amp; Field Service Optimization</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Market Expansion &amp; Growth Strategy</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Current state assessment of delivery and service operations, identifying inefficiencies.</a:t>
            </a:r>
            <a:endParaRPr lang="en-AE" sz="1200" i="1" dirty="0"/>
          </a:p>
          <a:p>
            <a:pPr/>
            <a:r>
              <a:t>Design of optimized routing algorithms, scheduling systems, and dispatch processes.</a:t>
            </a:r>
          </a:p>
          <a:p>
            <a:pPr/>
            <a:r>
              <a:t>Recommendation of technology enhancements for real-time tracking and dynamic adjustments.</a:t>
            </a:r>
          </a:p>
          <a:p>
            <a:pPr/>
            <a:r>
              <a:t>Implementation support for new operational protocols and performance monitoring.</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Comprehensive market sizing and segmentation analysis for expansion markets.</a:t>
            </a:r>
            <a:endParaRPr lang="en-AE" sz="1200" i="1" dirty="0"/>
          </a:p>
          <a:p>
            <a:pPr/>
            <a:r>
              <a:t>Detailed competitive analysis with benchmarking across key performance indicators.</a:t>
            </a:r>
          </a:p>
          <a:p>
            <a:pPr/>
            <a:r>
              <a:t>Identification of strategic partners and M&amp;A targets to accelerate market entry.</a:t>
            </a:r>
          </a:p>
          <a:p>
            <a:pPr/>
            <a:r>
              <a:t>Development of a phased market entry and go-to-market plan with clear KPIs.</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&amp; Talent Strategy</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Digital Transformation &amp; Technology Roadmap</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Audit of existing technology stack and infrastructure resilience.</a:t>
            </a:r>
            <a:endParaRPr lang="en-US" sz="1200" i="1" dirty="0"/>
          </a:p>
          <a:p>
            <a:pPr/>
            <a:r>
              <a:t>Recommendation for platform enhancements, automation, and AI/ML integration opportunities.</a:t>
            </a:r>
          </a:p>
          <a:p>
            <a:pPr/>
            <a:r>
              <a:t>Development of a multi-year digital transformation roadmap with clear investment priorities.</a:t>
            </a:r>
          </a:p>
          <a:p>
            <a:pPr/>
            <a:r>
              <a:t>Guidance on data architecture, analytics capabilities, and business intelligence implementation.</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Assessment of current organizational structure and talent capabilities.</a:t>
            </a:r>
            <a:endParaRPr lang="en-AE" sz="1200" i="1" dirty="0"/>
          </a:p>
          <a:p>
            <a:pPr/>
            <a:r>
              <a:t>Development of a comprehensive talent acquisition and retention strategy for drivers/technicians and tech talent.</a:t>
            </a:r>
          </a:p>
          <a:p>
            <a:pPr/>
            <a:r>
              <a:t>Design of performance management systems and incentive programs.</a:t>
            </a:r>
          </a:p>
          <a:p>
            <a:pPr/>
            <a:r>
              <a:t>Recommendations for leadership development and fostering an agile organizational culture.</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10676</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30</cp:revision>
  <dcterms:created xsi:type="dcterms:W3CDTF">2025-03-19T09:34:50Z</dcterms:created>
  <dcterms:modified xsi:type="dcterms:W3CDTF">2025-11-19T13:50:51Z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