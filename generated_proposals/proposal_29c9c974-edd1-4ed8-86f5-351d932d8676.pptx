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rPr lang="en-US" dirty="0"/>
              <a:t>{{COVER TITLE}}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October 26, 2023</a:t>
            </a:r>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endParaRPr lang="en-AE"/>
          </a:p>
          <a:p>
            <a:r>
              <a:rPr/>
              <a:t>Strategic Growth Proposal for InnovateCo</a:t>
            </a:r>
            <a:br/>
            <a:r>
              <a:t>Insert proposal title, client name, and engagement date.</a:t>
            </a:r>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endParaRPr lang="en-AE" sz="1200" dirty="0"/>
          </a:p>
          <a:p>
            <a:r>
              <a:rPr sz="1200" dirty="0"/>
              <a:t>{{</a:t>
            </a:r>
            <a:r>
              <a:rPr lang="en-US" sz="1200" dirty="0"/>
              <a:t>CLIENT LOGO</a:t>
            </a:r>
            <a:r>
              <a:rPr sz="1200" dirty="0"/>
              <a:t>}}</a:t>
            </a:r>
            <a:br>
              <a:rPr sz="1200" dirty="0"/>
            </a:br>
            <a:endParaRPr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r>
              <a:t>Dear InnovateCo Leadership,</a:t>
            </a:r>
          </a:p>
          <a:p>
            <a:r>
              <a:t>Pnyx Hill is delighted to present this strategic proposal, outlining a tailored pathway to achieve your ambitious growth objectives and solidify your market position. We deeply appreciate the opportunity to partner with you, having gained valuable insights into your current landscape and future aspirations. Our team is genuinely excited by the prospect of contributing to your success, leveraging our expertise to navigate market complexities, optimize operations, and unlock significant new value. This proposal reflects our shared vision for innovation and a steadfast commitment to fostering sustainable growth, emphasizing Pnyx Hill's role as your dedicated strategic partner. We are confident that our collaborative, insight-led approach will yield exceptional results, positioning InnovateCo for sustained leadership and competitive advantage. We eagerly anticipate embarking on this transformative journey together and creating lasting impact.</a:t>
            </a:r>
          </a:p>
          <a:p>
            <a:r>
              <a:t>Sincerely,</a:t>
            </a:r>
          </a:p>
          <a:p>
            <a:r>
              <a:t>Pnyx Hill Strategy Team</a:t>
            </a:r>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r>
              <a:t>Growth Ambition: InnovateCo aims to accelerate market expansion and optimize operational efficiency to secure a dominant position in a rapidly evolving industry.</a:t>
            </a:r>
          </a:p>
          <a:p>
            <a:r>
              <a:t>Our Value Proposition:</a:t>
            </a:r>
          </a:p>
          <a:p>
            <a:r>
              <a:t>•  Unlock new revenue streams through strategic market entry.</a:t>
            </a:r>
          </a:p>
          <a:p>
            <a:r>
              <a:t>•  Enhance operational agility and cost-effectiveness.</a:t>
            </a:r>
          </a:p>
          <a:p>
            <a:r>
              <a:t>•  Develop robust, data-driven decision-making frameworks.</a:t>
            </a:r>
          </a:p>
          <a:p>
            <a:r>
              <a:t>•  Cultivate sustained competitive advantage and resilience.</a:t>
            </a:r>
          </a:p>
          <a:p>
            <a:r>
              <a:t>Key Project Highlights:</a:t>
            </a:r>
          </a:p>
          <a:p>
            <a:r>
              <a:t>•  Market Opportunity Assessment</a:t>
            </a:r>
          </a:p>
          <a:p>
            <a:r>
              <a:t>•  Strategic Roadmap Development</a:t>
            </a:r>
          </a:p>
          <a:p>
            <a:r>
              <a:t>•  Organizational Design Review</a:t>
            </a:r>
          </a:p>
          <a:p>
            <a:r>
              <a:t>•  Digital Transformation Strategy</a:t>
            </a:r>
          </a:p>
          <a:p>
            <a:r>
              <a:t>•  Performance Management Framework</a:t>
            </a:r>
          </a:p>
          <a:p>
            <a:r>
              <a:t>•  Change Management Support</a:t>
            </a:r>
          </a:p>
          <a:p>
            <a:r>
              <a:t>•  Risk Mitigation Planning</a:t>
            </a:r>
          </a:p>
          <a:p>
            <a:r>
              <a:t>•  Technology Implementation Support</a:t>
            </a:r>
          </a:p>
          <a:p>
            <a:r>
              <a:t>Strategic Outlook: This partnership will enable InnovateCo to achieve its vision, delivering sustainable growth and amplified stakeholder value.</a:t>
            </a:r>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r>
              <a:t>The market is characterized by rapid technological shifts, intensifying competition, and evolving customer expectations. InnovateCo faces unmet needs in scalable digital solutions and optimized operational workflows to maintain its growth trajectory.</a:t>
            </a:r>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Navigating disruptive market entrants.</a:t>
            </a:r>
            <a:endParaRPr dirty="0"/>
          </a:p>
          <a:p>
            <a:pPr/>
            <a:r>
              <a:t>Optimizing outdated legacy systems.</a:t>
            </a:r>
          </a:p>
          <a:p>
            <a:pPr/>
            <a:r>
              <a:t>Attracting and retaining top-tier talent.</a:t>
            </a:r>
          </a:p>
          <a:p>
            <a:pPr/>
            <a:r>
              <a:t>Adapting to evolving regulatory landscapes.</a:t>
            </a:r>
          </a:p>
          <a:p>
            <a:pPr/>
            <a:r>
              <a:t>Scaling digital capabilities effectively.</a:t>
            </a:r>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Achieve targeted market share expansion.</a:t>
            </a:r>
            <a:endParaRPr dirty="0"/>
          </a:p>
          <a:p>
            <a:pPr algn="l"/>
            <a:r>
              <a:t>Reduce operational costs by 15%.</a:t>
            </a:r>
          </a:p>
          <a:p>
            <a:pPr algn="l"/>
            <a:r>
              <a:t>Implement a scalable digital platform.</a:t>
            </a:r>
          </a:p>
          <a:p>
            <a:pPr algn="l"/>
            <a:r>
              <a:t>Improve employee engagement scores.</a:t>
            </a:r>
          </a:p>
          <a:p>
            <a:pPr algn="l"/>
            <a:r>
              <a:t>Enhance data-driven decision capabilities.</a:t>
            </a:r>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Discover &amp; Define</a:t>
            </a:r>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2</a:t>
            </a:r>
            <a:r>
              <a:rPr lang="en-US" dirty="0"/>
              <a:t>:  Name</a:t>
            </a:r>
            <a:r>
              <a:rPr dirty="0"/>
              <a:t>}}</a:t>
            </a:r>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Execute &amp; Sustain</a:t>
            </a:r>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r>
              <a:t>Our approach is structured, phased, and insight-led, designed to deliver actionable strategies and sustainable results. We blend deep industry expertise with collaborative engagement to drive transformative change.</a:t>
            </a:r>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pPr/>
            <a:r>
              <a:t>Conduct comprehensive market and internal diagnostics.</a:t>
            </a:r>
            <a:endParaRPr lang="en-AE" sz="1200" i="1" dirty="0"/>
          </a:p>
          <a:p>
            <a:pPr/>
            <a:r>
              <a:t>Engage stakeholders to align on strategic priorities.</a:t>
            </a:r>
          </a:p>
          <a:p>
            <a:pPr/>
            <a:r>
              <a:t>Define clear objectives and success metrics.</a:t>
            </a:r>
          </a:p>
          <a:p>
            <a:pPr/>
            <a:r>
              <a:t>Assess current capabilities and identify gaps.</a:t>
            </a:r>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pPr/>
            <a:r>
              <a:t>Formulate tailored strategic initiatives.</a:t>
            </a:r>
            <a:endParaRPr lang="en-AE" sz="1200" i="1" dirty="0"/>
          </a:p>
          <a:p>
            <a:pPr/>
            <a:r>
              <a:t>Develop detailed implementation roadmaps.</a:t>
            </a:r>
          </a:p>
          <a:p>
            <a:pPr/>
            <a:r>
              <a:t>Design new operating models and processes.</a:t>
            </a:r>
          </a:p>
          <a:p>
            <a:pPr/>
            <a:r>
              <a:t>Prototype key solutions and test feasibility.</a:t>
            </a:r>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pPr/>
            <a:r>
              <a:t>Support pilot implementation and rollout.</a:t>
            </a:r>
            <a:endParaRPr lang="en-AE" sz="1200" i="1" dirty="0"/>
          </a:p>
          <a:p>
            <a:pPr/>
            <a:r>
              <a:t>Establish performance monitoring frameworks.</a:t>
            </a:r>
          </a:p>
          <a:p>
            <a:pPr/>
            <a:r>
              <a:t>Provide change management and training.</a:t>
            </a:r>
          </a:p>
          <a:p>
            <a:pPr/>
            <a:r>
              <a:t>Ensure knowledge transfer for long-term success.</a:t>
            </a:r>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r>
              <a:t>Market Entry Strategy: Identify and evaluate new growth opportunities.</a:t>
            </a:r>
            <a:endParaRPr dirty="0"/>
          </a:p>
          <a:p>
            <a:pPr/>
            <a:r>
              <a:t>Competitive Landscape Analysis: Benchmark against industry leaders.</a:t>
            </a:r>
          </a:p>
          <a:p>
            <a:pPr/>
            <a:r>
              <a:t>Business Model Innovation: Redesign for future revenue streams.</a:t>
            </a:r>
          </a:p>
          <a:p>
            <a:pPr/>
            <a:r>
              <a:t>Strategic Due Diligence: Inform critical investment decisions.</a:t>
            </a:r>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Organizational Re-design: Optimize structures for agility.</a:t>
            </a:r>
            <a:endParaRPr dirty="0"/>
          </a:p>
          <a:p>
            <a:pPr/>
            <a:r>
              <a:t>Process Optimization: Streamline workflows for efficiency.</a:t>
            </a:r>
          </a:p>
          <a:p>
            <a:pPr/>
            <a:r>
              <a:t>Technology Roadmap: Align IT investments with strategy.</a:t>
            </a:r>
          </a:p>
          <a:p>
            <a:pPr/>
            <a:r>
              <a:t>Performance Management: Establish clear KPIs and metrics.</a:t>
            </a:r>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Strategic Advisory: Continuous guidance on market shifts.</a:t>
            </a:r>
            <a:endParaRPr dirty="0"/>
          </a:p>
          <a:p>
            <a:pPr/>
            <a:r>
              <a:t>Implementation Oversight: Ensure successful execution of plans.</a:t>
            </a:r>
          </a:p>
          <a:p>
            <a:pPr/>
            <a:r>
              <a:t>Capability Building: Develop internal skills and expertise.</a:t>
            </a:r>
          </a:p>
          <a:p>
            <a:pPr/>
            <a:r>
              <a:t>Performance Monitoring: Track progress and adapt strategies.</a:t>
            </a:r>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endParaRPr lang="en-GB" sz="1500" b="1" dirty="0">
              <a:solidFill>
                <a:srgbClr val="7D4E1D"/>
              </a:solidFill>
            </a:endParaRPr>
          </a:p>
          <a:p>
            <a:pPr marL="0" indent="0">
              <a:buNone/>
            </a:pPr>
            <a:r>
              <a:rPr/>
              <a:t>1.     Strategic Planning Workshop</a:t>
            </a:r>
            <a:br/>
            <a:r>
              <a:t>.</a:t>
            </a: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a:t>2.       Market Opportunity Report</a:t>
            </a:r>
            <a:br/>
            <a:r>
              <a:t>.</a:t>
            </a: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pPr/>
            <a:r>
              <a:t>Facilitated sessions for leadership alignment.</a:t>
            </a:r>
            <a:endParaRPr lang="en-AE" sz="1200" i="1" dirty="0"/>
          </a:p>
          <a:p>
            <a:pPr/>
            <a:r>
              <a:t>SWOT analysis and vision articulation.</a:t>
            </a:r>
          </a:p>
          <a:p>
            <a:pPr/>
            <a:r>
              <a:t>Identification of strategic imperatives.</a:t>
            </a:r>
          </a:p>
          <a:p>
            <a:pPr/>
            <a:r>
              <a:t>Prioritized initiatives for 1-3 year horizon.</a:t>
            </a:r>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pPr/>
            <a:r>
              <a:t>In-depth analysis of target markets.</a:t>
            </a:r>
            <a:endParaRPr lang="en-AE" sz="1200" i="1" dirty="0"/>
          </a:p>
          <a:p>
            <a:pPr/>
            <a:r>
              <a:t>Competitive intelligence and positioning.</a:t>
            </a:r>
          </a:p>
          <a:p>
            <a:pPr/>
            <a:r>
              <a:t>Detailed assessment of entry barriers.</a:t>
            </a:r>
          </a:p>
          <a:p>
            <a:pPr/>
            <a:r>
              <a:t>Recommendations for market penetration.</a:t>
            </a:r>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a:t>4.          Digital Transformation Roadmap</a:t>
            </a:r>
            <a:br/>
            <a:r>
              <a:t>.</a:t>
            </a: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sz="1500" b="1" dirty="0">
              <a:solidFill>
                <a:srgbClr val="7D4E1D"/>
              </a:solidFill>
            </a:endParaRPr>
          </a:p>
          <a:p>
            <a:pPr marL="0" indent="0">
              <a:buNone/>
            </a:pPr>
            <a:r>
              <a:rPr/>
              <a:t>3.       Operating Model Blueprints</a:t>
            </a:r>
            <a:br/>
            <a:r>
              <a:t>.</a:t>
            </a: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pPr/>
            <a:r>
              <a:t>Defined roles, responsibilities, and workflows.</a:t>
            </a:r>
            <a:endParaRPr lang="en-US" sz="1200" i="1" dirty="0"/>
          </a:p>
          <a:p>
            <a:pPr/>
            <a:r>
              <a:t>Process maps for core business functions.</a:t>
            </a:r>
          </a:p>
          <a:p>
            <a:pPr/>
            <a:r>
              <a:t>Technology enablement recommendations.</a:t>
            </a:r>
          </a:p>
          <a:p>
            <a:pPr/>
            <a:r>
              <a:t>Organizational structure design.</a:t>
            </a:r>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pPr/>
            <a:r>
              <a:t>Phased plan for digital capability rollout.</a:t>
            </a:r>
            <a:endParaRPr lang="en-AE" sz="1200" i="1" dirty="0"/>
          </a:p>
          <a:p>
            <a:pPr/>
            <a:r>
              <a:t>Technology stack recommendations.</a:t>
            </a:r>
          </a:p>
          <a:p>
            <a:pPr/>
            <a:r>
              <a:t>Integration strategy with existing systems.</a:t>
            </a:r>
          </a:p>
          <a:p>
            <a:pPr/>
            <a:r>
              <a:t>Metrics for digital performance tracking.</a:t>
            </a:r>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C7658-BDAA-4AE2-AB2D-F9763CAF65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34</cp:revision>
  <dcterms:created xsi:type="dcterms:W3CDTF">2025-03-19T09:34:50Z</dcterms:created>
  <dcterms:modified xsi:type="dcterms:W3CDTF">2025-11-19T15:43:23Z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