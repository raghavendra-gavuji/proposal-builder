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rPr lang="en-US" dirty="0"/>
              <a:t>{{COVER TITLE}}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October 26, 2023</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Strategic Growth &amp; Transformation Proposal for [Client Name]</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endParaRPr lang="en-AE" sz="1200" dirty="0"/>
          </a:p>
          <a:p>
            <a:r>
              <a:rPr sz="1200" dirty="0"/>
              <a:t>{{</a:t>
            </a:r>
            <a:r>
              <a:rPr lang="en-US" sz="1200" dirty="0"/>
              <a:t>CLIENT LOGO</a:t>
            </a:r>
            <a:r>
              <a:rPr sz="1200" dirty="0"/>
              <a:t>}}</a:t>
            </a:r>
            <a:br>
              <a:rPr sz="1200" dirty="0"/>
            </a:br>
            <a:endParaRPr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Dear [Client Name] Leadership Team,</a:t>
            </a:r>
            <a:br/>
            <a:br/>
            <a:r>
              <a:t>On behalf of Pnyx Hill, I am delighted to present this strategic proposal, outlining our recommended approach to accelerate your growth trajectory and reinforce market leadership. We deeply appreciate the opportunity to partner with you on this critical initiative.</a:t>
            </a:r>
            <a:br/>
            <a:br/>
            <a:r>
              <a:t>Our team has carefully synthesized insights into your strategic aspirations and market dynamics, and we are confident that the proposed framework will drive sustainable value creation. This document articulates a tailored, comprehensive strategy designed to address your unique challenges and capitalize on emerging opportunities.</a:t>
            </a:r>
            <a:br/>
            <a:br/>
            <a:r>
              <a:t>Pnyx Hill is committed to acting as a true strategic partner, bringing unparalleled expertise, rigorous analysis, and a collaborative spirit to every phase of this engagement. We are excited about the prospect of helping you achieve your ambitious vision and look forward to discussing this proposal further.</a:t>
            </a:r>
            <a:br/>
            <a:br/>
            <a:r>
              <a:t>Sincerely,</a:t>
            </a:r>
            <a:br/>
            <a:r>
              <a:t>Alex Chen</a:t>
            </a:r>
            <a:br/>
            <a:r>
              <a:t>Senior Strategy Consultant</a:t>
            </a:r>
            <a:br/>
            <a:r>
              <a:t>Pnyx Hill</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**1. Growth Ambition**</a:t>
            </a:r>
            <a:br/>
            <a:r>
              <a:t>[Client Name] stands at a pivotal juncture, poised to leverage its core strengths amidst evolving market landscapes. This proposal outlines a comprehensive strategy to not only address immediate growth imperatives but also to build enduring capabilities for sustained market leadership and innovation.</a:t>
            </a:r>
            <a:br/>
            <a:br/>
            <a:r>
              <a:t>**2. Our Value Proposition**</a:t>
            </a:r>
            <a:br/>
            <a:r>
              <a:t>•  **Tailored Strategic Frameworks**: Developing bespoke strategies aligned with your unique market position and long-term vision.</a:t>
            </a:r>
            <a:br/>
            <a:r>
              <a:t>•  **Insight-Driven Execution**: Translating deep analytical insights into actionable plans and tangible results.</a:t>
            </a:r>
            <a:br/>
            <a:r>
              <a:t>•  **Sustainable Capability Building**: Empowering your organization with tools, processes, and skills for future success.</a:t>
            </a:r>
            <a:br/>
            <a:r>
              <a:t>•  **Accelerated Value Creation**: Focusing on initiatives that deliver maximum impact and return on investment.</a:t>
            </a:r>
            <a:br/>
            <a:br/>
            <a:r>
              <a:t>**3. Key Project Highlights**</a:t>
            </a:r>
            <a:br/>
            <a:r>
              <a:t>•  Market Opportunity Assessment</a:t>
            </a:r>
            <a:br/>
            <a:r>
              <a:t>•  Strategic Growth Pathway Definition</a:t>
            </a:r>
            <a:br/>
            <a:r>
              <a:t>•  Operating Model Optimization</a:t>
            </a:r>
            <a:br/>
            <a:r>
              <a:t>•  Digital Transformation Roadmap</a:t>
            </a:r>
            <a:br/>
            <a:r>
              <a:t>•  Performance Management Framework Design</a:t>
            </a:r>
            <a:br/>
            <a:r>
              <a:t>•  Innovation &amp; Product Portfolio Strategy</a:t>
            </a:r>
            <a:br/>
            <a:r>
              <a:t>•  Organizational Agility Enhancement</a:t>
            </a:r>
            <a:br/>
            <a:r>
              <a:t>•  Stakeholder Engagement &amp; Change Management</a:t>
            </a:r>
            <a:br/>
            <a:br/>
            <a:r>
              <a:t>**4. Strategic Outlook**</a:t>
            </a:r>
            <a:br/>
            <a:r>
              <a:t>Through this partnership, Pnyx Hill is dedicated to empowering [Client Name] to navigate complexity, unlock new growth frontiers, and secure a resilient, leading position in the industry.</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The current market is characterized by increasing volatility, rapid technological advancements, and shifting customer expectations. [Client Name] operates within a highly competitive landscape where traditional business models are being challenged by agile entrants and disruptive innovations. While the organization possesses significant foundational strengths, there's an unmet need to proactively adapt to these external pressures, optimize internal efficiencies, and fully capitalize on emerging growth vectors. The imperative is to move beyond incremental adjustments to strategic transformation that secures future relevance and market share.</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  **Market Fragmentation**: Increasing specialization and niche demands dilute traditional market dominance.</a:t>
            </a:r>
            <a:br/>
            <a:r>
              <a:t>•  **Digital Disruption**: Rapid technological shifts necessitate urgent modernization and new service delivery models.</a:t>
            </a:r>
            <a:br/>
            <a:r>
              <a:t>•  **Talent &amp; Capability Gaps**: Evolving skill requirements and difficulty attracting specialized expertise.</a:t>
            </a:r>
            <a:br/>
            <a:r>
              <a:t>•  **Operational Inefficiencies**: Legacy systems and processes hindering agility and cost-effectiveness.</a:t>
            </a:r>
            <a:br/>
            <a:r>
              <a:t>•  **Competitive Intensity**: Aggressive new entrants and established players vying for market share.</a:t>
            </a:r>
            <a:br/>
            <a:r>
              <a:t>•  **Unlocking New Revenue Streams**: Difficulty in identifying and scaling diversified growth opportunities.</a:t>
            </a:r>
            <a:endParaRPr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  Achieve significant, sustainable revenue growth and market share expansion.</a:t>
            </a:r>
            <a:br/>
            <a:r>
              <a:t>•  Enhance operational efficiency and cost-effectiveness across key functions.</a:t>
            </a:r>
            <a:br/>
            <a:r>
              <a:t>•  Develop a future-proof operating model resilient to market shifts.</a:t>
            </a:r>
            <a:br/>
            <a:r>
              <a:t>•  Cultivate a culture of innovation and agility.</a:t>
            </a:r>
            <a:br/>
            <a:r>
              <a:t>•  Strengthen competitive positioning through strategic differentiation.</a:t>
            </a: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Phase 1: Discover &amp; Define</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Phase 3: Implement &amp; Sustain</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r>
              <a:t>Our proposed approach is a structured, phased methodology designed to deliver impactful, sustainable change. It combines deep analytical rigor with a collaborative, insight-led process, ensuring alignment with your strategic objectives and rapid implementation.</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r>
              <a:t>•  Conduct comprehensive market and competitive analysis.</a:t>
            </a:r>
            <a:br/>
            <a:r>
              <a:t>•  Assess current state capabilities and performance.</a:t>
            </a:r>
            <a:br/>
            <a:r>
              <a:t>•  Identify key opportunities and strategic imperatives.</a:t>
            </a:r>
            <a:br/>
            <a:r>
              <a:t>•  Define vision, objectives, and success metrics.</a:t>
            </a:r>
            <a:endParaRPr lang="en-AE" sz="1200" i="1" dirty="0"/>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r>
              <a:t>•  Develop tailored strategic growth pathways.</a:t>
            </a:r>
            <a:br/>
            <a:r>
              <a:t>•  Formulate detailed operating model and organizational blueprints.</a:t>
            </a:r>
            <a:br/>
            <a:r>
              <a:t>•  Prioritize initiatives and create an execution roadmap.</a:t>
            </a:r>
            <a:br/>
            <a:r>
              <a:t>•  Develop financial models and business cases for proposed solutions.</a:t>
            </a:r>
            <a:endParaRPr lang="en-AE" sz="1200" i="1" dirty="0"/>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r>
              <a:t>•  Pilot strategic initiatives and refine methodologies.</a:t>
            </a:r>
            <a:br/>
            <a:r>
              <a:t>•  Support large-scale implementation and change management.</a:t>
            </a:r>
            <a:br/>
            <a:r>
              <a:t>•  Establish robust performance monitoring and feedback loops.</a:t>
            </a:r>
            <a:br/>
            <a:r>
              <a:t>•  Build internal capabilities for ongoing optimization and innovation.</a:t>
            </a:r>
            <a:endParaRPr lang="en-AE" sz="1200" i="1"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r>
              <a:t>•  **Market Entry &amp; Growth Strategy**: Identifying and evaluating new market opportunities, developing expansion strategies.</a:t>
            </a:r>
            <a:br/>
            <a:r>
              <a:t>•  **Business Model Innovation**: Redefining value propositions, revenue streams, and partnership ecosystems.</a:t>
            </a:r>
            <a:br/>
            <a:r>
              <a:t>•  **Competitive Advantage Analysis**: Benchmarking performance and developing strategies for sustainable differentiation.</a:t>
            </a:r>
            <a:br/>
            <a:r>
              <a:t>•  **Portfolio Rationalization**: Assessing existing product/service lines for optimal resource allocation and future potential.</a:t>
            </a: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**Operating Model Design**: Optimizing organizational structure, processes, and governance for agility and efficiency.</a:t>
            </a:r>
            <a:br/>
            <a:r>
              <a:t>•  **Digital Transformation Strategy**: Defining technology roadmaps and capabilities to enhance operations and customer experience.</a:t>
            </a:r>
            <a:br/>
            <a:r>
              <a:t>•  **Performance Management Frameworks**: Establishing clear KPIs, reporting mechanisms, and accountability structures.</a:t>
            </a:r>
            <a:br/>
            <a:r>
              <a:t>•  **Talent &amp; Organization Strategy**: Aligning human capital with strategic objectives, addressing skill gaps, and fostering a high-performance culture.</a:t>
            </a: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**Strategic Advisory &amp; Coaching**: Providing ongoing expert guidance to leadership teams on critical decisions and emergent challenges.</a:t>
            </a:r>
            <a:br/>
            <a:r>
              <a:t>•  **Implementation Assurance**: Monitoring progress, identifying roadblocks, and ensuring successful execution of strategic initiatives.</a:t>
            </a:r>
            <a:br/>
            <a:r>
              <a:t>•  **Capability Transfer**: Training client teams to internalize new processes and methodologies for self-sufficiency.</a:t>
            </a:r>
            <a:br/>
            <a:r>
              <a:t>•  **Future-Proofing &amp; Horizon Scanning**: Regular assessments to anticipate future trends and adapt strategies proactively.</a:t>
            </a: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Strategic Growth Roadmap</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Operating Model Blueprint</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r>
              <a:t>•  Detailed market opportunity assessment report.</a:t>
            </a:r>
            <a:br/>
            <a:r>
              <a:t>•  Prioritized strategic initiatives and investment cases.</a:t>
            </a:r>
            <a:br/>
            <a:r>
              <a:t>•  Comprehensive 3-5 year growth projection model.</a:t>
            </a:r>
            <a:br/>
            <a:r>
              <a:t>•  Clear definition of target markets and customer segments.</a:t>
            </a:r>
            <a:endParaRPr lang="en-AE" sz="1200" i="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r>
              <a:t>•  Optimized organizational structure and governance framework.</a:t>
            </a:r>
            <a:br/>
            <a:r>
              <a:t>•  Redesigned core business processes for efficiency and scalability.</a:t>
            </a:r>
            <a:br/>
            <a:r>
              <a:t>•  Technology architecture recommendations to support transformation.</a:t>
            </a:r>
            <a:br/>
            <a:r>
              <a:t>•  Talent and capability development plan.</a:t>
            </a:r>
            <a:endParaRPr lang="en-AE" sz="1200" i="1" dirty="0"/>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Performance &amp; Sustainability Framework</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Digital &amp; Innovation Strategy</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r>
              <a:t>•  Digital transformation roadmap with key milestones and dependencies.</a:t>
            </a:r>
            <a:br/>
            <a:r>
              <a:t>•  Framework for fostering continuous innovation and R&amp;D.</a:t>
            </a:r>
            <a:br/>
            <a:r>
              <a:t>•  Assessment of potential technological partnerships and acquisitions.</a:t>
            </a:r>
            <a:br/>
            <a:r>
              <a:t>•  Recommendations for enhancing customer digital experience.</a:t>
            </a:r>
            <a:endParaRPr lang="en-US" sz="1200" i="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r>
              <a:t>•  Customized key performance indicators (KPIs) dashboard.</a:t>
            </a:r>
            <a:br/>
            <a:r>
              <a:t>•  Regular progress reports and strategic reviews.</a:t>
            </a:r>
            <a:br/>
            <a:r>
              <a:t>•  Change management plan for successful adoption of new strategies.</a:t>
            </a:r>
            <a:br/>
            <a:r>
              <a:t>•  Long-term sustainability recommendations and risk mitigation strategies.</a:t>
            </a:r>
            <a:endParaRPr lang="en-AE" sz="1200" i="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