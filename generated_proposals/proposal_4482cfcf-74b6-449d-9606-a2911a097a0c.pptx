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s/modernComment_11A_A187FA2C.xml" ContentType="application/vnd.ms-powerpoint.comments+xml"/>
  <Override PartName="/ppt/comments/modernComment_134_844B3DA2.xml" ContentType="application/vnd.ms-powerpoint.comments+xml"/>
  <Override PartName="/ppt/comments/modernComment_135_C4FCC28.xml" ContentType="application/vnd.ms-powerpoint.comments+xml"/>
  <Override PartName="/ppt/media/image29.svg" ContentType="image/svg+xml"/>
  <Override PartName="/ppt/media/image3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sldIdLst>
    <p:sldId id="261" r:id="rId5"/>
    <p:sldId id="273" r:id="rId6"/>
    <p:sldId id="305" r:id="rId7"/>
    <p:sldId id="271" r:id="rId8"/>
    <p:sldId id="268" r:id="rId9"/>
    <p:sldId id="275" r:id="rId10"/>
    <p:sldId id="278" r:id="rId11"/>
    <p:sldId id="295" r:id="rId12"/>
    <p:sldId id="296" r:id="rId13"/>
    <p:sldId id="297" r:id="rId14"/>
    <p:sldId id="298" r:id="rId15"/>
    <p:sldId id="303" r:id="rId16"/>
    <p:sldId id="277" r:id="rId17"/>
    <p:sldId id="282" r:id="rId18"/>
    <p:sldId id="304" r:id="rId19"/>
    <p:sldId id="306" r:id="rId20"/>
    <p:sldId id="308" r:id="rId21"/>
    <p:sldId id="309" r:id="rId22"/>
    <p:sldId id="312" r:id="rId23"/>
    <p:sldId id="294" r:id="rId24"/>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16A83C-777C-0DF7-390D-AA7C1A28FF00}" name="Pallavi Khajuria" initials="PK" userId="S::pallavi.khajuria@pnyxhill.co::a9b717a9-a6a4-430c-9673-0d3d9754a83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339"/>
    <a:srgbClr val="ECE6DF"/>
    <a:srgbClr val="7D4E1D"/>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05A0C8-346C-4198-AF97-7528E23831A4}" v="26" dt="2025-11-10T12:01:22.1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32" autoAdjust="0"/>
    <p:restoredTop sz="94596"/>
  </p:normalViewPr>
  <p:slideViewPr>
    <p:cSldViewPr snapToGrid="0">
      <p:cViewPr varScale="1">
        <p:scale>
          <a:sx n="80" d="100"/>
          <a:sy n="80" d="100"/>
        </p:scale>
        <p:origin x="8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6/11/relationships/changesInfo" Target="changesInfos/changesInfo1.xml"/><Relationship Id="rId31" Type="http://schemas.microsoft.com/office/2015/10/relationships/revisionInfo" Target="revisionInfo.xml"/><Relationship Id="rId3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lavi Khajuria" userId="a9b717a9-a6a4-430c-9673-0d3d9754a838" providerId="ADAL" clId="{251A7961-4882-4F9E-81E1-00826DDD5DBC}"/>
    <pc:docChg chg="undo redo custSel addSld delSld modSld">
      <pc:chgData name="Pallavi Khajuria" userId="a9b717a9-a6a4-430c-9673-0d3d9754a838" providerId="ADAL" clId="{251A7961-4882-4F9E-81E1-00826DDD5DBC}" dt="2025-11-10T12:01:22.105" v="441"/>
      <pc:docMkLst>
        <pc:docMk/>
      </pc:docMkLst>
      <pc:sldChg chg="modSp mod">
        <pc:chgData name="Pallavi Khajuria" userId="a9b717a9-a6a4-430c-9673-0d3d9754a838" providerId="ADAL" clId="{251A7961-4882-4F9E-81E1-00826DDD5DBC}" dt="2025-11-10T11:11:11.684" v="64" actId="20577"/>
        <pc:sldMkLst>
          <pc:docMk/>
          <pc:sldMk cId="1773422724" sldId="261"/>
        </pc:sldMkLst>
        <pc:spChg chg="mod">
          <ac:chgData name="Pallavi Khajuria" userId="a9b717a9-a6a4-430c-9673-0d3d9754a838" providerId="ADAL" clId="{251A7961-4882-4F9E-81E1-00826DDD5DBC}" dt="2025-11-10T11:11:11.684" v="64" actId="20577"/>
          <ac:spMkLst>
            <pc:docMk/>
            <pc:sldMk cId="1773422724" sldId="261"/>
            <ac:spMk id="2" creationId="{6C7BAEFF-18C6-2C57-F6D8-DA60A617955B}"/>
          </ac:spMkLst>
        </pc:spChg>
        <pc:spChg chg="mod">
          <ac:chgData name="Pallavi Khajuria" userId="a9b717a9-a6a4-430c-9673-0d3d9754a838" providerId="ADAL" clId="{251A7961-4882-4F9E-81E1-00826DDD5DBC}" dt="2025-11-10T11:09:54.509" v="59" actId="1076"/>
          <ac:spMkLst>
            <pc:docMk/>
            <pc:sldMk cId="1773422724" sldId="261"/>
            <ac:spMk id="3" creationId="{15512898-28DC-4FA8-3D8D-BE9CA956A398}"/>
          </ac:spMkLst>
        </pc:spChg>
        <pc:spChg chg="mod">
          <ac:chgData name="Pallavi Khajuria" userId="a9b717a9-a6a4-430c-9673-0d3d9754a838" providerId="ADAL" clId="{251A7961-4882-4F9E-81E1-00826DDD5DBC}" dt="2025-11-10T11:05:39.608" v="29" actId="1076"/>
          <ac:spMkLst>
            <pc:docMk/>
            <pc:sldMk cId="1773422724" sldId="261"/>
            <ac:spMk id="4" creationId="{54D84B09-EA48-A07A-61BE-CC46E8F2A0C4}"/>
          </ac:spMkLst>
        </pc:spChg>
      </pc:sldChg>
      <pc:sldChg chg="addSp delSp modSp mod">
        <pc:chgData name="Pallavi Khajuria" userId="a9b717a9-a6a4-430c-9673-0d3d9754a838" providerId="ADAL" clId="{251A7961-4882-4F9E-81E1-00826DDD5DBC}" dt="2025-11-10T12:00:48.665" v="428"/>
        <pc:sldMkLst>
          <pc:docMk/>
          <pc:sldMk cId="1740471602" sldId="268"/>
        </pc:sldMkLst>
        <pc:spChg chg="add mod">
          <ac:chgData name="Pallavi Khajuria" userId="a9b717a9-a6a4-430c-9673-0d3d9754a838" providerId="ADAL" clId="{251A7961-4882-4F9E-81E1-00826DDD5DBC}" dt="2025-11-10T12:00:48.665" v="428"/>
          <ac:spMkLst>
            <pc:docMk/>
            <pc:sldMk cId="1740471602" sldId="268"/>
            <ac:spMk id="2" creationId="{0304D152-BA33-F0F1-48FF-801A9B032E6B}"/>
          </ac:spMkLst>
        </pc:spChg>
        <pc:spChg chg="del mod">
          <ac:chgData name="Pallavi Khajuria" userId="a9b717a9-a6a4-430c-9673-0d3d9754a838" providerId="ADAL" clId="{251A7961-4882-4F9E-81E1-00826DDD5DBC}" dt="2025-11-10T11:19:10.821" v="71" actId="478"/>
          <ac:spMkLst>
            <pc:docMk/>
            <pc:sldMk cId="1740471602" sldId="268"/>
            <ac:spMk id="3" creationId="{11961488-95D6-B698-8721-89C4CBA1C5A0}"/>
          </ac:spMkLst>
        </pc:spChg>
      </pc:sldChg>
      <pc:sldChg chg="addSp delSp modSp mod">
        <pc:chgData name="Pallavi Khajuria" userId="a9b717a9-a6a4-430c-9673-0d3d9754a838" providerId="ADAL" clId="{251A7961-4882-4F9E-81E1-00826DDD5DBC}" dt="2025-11-10T12:00:46.636" v="427"/>
        <pc:sldMkLst>
          <pc:docMk/>
          <pc:sldMk cId="3854924663" sldId="271"/>
        </pc:sldMkLst>
        <pc:spChg chg="add mod">
          <ac:chgData name="Pallavi Khajuria" userId="a9b717a9-a6a4-430c-9673-0d3d9754a838" providerId="ADAL" clId="{251A7961-4882-4F9E-81E1-00826DDD5DBC}" dt="2025-11-10T12:00:46.636" v="427"/>
          <ac:spMkLst>
            <pc:docMk/>
            <pc:sldMk cId="3854924663" sldId="271"/>
            <ac:spMk id="2" creationId="{70F94601-D300-9A60-36F3-043D3C2A1970}"/>
          </ac:spMkLst>
        </pc:spChg>
        <pc:spChg chg="del mod">
          <ac:chgData name="Pallavi Khajuria" userId="a9b717a9-a6a4-430c-9673-0d3d9754a838" providerId="ADAL" clId="{251A7961-4882-4F9E-81E1-00826DDD5DBC}" dt="2025-11-10T11:19:15.453" v="72" actId="478"/>
          <ac:spMkLst>
            <pc:docMk/>
            <pc:sldMk cId="3854924663" sldId="271"/>
            <ac:spMk id="6" creationId="{B6156875-049A-B4D3-53F7-305BD0E7E387}"/>
          </ac:spMkLst>
        </pc:spChg>
      </pc:sldChg>
      <pc:sldChg chg="addSp delSp modSp mod">
        <pc:chgData name="Pallavi Khajuria" userId="a9b717a9-a6a4-430c-9673-0d3d9754a838" providerId="ADAL" clId="{251A7961-4882-4F9E-81E1-00826DDD5DBC}" dt="2025-11-10T12:00:41.607" v="425"/>
        <pc:sldMkLst>
          <pc:docMk/>
          <pc:sldMk cId="276852904" sldId="273"/>
        </pc:sldMkLst>
        <pc:spChg chg="add mod">
          <ac:chgData name="Pallavi Khajuria" userId="a9b717a9-a6a4-430c-9673-0d3d9754a838" providerId="ADAL" clId="{251A7961-4882-4F9E-81E1-00826DDD5DBC}" dt="2025-11-10T12:00:41.607" v="425"/>
          <ac:spMkLst>
            <pc:docMk/>
            <pc:sldMk cId="276852904" sldId="273"/>
            <ac:spMk id="2" creationId="{1180B436-073C-1FE1-74B5-603168612A49}"/>
          </ac:spMkLst>
        </pc:spChg>
        <pc:spChg chg="add del mod">
          <ac:chgData name="Pallavi Khajuria" userId="a9b717a9-a6a4-430c-9673-0d3d9754a838" providerId="ADAL" clId="{251A7961-4882-4F9E-81E1-00826DDD5DBC}" dt="2025-11-10T11:11:05.011" v="63" actId="478"/>
          <ac:spMkLst>
            <pc:docMk/>
            <pc:sldMk cId="276852904" sldId="273"/>
            <ac:spMk id="7" creationId="{57C87B2F-DF80-D661-A17F-88481402E049}"/>
          </ac:spMkLst>
        </pc:spChg>
        <pc:spChg chg="mod">
          <ac:chgData name="Pallavi Khajuria" userId="a9b717a9-a6a4-430c-9673-0d3d9754a838" providerId="ADAL" clId="{251A7961-4882-4F9E-81E1-00826DDD5DBC}" dt="2025-11-10T11:10:30.032" v="61" actId="21"/>
          <ac:spMkLst>
            <pc:docMk/>
            <pc:sldMk cId="276852904" sldId="273"/>
            <ac:spMk id="10" creationId="{6335B335-9496-5AD8-46B0-D3A7D1D73B7D}"/>
          </ac:spMkLst>
        </pc:spChg>
      </pc:sldChg>
      <pc:sldChg chg="addSp delSp modSp mod">
        <pc:chgData name="Pallavi Khajuria" userId="a9b717a9-a6a4-430c-9673-0d3d9754a838" providerId="ADAL" clId="{251A7961-4882-4F9E-81E1-00826DDD5DBC}" dt="2025-11-10T12:00:50.314" v="429"/>
        <pc:sldMkLst>
          <pc:docMk/>
          <pc:sldMk cId="1816921805" sldId="275"/>
        </pc:sldMkLst>
        <pc:spChg chg="del mod">
          <ac:chgData name="Pallavi Khajuria" userId="a9b717a9-a6a4-430c-9673-0d3d9754a838" providerId="ADAL" clId="{251A7961-4882-4F9E-81E1-00826DDD5DBC}" dt="2025-11-10T11:19:22.714" v="74" actId="478"/>
          <ac:spMkLst>
            <pc:docMk/>
            <pc:sldMk cId="1816921805" sldId="275"/>
            <ac:spMk id="2" creationId="{757D5BDF-F6F0-C14D-C9F7-07646F16A25C}"/>
          </ac:spMkLst>
        </pc:spChg>
        <pc:spChg chg="add mod">
          <ac:chgData name="Pallavi Khajuria" userId="a9b717a9-a6a4-430c-9673-0d3d9754a838" providerId="ADAL" clId="{251A7961-4882-4F9E-81E1-00826DDD5DBC}" dt="2025-11-10T12:00:50.314" v="429"/>
          <ac:spMkLst>
            <pc:docMk/>
            <pc:sldMk cId="1816921805" sldId="275"/>
            <ac:spMk id="3" creationId="{A82FBC88-82DB-42DA-D37F-0FCFBA8AD103}"/>
          </ac:spMkLst>
        </pc:spChg>
      </pc:sldChg>
      <pc:sldChg chg="addSp delSp modSp mod">
        <pc:chgData name="Pallavi Khajuria" userId="a9b717a9-a6a4-430c-9673-0d3d9754a838" providerId="ADAL" clId="{251A7961-4882-4F9E-81E1-00826DDD5DBC}" dt="2025-11-10T12:01:03.662" v="436"/>
        <pc:sldMkLst>
          <pc:docMk/>
          <pc:sldMk cId="1396447582" sldId="277"/>
        </pc:sldMkLst>
        <pc:spChg chg="mod">
          <ac:chgData name="Pallavi Khajuria" userId="a9b717a9-a6a4-430c-9673-0d3d9754a838" providerId="ADAL" clId="{251A7961-4882-4F9E-81E1-00826DDD5DBC}" dt="2025-11-10T11:28:00.721" v="93" actId="20577"/>
          <ac:spMkLst>
            <pc:docMk/>
            <pc:sldMk cId="1396447582" sldId="277"/>
            <ac:spMk id="2" creationId="{7BB5F4F5-A561-A2BF-50AD-2135E2BD4A6A}"/>
          </ac:spMkLst>
        </pc:spChg>
        <pc:spChg chg="mod">
          <ac:chgData name="Pallavi Khajuria" userId="a9b717a9-a6a4-430c-9673-0d3d9754a838" providerId="ADAL" clId="{251A7961-4882-4F9E-81E1-00826DDD5DBC}" dt="2025-11-10T11:28:03.840" v="94" actId="20577"/>
          <ac:spMkLst>
            <pc:docMk/>
            <pc:sldMk cId="1396447582" sldId="277"/>
            <ac:spMk id="3" creationId="{79C84FDE-81DE-1361-1FBF-9AB8614A6D28}"/>
          </ac:spMkLst>
        </pc:spChg>
        <pc:spChg chg="mod">
          <ac:chgData name="Pallavi Khajuria" userId="a9b717a9-a6a4-430c-9673-0d3d9754a838" providerId="ADAL" clId="{251A7961-4882-4F9E-81E1-00826DDD5DBC}" dt="2025-11-10T11:28:10.155" v="96" actId="20577"/>
          <ac:spMkLst>
            <pc:docMk/>
            <pc:sldMk cId="1396447582" sldId="277"/>
            <ac:spMk id="4" creationId="{A88DB71A-D56C-4634-2BEE-CCCF3CB0F3E7}"/>
          </ac:spMkLst>
        </pc:spChg>
        <pc:spChg chg="del">
          <ac:chgData name="Pallavi Khajuria" userId="a9b717a9-a6a4-430c-9673-0d3d9754a838" providerId="ADAL" clId="{251A7961-4882-4F9E-81E1-00826DDD5DBC}" dt="2025-11-10T11:25:46.654" v="90" actId="478"/>
          <ac:spMkLst>
            <pc:docMk/>
            <pc:sldMk cId="1396447582" sldId="277"/>
            <ac:spMk id="5" creationId="{8FA2B29A-4432-0D3E-44A7-E337C2CE6A10}"/>
          </ac:spMkLst>
        </pc:spChg>
        <pc:spChg chg="add mod">
          <ac:chgData name="Pallavi Khajuria" userId="a9b717a9-a6a4-430c-9673-0d3d9754a838" providerId="ADAL" clId="{251A7961-4882-4F9E-81E1-00826DDD5DBC}" dt="2025-11-10T12:01:03.662" v="436"/>
          <ac:spMkLst>
            <pc:docMk/>
            <pc:sldMk cId="1396447582" sldId="277"/>
            <ac:spMk id="6" creationId="{2D0E21F0-A1CC-72EB-D88E-A42FCE0E424D}"/>
          </ac:spMkLst>
        </pc:spChg>
      </pc:sldChg>
      <pc:sldChg chg="addSp delSp modSp mod">
        <pc:chgData name="Pallavi Khajuria" userId="a9b717a9-a6a4-430c-9673-0d3d9754a838" providerId="ADAL" clId="{251A7961-4882-4F9E-81E1-00826DDD5DBC}" dt="2025-11-10T12:00:52" v="430"/>
        <pc:sldMkLst>
          <pc:docMk/>
          <pc:sldMk cId="2886452166" sldId="278"/>
        </pc:sldMkLst>
        <pc:spChg chg="del mod">
          <ac:chgData name="Pallavi Khajuria" userId="a9b717a9-a6a4-430c-9673-0d3d9754a838" providerId="ADAL" clId="{251A7961-4882-4F9E-81E1-00826DDD5DBC}" dt="2025-11-10T11:19:29.878" v="76" actId="478"/>
          <ac:spMkLst>
            <pc:docMk/>
            <pc:sldMk cId="2886452166" sldId="278"/>
            <ac:spMk id="2" creationId="{556A9468-BC48-6B97-9AEA-37BEA1C7D98B}"/>
          </ac:spMkLst>
        </pc:spChg>
        <pc:spChg chg="add mod">
          <ac:chgData name="Pallavi Khajuria" userId="a9b717a9-a6a4-430c-9673-0d3d9754a838" providerId="ADAL" clId="{251A7961-4882-4F9E-81E1-00826DDD5DBC}" dt="2025-11-10T12:00:52" v="430"/>
          <ac:spMkLst>
            <pc:docMk/>
            <pc:sldMk cId="2886452166" sldId="278"/>
            <ac:spMk id="3" creationId="{B8E8124F-0E3B-E031-2C5D-7265461893A0}"/>
          </ac:spMkLst>
        </pc:spChg>
      </pc:sldChg>
      <pc:sldChg chg="addSp delSp modSp mod">
        <pc:chgData name="Pallavi Khajuria" userId="a9b717a9-a6a4-430c-9673-0d3d9754a838" providerId="ADAL" clId="{251A7961-4882-4F9E-81E1-00826DDD5DBC}" dt="2025-11-10T12:01:05.221" v="437"/>
        <pc:sldMkLst>
          <pc:docMk/>
          <pc:sldMk cId="2710043180" sldId="282"/>
        </pc:sldMkLst>
        <pc:spChg chg="add mod">
          <ac:chgData name="Pallavi Khajuria" userId="a9b717a9-a6a4-430c-9673-0d3d9754a838" providerId="ADAL" clId="{251A7961-4882-4F9E-81E1-00826DDD5DBC}" dt="2025-11-10T12:01:05.221" v="437"/>
          <ac:spMkLst>
            <pc:docMk/>
            <pc:sldMk cId="2710043180" sldId="282"/>
            <ac:spMk id="2" creationId="{3BAF4667-BBC8-FCF0-9CCF-304ECC450F66}"/>
          </ac:spMkLst>
        </pc:spChg>
        <pc:spChg chg="mod">
          <ac:chgData name="Pallavi Khajuria" userId="a9b717a9-a6a4-430c-9673-0d3d9754a838" providerId="ADAL" clId="{251A7961-4882-4F9E-81E1-00826DDD5DBC}" dt="2025-11-10T11:28:42.343" v="115" actId="20577"/>
          <ac:spMkLst>
            <pc:docMk/>
            <pc:sldMk cId="2710043180" sldId="282"/>
            <ac:spMk id="3" creationId="{A3F4BD2E-E227-A41F-33BD-EF5E3E53F344}"/>
          </ac:spMkLst>
        </pc:spChg>
        <pc:spChg chg="mod">
          <ac:chgData name="Pallavi Khajuria" userId="a9b717a9-a6a4-430c-9673-0d3d9754a838" providerId="ADAL" clId="{251A7961-4882-4F9E-81E1-00826DDD5DBC}" dt="2025-11-10T11:29:46.428" v="151" actId="20577"/>
          <ac:spMkLst>
            <pc:docMk/>
            <pc:sldMk cId="2710043180" sldId="282"/>
            <ac:spMk id="9" creationId="{DFBC7929-B570-8AB1-9208-301A6F237D7F}"/>
          </ac:spMkLst>
        </pc:spChg>
        <pc:spChg chg="mod">
          <ac:chgData name="Pallavi Khajuria" userId="a9b717a9-a6a4-430c-9673-0d3d9754a838" providerId="ADAL" clId="{251A7961-4882-4F9E-81E1-00826DDD5DBC}" dt="2025-11-10T11:31:39.504" v="198" actId="33524"/>
          <ac:spMkLst>
            <pc:docMk/>
            <pc:sldMk cId="2710043180" sldId="282"/>
            <ac:spMk id="10" creationId="{FEF43109-D1B4-7C50-7776-0FFB5C5664F9}"/>
          </ac:spMkLst>
        </pc:spChg>
        <pc:spChg chg="mod">
          <ac:chgData name="Pallavi Khajuria" userId="a9b717a9-a6a4-430c-9673-0d3d9754a838" providerId="ADAL" clId="{251A7961-4882-4F9E-81E1-00826DDD5DBC}" dt="2025-11-10T11:29:49.401" v="152" actId="20577"/>
          <ac:spMkLst>
            <pc:docMk/>
            <pc:sldMk cId="2710043180" sldId="282"/>
            <ac:spMk id="14" creationId="{F68783C2-B190-F13A-AE22-9AFA09E4C25B}"/>
          </ac:spMkLst>
        </pc:spChg>
        <pc:spChg chg="mod">
          <ac:chgData name="Pallavi Khajuria" userId="a9b717a9-a6a4-430c-9673-0d3d9754a838" providerId="ADAL" clId="{251A7961-4882-4F9E-81E1-00826DDD5DBC}" dt="2025-11-10T11:29:51.544" v="153" actId="20577"/>
          <ac:spMkLst>
            <pc:docMk/>
            <pc:sldMk cId="2710043180" sldId="282"/>
            <ac:spMk id="15" creationId="{9CAA5706-E44C-CB8B-FD39-98E004E80F83}"/>
          </ac:spMkLst>
        </pc:spChg>
        <pc:spChg chg="del mod">
          <ac:chgData name="Pallavi Khajuria" userId="a9b717a9-a6a4-430c-9673-0d3d9754a838" providerId="ADAL" clId="{251A7961-4882-4F9E-81E1-00826DDD5DBC}" dt="2025-11-10T11:31:06.892" v="159"/>
          <ac:spMkLst>
            <pc:docMk/>
            <pc:sldMk cId="2710043180" sldId="282"/>
            <ac:spMk id="16" creationId="{57F66B3A-6E85-76E5-969C-2EB0FBBE06DF}"/>
          </ac:spMkLst>
        </pc:spChg>
        <pc:spChg chg="mod">
          <ac:chgData name="Pallavi Khajuria" userId="a9b717a9-a6a4-430c-9673-0d3d9754a838" providerId="ADAL" clId="{251A7961-4882-4F9E-81E1-00826DDD5DBC}" dt="2025-11-10T11:31:03.368" v="156" actId="20577"/>
          <ac:spMkLst>
            <pc:docMk/>
            <pc:sldMk cId="2710043180" sldId="282"/>
            <ac:spMk id="17" creationId="{5F3959F4-1E64-2DBA-2783-E5ABDE1E2D02}"/>
          </ac:spMkLst>
        </pc:spChg>
        <pc:spChg chg="del mod">
          <ac:chgData name="Pallavi Khajuria" userId="a9b717a9-a6a4-430c-9673-0d3d9754a838" providerId="ADAL" clId="{251A7961-4882-4F9E-81E1-00826DDD5DBC}" dt="2025-11-10T11:31:06.896" v="161"/>
          <ac:spMkLst>
            <pc:docMk/>
            <pc:sldMk cId="2710043180" sldId="282"/>
            <ac:spMk id="19" creationId="{70D0FDED-8B28-54FA-D25D-743954B40474}"/>
          </ac:spMkLst>
        </pc:spChg>
      </pc:sldChg>
      <pc:sldChg chg="delSp del mod">
        <pc:chgData name="Pallavi Khajuria" userId="a9b717a9-a6a4-430c-9673-0d3d9754a838" providerId="ADAL" clId="{251A7961-4882-4F9E-81E1-00826DDD5DBC}" dt="2025-11-10T12:00:08.708" v="420" actId="47"/>
        <pc:sldMkLst>
          <pc:docMk/>
          <pc:sldMk cId="1822323106" sldId="290"/>
        </pc:sldMkLst>
        <pc:spChg chg="del">
          <ac:chgData name="Pallavi Khajuria" userId="a9b717a9-a6a4-430c-9673-0d3d9754a838" providerId="ADAL" clId="{251A7961-4882-4F9E-81E1-00826DDD5DBC}" dt="2025-11-10T11:59:45.300" v="419" actId="478"/>
          <ac:spMkLst>
            <pc:docMk/>
            <pc:sldMk cId="1822323106" sldId="290"/>
            <ac:spMk id="3" creationId="{D9801C6B-5D80-8825-00C9-842D9B85733C}"/>
          </ac:spMkLst>
        </pc:spChg>
      </pc:sldChg>
      <pc:sldChg chg="del">
        <pc:chgData name="Pallavi Khajuria" userId="a9b717a9-a6a4-430c-9673-0d3d9754a838" providerId="ADAL" clId="{251A7961-4882-4F9E-81E1-00826DDD5DBC}" dt="2025-11-10T12:00:10.180" v="421" actId="47"/>
        <pc:sldMkLst>
          <pc:docMk/>
          <pc:sldMk cId="2596717233" sldId="291"/>
        </pc:sldMkLst>
      </pc:sldChg>
      <pc:sldChg chg="delSp mod">
        <pc:chgData name="Pallavi Khajuria" userId="a9b717a9-a6a4-430c-9673-0d3d9754a838" providerId="ADAL" clId="{251A7961-4882-4F9E-81E1-00826DDD5DBC}" dt="2025-11-10T12:00:26.466" v="424" actId="478"/>
        <pc:sldMkLst>
          <pc:docMk/>
          <pc:sldMk cId="1873388134" sldId="294"/>
        </pc:sldMkLst>
        <pc:spChg chg="del">
          <ac:chgData name="Pallavi Khajuria" userId="a9b717a9-a6a4-430c-9673-0d3d9754a838" providerId="ADAL" clId="{251A7961-4882-4F9E-81E1-00826DDD5DBC}" dt="2025-11-10T12:00:26.466" v="424" actId="478"/>
          <ac:spMkLst>
            <pc:docMk/>
            <pc:sldMk cId="1873388134" sldId="294"/>
            <ac:spMk id="2" creationId="{60262BF2-59AF-D0FD-90D8-D2416546406F}"/>
          </ac:spMkLst>
        </pc:spChg>
      </pc:sldChg>
      <pc:sldChg chg="addSp delSp modSp mod">
        <pc:chgData name="Pallavi Khajuria" userId="a9b717a9-a6a4-430c-9673-0d3d9754a838" providerId="ADAL" clId="{251A7961-4882-4F9E-81E1-00826DDD5DBC}" dt="2025-11-10T12:00:53.556" v="431"/>
        <pc:sldMkLst>
          <pc:docMk/>
          <pc:sldMk cId="3318657826" sldId="295"/>
        </pc:sldMkLst>
        <pc:spChg chg="del mod">
          <ac:chgData name="Pallavi Khajuria" userId="a9b717a9-a6a4-430c-9673-0d3d9754a838" providerId="ADAL" clId="{251A7961-4882-4F9E-81E1-00826DDD5DBC}" dt="2025-11-10T11:19:35.925" v="78" actId="478"/>
          <ac:spMkLst>
            <pc:docMk/>
            <pc:sldMk cId="3318657826" sldId="295"/>
            <ac:spMk id="2" creationId="{07B4D0D4-5EF5-1633-486D-6FE06F75ED70}"/>
          </ac:spMkLst>
        </pc:spChg>
        <pc:spChg chg="add mod">
          <ac:chgData name="Pallavi Khajuria" userId="a9b717a9-a6a4-430c-9673-0d3d9754a838" providerId="ADAL" clId="{251A7961-4882-4F9E-81E1-00826DDD5DBC}" dt="2025-11-10T12:00:53.556" v="431"/>
          <ac:spMkLst>
            <pc:docMk/>
            <pc:sldMk cId="3318657826" sldId="295"/>
            <ac:spMk id="3" creationId="{CBDD09F1-AC85-E6BB-E077-FB0F9A53AC1D}"/>
          </ac:spMkLst>
        </pc:spChg>
      </pc:sldChg>
      <pc:sldChg chg="addSp delSp modSp mod">
        <pc:chgData name="Pallavi Khajuria" userId="a9b717a9-a6a4-430c-9673-0d3d9754a838" providerId="ADAL" clId="{251A7961-4882-4F9E-81E1-00826DDD5DBC}" dt="2025-11-10T12:00:55.081" v="432"/>
        <pc:sldMkLst>
          <pc:docMk/>
          <pc:sldMk cId="321937985" sldId="296"/>
        </pc:sldMkLst>
        <pc:spChg chg="del mod">
          <ac:chgData name="Pallavi Khajuria" userId="a9b717a9-a6a4-430c-9673-0d3d9754a838" providerId="ADAL" clId="{251A7961-4882-4F9E-81E1-00826DDD5DBC}" dt="2025-11-10T11:19:42.817" v="80" actId="478"/>
          <ac:spMkLst>
            <pc:docMk/>
            <pc:sldMk cId="321937985" sldId="296"/>
            <ac:spMk id="2" creationId="{528764CB-3FAB-DDE7-F4BD-5276B3C0B783}"/>
          </ac:spMkLst>
        </pc:spChg>
        <pc:spChg chg="add mod">
          <ac:chgData name="Pallavi Khajuria" userId="a9b717a9-a6a4-430c-9673-0d3d9754a838" providerId="ADAL" clId="{251A7961-4882-4F9E-81E1-00826DDD5DBC}" dt="2025-11-10T12:00:55.081" v="432"/>
          <ac:spMkLst>
            <pc:docMk/>
            <pc:sldMk cId="321937985" sldId="296"/>
            <ac:spMk id="3" creationId="{29A68F79-5343-74A9-9547-123447F2F2DF}"/>
          </ac:spMkLst>
        </pc:spChg>
      </pc:sldChg>
      <pc:sldChg chg="addSp delSp modSp mod">
        <pc:chgData name="Pallavi Khajuria" userId="a9b717a9-a6a4-430c-9673-0d3d9754a838" providerId="ADAL" clId="{251A7961-4882-4F9E-81E1-00826DDD5DBC}" dt="2025-11-10T12:00:56.757" v="433"/>
        <pc:sldMkLst>
          <pc:docMk/>
          <pc:sldMk cId="1446093289" sldId="297"/>
        </pc:sldMkLst>
        <pc:spChg chg="del mod">
          <ac:chgData name="Pallavi Khajuria" userId="a9b717a9-a6a4-430c-9673-0d3d9754a838" providerId="ADAL" clId="{251A7961-4882-4F9E-81E1-00826DDD5DBC}" dt="2025-11-10T11:19:49.542" v="82" actId="478"/>
          <ac:spMkLst>
            <pc:docMk/>
            <pc:sldMk cId="1446093289" sldId="297"/>
            <ac:spMk id="2" creationId="{F2DE84B8-9DF3-0FA1-93A5-C74847F7693C}"/>
          </ac:spMkLst>
        </pc:spChg>
        <pc:spChg chg="add mod">
          <ac:chgData name="Pallavi Khajuria" userId="a9b717a9-a6a4-430c-9673-0d3d9754a838" providerId="ADAL" clId="{251A7961-4882-4F9E-81E1-00826DDD5DBC}" dt="2025-11-10T12:00:56.757" v="433"/>
          <ac:spMkLst>
            <pc:docMk/>
            <pc:sldMk cId="1446093289" sldId="297"/>
            <ac:spMk id="3" creationId="{F4361917-790E-8E8D-E566-3BF588980ECA}"/>
          </ac:spMkLst>
        </pc:spChg>
      </pc:sldChg>
      <pc:sldChg chg="addSp delSp modSp mod">
        <pc:chgData name="Pallavi Khajuria" userId="a9b717a9-a6a4-430c-9673-0d3d9754a838" providerId="ADAL" clId="{251A7961-4882-4F9E-81E1-00826DDD5DBC}" dt="2025-11-10T12:00:58.372" v="434"/>
        <pc:sldMkLst>
          <pc:docMk/>
          <pc:sldMk cId="2087480208" sldId="298"/>
        </pc:sldMkLst>
        <pc:spChg chg="del mod">
          <ac:chgData name="Pallavi Khajuria" userId="a9b717a9-a6a4-430c-9673-0d3d9754a838" providerId="ADAL" clId="{251A7961-4882-4F9E-81E1-00826DDD5DBC}" dt="2025-11-10T11:19:55.107" v="84" actId="478"/>
          <ac:spMkLst>
            <pc:docMk/>
            <pc:sldMk cId="2087480208" sldId="298"/>
            <ac:spMk id="2" creationId="{6086E012-5544-1D8E-F347-278E6F99643A}"/>
          </ac:spMkLst>
        </pc:spChg>
        <pc:spChg chg="add mod">
          <ac:chgData name="Pallavi Khajuria" userId="a9b717a9-a6a4-430c-9673-0d3d9754a838" providerId="ADAL" clId="{251A7961-4882-4F9E-81E1-00826DDD5DBC}" dt="2025-11-10T12:00:58.372" v="434"/>
          <ac:spMkLst>
            <pc:docMk/>
            <pc:sldMk cId="2087480208" sldId="298"/>
            <ac:spMk id="3" creationId="{E1ADB767-4E35-0D94-8A50-F35437C2FEED}"/>
          </ac:spMkLst>
        </pc:spChg>
      </pc:sldChg>
      <pc:sldChg chg="addSp delSp modSp mod">
        <pc:chgData name="Pallavi Khajuria" userId="a9b717a9-a6a4-430c-9673-0d3d9754a838" providerId="ADAL" clId="{251A7961-4882-4F9E-81E1-00826DDD5DBC}" dt="2025-11-10T12:01:00.044" v="435"/>
        <pc:sldMkLst>
          <pc:docMk/>
          <pc:sldMk cId="1695090093" sldId="303"/>
        </pc:sldMkLst>
        <pc:spChg chg="del mod">
          <ac:chgData name="Pallavi Khajuria" userId="a9b717a9-a6a4-430c-9673-0d3d9754a838" providerId="ADAL" clId="{251A7961-4882-4F9E-81E1-00826DDD5DBC}" dt="2025-11-10T11:25:29.785" v="89" actId="478"/>
          <ac:spMkLst>
            <pc:docMk/>
            <pc:sldMk cId="1695090093" sldId="303"/>
            <ac:spMk id="2" creationId="{5A663ABD-6D5A-88C2-B2BC-599F77E1AC0D}"/>
          </ac:spMkLst>
        </pc:spChg>
        <pc:spChg chg="del mod">
          <ac:chgData name="Pallavi Khajuria" userId="a9b717a9-a6a4-430c-9673-0d3d9754a838" providerId="ADAL" clId="{251A7961-4882-4F9E-81E1-00826DDD5DBC}" dt="2025-11-10T11:20:02" v="86" actId="478"/>
          <ac:spMkLst>
            <pc:docMk/>
            <pc:sldMk cId="1695090093" sldId="303"/>
            <ac:spMk id="3" creationId="{E41D6D49-DDE3-4475-AAF2-71334F274938}"/>
          </ac:spMkLst>
        </pc:spChg>
        <pc:spChg chg="add mod">
          <ac:chgData name="Pallavi Khajuria" userId="a9b717a9-a6a4-430c-9673-0d3d9754a838" providerId="ADAL" clId="{251A7961-4882-4F9E-81E1-00826DDD5DBC}" dt="2025-11-10T12:01:00.044" v="435"/>
          <ac:spMkLst>
            <pc:docMk/>
            <pc:sldMk cId="1695090093" sldId="303"/>
            <ac:spMk id="4" creationId="{C63F173C-EEBE-AD79-E348-0C4117172AE8}"/>
          </ac:spMkLst>
        </pc:spChg>
      </pc:sldChg>
      <pc:sldChg chg="delSp modSp mod">
        <pc:chgData name="Pallavi Khajuria" userId="a9b717a9-a6a4-430c-9673-0d3d9754a838" providerId="ADAL" clId="{251A7961-4882-4F9E-81E1-00826DDD5DBC}" dt="2025-11-10T11:44:11.411" v="200" actId="478"/>
        <pc:sldMkLst>
          <pc:docMk/>
          <pc:sldMk cId="3090815000" sldId="304"/>
        </pc:sldMkLst>
        <pc:spChg chg="del mod">
          <ac:chgData name="Pallavi Khajuria" userId="a9b717a9-a6a4-430c-9673-0d3d9754a838" providerId="ADAL" clId="{251A7961-4882-4F9E-81E1-00826DDD5DBC}" dt="2025-11-10T11:44:11.411" v="200" actId="478"/>
          <ac:spMkLst>
            <pc:docMk/>
            <pc:sldMk cId="3090815000" sldId="304"/>
            <ac:spMk id="2" creationId="{31AC730E-E441-31F4-69F3-05FCB50A7532}"/>
          </ac:spMkLst>
        </pc:spChg>
      </pc:sldChg>
      <pc:sldChg chg="addSp delSp modSp mod">
        <pc:chgData name="Pallavi Khajuria" userId="a9b717a9-a6a4-430c-9673-0d3d9754a838" providerId="ADAL" clId="{251A7961-4882-4F9E-81E1-00826DDD5DBC}" dt="2025-11-10T12:00:44.497" v="426"/>
        <pc:sldMkLst>
          <pc:docMk/>
          <pc:sldMk cId="2336992914" sldId="305"/>
        </pc:sldMkLst>
        <pc:spChg chg="add mod">
          <ac:chgData name="Pallavi Khajuria" userId="a9b717a9-a6a4-430c-9673-0d3d9754a838" providerId="ADAL" clId="{251A7961-4882-4F9E-81E1-00826DDD5DBC}" dt="2025-11-10T12:00:44.497" v="426"/>
          <ac:spMkLst>
            <pc:docMk/>
            <pc:sldMk cId="2336992914" sldId="305"/>
            <ac:spMk id="2" creationId="{510509ED-FDFA-9AF0-64A5-B641CF67DE64}"/>
          </ac:spMkLst>
        </pc:spChg>
        <pc:spChg chg="del mod">
          <ac:chgData name="Pallavi Khajuria" userId="a9b717a9-a6a4-430c-9673-0d3d9754a838" providerId="ADAL" clId="{251A7961-4882-4F9E-81E1-00826DDD5DBC}" dt="2025-11-10T11:12:23.894" v="67" actId="478"/>
          <ac:spMkLst>
            <pc:docMk/>
            <pc:sldMk cId="2336992914" sldId="305"/>
            <ac:spMk id="6" creationId="{A8EF223A-D3FC-4344-AC72-3C316D77D9A3}"/>
          </ac:spMkLst>
        </pc:spChg>
        <pc:spChg chg="mod">
          <ac:chgData name="Pallavi Khajuria" userId="a9b717a9-a6a4-430c-9673-0d3d9754a838" providerId="ADAL" clId="{251A7961-4882-4F9E-81E1-00826DDD5DBC}" dt="2025-11-10T11:12:28.167" v="68" actId="20577"/>
          <ac:spMkLst>
            <pc:docMk/>
            <pc:sldMk cId="2336992914" sldId="305"/>
            <ac:spMk id="9" creationId="{4CE3A302-71F3-A505-7068-C326BC33BADD}"/>
          </ac:spMkLst>
        </pc:spChg>
      </pc:sldChg>
      <pc:sldChg chg="addSp modSp mod">
        <pc:chgData name="Pallavi Khajuria" userId="a9b717a9-a6a4-430c-9673-0d3d9754a838" providerId="ADAL" clId="{251A7961-4882-4F9E-81E1-00826DDD5DBC}" dt="2025-11-10T12:01:09.895" v="438"/>
        <pc:sldMkLst>
          <pc:docMk/>
          <pc:sldMk cId="1632127899" sldId="306"/>
        </pc:sldMkLst>
        <pc:spChg chg="mod">
          <ac:chgData name="Pallavi Khajuria" userId="a9b717a9-a6a4-430c-9673-0d3d9754a838" providerId="ADAL" clId="{251A7961-4882-4F9E-81E1-00826DDD5DBC}" dt="2025-11-10T11:48:32.448" v="243" actId="20577"/>
          <ac:spMkLst>
            <pc:docMk/>
            <pc:sldMk cId="1632127899" sldId="306"/>
            <ac:spMk id="2" creationId="{26013913-5321-D93D-18DC-679B11DCBA48}"/>
          </ac:spMkLst>
        </pc:spChg>
        <pc:spChg chg="add mod">
          <ac:chgData name="Pallavi Khajuria" userId="a9b717a9-a6a4-430c-9673-0d3d9754a838" providerId="ADAL" clId="{251A7961-4882-4F9E-81E1-00826DDD5DBC}" dt="2025-11-10T12:01:09.895" v="438"/>
          <ac:spMkLst>
            <pc:docMk/>
            <pc:sldMk cId="1632127899" sldId="306"/>
            <ac:spMk id="3" creationId="{71D706F6-78B4-8187-8249-53FE450C24F8}"/>
          </ac:spMkLst>
        </pc:spChg>
        <pc:spChg chg="mod">
          <ac:chgData name="Pallavi Khajuria" userId="a9b717a9-a6a4-430c-9673-0d3d9754a838" providerId="ADAL" clId="{251A7961-4882-4F9E-81E1-00826DDD5DBC}" dt="2025-11-10T11:47:54.800" v="220" actId="20577"/>
          <ac:spMkLst>
            <pc:docMk/>
            <pc:sldMk cId="1632127899" sldId="306"/>
            <ac:spMk id="4" creationId="{92680D53-D430-E573-E195-D777B3715BA9}"/>
          </ac:spMkLst>
        </pc:spChg>
        <pc:spChg chg="mod">
          <ac:chgData name="Pallavi Khajuria" userId="a9b717a9-a6a4-430c-9673-0d3d9754a838" providerId="ADAL" clId="{251A7961-4882-4F9E-81E1-00826DDD5DBC}" dt="2025-11-10T11:47:40.536" v="214" actId="20577"/>
          <ac:spMkLst>
            <pc:docMk/>
            <pc:sldMk cId="1632127899" sldId="306"/>
            <ac:spMk id="6" creationId="{CCA89EA0-E269-44B2-36DE-06A5BBD705F9}"/>
          </ac:spMkLst>
        </pc:spChg>
        <pc:spChg chg="mod">
          <ac:chgData name="Pallavi Khajuria" userId="a9b717a9-a6a4-430c-9673-0d3d9754a838" providerId="ADAL" clId="{251A7961-4882-4F9E-81E1-00826DDD5DBC}" dt="2025-11-10T11:47:59.001" v="222" actId="27636"/>
          <ac:spMkLst>
            <pc:docMk/>
            <pc:sldMk cId="1632127899" sldId="306"/>
            <ac:spMk id="8" creationId="{2103AB6B-A72F-150F-7BC6-3358D22431D9}"/>
          </ac:spMkLst>
        </pc:spChg>
        <pc:spChg chg="mod">
          <ac:chgData name="Pallavi Khajuria" userId="a9b717a9-a6a4-430c-9673-0d3d9754a838" providerId="ADAL" clId="{251A7961-4882-4F9E-81E1-00826DDD5DBC}" dt="2025-11-10T11:50:48.500" v="348" actId="20577"/>
          <ac:spMkLst>
            <pc:docMk/>
            <pc:sldMk cId="1632127899" sldId="306"/>
            <ac:spMk id="12" creationId="{2DF705CC-6974-7258-485D-3EB82444ABBD}"/>
          </ac:spMkLst>
        </pc:spChg>
        <pc:spChg chg="mod">
          <ac:chgData name="Pallavi Khajuria" userId="a9b717a9-a6a4-430c-9673-0d3d9754a838" providerId="ADAL" clId="{251A7961-4882-4F9E-81E1-00826DDD5DBC}" dt="2025-11-10T11:51:39.042" v="389" actId="20577"/>
          <ac:spMkLst>
            <pc:docMk/>
            <pc:sldMk cId="1632127899" sldId="306"/>
            <ac:spMk id="13" creationId="{53187A2B-B3C3-BD47-812E-C9AF78225BCD}"/>
          </ac:spMkLst>
        </pc:spChg>
        <pc:spChg chg="mod">
          <ac:chgData name="Pallavi Khajuria" userId="a9b717a9-a6a4-430c-9673-0d3d9754a838" providerId="ADAL" clId="{251A7961-4882-4F9E-81E1-00826DDD5DBC}" dt="2025-11-10T11:50:34.973" v="314" actId="20577"/>
          <ac:spMkLst>
            <pc:docMk/>
            <pc:sldMk cId="1632127899" sldId="306"/>
            <ac:spMk id="16" creationId="{46C6D46A-7965-B435-7C14-57F22175C380}"/>
          </ac:spMkLst>
        </pc:spChg>
      </pc:sldChg>
      <pc:sldChg chg="addSp modSp mod">
        <pc:chgData name="Pallavi Khajuria" userId="a9b717a9-a6a4-430c-9673-0d3d9754a838" providerId="ADAL" clId="{251A7961-4882-4F9E-81E1-00826DDD5DBC}" dt="2025-11-10T12:01:12.415" v="439"/>
        <pc:sldMkLst>
          <pc:docMk/>
          <pc:sldMk cId="2219523490" sldId="308"/>
        </pc:sldMkLst>
        <pc:spChg chg="mod">
          <ac:chgData name="Pallavi Khajuria" userId="a9b717a9-a6a4-430c-9673-0d3d9754a838" providerId="ADAL" clId="{251A7961-4882-4F9E-81E1-00826DDD5DBC}" dt="2025-11-10T11:51:57.008" v="392" actId="20577"/>
          <ac:spMkLst>
            <pc:docMk/>
            <pc:sldMk cId="2219523490" sldId="308"/>
            <ac:spMk id="2" creationId="{2CA04B7F-0889-575D-C56A-F0A2DAA5BED3}"/>
          </ac:spMkLst>
        </pc:spChg>
        <pc:spChg chg="add mod">
          <ac:chgData name="Pallavi Khajuria" userId="a9b717a9-a6a4-430c-9673-0d3d9754a838" providerId="ADAL" clId="{251A7961-4882-4F9E-81E1-00826DDD5DBC}" dt="2025-11-10T12:01:12.415" v="439"/>
          <ac:spMkLst>
            <pc:docMk/>
            <pc:sldMk cId="2219523490" sldId="308"/>
            <ac:spMk id="3" creationId="{23DDFFE6-02F5-2FD5-A8F3-82A624B5B06F}"/>
          </ac:spMkLst>
        </pc:spChg>
        <pc:spChg chg="mod">
          <ac:chgData name="Pallavi Khajuria" userId="a9b717a9-a6a4-430c-9673-0d3d9754a838" providerId="ADAL" clId="{251A7961-4882-4F9E-81E1-00826DDD5DBC}" dt="2025-11-10T11:58:59.936" v="404"/>
          <ac:spMkLst>
            <pc:docMk/>
            <pc:sldMk cId="2219523490" sldId="308"/>
            <ac:spMk id="4" creationId="{F41ACD24-4209-A5D8-1097-891D1D5DA49C}"/>
          </ac:spMkLst>
        </pc:spChg>
        <pc:spChg chg="mod">
          <ac:chgData name="Pallavi Khajuria" userId="a9b717a9-a6a4-430c-9673-0d3d9754a838" providerId="ADAL" clId="{251A7961-4882-4F9E-81E1-00826DDD5DBC}" dt="2025-11-10T11:59:06.338" v="409"/>
          <ac:spMkLst>
            <pc:docMk/>
            <pc:sldMk cId="2219523490" sldId="308"/>
            <ac:spMk id="5" creationId="{0129D5FA-8B59-B1A8-3B87-F2F778D1E6E5}"/>
          </ac:spMkLst>
        </pc:spChg>
        <pc:spChg chg="mod">
          <ac:chgData name="Pallavi Khajuria" userId="a9b717a9-a6a4-430c-9673-0d3d9754a838" providerId="ADAL" clId="{251A7961-4882-4F9E-81E1-00826DDD5DBC}" dt="2025-11-10T11:51:47.879" v="390" actId="20577"/>
          <ac:spMkLst>
            <pc:docMk/>
            <pc:sldMk cId="2219523490" sldId="308"/>
            <ac:spMk id="29" creationId="{91E528CC-1DEC-1EC7-A1A6-A2DB81B728AA}"/>
          </ac:spMkLst>
        </pc:spChg>
        <pc:spChg chg="mod">
          <ac:chgData name="Pallavi Khajuria" userId="a9b717a9-a6a4-430c-9673-0d3d9754a838" providerId="ADAL" clId="{251A7961-4882-4F9E-81E1-00826DDD5DBC}" dt="2025-11-10T11:51:52.897" v="391" actId="20577"/>
          <ac:spMkLst>
            <pc:docMk/>
            <pc:sldMk cId="2219523490" sldId="308"/>
            <ac:spMk id="41" creationId="{2374A811-6337-EEA3-6CA1-983BD6A9DA32}"/>
          </ac:spMkLst>
        </pc:spChg>
      </pc:sldChg>
      <pc:sldChg chg="addSp delSp modSp mod">
        <pc:chgData name="Pallavi Khajuria" userId="a9b717a9-a6a4-430c-9673-0d3d9754a838" providerId="ADAL" clId="{251A7961-4882-4F9E-81E1-00826DDD5DBC}" dt="2025-11-10T11:59:21.501" v="417" actId="20577"/>
        <pc:sldMkLst>
          <pc:docMk/>
          <pc:sldMk cId="206556200" sldId="309"/>
        </pc:sldMkLst>
        <pc:spChg chg="mod">
          <ac:chgData name="Pallavi Khajuria" userId="a9b717a9-a6a4-430c-9673-0d3d9754a838" providerId="ADAL" clId="{251A7961-4882-4F9E-81E1-00826DDD5DBC}" dt="2025-11-10T11:58:12.954" v="393" actId="6549"/>
          <ac:spMkLst>
            <pc:docMk/>
            <pc:sldMk cId="206556200" sldId="309"/>
            <ac:spMk id="11" creationId="{4378B34E-EAB7-F8D1-AD02-1CBCD552E977}"/>
          </ac:spMkLst>
        </pc:spChg>
        <pc:spChg chg="mod">
          <ac:chgData name="Pallavi Khajuria" userId="a9b717a9-a6a4-430c-9673-0d3d9754a838" providerId="ADAL" clId="{251A7961-4882-4F9E-81E1-00826DDD5DBC}" dt="2025-11-10T11:58:22.232" v="396" actId="20577"/>
          <ac:spMkLst>
            <pc:docMk/>
            <pc:sldMk cId="206556200" sldId="309"/>
            <ac:spMk id="12" creationId="{69386124-EC2C-4293-F431-CD6463A69F95}"/>
          </ac:spMkLst>
        </pc:spChg>
        <pc:spChg chg="add del mod">
          <ac:chgData name="Pallavi Khajuria" userId="a9b717a9-a6a4-430c-9673-0d3d9754a838" providerId="ADAL" clId="{251A7961-4882-4F9E-81E1-00826DDD5DBC}" dt="2025-11-10T11:59:16.578" v="413" actId="20577"/>
          <ac:spMkLst>
            <pc:docMk/>
            <pc:sldMk cId="206556200" sldId="309"/>
            <ac:spMk id="13" creationId="{72139180-8083-B418-4FEC-002D4F85DDDB}"/>
          </ac:spMkLst>
        </pc:spChg>
        <pc:spChg chg="mod">
          <ac:chgData name="Pallavi Khajuria" userId="a9b717a9-a6a4-430c-9673-0d3d9754a838" providerId="ADAL" clId="{251A7961-4882-4F9E-81E1-00826DDD5DBC}" dt="2025-11-10T11:59:21.501" v="417" actId="20577"/>
          <ac:spMkLst>
            <pc:docMk/>
            <pc:sldMk cId="206556200" sldId="309"/>
            <ac:spMk id="14" creationId="{FA44F50F-174E-BDE9-23CB-65A44E70D000}"/>
          </ac:spMkLst>
        </pc:spChg>
      </pc:sldChg>
      <pc:sldChg chg="del">
        <pc:chgData name="Pallavi Khajuria" userId="a9b717a9-a6a4-430c-9673-0d3d9754a838" providerId="ADAL" clId="{251A7961-4882-4F9E-81E1-00826DDD5DBC}" dt="2025-11-10T11:59:26.360" v="418" actId="47"/>
        <pc:sldMkLst>
          <pc:docMk/>
          <pc:sldMk cId="3370430484" sldId="310"/>
        </pc:sldMkLst>
      </pc:sldChg>
      <pc:sldChg chg="del">
        <pc:chgData name="Pallavi Khajuria" userId="a9b717a9-a6a4-430c-9673-0d3d9754a838" providerId="ADAL" clId="{251A7961-4882-4F9E-81E1-00826DDD5DBC}" dt="2025-11-10T12:00:21.483" v="423" actId="47"/>
        <pc:sldMkLst>
          <pc:docMk/>
          <pc:sldMk cId="3413612536" sldId="311"/>
        </pc:sldMkLst>
      </pc:sldChg>
      <pc:sldChg chg="addSp delSp modSp add mod">
        <pc:chgData name="Pallavi Khajuria" userId="a9b717a9-a6a4-430c-9673-0d3d9754a838" providerId="ADAL" clId="{251A7961-4882-4F9E-81E1-00826DDD5DBC}" dt="2025-11-10T12:01:22.105" v="441"/>
        <pc:sldMkLst>
          <pc:docMk/>
          <pc:sldMk cId="2360998798" sldId="312"/>
        </pc:sldMkLst>
        <pc:spChg chg="add mod">
          <ac:chgData name="Pallavi Khajuria" userId="a9b717a9-a6a4-430c-9673-0d3d9754a838" providerId="ADAL" clId="{251A7961-4882-4F9E-81E1-00826DDD5DBC}" dt="2025-11-10T12:01:22.105" v="441"/>
          <ac:spMkLst>
            <pc:docMk/>
            <pc:sldMk cId="2360998798" sldId="312"/>
            <ac:spMk id="2" creationId="{17313117-93F2-00BB-CA48-6E2DE8395900}"/>
          </ac:spMkLst>
        </pc:spChg>
        <pc:spChg chg="del">
          <ac:chgData name="Pallavi Khajuria" userId="a9b717a9-a6a4-430c-9673-0d3d9754a838" providerId="ADAL" clId="{251A7961-4882-4F9E-81E1-00826DDD5DBC}" dt="2025-11-10T12:01:21.249" v="440" actId="478"/>
          <ac:spMkLst>
            <pc:docMk/>
            <pc:sldMk cId="2360998798" sldId="312"/>
            <ac:spMk id="5" creationId="{BEA8B6C2-4306-939F-8A04-A302AF87C90A}"/>
          </ac:spMkLst>
        </pc:spChg>
      </pc:sldChg>
    </pc:docChg>
  </pc:docChgLst>
</pc:chgInfo>
</file>

<file path=ppt/comments/modernComment_11A_A187FA2C.xml><?xml version="1.0" encoding="utf-8"?>
<p188:cmLst xmlns:a="http://schemas.openxmlformats.org/drawingml/2006/main" xmlns:r="http://schemas.openxmlformats.org/officeDocument/2006/relationships" xmlns:p188="http://schemas.microsoft.com/office/powerpoint/2018/8/main">
  <p188:cm id="{4AB5D70A-4F0A-43D6-9739-1435A5FF7B8A}" authorId="{6E16A83C-777C-0DF7-390D-AA7C1A28FF00}" created="2025-06-09T12:43:39.606">
    <pc:sldMkLst xmlns:pc="http://schemas.microsoft.com/office/powerpoint/2013/main/command">
      <pc:docMk/>
      <pc:sldMk cId="2710043180" sldId="282"/>
    </pc:sldMkLst>
    <p188:txBody>
      <a:bodyPr/>
      <a:lstStyle/>
      <a:p>
        <a:r>
          <a:rPr lang="en-AE"/>
          <a:t>In this slide we recommend the client on approach we can take on their requirements - subject to change as per client</a:t>
        </a:r>
      </a:p>
    </p188:txBody>
  </p188:cm>
</p188:cmLst>
</file>

<file path=ppt/comments/modernComment_134_844B3DA2.xml><?xml version="1.0" encoding="utf-8"?>
<p188:cmLst xmlns:a="http://schemas.openxmlformats.org/drawingml/2006/main" xmlns:r="http://schemas.openxmlformats.org/officeDocument/2006/relationships" xmlns:p188="http://schemas.microsoft.com/office/powerpoint/2018/8/main">
  <p188:cm id="{BF58C93D-189C-4939-BB3F-1D83BD5D6174}"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5_C4FCC28.xml><?xml version="1.0" encoding="utf-8"?>
<p188:cmLst xmlns:a="http://schemas.openxmlformats.org/drawingml/2006/main" xmlns:r="http://schemas.openxmlformats.org/officeDocument/2006/relationships" xmlns:p188="http://schemas.microsoft.com/office/powerpoint/2018/8/main">
  <p188:cm id="{F643BEB7-A671-432E-A8CD-82624081C770}" authorId="{6E16A83C-777C-0DF7-390D-AA7C1A28FF00}" created="2025-06-09T12:48:41.597">
    <pc:sldMkLst xmlns:pc="http://schemas.microsoft.com/office/powerpoint/2013/main/command">
      <pc:docMk/>
      <pc:sldMk cId="206556200" sldId="309"/>
    </pc:sldMkLst>
    <p188:txBody>
      <a:bodyPr/>
      <a:lstStyle/>
      <a:p>
        <a:r>
          <a:rPr lang="en-AE"/>
          <a:t>This cover the services we would provide them - made as per scope and proposed approach we recommended 
subject to change as per client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8C639-19C7-AD4F-A6FB-73F7F2290F30}" type="datetimeFigureOut">
              <a:rPr lang="en-AE" smtClean="0"/>
              <a:t>19/11/2025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F9947E-FF1B-3543-8415-544E22499918}" type="slidenum">
              <a:rPr lang="en-AE" smtClean="0"/>
              <a:t>‹#›</a:t>
            </a:fld>
            <a:endParaRPr lang="en-AE"/>
          </a:p>
        </p:txBody>
      </p:sp>
    </p:spTree>
    <p:extLst>
      <p:ext uri="{BB962C8B-B14F-4D97-AF65-F5344CB8AC3E}">
        <p14:creationId xmlns:p14="http://schemas.microsoft.com/office/powerpoint/2010/main" val="4223911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a:t>
            </a:fld>
            <a:endParaRPr lang="en-AE"/>
          </a:p>
        </p:txBody>
      </p:sp>
    </p:spTree>
    <p:extLst>
      <p:ext uri="{BB962C8B-B14F-4D97-AF65-F5344CB8AC3E}">
        <p14:creationId xmlns:p14="http://schemas.microsoft.com/office/powerpoint/2010/main" val="1067940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14</a:t>
            </a:fld>
            <a:endParaRPr lang="en-AE"/>
          </a:p>
        </p:txBody>
      </p:sp>
    </p:spTree>
    <p:extLst>
      <p:ext uri="{BB962C8B-B14F-4D97-AF65-F5344CB8AC3E}">
        <p14:creationId xmlns:p14="http://schemas.microsoft.com/office/powerpoint/2010/main" val="2550171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19</a:t>
            </a:fld>
            <a:endParaRPr lang="en-AE"/>
          </a:p>
        </p:txBody>
      </p:sp>
    </p:spTree>
    <p:extLst>
      <p:ext uri="{BB962C8B-B14F-4D97-AF65-F5344CB8AC3E}">
        <p14:creationId xmlns:p14="http://schemas.microsoft.com/office/powerpoint/2010/main" val="2622674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jpe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4.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5.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7.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8.png"/><Relationship Id="rId4" Type="http://schemas.openxmlformats.org/officeDocument/2006/relationships/image" Target="../media/image29.svg"/><Relationship Id="rId5" Type="http://schemas.openxmlformats.org/officeDocument/2006/relationships/image" Target="../media/image30.png"/><Relationship Id="rId6" Type="http://schemas.openxmlformats.org/officeDocument/2006/relationships/image" Target="../media/image3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jpeg"/><Relationship Id="rId3" Type="http://schemas.openxmlformats.org/officeDocument/2006/relationships/image" Target="../media/image2.png"/><Relationship Id="rId4" Type="http://schemas.openxmlformats.org/officeDocument/2006/relationships/image" Target="../media/image33.jpe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7" name="Picture 16" descr="A close-up of a building&#10;&#10;Description automatically generated">
            <a:extLst>
              <a:ext uri="{FF2B5EF4-FFF2-40B4-BE49-F238E27FC236}">
                <a16:creationId xmlns:a16="http://schemas.microsoft.com/office/drawing/2014/main" id="{BD7EA1F2-4501-6403-8679-46430526DE7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743173" y="0"/>
            <a:ext cx="4448827" cy="6858000"/>
          </a:xfrm>
          <a:prstGeom prst="rect">
            <a:avLst/>
          </a:prstGeom>
        </p:spPr>
      </p:pic>
      <p:sp>
        <p:nvSpPr>
          <p:cNvPr id="2" name="Title 1">
            <a:extLst>
              <a:ext uri="{FF2B5EF4-FFF2-40B4-BE49-F238E27FC236}">
                <a16:creationId xmlns:a16="http://schemas.microsoft.com/office/drawing/2014/main" id="{F1DD9230-29CE-E570-6578-CBE89DC66284}"/>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lvl1pPr algn="l">
              <a:defRPr sz="3200" b="1" i="0">
                <a:solidFill>
                  <a:srgbClr val="0B2339"/>
                </a:solidFill>
                <a:latin typeface="Aptos" panose="020B0004020202020204" pitchFamily="34" charset="0"/>
              </a:defRPr>
            </a:lvl1pPr>
          </a:lstStyle>
          <a:p>
            <a:endParaRPr lang="en-AE" dirty="0"/>
          </a:p>
        </p:txBody>
      </p:sp>
      <p:sp>
        <p:nvSpPr>
          <p:cNvPr id="3" name="Subtitle 2">
            <a:extLst>
              <a:ext uri="{FF2B5EF4-FFF2-40B4-BE49-F238E27FC236}">
                <a16:creationId xmlns:a16="http://schemas.microsoft.com/office/drawing/2014/main" id="{012F38A9-B777-2DF5-09D6-EF2BA5970FA9}"/>
              </a:ext>
            </a:extLst>
          </p:cNvPr>
          <p:cNvSpPr>
            <a:spLocks noGrp="1" noRot="1" noMove="1" noResize="1" noEditPoints="1" noAdjustHandles="1" noChangeArrowheads="1" noChangeShapeType="1"/>
          </p:cNvSpPr>
          <p:nvPr>
            <p:ph type="subTitle" idx="1"/>
          </p:nvPr>
        </p:nvSpPr>
        <p:spPr>
          <a:xfrm>
            <a:off x="908954" y="4219488"/>
            <a:ext cx="6657149" cy="309264"/>
          </a:xfrm>
        </p:spPr>
        <p:txBody>
          <a:bodyPr>
            <a:normAutofit/>
          </a:bodyPr>
          <a:lstStyle>
            <a:lvl1pPr marL="0" indent="0" algn="l">
              <a:buNone/>
              <a:defRPr sz="1400" b="1" i="0">
                <a:solidFill>
                  <a:srgbClr val="7D4E1D"/>
                </a:solidFill>
                <a:latin typeface="Aptos SemiBold"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dirty="0"/>
          </a:p>
        </p:txBody>
      </p:sp>
      <p:sp>
        <p:nvSpPr>
          <p:cNvPr id="6" name="Slide Number Placeholder 5">
            <a:extLst>
              <a:ext uri="{FF2B5EF4-FFF2-40B4-BE49-F238E27FC236}">
                <a16:creationId xmlns:a16="http://schemas.microsoft.com/office/drawing/2014/main" id="{230CE271-72F2-688B-3011-83FB7EA0EF45}"/>
              </a:ext>
            </a:extLst>
          </p:cNvPr>
          <p:cNvSpPr>
            <a:spLocks noGrp="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908953" y="783246"/>
            <a:ext cx="3127484" cy="967495"/>
          </a:xfrm>
          <a:prstGeom prst="rect">
            <a:avLst/>
          </a:prstGeom>
        </p:spPr>
      </p:pic>
      <p:sp>
        <p:nvSpPr>
          <p:cNvPr id="9" name="Title 1">
            <a:extLst>
              <a:ext uri="{FF2B5EF4-FFF2-40B4-BE49-F238E27FC236}">
                <a16:creationId xmlns:a16="http://schemas.microsoft.com/office/drawing/2014/main" id="{F0217AC1-1926-2D75-17C8-A8814A07513B}"/>
              </a:ext>
            </a:extLst>
          </p:cNvPr>
          <p:cNvSpPr txBox="1">
            <a:spLocks/>
          </p:cNvSpPr>
          <p:nvPr userDrawn="1"/>
        </p:nvSpPr>
        <p:spPr>
          <a:xfrm>
            <a:off x="908953" y="2283092"/>
            <a:ext cx="3441954" cy="355419"/>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r>
              <a:rPr lang="en-AE" b="0" i="0" dirty="0">
                <a:latin typeface="Aptos" panose="020B0004020202020204" pitchFamily="34" charset="0"/>
              </a:rPr>
              <a:t>Proposal for</a:t>
            </a:r>
          </a:p>
        </p:txBody>
      </p:sp>
      <p:sp>
        <p:nvSpPr>
          <p:cNvPr id="11" name="Subtitle 2">
            <a:extLst>
              <a:ext uri="{FF2B5EF4-FFF2-40B4-BE49-F238E27FC236}">
                <a16:creationId xmlns:a16="http://schemas.microsoft.com/office/drawing/2014/main" id="{385D335E-5026-260B-D55D-4871DF991A70}"/>
              </a:ext>
            </a:extLst>
          </p:cNvPr>
          <p:cNvSpPr txBox="1">
            <a:spLocks/>
          </p:cNvSpPr>
          <p:nvPr userDrawn="1"/>
        </p:nvSpPr>
        <p:spPr>
          <a:xfrm>
            <a:off x="908953" y="563854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Headquartered in</a:t>
            </a:r>
            <a:endParaRPr lang="en-AE" sz="1000" b="1" i="0" dirty="0">
              <a:solidFill>
                <a:srgbClr val="0B2339"/>
              </a:solidFill>
              <a:latin typeface="Aptos Light" panose="020B0004020202020204" pitchFamily="34" charset="0"/>
            </a:endParaRPr>
          </a:p>
        </p:txBody>
      </p:sp>
      <p:sp>
        <p:nvSpPr>
          <p:cNvPr id="19" name="Subtitle 2">
            <a:extLst>
              <a:ext uri="{FF2B5EF4-FFF2-40B4-BE49-F238E27FC236}">
                <a16:creationId xmlns:a16="http://schemas.microsoft.com/office/drawing/2014/main" id="{470A0FF0-4B19-ECEE-B126-8CD833B78BD0}"/>
              </a:ext>
            </a:extLst>
          </p:cNvPr>
          <p:cNvSpPr txBox="1">
            <a:spLocks/>
          </p:cNvSpPr>
          <p:nvPr userDrawn="1"/>
        </p:nvSpPr>
        <p:spPr>
          <a:xfrm>
            <a:off x="5617029" y="5652937"/>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Offices in</a:t>
            </a:r>
            <a:endParaRPr lang="en-AE" sz="10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p:cNvCxnSpPr>
          <p:nvPr userDrawn="1"/>
        </p:nvCxnSpPr>
        <p:spPr>
          <a:xfrm>
            <a:off x="908953" y="5917492"/>
            <a:ext cx="6657150"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p:cNvSpPr>
          <p:nvPr userDrawn="1"/>
        </p:nvSpPr>
        <p:spPr>
          <a:xfrm>
            <a:off x="5617029" y="6088080"/>
            <a:ext cx="1949074" cy="19922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1200" b="1" i="0" dirty="0">
                <a:solidFill>
                  <a:srgbClr val="7D4E1D"/>
                </a:solidFill>
                <a:latin typeface="Aptos SemiBold" panose="020B0004020202020204" pitchFamily="34" charset="0"/>
              </a:rPr>
              <a:t>UAE  |  CYPRUS  |  GREECE</a:t>
            </a:r>
            <a:endParaRPr lang="en-AE" sz="1200" b="1" i="0" dirty="0">
              <a:solidFill>
                <a:srgbClr val="7D4E1D"/>
              </a:solidFill>
              <a:latin typeface="Aptos SemiBold" panose="020B0004020202020204" pitchFamily="34" charset="0"/>
            </a:endParaRPr>
          </a:p>
        </p:txBody>
      </p:sp>
      <p:sp>
        <p:nvSpPr>
          <p:cNvPr id="23" name="Content Placeholder 5">
            <a:extLst>
              <a:ext uri="{FF2B5EF4-FFF2-40B4-BE49-F238E27FC236}">
                <a16:creationId xmlns:a16="http://schemas.microsoft.com/office/drawing/2014/main" id="{95421D69-0294-05AE-9BFB-63E663BB61D5}"/>
              </a:ext>
            </a:extLst>
          </p:cNvPr>
          <p:cNvSpPr>
            <a:spLocks noGrp="1" noRot="1" noMove="1" noResize="1" noEditPoints="1" noAdjustHandles="1" noChangeArrowheads="1" noChangeShapeType="1"/>
          </p:cNvSpPr>
          <p:nvPr>
            <p:ph sz="quarter" idx="13"/>
          </p:nvPr>
        </p:nvSpPr>
        <p:spPr>
          <a:xfrm>
            <a:off x="4438619" y="769920"/>
            <a:ext cx="3127484" cy="1070032"/>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pic>
        <p:nvPicPr>
          <p:cNvPr id="4" name="Picture 3" descr="A black background with a black square&#10;&#10;AI-generated content may be incorrect.">
            <a:extLst>
              <a:ext uri="{FF2B5EF4-FFF2-40B4-BE49-F238E27FC236}">
                <a16:creationId xmlns:a16="http://schemas.microsoft.com/office/drawing/2014/main" id="{316D3003-2BB7-5766-CFEF-ABE5364819F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35347" y="5988379"/>
            <a:ext cx="1570905" cy="504260"/>
          </a:xfrm>
          <a:prstGeom prst="rect">
            <a:avLst/>
          </a:prstGeom>
        </p:spPr>
      </p:pic>
    </p:spTree>
    <p:extLst>
      <p:ext uri="{BB962C8B-B14F-4D97-AF65-F5344CB8AC3E}">
        <p14:creationId xmlns:p14="http://schemas.microsoft.com/office/powerpoint/2010/main" val="14392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01680959-D86E-634F-AFCF-10BE2FCFBD18}"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Title 1">
            <a:extLst>
              <a:ext uri="{FF2B5EF4-FFF2-40B4-BE49-F238E27FC236}">
                <a16:creationId xmlns:a16="http://schemas.microsoft.com/office/drawing/2014/main" id="{470D15FC-F893-0B31-A1AB-36DB5B8C7625}"/>
              </a:ext>
            </a:extLst>
          </p:cNvPr>
          <p:cNvSpPr txBox="1">
            <a:spLocks noGrp="1" noRot="1" noMove="1" noResize="1" noEditPoints="1" noAdjustHandles="1" noChangeArrowheads="1" noChangeShapeType="1"/>
          </p:cNvSpPr>
          <p:nvPr userDrawn="1"/>
        </p:nvSpPr>
        <p:spPr>
          <a:xfrm>
            <a:off x="838200" y="395948"/>
            <a:ext cx="10514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Welcome</a:t>
            </a:r>
            <a:br>
              <a:rPr lang="en-US" dirty="0"/>
            </a:br>
            <a:endParaRPr lang="en-AE" dirty="0"/>
          </a:p>
        </p:txBody>
      </p:sp>
    </p:spTree>
    <p:extLst>
      <p:ext uri="{BB962C8B-B14F-4D97-AF65-F5344CB8AC3E}">
        <p14:creationId xmlns:p14="http://schemas.microsoft.com/office/powerpoint/2010/main" val="2102481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C2E388-400E-361C-C9E2-8DE6C22BAF65}"/>
              </a:ext>
            </a:extLst>
          </p:cNvPr>
          <p:cNvSpPr txBox="1">
            <a:spLocks noGrp="1" noRot="1" noMove="1" noResize="1" noEditPoints="1" noAdjustHandles="1" noChangeArrowheads="1" noChangeShapeType="1"/>
          </p:cNvSpPr>
          <p:nvPr userDrawn="1"/>
        </p:nvSpPr>
        <p:spPr>
          <a:xfrm>
            <a:off x="838200" y="365126"/>
            <a:ext cx="10514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AE" dirty="0"/>
              <a:t>Executive Summary</a:t>
            </a:r>
          </a:p>
        </p:txBody>
      </p:sp>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828D0B-93F7-2C4D-8282-CE55141786B7}"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013656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93FA0B-F7D2-8CB8-33E2-F809A01A6850}"/>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290A9F28-CE55-2248-B612-2ED53EF2A467}"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1" name="Picture 10" descr="A person writing on a piece of paper&#10;&#10;Description automatically generated">
            <a:extLst>
              <a:ext uri="{FF2B5EF4-FFF2-40B4-BE49-F238E27FC236}">
                <a16:creationId xmlns:a16="http://schemas.microsoft.com/office/drawing/2014/main" id="{EF3D545D-1E2F-F0FC-7040-33F645D267DC}"/>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3060" y="498764"/>
            <a:ext cx="2847246" cy="5602144"/>
          </a:xfrm>
          <a:prstGeom prst="rect">
            <a:avLst/>
          </a:prstGeom>
        </p:spPr>
      </p:pic>
      <p:sp>
        <p:nvSpPr>
          <p:cNvPr id="13" name="Title 1">
            <a:extLst>
              <a:ext uri="{FF2B5EF4-FFF2-40B4-BE49-F238E27FC236}">
                <a16:creationId xmlns:a16="http://schemas.microsoft.com/office/drawing/2014/main" id="{EDD1680E-3F37-FF36-6565-B06792B37132}"/>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Content</a:t>
            </a:r>
            <a:br>
              <a:rPr lang="en-US" dirty="0"/>
            </a:br>
            <a:endParaRPr lang="en-AE" dirty="0"/>
          </a:p>
        </p:txBody>
      </p:sp>
    </p:spTree>
    <p:extLst>
      <p:ext uri="{BB962C8B-B14F-4D97-AF65-F5344CB8AC3E}">
        <p14:creationId xmlns:p14="http://schemas.microsoft.com/office/powerpoint/2010/main" val="153756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3A735DC1-8B32-A943-BF13-CE33177114F0}"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p:cNvSpPr>
          <p:nvPr userDrawn="1"/>
        </p:nvSpPr>
        <p:spPr>
          <a:xfrm>
            <a:off x="911010" y="1738627"/>
            <a:ext cx="6250258" cy="1892826"/>
          </a:xfrm>
          <a:prstGeom prst="rect">
            <a:avLst/>
          </a:prstGeom>
          <a:noFill/>
        </p:spPr>
        <p:txBody>
          <a:bodyPr wrap="square">
            <a:spAutoFit/>
          </a:bodyPr>
          <a:lstStyle/>
          <a:p>
            <a:pPr algn="just"/>
            <a:r>
              <a:rPr lang="en-US" sz="900" b="0" i="0" u="none" strike="noStrike" dirty="0">
                <a:solidFill>
                  <a:srgbClr val="0B2339"/>
                </a:solidFill>
                <a:effectLst/>
                <a:latin typeface="Aptos" panose="020B0004020202020204" pitchFamily="34" charset="0"/>
              </a:rPr>
              <a:t>At Pnyx Hill, we bridge the gap between </a:t>
            </a:r>
            <a:r>
              <a:rPr lang="en-US" sz="900" b="1" i="0" u="none" strike="noStrike" dirty="0">
                <a:solidFill>
                  <a:srgbClr val="0B2339"/>
                </a:solidFill>
                <a:effectLst/>
                <a:latin typeface="Aptos" panose="020B0004020202020204" pitchFamily="34" charset="0"/>
              </a:rPr>
              <a:t>strategy, governance, risk,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compliance</a:t>
            </a:r>
            <a:r>
              <a:rPr lang="en-US" sz="900" b="0" i="0" u="none" strike="noStrike" dirty="0">
                <a:solidFill>
                  <a:srgbClr val="0B2339"/>
                </a:solidFill>
                <a:effectLst/>
                <a:latin typeface="Aptos" panose="020B0004020202020204" pitchFamily="34" charset="0"/>
              </a:rPr>
              <a:t> (SGRC); helping businesses </a:t>
            </a:r>
            <a:r>
              <a:rPr lang="en-US" sz="900" b="1" i="0" u="none" strike="noStrike" dirty="0">
                <a:solidFill>
                  <a:srgbClr val="0B2339"/>
                </a:solidFill>
                <a:effectLst/>
                <a:latin typeface="Aptos" panose="020B0004020202020204" pitchFamily="34" charset="0"/>
              </a:rPr>
              <a:t>scale wisely, navigate complex regulations,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achieve sustainable growth</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As a </a:t>
            </a:r>
            <a:r>
              <a:rPr lang="en-US" sz="900" b="1" i="0" u="none" strike="noStrike" dirty="0">
                <a:solidFill>
                  <a:srgbClr val="0B2339"/>
                </a:solidFill>
                <a:effectLst/>
                <a:latin typeface="Aptos" panose="020B0004020202020204" pitchFamily="34" charset="0"/>
              </a:rPr>
              <a:t>highly specialized boutique advisory firm</a:t>
            </a:r>
            <a:r>
              <a:rPr lang="en-US" sz="900" b="0" i="0" u="none" strike="noStrike" dirty="0">
                <a:solidFill>
                  <a:srgbClr val="0B2339"/>
                </a:solidFill>
                <a:effectLst/>
                <a:latin typeface="Aptos" panose="020B0004020202020204" pitchFamily="34" charset="0"/>
              </a:rPr>
              <a:t>, we partner with enterprises to </a:t>
            </a:r>
            <a:r>
              <a:rPr lang="en-US" sz="900" b="1" i="0" u="none" strike="noStrike" dirty="0">
                <a:solidFill>
                  <a:srgbClr val="0B2339"/>
                </a:solidFill>
                <a:effectLst/>
                <a:latin typeface="Aptos" panose="020B0004020202020204" pitchFamily="34" charset="0"/>
              </a:rPr>
              <a:t>safeguard</a:t>
            </a:r>
            <a:r>
              <a:rPr lang="en-US" sz="900" b="0" i="0" u="none" strike="noStrike" dirty="0">
                <a:solidFill>
                  <a:srgbClr val="0B2339"/>
                </a:solidFill>
                <a:effectLst/>
                <a:latin typeface="Aptos" panose="020B0004020202020204" pitchFamily="34" charset="0"/>
              </a:rPr>
              <a:t> their </a:t>
            </a:r>
            <a:r>
              <a:rPr lang="en-US" sz="900" b="1" i="0" u="none" strike="noStrike" dirty="0">
                <a:solidFill>
                  <a:srgbClr val="0B2339"/>
                </a:solidFill>
                <a:effectLst/>
                <a:latin typeface="Aptos" panose="020B0004020202020204" pitchFamily="34" charset="0"/>
              </a:rPr>
              <a:t>reputational </a:t>
            </a:r>
            <a:r>
              <a:rPr lang="en-US" sz="900" b="0" i="0" u="none" strike="noStrike" dirty="0">
                <a:solidFill>
                  <a:srgbClr val="0B2339"/>
                </a:solidFill>
                <a:effectLst/>
                <a:latin typeface="Aptos" panose="020B0004020202020204" pitchFamily="34" charset="0"/>
              </a:rPr>
              <a:t>and </a:t>
            </a:r>
            <a:r>
              <a:rPr lang="en-US" sz="900" b="1" i="0" u="none" strike="noStrike" dirty="0">
                <a:solidFill>
                  <a:srgbClr val="0B2339"/>
                </a:solidFill>
                <a:effectLst/>
                <a:latin typeface="Aptos" panose="020B0004020202020204" pitchFamily="34" charset="0"/>
              </a:rPr>
              <a:t>financial capital</a:t>
            </a:r>
            <a:r>
              <a:rPr lang="en-US" sz="900" b="0" i="0" u="none" strike="noStrike" dirty="0">
                <a:solidFill>
                  <a:srgbClr val="0B2339"/>
                </a:solidFill>
                <a:effectLst/>
                <a:latin typeface="Aptos" panose="020B0004020202020204" pitchFamily="34" charset="0"/>
              </a:rPr>
              <a:t> while </a:t>
            </a:r>
            <a:r>
              <a:rPr lang="en-US" sz="900" b="1" i="0" u="none" strike="noStrike" dirty="0">
                <a:solidFill>
                  <a:srgbClr val="0B2339"/>
                </a:solidFill>
                <a:effectLst/>
                <a:latin typeface="Aptos" panose="020B0004020202020204" pitchFamily="34" charset="0"/>
              </a:rPr>
              <a:t>ensuring </a:t>
            </a:r>
            <a:r>
              <a:rPr lang="en-US" sz="900" b="0" i="0" u="none" strike="noStrike" dirty="0">
                <a:solidFill>
                  <a:srgbClr val="0B2339"/>
                </a:solidFill>
                <a:effectLst/>
                <a:latin typeface="Aptos" panose="020B0004020202020204" pitchFamily="34" charset="0"/>
              </a:rPr>
              <a:t>their</a:t>
            </a:r>
            <a:r>
              <a:rPr lang="en-US" sz="900" b="1" i="0" u="none" strike="noStrike" dirty="0">
                <a:solidFill>
                  <a:srgbClr val="0B2339"/>
                </a:solidFill>
                <a:effectLst/>
                <a:latin typeface="Aptos" panose="020B0004020202020204" pitchFamily="34" charset="0"/>
              </a:rPr>
              <a:t> commercial strategies align with regulatory requirements</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With </a:t>
            </a:r>
            <a:r>
              <a:rPr lang="en-US" sz="900" b="1" i="0" u="none" strike="noStrike" dirty="0">
                <a:solidFill>
                  <a:srgbClr val="0B2339"/>
                </a:solidFill>
                <a:effectLst/>
                <a:latin typeface="Aptos" panose="020B0004020202020204" pitchFamily="34" charset="0"/>
              </a:rPr>
              <a:t>50+ years of executive experience</a:t>
            </a:r>
            <a:r>
              <a:rPr lang="en-US" sz="900" b="0" i="0" u="none" strike="noStrike" dirty="0">
                <a:solidFill>
                  <a:srgbClr val="0B2339"/>
                </a:solidFill>
                <a:effectLst/>
                <a:latin typeface="Aptos" panose="020B0004020202020204" pitchFamily="34" charset="0"/>
              </a:rPr>
              <a:t> and </a:t>
            </a:r>
            <a:r>
              <a:rPr lang="en-US" sz="900" b="1" i="0" u="none" strike="noStrike" dirty="0">
                <a:solidFill>
                  <a:srgbClr val="0B2339"/>
                </a:solidFill>
                <a:effectLst/>
                <a:latin typeface="Aptos" panose="020B0004020202020204" pitchFamily="34" charset="0"/>
              </a:rPr>
              <a:t>400+ successful projects</a:t>
            </a:r>
            <a:r>
              <a:rPr lang="en-US" sz="900" b="0" i="0" u="none" strike="noStrike" dirty="0">
                <a:solidFill>
                  <a:srgbClr val="0B2339"/>
                </a:solidFill>
                <a:effectLst/>
                <a:latin typeface="Aptos" panose="020B0004020202020204" pitchFamily="34" charset="0"/>
              </a:rPr>
              <a:t>, we embed ourselves in our clients' journeys - </a:t>
            </a:r>
            <a:r>
              <a:rPr lang="en-US" sz="900" b="1" i="0" u="none" strike="noStrike" dirty="0">
                <a:solidFill>
                  <a:srgbClr val="0B2339"/>
                </a:solidFill>
                <a:effectLst/>
                <a:latin typeface="Aptos" panose="020B0004020202020204" pitchFamily="34" charset="0"/>
              </a:rPr>
              <a:t>from market entry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licensing </a:t>
            </a:r>
            <a:r>
              <a:rPr lang="en-US" sz="900" b="0" i="0" u="none" strike="noStrike" dirty="0">
                <a:solidFill>
                  <a:srgbClr val="0B2339"/>
                </a:solidFill>
                <a:effectLst/>
                <a:latin typeface="Aptos" panose="020B0004020202020204" pitchFamily="34" charset="0"/>
              </a:rPr>
              <a:t>to</a:t>
            </a:r>
            <a:r>
              <a:rPr lang="en-US" sz="900" b="1" i="0" u="none" strike="noStrike" dirty="0">
                <a:solidFill>
                  <a:srgbClr val="0B2339"/>
                </a:solidFill>
                <a:effectLst/>
                <a:latin typeface="Aptos" panose="020B0004020202020204" pitchFamily="34" charset="0"/>
              </a:rPr>
              <a:t> ongoing compliance and strategic growth advisory</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Backed by renowned industry leaders and top-tier specialists, </a:t>
            </a:r>
            <a:r>
              <a:rPr lang="en-US" sz="900" b="1" i="0" u="none" strike="noStrike" dirty="0">
                <a:solidFill>
                  <a:srgbClr val="0B2339"/>
                </a:solidFill>
                <a:effectLst/>
                <a:latin typeface="Aptos" panose="020B0004020202020204" pitchFamily="34" charset="0"/>
              </a:rPr>
              <a:t>we support financial services, Web3 &amp; digital assets, technology startups, healthcare, gaming,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energy &amp; infrastructure</a:t>
            </a:r>
            <a:r>
              <a:rPr lang="en-US" sz="900" b="0" i="0" u="none" strike="noStrike" dirty="0">
                <a:solidFill>
                  <a:srgbClr val="0B2339"/>
                </a:solidFill>
                <a:effectLst/>
                <a:latin typeface="Aptos" panose="020B0004020202020204" pitchFamily="34" charset="0"/>
              </a:rPr>
              <a:t>.</a:t>
            </a:r>
          </a:p>
          <a:p>
            <a:pPr algn="just"/>
            <a:r>
              <a:rPr lang="en-US" sz="900" b="0" i="0" u="none" strike="noStrike" dirty="0">
                <a:solidFill>
                  <a:srgbClr val="0B2339"/>
                </a:solidFill>
                <a:effectLst/>
                <a:latin typeface="Aptos" panose="020B0004020202020204" pitchFamily="34" charset="0"/>
              </a:rPr>
              <a:t>At Pnyx Hill, we go beyond consulting; we are </a:t>
            </a:r>
            <a:r>
              <a:rPr lang="en-US" sz="900" b="1" i="0" u="none" strike="noStrike" dirty="0">
                <a:solidFill>
                  <a:srgbClr val="0B2339"/>
                </a:solidFill>
                <a:effectLst/>
                <a:latin typeface="Aptos" panose="020B0004020202020204" pitchFamily="34" charset="0"/>
              </a:rPr>
              <a:t>trusted partners, delivering real impact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enabling businesses to lead </a:t>
            </a:r>
            <a:r>
              <a:rPr lang="en-US" sz="900" b="0" i="0" u="none" strike="noStrike" dirty="0">
                <a:solidFill>
                  <a:srgbClr val="0B2339"/>
                </a:solidFill>
                <a:effectLst/>
                <a:latin typeface="Aptos" panose="020B0004020202020204" pitchFamily="34" charset="0"/>
              </a:rPr>
              <a:t>in their industries and markets.</a:t>
            </a:r>
          </a:p>
        </p:txBody>
      </p:sp>
      <p:pic>
        <p:nvPicPr>
          <p:cNvPr id="5" name="Picture 4" descr="Columns outside supreme court building">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BEBA8EAE-BF5A-486C-A8C5-ECC9F3942E4B}">
                <a14:imgProps xmlns:a14="http://schemas.microsoft.com/office/drawing/2010/main">
                  <a14:imgLayer r:embed="rId4">
                    <a14:imgEffect>
                      <a14:saturation sat="0"/>
                    </a14:imgEffect>
                    <a14:imgEffect>
                      <a14:brightnessContrast bright="20000"/>
                    </a14:imgEffect>
                  </a14:imgLayer>
                </a14:imgProps>
              </a:ext>
              <a:ext uri="{28A0092B-C50C-407E-A947-70E740481C1C}">
                <a14:useLocalDpi xmlns:a14="http://schemas.microsoft.com/office/drawing/2010/main"/>
              </a:ext>
            </a:extLst>
          </a:blip>
          <a:srcRect/>
          <a:stretch/>
        </p:blipFill>
        <p:spPr>
          <a:xfrm>
            <a:off x="8365523" y="494270"/>
            <a:ext cx="2849263" cy="5585253"/>
          </a:xfrm>
          <a:prstGeom prst="rect">
            <a:avLst/>
          </a:prstGeom>
        </p:spPr>
      </p:pic>
      <p:cxnSp>
        <p:nvCxnSpPr>
          <p:cNvPr id="17" name="Straight Connector 16">
            <a:extLst>
              <a:ext uri="{FF2B5EF4-FFF2-40B4-BE49-F238E27FC236}">
                <a16:creationId xmlns:a16="http://schemas.microsoft.com/office/drawing/2014/main" id="{377080EE-9C33-8477-E380-E30D1B53ACC7}"/>
              </a:ext>
            </a:extLst>
          </p:cNvPr>
          <p:cNvCxnSpPr>
            <a:cxnSpLocks noGrp="1" noRot="1" noMove="1" noResize="1" noEditPoints="1" noAdjustHandles="1" noChangeArrowheads="1" noChangeShapeType="1"/>
          </p:cNvCxnSpPr>
          <p:nvPr userDrawn="1"/>
        </p:nvCxnSpPr>
        <p:spPr>
          <a:xfrm>
            <a:off x="836612" y="4159422"/>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BAA4DE1F-6398-6A01-EDBF-A8C81F195625}"/>
              </a:ext>
            </a:extLst>
          </p:cNvPr>
          <p:cNvGrpSpPr>
            <a:grpSpLocks noGrp="1" noUngrp="1" noRot="1" noMove="1" noResize="1"/>
          </p:cNvGrpSpPr>
          <p:nvPr userDrawn="1"/>
        </p:nvGrpSpPr>
        <p:grpSpPr>
          <a:xfrm>
            <a:off x="977213" y="4675089"/>
            <a:ext cx="6982534" cy="1531190"/>
            <a:chOff x="977214" y="4557993"/>
            <a:chExt cx="6395021" cy="1531190"/>
          </a:xfrm>
        </p:grpSpPr>
        <p:sp>
          <p:nvSpPr>
            <p:cNvPr id="20" name="TextBox 19">
              <a:extLst>
                <a:ext uri="{FF2B5EF4-FFF2-40B4-BE49-F238E27FC236}">
                  <a16:creationId xmlns:a16="http://schemas.microsoft.com/office/drawing/2014/main" id="{EED56594-4551-C1F8-EBC0-9045A425FD32}"/>
                </a:ext>
              </a:extLst>
            </p:cNvPr>
            <p:cNvSpPr txBox="1">
              <a:spLocks/>
            </p:cNvSpPr>
            <p:nvPr userDrawn="1"/>
          </p:nvSpPr>
          <p:spPr>
            <a:xfrm>
              <a:off x="977214" y="4579977"/>
              <a:ext cx="1601593" cy="126957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ensure businesses enter and operate in regulated markets with confidence by securing the necessary licenses, permits, and legal frameworks. From financial services and payments to crypto and gaming, we navigate complex global regulatory landscapes with precision and expertise.</a:t>
              </a:r>
              <a:endParaRPr lang="en-AE" sz="850" dirty="0">
                <a:solidFill>
                  <a:srgbClr val="0B2339"/>
                </a:solidFill>
                <a:latin typeface="Aptos" panose="020B0004020202020204" pitchFamily="34" charset="0"/>
              </a:endParaRPr>
            </a:p>
          </p:txBody>
        </p:sp>
        <p:sp>
          <p:nvSpPr>
            <p:cNvPr id="21" name="TextBox 20">
              <a:extLst>
                <a:ext uri="{FF2B5EF4-FFF2-40B4-BE49-F238E27FC236}">
                  <a16:creationId xmlns:a16="http://schemas.microsoft.com/office/drawing/2014/main" id="{88978758-FCDE-C142-2E65-26410B26C23E}"/>
                </a:ext>
              </a:extLst>
            </p:cNvPr>
            <p:cNvSpPr txBox="1">
              <a:spLocks/>
            </p:cNvSpPr>
            <p:nvPr userDrawn="1"/>
          </p:nvSpPr>
          <p:spPr>
            <a:xfrm>
              <a:off x="2573131" y="4557995"/>
              <a:ext cx="1601593" cy="153118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integrate governance, risk, and compliance (GRC) as a strategic advantage, ensuring companies remain compliant, resilient, and ahead of regulatory shifts. Through outsourced GRC services, risk mitigation strategies, and board-level compliance support, we help businesses build long-term sustainability and trust.</a:t>
              </a:r>
              <a:endParaRPr lang="en-AE" sz="850" dirty="0">
                <a:solidFill>
                  <a:srgbClr val="0B2339"/>
                </a:solidFill>
                <a:latin typeface="Aptos" panose="020B0004020202020204" pitchFamily="34" charset="0"/>
              </a:endParaRPr>
            </a:p>
          </p:txBody>
        </p:sp>
        <p:sp>
          <p:nvSpPr>
            <p:cNvPr id="22" name="TextBox 21">
              <a:extLst>
                <a:ext uri="{FF2B5EF4-FFF2-40B4-BE49-F238E27FC236}">
                  <a16:creationId xmlns:a16="http://schemas.microsoft.com/office/drawing/2014/main" id="{3E5B5C29-1A3D-2BC6-8E62-74D215636140}"/>
                </a:ext>
              </a:extLst>
            </p:cNvPr>
            <p:cNvSpPr txBox="1">
              <a:spLocks/>
            </p:cNvSpPr>
            <p:nvPr userDrawn="1"/>
          </p:nvSpPr>
          <p:spPr>
            <a:xfrm>
              <a:off x="4174724" y="4557994"/>
              <a:ext cx="1601593" cy="1400383"/>
            </a:xfrm>
            <a:prstGeom prst="rect">
              <a:avLst/>
            </a:prstGeom>
            <a:noFill/>
          </p:spPr>
          <p:txBody>
            <a:bodyPr wrap="square">
              <a:spAutoFit/>
            </a:bodyPr>
            <a:lstStyle/>
            <a:p>
              <a:pPr algn="just"/>
              <a:r>
                <a:rPr lang="en-US" sz="850" b="0" i="0" u="none" strike="noStrike" dirty="0">
                  <a:solidFill>
                    <a:srgbClr val="0B2339"/>
                  </a:solidFill>
                  <a:effectLst/>
                </a:rPr>
                <a:t>We don’t just advise- we enable businesses to scale, secure funding, and drive market expansion. From multimillion-dollar fundraising to deal structuring, M&amp;A, and global market entry, we bring deep expertise in shaping successful commercial strategies while ensuring regulatory alignment.</a:t>
              </a:r>
              <a:endParaRPr lang="en-AE" sz="850" dirty="0">
                <a:solidFill>
                  <a:srgbClr val="0B2339"/>
                </a:solidFill>
                <a:latin typeface="Aptos" panose="020B0004020202020204" pitchFamily="34" charset="0"/>
              </a:endParaRPr>
            </a:p>
          </p:txBody>
        </p:sp>
        <p:sp>
          <p:nvSpPr>
            <p:cNvPr id="23" name="TextBox 22">
              <a:extLst>
                <a:ext uri="{FF2B5EF4-FFF2-40B4-BE49-F238E27FC236}">
                  <a16:creationId xmlns:a16="http://schemas.microsoft.com/office/drawing/2014/main" id="{15AFE8EB-D156-1545-A703-B13FD7AF57F2}"/>
                </a:ext>
              </a:extLst>
            </p:cNvPr>
            <p:cNvSpPr txBox="1">
              <a:spLocks/>
            </p:cNvSpPr>
            <p:nvPr userDrawn="1"/>
          </p:nvSpPr>
          <p:spPr>
            <a:xfrm>
              <a:off x="5770642" y="4557993"/>
              <a:ext cx="1601593" cy="1400383"/>
            </a:xfrm>
            <a:prstGeom prst="rect">
              <a:avLst/>
            </a:prstGeom>
            <a:noFill/>
          </p:spPr>
          <p:txBody>
            <a:bodyPr wrap="square">
              <a:spAutoFit/>
            </a:bodyPr>
            <a:lstStyle/>
            <a:p>
              <a:pPr algn="just"/>
              <a:r>
                <a:rPr lang="en-US" sz="850" b="0" i="0" u="none" strike="noStrike" dirty="0">
                  <a:solidFill>
                    <a:srgbClr val="0B2339"/>
                  </a:solidFill>
                  <a:effectLst/>
                </a:rPr>
                <a:t>Sustainable growth starts with strong leadership. Through executive coaching, board training, and corporate education programs, we equip leaders, boards, and compliance teams with the knowledge and skills needed to navigate the evolving regulatory and business landscape.</a:t>
              </a:r>
              <a:endParaRPr lang="en-AE" sz="850" dirty="0">
                <a:solidFill>
                  <a:srgbClr val="0B2339"/>
                </a:solidFill>
                <a:latin typeface="Aptos" panose="020B0004020202020204" pitchFamily="34" charset="0"/>
              </a:endParaRPr>
            </a:p>
          </p:txBody>
        </p:sp>
      </p:grpSp>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7213" y="4252373"/>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728505" y="4342242"/>
            <a:ext cx="1748732" cy="261610"/>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GRC as a Growth Driver</a:t>
            </a:r>
          </a:p>
        </p:txBody>
      </p:sp>
      <p:sp>
        <p:nvSpPr>
          <p:cNvPr id="28" name="TextBox 27">
            <a:extLst>
              <a:ext uri="{FF2B5EF4-FFF2-40B4-BE49-F238E27FC236}">
                <a16:creationId xmlns:a16="http://schemas.microsoft.com/office/drawing/2014/main" id="{CD4977F3-41B4-1DD0-E38F-45378F9F1F78}"/>
              </a:ext>
            </a:extLst>
          </p:cNvPr>
          <p:cNvSpPr txBox="1">
            <a:spLocks noGrp="1" noRot="1" noMove="1" noResize="1" noEditPoints="1" noAdjustHandles="1" noChangeArrowheads="1" noChangeShapeType="1"/>
          </p:cNvSpPr>
          <p:nvPr userDrawn="1"/>
        </p:nvSpPr>
        <p:spPr>
          <a:xfrm>
            <a:off x="4458509" y="4261173"/>
            <a:ext cx="1808475"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Strategic Growth, Expansion &amp; Fundraising</a:t>
            </a:r>
          </a:p>
        </p:txBody>
      </p:sp>
      <p:sp>
        <p:nvSpPr>
          <p:cNvPr id="29" name="TextBox 28">
            <a:extLst>
              <a:ext uri="{FF2B5EF4-FFF2-40B4-BE49-F238E27FC236}">
                <a16:creationId xmlns:a16="http://schemas.microsoft.com/office/drawing/2014/main" id="{7C569A4A-D84B-98B0-3B8B-61017CEE441B}"/>
              </a:ext>
            </a:extLst>
          </p:cNvPr>
          <p:cNvSpPr txBox="1">
            <a:spLocks noGrp="1" noRot="1" noMove="1" noResize="1" noEditPoints="1" noAdjustHandles="1" noChangeArrowheads="1" noChangeShapeType="1"/>
          </p:cNvSpPr>
          <p:nvPr userDrawn="1"/>
        </p:nvSpPr>
        <p:spPr>
          <a:xfrm>
            <a:off x="6220984" y="4252099"/>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About Pnyx Hill</a:t>
            </a:r>
          </a:p>
        </p:txBody>
      </p:sp>
      <p:sp>
        <p:nvSpPr>
          <p:cNvPr id="33" name="TextBox 32">
            <a:extLst>
              <a:ext uri="{FF2B5EF4-FFF2-40B4-BE49-F238E27FC236}">
                <a16:creationId xmlns:a16="http://schemas.microsoft.com/office/drawing/2014/main" id="{3B7B35E5-1BE6-D91F-3B7B-6F905EBCF4E4}"/>
              </a:ext>
            </a:extLst>
          </p:cNvPr>
          <p:cNvSpPr txBox="1">
            <a:spLocks/>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4" name="TextBox 33">
            <a:extLst>
              <a:ext uri="{FF2B5EF4-FFF2-40B4-BE49-F238E27FC236}">
                <a16:creationId xmlns:a16="http://schemas.microsoft.com/office/drawing/2014/main" id="{40FF0A8A-08C3-C250-7325-940347FB3F25}"/>
              </a:ext>
            </a:extLst>
          </p:cNvPr>
          <p:cNvSpPr txBox="1">
            <a:spLocks noGrp="1" noRot="1" noMove="1" noResize="1" noEditPoints="1" noAdjustHandles="1" noChangeArrowheads="1" noChangeShapeType="1"/>
          </p:cNvSpPr>
          <p:nvPr userDrawn="1"/>
        </p:nvSpPr>
        <p:spPr>
          <a:xfrm>
            <a:off x="964590" y="3828468"/>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Our Core Pillars</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spTree>
    <p:extLst>
      <p:ext uri="{BB962C8B-B14F-4D97-AF65-F5344CB8AC3E}">
        <p14:creationId xmlns:p14="http://schemas.microsoft.com/office/powerpoint/2010/main" val="4230852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561E68-0154-A380-5242-F61A83C2AA10}"/>
              </a:ext>
            </a:extLst>
          </p:cNvPr>
          <p:cNvSpPr/>
          <p:nvPr userDrawn="1"/>
        </p:nvSpPr>
        <p:spPr>
          <a:xfrm>
            <a:off x="854138" y="2839994"/>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CE79090C-3EA2-A1EC-0945-F0C3145BB963}"/>
              </a:ext>
            </a:extLst>
          </p:cNvPr>
          <p:cNvSpPr/>
          <p:nvPr userDrawn="1"/>
        </p:nvSpPr>
        <p:spPr>
          <a:xfrm>
            <a:off x="3482782" y="2863944"/>
            <a:ext cx="2532303" cy="2579642"/>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C450C5F2-77C4-D750-B010-4AD8EB63485C}"/>
              </a:ext>
            </a:extLst>
          </p:cNvPr>
          <p:cNvSpPr/>
          <p:nvPr userDrawn="1"/>
        </p:nvSpPr>
        <p:spPr>
          <a:xfrm>
            <a:off x="6123995" y="2844853"/>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810D565-4918-1087-BE56-417999055DDA}"/>
              </a:ext>
            </a:extLst>
          </p:cNvPr>
          <p:cNvSpPr/>
          <p:nvPr userDrawn="1"/>
        </p:nvSpPr>
        <p:spPr>
          <a:xfrm>
            <a:off x="8752660" y="2856320"/>
            <a:ext cx="2532303" cy="258726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3380103-1B04-074F-9C91-FD3C857BC5D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0" name="Content Placeholder 2">
            <a:extLst>
              <a:ext uri="{FF2B5EF4-FFF2-40B4-BE49-F238E27FC236}">
                <a16:creationId xmlns:a16="http://schemas.microsoft.com/office/drawing/2014/main" id="{66EEBBC3-E27F-6506-343F-E7A02906C8D7}"/>
              </a:ext>
            </a:extLst>
          </p:cNvPr>
          <p:cNvSpPr txBox="1">
            <a:spLocks noGrp="1" noRot="1" noMove="1" noResize="1" noEditPoints="1" noAdjustHandles="1" noChangeArrowheads="1" noChangeShapeType="1"/>
          </p:cNvSpPr>
          <p:nvPr userDrawn="1"/>
        </p:nvSpPr>
        <p:spPr>
          <a:xfrm>
            <a:off x="838200" y="1270196"/>
            <a:ext cx="10515600"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dirty="0">
                <a:solidFill>
                  <a:srgbClr val="0B2339"/>
                </a:solidFill>
                <a:effectLst/>
              </a:rPr>
              <a:t>Our senior partners bring a wealth of experience in pioneering high-growth initiatives worldwide. Their commitment to excellence is supported by a legacy of trust and innovation.</a:t>
            </a:r>
            <a:br>
              <a:rPr lang="en-US" sz="1000" b="1" dirty="0">
                <a:solidFill>
                  <a:srgbClr val="0B2339"/>
                </a:solidFill>
                <a:effectLst/>
              </a:rPr>
            </a:br>
            <a:br>
              <a:rPr lang="en-US" sz="1000" b="1" dirty="0">
                <a:solidFill>
                  <a:srgbClr val="0B2339"/>
                </a:solidFill>
                <a:effectLst/>
              </a:rPr>
            </a:br>
            <a:br>
              <a:rPr lang="en-US" sz="1000" b="1" i="0" dirty="0">
                <a:solidFill>
                  <a:srgbClr val="0B2339"/>
                </a:solidFill>
                <a:effectLst/>
                <a:highlight>
                  <a:srgbClr val="FFFFFF"/>
                </a:highlight>
              </a:rPr>
            </a:br>
            <a:endParaRPr lang="en-AE" sz="1000" b="1" dirty="0">
              <a:solidFill>
                <a:srgbClr val="0B2339"/>
              </a:solidFill>
            </a:endParaRPr>
          </a:p>
        </p:txBody>
      </p:sp>
      <p:grpSp>
        <p:nvGrpSpPr>
          <p:cNvPr id="58" name="Group 57">
            <a:extLst>
              <a:ext uri="{FF2B5EF4-FFF2-40B4-BE49-F238E27FC236}">
                <a16:creationId xmlns:a16="http://schemas.microsoft.com/office/drawing/2014/main" id="{250EE892-D649-D6E5-38BF-DC13CEE1F488}"/>
              </a:ext>
            </a:extLst>
          </p:cNvPr>
          <p:cNvGrpSpPr>
            <a:grpSpLocks/>
          </p:cNvGrpSpPr>
          <p:nvPr userDrawn="1"/>
        </p:nvGrpSpPr>
        <p:grpSpPr>
          <a:xfrm>
            <a:off x="919614" y="5679676"/>
            <a:ext cx="10291971" cy="478919"/>
            <a:chOff x="919614" y="5601020"/>
            <a:chExt cx="10291971" cy="478919"/>
          </a:xfrm>
        </p:grpSpPr>
        <p:pic>
          <p:nvPicPr>
            <p:cNvPr id="1026" name="Picture 2" descr="Talos Expands EU and US Teams with Key Hires in Sales ...">
              <a:extLst>
                <a:ext uri="{FF2B5EF4-FFF2-40B4-BE49-F238E27FC236}">
                  <a16:creationId xmlns:a16="http://schemas.microsoft.com/office/drawing/2014/main" id="{43E16896-AA75-8657-7915-297E5CC4A3E7}"/>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8503970" y="5707735"/>
              <a:ext cx="1321128" cy="321951"/>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30">
              <a:extLst>
                <a:ext uri="{FF2B5EF4-FFF2-40B4-BE49-F238E27FC236}">
                  <a16:creationId xmlns:a16="http://schemas.microsoft.com/office/drawing/2014/main" id="{6A78DC78-CDB5-522B-BAAE-F9CECE42BE35}"/>
                </a:ext>
              </a:extLst>
            </p:cNvPr>
            <p:cNvGrpSpPr>
              <a:grpSpLocks noChangeAspect="1"/>
            </p:cNvGrpSpPr>
            <p:nvPr userDrawn="1"/>
          </p:nvGrpSpPr>
          <p:grpSpPr>
            <a:xfrm>
              <a:off x="919614" y="5601020"/>
              <a:ext cx="10291971" cy="478919"/>
              <a:chOff x="975405" y="5601431"/>
              <a:chExt cx="11599595" cy="539767"/>
            </a:xfrm>
          </p:grpSpPr>
          <p:pic>
            <p:nvPicPr>
              <p:cNvPr id="32" name="Picture 31">
                <a:extLst>
                  <a:ext uri="{FF2B5EF4-FFF2-40B4-BE49-F238E27FC236}">
                    <a16:creationId xmlns:a16="http://schemas.microsoft.com/office/drawing/2014/main" id="{EBCBD949-44EF-D316-FC4A-3BA64BE00940}"/>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975405" y="5652314"/>
                <a:ext cx="482043" cy="450920"/>
              </a:xfrm>
              <a:prstGeom prst="rect">
                <a:avLst/>
              </a:prstGeom>
            </p:spPr>
          </p:pic>
          <p:pic>
            <p:nvPicPr>
              <p:cNvPr id="33" name="Picture 32">
                <a:extLst>
                  <a:ext uri="{FF2B5EF4-FFF2-40B4-BE49-F238E27FC236}">
                    <a16:creationId xmlns:a16="http://schemas.microsoft.com/office/drawing/2014/main" id="{A3D0997B-AF2F-20E0-27F2-67EE475D215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587584" y="5652314"/>
                <a:ext cx="531253" cy="473839"/>
              </a:xfrm>
              <a:prstGeom prst="rect">
                <a:avLst/>
              </a:prstGeom>
            </p:spPr>
          </p:pic>
          <p:pic>
            <p:nvPicPr>
              <p:cNvPr id="34" name="Picture 33">
                <a:extLst>
                  <a:ext uri="{FF2B5EF4-FFF2-40B4-BE49-F238E27FC236}">
                    <a16:creationId xmlns:a16="http://schemas.microsoft.com/office/drawing/2014/main" id="{91B0DFB0-7999-26F4-79CF-1EADCB8BA31A}"/>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1938808" y="5705077"/>
                <a:ext cx="1018944" cy="347416"/>
              </a:xfrm>
              <a:prstGeom prst="rect">
                <a:avLst/>
              </a:prstGeom>
            </p:spPr>
          </p:pic>
          <p:pic>
            <p:nvPicPr>
              <p:cNvPr id="35" name="Picture 34">
                <a:extLst>
                  <a:ext uri="{FF2B5EF4-FFF2-40B4-BE49-F238E27FC236}">
                    <a16:creationId xmlns:a16="http://schemas.microsoft.com/office/drawing/2014/main" id="{7F34053F-57AF-0B12-4A42-419FA149CDB0}"/>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6529046" y="5729824"/>
                <a:ext cx="1054973" cy="346616"/>
              </a:xfrm>
              <a:prstGeom prst="rect">
                <a:avLst/>
              </a:prstGeom>
            </p:spPr>
          </p:pic>
          <p:pic>
            <p:nvPicPr>
              <p:cNvPr id="37" name="Picture 36">
                <a:extLst>
                  <a:ext uri="{FF2B5EF4-FFF2-40B4-BE49-F238E27FC236}">
                    <a16:creationId xmlns:a16="http://schemas.microsoft.com/office/drawing/2014/main" id="{F4FC0216-25CE-A100-6F0D-8D502E08FCA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885566" y="5744163"/>
                <a:ext cx="921297" cy="273225"/>
              </a:xfrm>
              <a:prstGeom prst="rect">
                <a:avLst/>
              </a:prstGeom>
            </p:spPr>
          </p:pic>
          <p:pic>
            <p:nvPicPr>
              <p:cNvPr id="38" name="Picture 37" descr="A blue hexagon with white logo&#10;&#10;Description automatically generated">
                <a:extLst>
                  <a:ext uri="{FF2B5EF4-FFF2-40B4-BE49-F238E27FC236}">
                    <a16:creationId xmlns:a16="http://schemas.microsoft.com/office/drawing/2014/main" id="{801D374C-28F6-B8AD-1CE3-1B23D0ACBEC5}"/>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8133765" y="5601431"/>
                <a:ext cx="743158" cy="539767"/>
              </a:xfrm>
              <a:prstGeom prst="rect">
                <a:avLst/>
              </a:prstGeom>
            </p:spPr>
          </p:pic>
          <p:pic>
            <p:nvPicPr>
              <p:cNvPr id="39" name="Picture 38" descr="A blue letter on a black background&#10;&#10;Description automatically generated">
                <a:extLst>
                  <a:ext uri="{FF2B5EF4-FFF2-40B4-BE49-F238E27FC236}">
                    <a16:creationId xmlns:a16="http://schemas.microsoft.com/office/drawing/2014/main" id="{01DCD7AA-855F-5B8B-28F8-926E1E9A4C2F}"/>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1562102" y="5780779"/>
                <a:ext cx="1012898" cy="181072"/>
              </a:xfrm>
              <a:prstGeom prst="rect">
                <a:avLst/>
              </a:prstGeom>
            </p:spPr>
          </p:pic>
        </p:grpSp>
      </p:grpSp>
      <p:sp>
        <p:nvSpPr>
          <p:cNvPr id="40" name="Content Placeholder 2">
            <a:extLst>
              <a:ext uri="{FF2B5EF4-FFF2-40B4-BE49-F238E27FC236}">
                <a16:creationId xmlns:a16="http://schemas.microsoft.com/office/drawing/2014/main" id="{DFB453AD-13AB-87A4-3F36-EB0F50FB24F8}"/>
              </a:ext>
            </a:extLst>
          </p:cNvPr>
          <p:cNvSpPr txBox="1">
            <a:spLocks/>
          </p:cNvSpPr>
          <p:nvPr userDrawn="1"/>
        </p:nvSpPr>
        <p:spPr>
          <a:xfrm>
            <a:off x="839672" y="5522243"/>
            <a:ext cx="10503416" cy="2103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900" b="1" dirty="0">
                <a:solidFill>
                  <a:srgbClr val="7D4E1D"/>
                </a:solidFill>
                <a:effectLst/>
              </a:rPr>
              <a:t>Select Clients &amp; Partners:</a:t>
            </a:r>
            <a:endParaRPr lang="en-AE" sz="900" b="1" dirty="0">
              <a:solidFill>
                <a:srgbClr val="7D4E1D"/>
              </a:solidFill>
            </a:endParaRPr>
          </a:p>
        </p:txBody>
      </p:sp>
      <p:sp>
        <p:nvSpPr>
          <p:cNvPr id="45" name="Title 1">
            <a:extLst>
              <a:ext uri="{FF2B5EF4-FFF2-40B4-BE49-F238E27FC236}">
                <a16:creationId xmlns:a16="http://schemas.microsoft.com/office/drawing/2014/main" id="{73663B80-1797-F36B-E28B-9925F1825AD3}"/>
              </a:ext>
            </a:extLst>
          </p:cNvPr>
          <p:cNvSpPr txBox="1">
            <a:spLocks noGrp="1" noRot="1" noMove="1" noResize="1" noEditPoints="1" noAdjustHandles="1" noChangeArrowheads="1" noChangeShapeType="1"/>
          </p:cNvSpPr>
          <p:nvPr userDrawn="1"/>
        </p:nvSpPr>
        <p:spPr>
          <a:xfrm>
            <a:off x="838200" y="1662483"/>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Licensing, Expansion &amp; Regulatory Affairs</a:t>
            </a:r>
          </a:p>
          <a:p>
            <a:pPr algn="l"/>
            <a:endParaRPr lang="en-US" sz="1400" dirty="0">
              <a:solidFill>
                <a:schemeClr val="bg1"/>
              </a:solidFill>
            </a:endParaRPr>
          </a:p>
          <a:p>
            <a:pPr algn="l"/>
            <a:r>
              <a:rPr lang="en-US" sz="1000" dirty="0">
                <a:solidFill>
                  <a:schemeClr val="bg1"/>
                </a:solidFill>
              </a:rPr>
              <a:t>Legal and Regulatory strategy and foundations </a:t>
            </a:r>
          </a:p>
        </p:txBody>
      </p:sp>
      <p:sp>
        <p:nvSpPr>
          <p:cNvPr id="46" name="Title 1">
            <a:extLst>
              <a:ext uri="{FF2B5EF4-FFF2-40B4-BE49-F238E27FC236}">
                <a16:creationId xmlns:a16="http://schemas.microsoft.com/office/drawing/2014/main" id="{24A390A4-E1AB-A5FD-DE94-9F8C9C3C7312}"/>
              </a:ext>
            </a:extLst>
          </p:cNvPr>
          <p:cNvSpPr txBox="1">
            <a:spLocks/>
          </p:cNvSpPr>
          <p:nvPr userDrawn="1"/>
        </p:nvSpPr>
        <p:spPr>
          <a:xfrm>
            <a:off x="3477072" y="1655965"/>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Aft>
                <a:spcPts val="600"/>
              </a:spcAft>
            </a:pPr>
            <a:r>
              <a:rPr lang="en-GB" sz="1400" b="1" dirty="0">
                <a:solidFill>
                  <a:schemeClr val="bg1"/>
                </a:solidFill>
              </a:rPr>
              <a:t>Strategies, Business Growth &amp; Fundraising</a:t>
            </a:r>
          </a:p>
          <a:p>
            <a:pPr algn="l">
              <a:spcBef>
                <a:spcPts val="600"/>
              </a:spcBef>
              <a:spcAft>
                <a:spcPts val="600"/>
              </a:spcAft>
            </a:pPr>
            <a:r>
              <a:rPr lang="en-GB" sz="1000" dirty="0">
                <a:solidFill>
                  <a:schemeClr val="bg1"/>
                </a:solidFill>
              </a:rPr>
              <a:t>Corporate Growth Strategy &amp; Fundraising</a:t>
            </a:r>
          </a:p>
        </p:txBody>
      </p:sp>
      <p:sp>
        <p:nvSpPr>
          <p:cNvPr id="47" name="Title 1">
            <a:extLst>
              <a:ext uri="{FF2B5EF4-FFF2-40B4-BE49-F238E27FC236}">
                <a16:creationId xmlns:a16="http://schemas.microsoft.com/office/drawing/2014/main" id="{AEE1DCA3-253A-F3C1-B2B0-2A164D7B7BBA}"/>
              </a:ext>
            </a:extLst>
          </p:cNvPr>
          <p:cNvSpPr txBox="1">
            <a:spLocks/>
          </p:cNvSpPr>
          <p:nvPr userDrawn="1"/>
        </p:nvSpPr>
        <p:spPr>
          <a:xfrm>
            <a:off x="6115944" y="1629569"/>
            <a:ext cx="2532303" cy="1168783"/>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Governance, Risk &amp; Compliance</a:t>
            </a:r>
          </a:p>
          <a:p>
            <a:pPr algn="l">
              <a:spcBef>
                <a:spcPts val="1600"/>
              </a:spcBef>
            </a:pPr>
            <a:r>
              <a:rPr lang="en-US" sz="1000" dirty="0">
                <a:solidFill>
                  <a:schemeClr val="bg1"/>
                </a:solidFill>
              </a:rPr>
              <a:t>Regulatory Compliance Services</a:t>
            </a:r>
          </a:p>
        </p:txBody>
      </p:sp>
      <p:sp>
        <p:nvSpPr>
          <p:cNvPr id="48" name="Title 1">
            <a:extLst>
              <a:ext uri="{FF2B5EF4-FFF2-40B4-BE49-F238E27FC236}">
                <a16:creationId xmlns:a16="http://schemas.microsoft.com/office/drawing/2014/main" id="{8A44F17D-576A-AB3D-ED4A-2D0FA6FF38B1}"/>
              </a:ext>
            </a:extLst>
          </p:cNvPr>
          <p:cNvSpPr txBox="1">
            <a:spLocks/>
          </p:cNvSpPr>
          <p:nvPr userDrawn="1"/>
        </p:nvSpPr>
        <p:spPr>
          <a:xfrm>
            <a:off x="8752661" y="1624452"/>
            <a:ext cx="2532303" cy="117390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Executive Coaching, Mentoring &amp; Board Training</a:t>
            </a:r>
          </a:p>
          <a:p>
            <a:pPr algn="l">
              <a:spcBef>
                <a:spcPts val="1600"/>
              </a:spcBef>
            </a:pPr>
            <a:r>
              <a:rPr lang="en-US" sz="1000" dirty="0">
                <a:solidFill>
                  <a:schemeClr val="bg1"/>
                </a:solidFill>
              </a:rPr>
              <a:t>Governance, Risk and Compliance Training</a:t>
            </a:r>
          </a:p>
        </p:txBody>
      </p:sp>
      <p:sp>
        <p:nvSpPr>
          <p:cNvPr id="49" name="Title 1">
            <a:extLst>
              <a:ext uri="{FF2B5EF4-FFF2-40B4-BE49-F238E27FC236}">
                <a16:creationId xmlns:a16="http://schemas.microsoft.com/office/drawing/2014/main" id="{B1D3C72D-E0BD-5BFA-0715-4428FBF8A177}"/>
              </a:ext>
            </a:extLst>
          </p:cNvPr>
          <p:cNvSpPr txBox="1">
            <a:spLocks noGrp="1" noRot="1" noMove="1" noResize="1" noEditPoints="1" noAdjustHandles="1" noChangeArrowheads="1" noChangeShapeType="1"/>
          </p:cNvSpPr>
          <p:nvPr userDrawn="1"/>
        </p:nvSpPr>
        <p:spPr>
          <a:xfrm>
            <a:off x="838200" y="285669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guide financial, investment, payment, and crypto businesses in acquiring and managing the necessary licenses and permits, ensuring operational legality and efficiency.</a:t>
            </a:r>
          </a:p>
        </p:txBody>
      </p:sp>
      <p:sp>
        <p:nvSpPr>
          <p:cNvPr id="50" name="Title 1">
            <a:extLst>
              <a:ext uri="{FF2B5EF4-FFF2-40B4-BE49-F238E27FC236}">
                <a16:creationId xmlns:a16="http://schemas.microsoft.com/office/drawing/2014/main" id="{CFB37D74-57B1-C2DF-D7A8-9C51372E2408}"/>
              </a:ext>
            </a:extLst>
          </p:cNvPr>
          <p:cNvSpPr txBox="1">
            <a:spLocks noGrp="1" noRot="1" noMove="1" noResize="1" noEditPoints="1" noAdjustHandles="1" noChangeArrowheads="1" noChangeShapeType="1"/>
          </p:cNvSpPr>
          <p:nvPr userDrawn="1"/>
        </p:nvSpPr>
        <p:spPr>
          <a:xfrm>
            <a:off x="3477072" y="2850174"/>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GB" sz="900" b="0" i="0" dirty="0">
                <a:solidFill>
                  <a:srgbClr val="0B2339"/>
                </a:solidFill>
                <a:latin typeface="Aptos" panose="020B0004020202020204" pitchFamily="34" charset="0"/>
              </a:rPr>
              <a:t>We possess deep knowledge of international markets and hands-on experience in designing, driving, and implementing fundraising, corporate, and commercial strategies worldwide.</a:t>
            </a:r>
          </a:p>
        </p:txBody>
      </p:sp>
      <p:sp>
        <p:nvSpPr>
          <p:cNvPr id="51" name="Title 1">
            <a:extLst>
              <a:ext uri="{FF2B5EF4-FFF2-40B4-BE49-F238E27FC236}">
                <a16:creationId xmlns:a16="http://schemas.microsoft.com/office/drawing/2014/main" id="{5D751F98-7AA9-E57A-5C58-81C5207D7AF0}"/>
              </a:ext>
            </a:extLst>
          </p:cNvPr>
          <p:cNvSpPr txBox="1">
            <a:spLocks/>
          </p:cNvSpPr>
          <p:nvPr userDrawn="1"/>
        </p:nvSpPr>
        <p:spPr>
          <a:xfrm>
            <a:off x="6140011" y="2844857"/>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directly and indirectly supported clients from various industries and jurisdictions in overcoming GRC challenges, setting the foundation for sustainable growth.</a:t>
            </a:r>
          </a:p>
        </p:txBody>
      </p:sp>
      <p:sp>
        <p:nvSpPr>
          <p:cNvPr id="52" name="Title 1">
            <a:extLst>
              <a:ext uri="{FF2B5EF4-FFF2-40B4-BE49-F238E27FC236}">
                <a16:creationId xmlns:a16="http://schemas.microsoft.com/office/drawing/2014/main" id="{6BB300DD-6635-334D-D58D-FC9FFEE567CB}"/>
              </a:ext>
            </a:extLst>
          </p:cNvPr>
          <p:cNvSpPr txBox="1">
            <a:spLocks/>
          </p:cNvSpPr>
          <p:nvPr userDrawn="1"/>
        </p:nvSpPr>
        <p:spPr>
          <a:xfrm>
            <a:off x="8742834" y="286510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trained employees and executives of various institutions, ensuring organizations are staffed with highly trained and specialized professionals who follow the highest standards in GRC topics.</a:t>
            </a:r>
          </a:p>
        </p:txBody>
      </p:sp>
      <p:sp>
        <p:nvSpPr>
          <p:cNvPr id="54" name="Title 1">
            <a:extLst>
              <a:ext uri="{FF2B5EF4-FFF2-40B4-BE49-F238E27FC236}">
                <a16:creationId xmlns:a16="http://schemas.microsoft.com/office/drawing/2014/main" id="{0E0166C8-83CC-B52C-91F0-54BB7E9185F0}"/>
              </a:ext>
            </a:extLst>
          </p:cNvPr>
          <p:cNvSpPr txBox="1">
            <a:spLocks/>
          </p:cNvSpPr>
          <p:nvPr userDrawn="1"/>
        </p:nvSpPr>
        <p:spPr>
          <a:xfrm>
            <a:off x="838568" y="3944761"/>
            <a:ext cx="2532303" cy="1297220"/>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effectLst/>
                <a:latin typeface="Aptos" panose="020B0004020202020204" pitchFamily="34" charset="0"/>
              </a:rPr>
              <a:t>Our team has collectively delivered more than 100 regulatory licenses over the past 10 years across the EU, MEA, Central Asia, and South America. This includes licenses for investment firms, funds, payment and e-money institutions, banks, crypto exchanges, and crypto asset service providers. </a:t>
            </a:r>
            <a:endParaRPr lang="en-AE" sz="900" b="0" i="0" dirty="0">
              <a:solidFill>
                <a:srgbClr val="0B2339"/>
              </a:solidFill>
              <a:latin typeface="Aptos" panose="020B0004020202020204" pitchFamily="34" charset="0"/>
            </a:endParaRPr>
          </a:p>
        </p:txBody>
      </p:sp>
      <p:sp>
        <p:nvSpPr>
          <p:cNvPr id="55" name="Title 1">
            <a:extLst>
              <a:ext uri="{FF2B5EF4-FFF2-40B4-BE49-F238E27FC236}">
                <a16:creationId xmlns:a16="http://schemas.microsoft.com/office/drawing/2014/main" id="{8CC52D1D-1082-3542-F60C-B8BED3FF66E8}"/>
              </a:ext>
            </a:extLst>
          </p:cNvPr>
          <p:cNvSpPr txBox="1">
            <a:spLocks/>
          </p:cNvSpPr>
          <p:nvPr userDrawn="1"/>
        </p:nvSpPr>
        <p:spPr>
          <a:xfrm>
            <a:off x="3464078" y="3939507"/>
            <a:ext cx="2532303" cy="103136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algn="just">
              <a:lnSpc>
                <a:spcPct val="100000"/>
              </a:lnSpc>
              <a:spcBef>
                <a:spcPts val="600"/>
              </a:spcBef>
              <a:spcAft>
                <a:spcPts val="600"/>
              </a:spcAft>
            </a:pPr>
            <a:r>
              <a:rPr lang="en-US" sz="900" b="0" i="0" dirty="0">
                <a:solidFill>
                  <a:srgbClr val="0B2339"/>
                </a:solidFill>
                <a:latin typeface="Aptos" panose="020B0004020202020204" pitchFamily="34" charset="0"/>
              </a:rPr>
              <a:t>Involved in fundraising operations exceeding USD 100 million. Designed and implemented expansion playbooks and operational PMOs, successfully driving several commercial and regulatory projects across multiple countries in EMEA and Asia, including CY, GR, UK, BH, UAE, KSA, KE, MZ, UG, KZ, SG, generating hundreds of millions in revenue.</a:t>
            </a:r>
          </a:p>
        </p:txBody>
      </p:sp>
      <p:sp>
        <p:nvSpPr>
          <p:cNvPr id="56" name="Title 1">
            <a:extLst>
              <a:ext uri="{FF2B5EF4-FFF2-40B4-BE49-F238E27FC236}">
                <a16:creationId xmlns:a16="http://schemas.microsoft.com/office/drawing/2014/main" id="{848582C9-7926-13A1-1ED6-1A547191D27A}"/>
              </a:ext>
            </a:extLst>
          </p:cNvPr>
          <p:cNvSpPr txBox="1">
            <a:spLocks/>
          </p:cNvSpPr>
          <p:nvPr userDrawn="1"/>
        </p:nvSpPr>
        <p:spPr>
          <a:xfrm>
            <a:off x="6123994" y="3944694"/>
            <a:ext cx="2532303" cy="1074977"/>
          </a:xfrm>
          <a:prstGeom prst="rect">
            <a:avLst/>
          </a:prstGeom>
          <a:noFill/>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latin typeface="Aptos" panose="020B0004020202020204" pitchFamily="34" charset="0"/>
              </a:rPr>
              <a:t>Offering a full range of corporate governance and regulatory compliance services, we bring over 50 years of collective executive experience to the industry. We have served more than 200 clients, primarily within the financial sectors.</a:t>
            </a:r>
            <a:endParaRPr lang="en-US" sz="900" b="0" i="0" dirty="0">
              <a:solidFill>
                <a:srgbClr val="0B2339"/>
              </a:solidFill>
              <a:latin typeface="Aptos" panose="020B0004020202020204" pitchFamily="34" charset="0"/>
              <a:cs typeface="Arial" panose="020B0604020202020204" pitchFamily="34" charset="0"/>
            </a:endParaRPr>
          </a:p>
        </p:txBody>
      </p:sp>
      <p:sp>
        <p:nvSpPr>
          <p:cNvPr id="57" name="Title 1">
            <a:extLst>
              <a:ext uri="{FF2B5EF4-FFF2-40B4-BE49-F238E27FC236}">
                <a16:creationId xmlns:a16="http://schemas.microsoft.com/office/drawing/2014/main" id="{B4A75A50-09A0-C93D-3491-6005782D0565}"/>
              </a:ext>
            </a:extLst>
          </p:cNvPr>
          <p:cNvSpPr txBox="1">
            <a:spLocks/>
          </p:cNvSpPr>
          <p:nvPr userDrawn="1"/>
        </p:nvSpPr>
        <p:spPr>
          <a:xfrm>
            <a:off x="8748401" y="3943202"/>
            <a:ext cx="2532303" cy="141195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300"/>
              </a:spcAft>
              <a:buNone/>
            </a:pPr>
            <a:r>
              <a:rPr lang="en-US" sz="1000" b="1" i="0" dirty="0">
                <a:solidFill>
                  <a:srgbClr val="7D4E1D"/>
                </a:solidFill>
                <a:latin typeface="Aptos" panose="020B0004020202020204" pitchFamily="34" charset="0"/>
                <a:sym typeface="Graphik Bold"/>
              </a:rPr>
              <a:t>Outcomes Delivered</a:t>
            </a:r>
          </a:p>
          <a:p>
            <a:pPr marL="0" indent="0" algn="just">
              <a:spcBef>
                <a:spcPts val="600"/>
              </a:spcBef>
              <a:spcAft>
                <a:spcPts val="600"/>
              </a:spcAft>
              <a:buNone/>
            </a:pPr>
            <a:r>
              <a:rPr lang="en-US" sz="900" b="0" i="0" dirty="0">
                <a:solidFill>
                  <a:srgbClr val="0B2339"/>
                </a:solidFill>
                <a:latin typeface="Aptos" panose="020B0004020202020204" pitchFamily="34" charset="0"/>
              </a:rPr>
              <a:t>We provide project-based training for professionals through international seminars on GRC, Finance, Strategy and Management topics. As subject matter experts, we have assisted in various engagements in both the private and governmental sectors, delivering over 100 executive programs to boards, central banks, and internal compliance and management teams.</a:t>
            </a:r>
            <a:endParaRPr lang="en-US" sz="900" b="0" i="0" dirty="0">
              <a:solidFill>
                <a:srgbClr val="0B2339"/>
              </a:solidFill>
              <a:latin typeface="Aptos" panose="020B0004020202020204" pitchFamily="34" charset="0"/>
              <a:cs typeface="Arial" panose="020B0604020202020204" pitchFamily="34" charset="0"/>
            </a:endParaRPr>
          </a:p>
        </p:txBody>
      </p:sp>
      <p:sp>
        <p:nvSpPr>
          <p:cNvPr id="1031" name="Title 1">
            <a:extLst>
              <a:ext uri="{FF2B5EF4-FFF2-40B4-BE49-F238E27FC236}">
                <a16:creationId xmlns:a16="http://schemas.microsoft.com/office/drawing/2014/main" id="{24414068-7974-AAB3-9CFA-B60431E17ED1}"/>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Pioneering Excellence &amp; Innovation</a:t>
            </a:r>
            <a:endParaRPr lang="en-AE" dirty="0"/>
          </a:p>
        </p:txBody>
      </p:sp>
    </p:spTree>
    <p:extLst>
      <p:ext uri="{BB962C8B-B14F-4D97-AF65-F5344CB8AC3E}">
        <p14:creationId xmlns:p14="http://schemas.microsoft.com/office/powerpoint/2010/main" val="5100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98D7B88-4484-C44B-B9A2-DF9ABFBEEEF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noGrp="1" noRot="1" noMove="1" noResize="1" noEditPoints="1" noAdjustHandles="1" noChangeArrowheads="1" noChangeShapeType="1"/>
          </p:cNvSpPr>
          <p:nvPr userDrawn="1"/>
        </p:nvSpPr>
        <p:spPr>
          <a:xfrm>
            <a:off x="911010" y="1738627"/>
            <a:ext cx="7087948" cy="1338828"/>
          </a:xfrm>
          <a:prstGeom prst="rect">
            <a:avLst/>
          </a:prstGeom>
          <a:noFill/>
        </p:spPr>
        <p:txBody>
          <a:bodyPr wrap="square">
            <a:spAutoFit/>
          </a:bodyPr>
          <a:lstStyle/>
          <a:p>
            <a:pPr algn="just"/>
            <a:r>
              <a:rPr lang="en-US" sz="900" b="0" i="0" u="none" strike="noStrike" dirty="0">
                <a:solidFill>
                  <a:srgbClr val="0B2339"/>
                </a:solidFill>
                <a:effectLst/>
                <a:latin typeface="YACkoA9eHeY 0"/>
              </a:rPr>
              <a:t>At Pnyx Hill, we don’t just offer advisory services; we </a:t>
            </a:r>
            <a:r>
              <a:rPr lang="en-US" sz="900" b="1" i="0" u="none" strike="noStrike" dirty="0">
                <a:solidFill>
                  <a:srgbClr val="0B2339"/>
                </a:solidFill>
                <a:effectLst/>
                <a:latin typeface="YACkoA9eHeY 0"/>
              </a:rPr>
              <a:t>reshape the way businesses navigate strategy, governance, risk,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compliance</a:t>
            </a:r>
            <a:r>
              <a:rPr lang="en-US" sz="900" b="0" i="0" u="none" strike="noStrike" dirty="0">
                <a:solidFill>
                  <a:srgbClr val="0B2339"/>
                </a:solidFill>
                <a:effectLst/>
                <a:latin typeface="YACkoA9eHeY 0"/>
              </a:rPr>
              <a:t> (SGRC). We believe </a:t>
            </a:r>
            <a:r>
              <a:rPr lang="en-US" sz="900" b="1" i="0" u="none" strike="noStrike" dirty="0">
                <a:solidFill>
                  <a:srgbClr val="0B2339"/>
                </a:solidFill>
                <a:effectLst/>
                <a:latin typeface="YACkoA9eHeY 0"/>
              </a:rPr>
              <a:t>GRC doesn’t function without strategic implementation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strategy doesn’t perform to its maximum without GRC</a:t>
            </a:r>
            <a:r>
              <a:rPr lang="en-US" sz="900" b="0" i="0" u="none" strike="noStrike" dirty="0">
                <a:solidFill>
                  <a:srgbClr val="0B2339"/>
                </a:solidFill>
                <a:effectLst/>
                <a:latin typeface="YACkoA9eHeY 0"/>
              </a:rPr>
              <a:t>.</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Our </a:t>
            </a:r>
            <a:r>
              <a:rPr lang="en-US" sz="900" b="1" i="0" u="none" strike="noStrike" dirty="0">
                <a:solidFill>
                  <a:srgbClr val="0B2339"/>
                </a:solidFill>
                <a:effectLst/>
                <a:latin typeface="YACkoA9eHeY 0"/>
              </a:rPr>
              <a:t>boutique specialization, deep industry expertise,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partnership-driven approach</a:t>
            </a:r>
            <a:r>
              <a:rPr lang="en-US" sz="900" b="0" i="0" u="none" strike="noStrike" dirty="0">
                <a:solidFill>
                  <a:srgbClr val="0B2339"/>
                </a:solidFill>
                <a:effectLst/>
                <a:latin typeface="YACkoA9eHeY 0"/>
              </a:rPr>
              <a:t> ensure that </a:t>
            </a:r>
            <a:r>
              <a:rPr lang="en-US" sz="900" b="1" i="0" u="none" strike="noStrike" dirty="0">
                <a:solidFill>
                  <a:srgbClr val="0B2339"/>
                </a:solidFill>
                <a:effectLst/>
                <a:latin typeface="YACkoA9eHeY 0"/>
              </a:rPr>
              <a:t>clients receive tailored, high-impact solutions, </a:t>
            </a:r>
            <a:r>
              <a:rPr lang="en-US" sz="900" b="0" i="0" u="none" strike="noStrike" dirty="0">
                <a:solidFill>
                  <a:srgbClr val="0B2339"/>
                </a:solidFill>
                <a:effectLst/>
                <a:latin typeface="YACkoA9eHeY 0"/>
              </a:rPr>
              <a:t>not generic consulting.</a:t>
            </a:r>
          </a:p>
          <a:p>
            <a:pPr algn="just"/>
            <a:r>
              <a:rPr lang="en-US" sz="900" b="0" i="0" u="none" strike="noStrike" dirty="0">
                <a:solidFill>
                  <a:srgbClr val="0B2339"/>
                </a:solidFill>
                <a:effectLst/>
                <a:latin typeface="YACkoA9eHeY 0"/>
              </a:rPr>
              <a:t>We b</a:t>
            </a:r>
            <a:r>
              <a:rPr lang="en-US" sz="900" b="1" i="0" u="none" strike="noStrike" dirty="0">
                <a:solidFill>
                  <a:srgbClr val="0B2339"/>
                </a:solidFill>
                <a:effectLst/>
                <a:latin typeface="YACkoA9eHeY 0"/>
              </a:rPr>
              <a:t>elieve in vertical depth over shallow breadth</a:t>
            </a:r>
            <a:r>
              <a:rPr lang="en-US" sz="900" b="0" i="0" u="none" strike="noStrike" dirty="0">
                <a:solidFill>
                  <a:srgbClr val="0B2339"/>
                </a:solidFill>
                <a:effectLst/>
                <a:latin typeface="YACkoA9eHeY 0"/>
              </a:rPr>
              <a:t>, selecting clients where our values, vision, and commitment to excellence align.</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With a proven track record of delivering results across regulated finance, digital assets, technology, healthcare, and more, </a:t>
            </a:r>
            <a:r>
              <a:rPr lang="en-US" sz="900" b="1" i="0" u="none" strike="noStrike" dirty="0">
                <a:solidFill>
                  <a:srgbClr val="0B2339"/>
                </a:solidFill>
                <a:effectLst/>
                <a:latin typeface="YACkoA9eHeY 0"/>
              </a:rPr>
              <a:t>we operate with precision, accountability,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a:t>
            </a:r>
            <a:r>
              <a:rPr lang="en-US" sz="900" b="0" i="0" u="none" strike="noStrike" dirty="0">
                <a:solidFill>
                  <a:srgbClr val="0B2339"/>
                </a:solidFill>
                <a:effectLst/>
                <a:latin typeface="YACkoA9eHeY 0"/>
              </a:rPr>
              <a:t>a</a:t>
            </a:r>
            <a:r>
              <a:rPr lang="en-US" sz="900" b="1" i="0" u="none" strike="noStrike" dirty="0">
                <a:solidFill>
                  <a:srgbClr val="0B2339"/>
                </a:solidFill>
                <a:effectLst/>
                <a:latin typeface="YACkoA9eHeY 0"/>
              </a:rPr>
              <a:t> relentless focus on value creation</a:t>
            </a:r>
            <a:r>
              <a:rPr lang="en-US" sz="900" b="0" i="0" u="none" strike="noStrike" dirty="0">
                <a:solidFill>
                  <a:srgbClr val="0B2339"/>
                </a:solidFill>
                <a:effectLst/>
                <a:latin typeface="YACkoA9eHeY 0"/>
              </a:rPr>
              <a:t>.</a:t>
            </a:r>
          </a:p>
        </p:txBody>
      </p:sp>
      <p:pic>
        <p:nvPicPr>
          <p:cNvPr id="5" name="Picture 4" descr="Chess pieces">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sp>
        <p:nvSpPr>
          <p:cNvPr id="23" name="TextBox 22">
            <a:extLst>
              <a:ext uri="{FF2B5EF4-FFF2-40B4-BE49-F238E27FC236}">
                <a16:creationId xmlns:a16="http://schemas.microsoft.com/office/drawing/2014/main" id="{15AFE8EB-D156-1545-A703-B13FD7AF57F2}"/>
              </a:ext>
            </a:extLst>
          </p:cNvPr>
          <p:cNvSpPr txBox="1">
            <a:spLocks noGrp="1" noRot="1" noMove="1" noResize="1" noEditPoints="1" noAdjustHandles="1" noChangeArrowheads="1" noChangeShapeType="1"/>
          </p:cNvSpPr>
          <p:nvPr userDrawn="1"/>
        </p:nvSpPr>
        <p:spPr>
          <a:xfrm>
            <a:off x="2343660"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Corporate Governance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Risk Management</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Advisory</a:t>
            </a:r>
            <a:endParaRPr lang="en-AE" sz="700" b="1" i="0" dirty="0">
              <a:solidFill>
                <a:srgbClr val="0B2339"/>
              </a:solidFill>
              <a:latin typeface="Aptos SemiBold" panose="020B0004020202020204" pitchFamily="34" charset="0"/>
            </a:endParaRP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What Sets Us Apart</a:t>
            </a:r>
          </a:p>
        </p:txBody>
      </p:sp>
      <p:sp>
        <p:nvSpPr>
          <p:cNvPr id="33" name="TextBox 32">
            <a:extLst>
              <a:ext uri="{FF2B5EF4-FFF2-40B4-BE49-F238E27FC236}">
                <a16:creationId xmlns:a16="http://schemas.microsoft.com/office/drawing/2014/main" id="{3B7B35E5-1BE6-D91F-3B7B-6F905EBCF4E4}"/>
              </a:ext>
            </a:extLst>
          </p:cNvPr>
          <p:cNvSpPr txBox="1">
            <a:spLocks noGrp="1" noRot="1" noMove="1" noResize="1" noEditPoints="1" noAdjustHandles="1" noChangeArrowheads="1" noChangeShapeType="1"/>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grpSp>
        <p:nvGrpSpPr>
          <p:cNvPr id="37" name="Group 36">
            <a:extLst>
              <a:ext uri="{FF2B5EF4-FFF2-40B4-BE49-F238E27FC236}">
                <a16:creationId xmlns:a16="http://schemas.microsoft.com/office/drawing/2014/main" id="{12523807-179A-8FB5-F60F-2F7961D59A95}"/>
              </a:ext>
            </a:extLst>
          </p:cNvPr>
          <p:cNvGrpSpPr>
            <a:grpSpLocks/>
          </p:cNvGrpSpPr>
          <p:nvPr userDrawn="1"/>
        </p:nvGrpSpPr>
        <p:grpSpPr>
          <a:xfrm>
            <a:off x="836612" y="3171247"/>
            <a:ext cx="7355255" cy="1012340"/>
            <a:chOff x="836612" y="3212015"/>
            <a:chExt cx="7355255" cy="1012340"/>
          </a:xfrm>
        </p:grpSpPr>
        <p:cxnSp>
          <p:nvCxnSpPr>
            <p:cNvPr id="17" name="Straight Connector 16">
              <a:extLst>
                <a:ext uri="{FF2B5EF4-FFF2-40B4-BE49-F238E27FC236}">
                  <a16:creationId xmlns:a16="http://schemas.microsoft.com/office/drawing/2014/main" id="{377080EE-9C33-8477-E380-E30D1B53ACC7}"/>
                </a:ext>
              </a:extLst>
            </p:cNvPr>
            <p:cNvCxnSpPr>
              <a:cxnSpLocks/>
            </p:cNvCxnSpPr>
            <p:nvPr userDrawn="1"/>
          </p:nvCxnSpPr>
          <p:spPr>
            <a:xfrm>
              <a:off x="836612" y="3479037"/>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0FF0A8A-08C3-C250-7325-940347FB3F25}"/>
                </a:ext>
              </a:extLst>
            </p:cNvPr>
            <p:cNvSpPr txBox="1">
              <a:spLocks/>
            </p:cNvSpPr>
            <p:nvPr userDrawn="1"/>
          </p:nvSpPr>
          <p:spPr>
            <a:xfrm>
              <a:off x="945681" y="3212015"/>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Industry Focus</a:t>
              </a:r>
            </a:p>
          </p:txBody>
        </p:sp>
        <p:grpSp>
          <p:nvGrpSpPr>
            <p:cNvPr id="32" name="Group 31">
              <a:extLst>
                <a:ext uri="{FF2B5EF4-FFF2-40B4-BE49-F238E27FC236}">
                  <a16:creationId xmlns:a16="http://schemas.microsoft.com/office/drawing/2014/main" id="{D08922CB-B892-B55A-6D4E-5000C5876C73}"/>
                </a:ext>
              </a:extLst>
            </p:cNvPr>
            <p:cNvGrpSpPr>
              <a:grpSpLocks/>
            </p:cNvGrpSpPr>
            <p:nvPr userDrawn="1"/>
          </p:nvGrpSpPr>
          <p:grpSpPr>
            <a:xfrm>
              <a:off x="840598" y="3839852"/>
              <a:ext cx="7158360" cy="384503"/>
              <a:chOff x="979938" y="4226658"/>
              <a:chExt cx="6414597" cy="384503"/>
            </a:xfrm>
          </p:grpSpPr>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9938" y="4232083"/>
                <a:ext cx="96258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Financial Services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044836" y="4226658"/>
                <a:ext cx="92381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Web3 &amp; Digital Assets</a:t>
                </a:r>
              </a:p>
            </p:txBody>
          </p:sp>
          <p:sp>
            <p:nvSpPr>
              <p:cNvPr id="28" name="TextBox 27">
                <a:extLst>
                  <a:ext uri="{FF2B5EF4-FFF2-40B4-BE49-F238E27FC236}">
                    <a16:creationId xmlns:a16="http://schemas.microsoft.com/office/drawing/2014/main" id="{CD4977F3-41B4-1DD0-E38F-45378F9F1F78}"/>
                  </a:ext>
                </a:extLst>
              </p:cNvPr>
              <p:cNvSpPr txBox="1">
                <a:spLocks/>
              </p:cNvSpPr>
              <p:nvPr userDrawn="1"/>
            </p:nvSpPr>
            <p:spPr>
              <a:xfrm>
                <a:off x="3048378" y="4241829"/>
                <a:ext cx="113159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Technology Startups</a:t>
                </a:r>
              </a:p>
            </p:txBody>
          </p:sp>
          <p:sp>
            <p:nvSpPr>
              <p:cNvPr id="29" name="TextBox 28">
                <a:extLst>
                  <a:ext uri="{FF2B5EF4-FFF2-40B4-BE49-F238E27FC236}">
                    <a16:creationId xmlns:a16="http://schemas.microsoft.com/office/drawing/2014/main" id="{7C569A4A-D84B-98B0-3B8B-61017CEE441B}"/>
                  </a:ext>
                </a:extLst>
              </p:cNvPr>
              <p:cNvSpPr txBox="1">
                <a:spLocks/>
              </p:cNvSpPr>
              <p:nvPr userDrawn="1"/>
            </p:nvSpPr>
            <p:spPr>
              <a:xfrm>
                <a:off x="4124259" y="4248316"/>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Healthcare</a:t>
                </a:r>
              </a:p>
            </p:txBody>
          </p:sp>
          <p:sp>
            <p:nvSpPr>
              <p:cNvPr id="6" name="TextBox 5">
                <a:extLst>
                  <a:ext uri="{FF2B5EF4-FFF2-40B4-BE49-F238E27FC236}">
                    <a16:creationId xmlns:a16="http://schemas.microsoft.com/office/drawing/2014/main" id="{4DD97115-DDEE-98FB-700F-8760A80A794A}"/>
                  </a:ext>
                </a:extLst>
              </p:cNvPr>
              <p:cNvSpPr txBox="1">
                <a:spLocks/>
              </p:cNvSpPr>
              <p:nvPr userDrawn="1"/>
            </p:nvSpPr>
            <p:spPr>
              <a:xfrm>
                <a:off x="5206103" y="4248584"/>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Gaming</a:t>
                </a:r>
              </a:p>
            </p:txBody>
          </p:sp>
          <p:sp>
            <p:nvSpPr>
              <p:cNvPr id="10" name="TextBox 9">
                <a:extLst>
                  <a:ext uri="{FF2B5EF4-FFF2-40B4-BE49-F238E27FC236}">
                    <a16:creationId xmlns:a16="http://schemas.microsoft.com/office/drawing/2014/main" id="{EFEAE25B-33D5-93CE-BC06-52324D4C32E3}"/>
                  </a:ext>
                </a:extLst>
              </p:cNvPr>
              <p:cNvSpPr txBox="1">
                <a:spLocks/>
              </p:cNvSpPr>
              <p:nvPr userDrawn="1"/>
            </p:nvSpPr>
            <p:spPr>
              <a:xfrm>
                <a:off x="6300319" y="4241829"/>
                <a:ext cx="1094216"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Energy &amp; Infrastructure</a:t>
                </a:r>
              </a:p>
            </p:txBody>
          </p:sp>
        </p:grpSp>
        <p:grpSp>
          <p:nvGrpSpPr>
            <p:cNvPr id="36" name="Group 35">
              <a:extLst>
                <a:ext uri="{FF2B5EF4-FFF2-40B4-BE49-F238E27FC236}">
                  <a16:creationId xmlns:a16="http://schemas.microsoft.com/office/drawing/2014/main" id="{E50316BB-61B7-614F-0A6D-C1C62AAD721A}"/>
                </a:ext>
              </a:extLst>
            </p:cNvPr>
            <p:cNvGrpSpPr>
              <a:grpSpLocks/>
            </p:cNvGrpSpPr>
            <p:nvPr userDrawn="1"/>
          </p:nvGrpSpPr>
          <p:grpSpPr>
            <a:xfrm>
              <a:off x="1252072" y="3523789"/>
              <a:ext cx="6268675" cy="348615"/>
              <a:chOff x="1314819" y="3858179"/>
              <a:chExt cx="6268675" cy="348615"/>
            </a:xfrm>
          </p:grpSpPr>
          <p:pic>
            <p:nvPicPr>
              <p:cNvPr id="13" name="Picture 12" descr="A screen shot of a device&#10;&#10;Description automatically generated">
                <a:extLst>
                  <a:ext uri="{FF2B5EF4-FFF2-40B4-BE49-F238E27FC236}">
                    <a16:creationId xmlns:a16="http://schemas.microsoft.com/office/drawing/2014/main" id="{D48BD6AC-604A-B785-74D4-E5465BF0F68D}"/>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1314819" y="3938279"/>
                <a:ext cx="261531" cy="265961"/>
              </a:xfrm>
              <a:prstGeom prst="rect">
                <a:avLst/>
              </a:prstGeom>
            </p:spPr>
          </p:pic>
          <p:pic>
            <p:nvPicPr>
              <p:cNvPr id="16" name="Picture 15" descr="A screen shot of a device&#10;&#10;Description automatically generated">
                <a:extLst>
                  <a:ext uri="{FF2B5EF4-FFF2-40B4-BE49-F238E27FC236}">
                    <a16:creationId xmlns:a16="http://schemas.microsoft.com/office/drawing/2014/main" id="{A086DAA4-166D-D25E-5F6C-9A17F8D84CD0}"/>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2463090" y="3894148"/>
                <a:ext cx="295652" cy="300660"/>
              </a:xfrm>
              <a:prstGeom prst="rect">
                <a:avLst/>
              </a:prstGeom>
            </p:spPr>
          </p:pic>
          <p:pic>
            <p:nvPicPr>
              <p:cNvPr id="18" name="Picture 17" descr="A screen shot of a device&#10;&#10;Description automatically generated">
                <a:extLst>
                  <a:ext uri="{FF2B5EF4-FFF2-40B4-BE49-F238E27FC236}">
                    <a16:creationId xmlns:a16="http://schemas.microsoft.com/office/drawing/2014/main" id="{B3274733-CD9E-D433-4E05-7D8EDF578EF9}"/>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3693175" y="3906134"/>
                <a:ext cx="295652" cy="300660"/>
              </a:xfrm>
              <a:prstGeom prst="rect">
                <a:avLst/>
              </a:prstGeom>
            </p:spPr>
          </p:pic>
          <p:pic>
            <p:nvPicPr>
              <p:cNvPr id="19" name="Picture 18" descr="A screen shot of a device&#10;&#10;Description automatically generated">
                <a:extLst>
                  <a:ext uri="{FF2B5EF4-FFF2-40B4-BE49-F238E27FC236}">
                    <a16:creationId xmlns:a16="http://schemas.microsoft.com/office/drawing/2014/main" id="{7042E444-8759-515E-99D9-7CB2F214E816}"/>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a:stretch/>
            </p:blipFill>
            <p:spPr>
              <a:xfrm>
                <a:off x="4875466" y="3885979"/>
                <a:ext cx="295652" cy="300660"/>
              </a:xfrm>
              <a:prstGeom prst="rect">
                <a:avLst/>
              </a:prstGeom>
            </p:spPr>
          </p:pic>
          <p:pic>
            <p:nvPicPr>
              <p:cNvPr id="25" name="Picture 24" descr="A screen shot of a device&#10;&#10;Description automatically generated">
                <a:extLst>
                  <a:ext uri="{FF2B5EF4-FFF2-40B4-BE49-F238E27FC236}">
                    <a16:creationId xmlns:a16="http://schemas.microsoft.com/office/drawing/2014/main" id="{EE3DE2C0-C26D-841D-128A-7B27AC33D28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a:stretch/>
            </p:blipFill>
            <p:spPr>
              <a:xfrm>
                <a:off x="6078283" y="3887425"/>
                <a:ext cx="295652" cy="300660"/>
              </a:xfrm>
              <a:prstGeom prst="rect">
                <a:avLst/>
              </a:prstGeom>
            </p:spPr>
          </p:pic>
          <p:pic>
            <p:nvPicPr>
              <p:cNvPr id="31" name="Picture 30" descr="A screen shot of a device&#10;&#10;Description automatically generated">
                <a:extLst>
                  <a:ext uri="{FF2B5EF4-FFF2-40B4-BE49-F238E27FC236}">
                    <a16:creationId xmlns:a16="http://schemas.microsoft.com/office/drawing/2014/main" id="{37EF5710-EEF5-112F-075B-811361C00CA5}"/>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7287842" y="3858179"/>
                <a:ext cx="295652" cy="300660"/>
              </a:xfrm>
              <a:prstGeom prst="rect">
                <a:avLst/>
              </a:prstGeom>
            </p:spPr>
          </p:pic>
        </p:grpSp>
      </p:grpSp>
      <p:sp>
        <p:nvSpPr>
          <p:cNvPr id="39" name="Title 1">
            <a:extLst>
              <a:ext uri="{FF2B5EF4-FFF2-40B4-BE49-F238E27FC236}">
                <a16:creationId xmlns:a16="http://schemas.microsoft.com/office/drawing/2014/main" id="{70481410-519F-3618-C311-948924932B4C}"/>
              </a:ext>
            </a:extLst>
          </p:cNvPr>
          <p:cNvSpPr txBox="1">
            <a:spLocks noGrp="1" noRot="1" noMove="1" noResize="1" noEditPoints="1" noAdjustHandles="1" noChangeArrowheads="1" noChangeShapeType="1"/>
          </p:cNvSpPr>
          <p:nvPr userDrawn="1"/>
        </p:nvSpPr>
        <p:spPr>
          <a:xfrm>
            <a:off x="977214" y="4544971"/>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Governance, Risk &amp; Compliance Advisory</a:t>
            </a:r>
          </a:p>
        </p:txBody>
      </p:sp>
      <p:sp>
        <p:nvSpPr>
          <p:cNvPr id="40" name="Title 1">
            <a:extLst>
              <a:ext uri="{FF2B5EF4-FFF2-40B4-BE49-F238E27FC236}">
                <a16:creationId xmlns:a16="http://schemas.microsoft.com/office/drawing/2014/main" id="{AD476ABA-F99F-0528-1504-6DF85EDD8A5F}"/>
              </a:ext>
            </a:extLst>
          </p:cNvPr>
          <p:cNvSpPr txBox="1">
            <a:spLocks noGrp="1" noRot="1" noMove="1" noResize="1" noEditPoints="1" noAdjustHandles="1" noChangeArrowheads="1" noChangeShapeType="1"/>
          </p:cNvSpPr>
          <p:nvPr userDrawn="1"/>
        </p:nvSpPr>
        <p:spPr>
          <a:xfrm>
            <a:off x="977213" y="5058859"/>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Corporate Growth &amp; Strategy Advisory</a:t>
            </a:r>
          </a:p>
        </p:txBody>
      </p:sp>
      <p:sp>
        <p:nvSpPr>
          <p:cNvPr id="41" name="Title 1">
            <a:extLst>
              <a:ext uri="{FF2B5EF4-FFF2-40B4-BE49-F238E27FC236}">
                <a16:creationId xmlns:a16="http://schemas.microsoft.com/office/drawing/2014/main" id="{961FA55F-7C04-E1E3-0DF3-566301091E9F}"/>
              </a:ext>
            </a:extLst>
          </p:cNvPr>
          <p:cNvSpPr txBox="1">
            <a:spLocks noGrp="1" noRot="1" noMove="1" noResize="1" noEditPoints="1" noAdjustHandles="1" noChangeArrowheads="1" noChangeShapeType="1"/>
          </p:cNvSpPr>
          <p:nvPr userDrawn="1"/>
        </p:nvSpPr>
        <p:spPr>
          <a:xfrm>
            <a:off x="977213" y="5578824"/>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Training &amp; Development Services</a:t>
            </a:r>
          </a:p>
        </p:txBody>
      </p:sp>
      <p:cxnSp>
        <p:nvCxnSpPr>
          <p:cNvPr id="42" name="Straight Connector 41">
            <a:extLst>
              <a:ext uri="{FF2B5EF4-FFF2-40B4-BE49-F238E27FC236}">
                <a16:creationId xmlns:a16="http://schemas.microsoft.com/office/drawing/2014/main" id="{8666CAFC-FEDF-008B-C79D-4BF4572FC442}"/>
              </a:ext>
            </a:extLst>
          </p:cNvPr>
          <p:cNvCxnSpPr>
            <a:cxnSpLocks noGrp="1" noRot="1" noMove="1" noResize="1" noEditPoints="1" noAdjustHandles="1" noChangeArrowheads="1" noChangeShapeType="1"/>
          </p:cNvCxnSpPr>
          <p:nvPr userDrawn="1"/>
        </p:nvCxnSpPr>
        <p:spPr>
          <a:xfrm>
            <a:off x="842433" y="4452154"/>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1AD910E2-B26F-869C-69AD-33355800AA21}"/>
              </a:ext>
            </a:extLst>
          </p:cNvPr>
          <p:cNvSpPr txBox="1">
            <a:spLocks noGrp="1" noRot="1" noMove="1" noResize="1" noEditPoints="1" noAdjustHandles="1" noChangeArrowheads="1" noChangeShapeType="1"/>
          </p:cNvSpPr>
          <p:nvPr userDrawn="1"/>
        </p:nvSpPr>
        <p:spPr>
          <a:xfrm>
            <a:off x="951502" y="4185132"/>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Our Capability Pillars</a:t>
            </a:r>
          </a:p>
        </p:txBody>
      </p:sp>
      <p:sp>
        <p:nvSpPr>
          <p:cNvPr id="44" name="TextBox 43">
            <a:extLst>
              <a:ext uri="{FF2B5EF4-FFF2-40B4-BE49-F238E27FC236}">
                <a16:creationId xmlns:a16="http://schemas.microsoft.com/office/drawing/2014/main" id="{190F7862-1527-FC26-B5F3-9D2705C5973D}"/>
              </a:ext>
            </a:extLst>
          </p:cNvPr>
          <p:cNvSpPr txBox="1">
            <a:spLocks noGrp="1" noRot="1" noMove="1" noResize="1" noEditPoints="1" noAdjustHandles="1" noChangeArrowheads="1" noChangeShapeType="1"/>
          </p:cNvSpPr>
          <p:nvPr userDrawn="1"/>
        </p:nvSpPr>
        <p:spPr>
          <a:xfrm>
            <a:off x="2343659" y="5167805"/>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Strategy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Development &amp; targeted lobbying </a:t>
            </a:r>
          </a:p>
        </p:txBody>
      </p:sp>
      <p:sp>
        <p:nvSpPr>
          <p:cNvPr id="45" name="TextBox 44">
            <a:extLst>
              <a:ext uri="{FF2B5EF4-FFF2-40B4-BE49-F238E27FC236}">
                <a16:creationId xmlns:a16="http://schemas.microsoft.com/office/drawing/2014/main" id="{3D0E1F19-5979-3EF8-93E5-DE605B200438}"/>
              </a:ext>
            </a:extLst>
          </p:cNvPr>
          <p:cNvSpPr txBox="1">
            <a:spLocks/>
          </p:cNvSpPr>
          <p:nvPr userDrawn="1"/>
        </p:nvSpPr>
        <p:spPr>
          <a:xfrm>
            <a:off x="2343659" y="5593522"/>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Senior Executive Strategic  Alignment Workshops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Continuous Learning</a:t>
            </a:r>
            <a:endParaRPr lang="en-AE" sz="700" b="1" i="0" dirty="0">
              <a:solidFill>
                <a:srgbClr val="0B2339"/>
              </a:solidFill>
              <a:latin typeface="Aptos SemiBold" panose="020B0004020202020204" pitchFamily="34" charset="0"/>
            </a:endParaRPr>
          </a:p>
        </p:txBody>
      </p:sp>
      <p:sp>
        <p:nvSpPr>
          <p:cNvPr id="46" name="TextBox 45">
            <a:extLst>
              <a:ext uri="{FF2B5EF4-FFF2-40B4-BE49-F238E27FC236}">
                <a16:creationId xmlns:a16="http://schemas.microsoft.com/office/drawing/2014/main" id="{53FFE4A2-0CC1-FCE6-3F81-D2056C8FA539}"/>
              </a:ext>
            </a:extLst>
          </p:cNvPr>
          <p:cNvSpPr txBox="1">
            <a:spLocks noGrp="1" noRot="1" noMove="1" noResize="1" noEditPoints="1" noAdjustHandles="1" noChangeArrowheads="1" noChangeShapeType="1"/>
          </p:cNvSpPr>
          <p:nvPr userDrawn="1"/>
        </p:nvSpPr>
        <p:spPr>
          <a:xfrm>
            <a:off x="3926081"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Blockchain Compliance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AI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Regulatory Affairs &amp; Licensing</a:t>
            </a:r>
            <a:endParaRPr lang="en-AE" sz="700" b="1" i="0" dirty="0">
              <a:solidFill>
                <a:srgbClr val="0B2339"/>
              </a:solidFill>
              <a:latin typeface="Aptos SemiBold" panose="020B0004020202020204" pitchFamily="34" charset="0"/>
            </a:endParaRPr>
          </a:p>
        </p:txBody>
      </p:sp>
      <p:sp>
        <p:nvSpPr>
          <p:cNvPr id="47" name="TextBox 46">
            <a:extLst>
              <a:ext uri="{FF2B5EF4-FFF2-40B4-BE49-F238E27FC236}">
                <a16:creationId xmlns:a16="http://schemas.microsoft.com/office/drawing/2014/main" id="{8C60CDA4-2182-9556-2396-43DA621CEBF4}"/>
              </a:ext>
            </a:extLst>
          </p:cNvPr>
          <p:cNvSpPr txBox="1">
            <a:spLocks noGrp="1" noRot="1" noMove="1" noResize="1" noEditPoints="1" noAdjustHandles="1" noChangeArrowheads="1" noChangeShapeType="1"/>
          </p:cNvSpPr>
          <p:nvPr userDrawn="1"/>
        </p:nvSpPr>
        <p:spPr>
          <a:xfrm>
            <a:off x="3926080" y="5167805"/>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Mergers &amp; Acquisitions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Private Equity – VC Advisory</a:t>
            </a:r>
            <a:endParaRPr lang="en-AE" sz="700" b="1" i="0" dirty="0">
              <a:solidFill>
                <a:srgbClr val="0B2339"/>
              </a:solidFill>
              <a:latin typeface="Aptos SemiBold" panose="020B0004020202020204" pitchFamily="34" charset="0"/>
            </a:endParaRPr>
          </a:p>
        </p:txBody>
      </p:sp>
      <p:sp>
        <p:nvSpPr>
          <p:cNvPr id="48" name="TextBox 47">
            <a:extLst>
              <a:ext uri="{FF2B5EF4-FFF2-40B4-BE49-F238E27FC236}">
                <a16:creationId xmlns:a16="http://schemas.microsoft.com/office/drawing/2014/main" id="{238CB73D-A595-456D-4923-86541EFBD511}"/>
              </a:ext>
            </a:extLst>
          </p:cNvPr>
          <p:cNvSpPr txBox="1">
            <a:spLocks/>
          </p:cNvSpPr>
          <p:nvPr userDrawn="1"/>
        </p:nvSpPr>
        <p:spPr>
          <a:xfrm>
            <a:off x="3926080" y="5601614"/>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Certifications &amp; Licenses</a:t>
            </a:r>
          </a:p>
          <a:p>
            <a:pPr marL="171450" indent="-171450" algn="l">
              <a:buFont typeface="Arial" panose="020B0604020202020204" pitchFamily="34" charset="0"/>
              <a:buChar char="•"/>
            </a:pPr>
            <a:endParaRPr lang="en-AE" sz="700" b="1" i="0" dirty="0">
              <a:solidFill>
                <a:srgbClr val="0B2339"/>
              </a:solidFill>
              <a:latin typeface="Aptos SemiBold" panose="020B0004020202020204" pitchFamily="34" charset="0"/>
            </a:endParaRPr>
          </a:p>
        </p:txBody>
      </p:sp>
      <p:sp>
        <p:nvSpPr>
          <p:cNvPr id="49" name="TextBox 48">
            <a:extLst>
              <a:ext uri="{FF2B5EF4-FFF2-40B4-BE49-F238E27FC236}">
                <a16:creationId xmlns:a16="http://schemas.microsoft.com/office/drawing/2014/main" id="{16C9244B-A74E-64F8-2047-8DFA6A0F16A3}"/>
              </a:ext>
            </a:extLst>
          </p:cNvPr>
          <p:cNvSpPr txBox="1">
            <a:spLocks noGrp="1" noRot="1" noMove="1" noResize="1" noEditPoints="1" noAdjustHandles="1" noChangeArrowheads="1" noChangeShapeType="1"/>
          </p:cNvSpPr>
          <p:nvPr userDrawn="1"/>
        </p:nvSpPr>
        <p:spPr>
          <a:xfrm>
            <a:off x="5674813"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AML &amp; Sanctions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ESG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as-a-Service (CaaS)</a:t>
            </a:r>
            <a:endParaRPr lang="en-AE" sz="700" b="1" i="0" dirty="0">
              <a:solidFill>
                <a:srgbClr val="0B2339"/>
              </a:solidFill>
              <a:latin typeface="Aptos SemiBold" panose="020B0004020202020204" pitchFamily="34" charset="0"/>
            </a:endParaRPr>
          </a:p>
        </p:txBody>
      </p:sp>
      <p:sp>
        <p:nvSpPr>
          <p:cNvPr id="50" name="TextBox 49">
            <a:extLst>
              <a:ext uri="{FF2B5EF4-FFF2-40B4-BE49-F238E27FC236}">
                <a16:creationId xmlns:a16="http://schemas.microsoft.com/office/drawing/2014/main" id="{E18CAB52-2032-0F6E-C709-4E6AACADD080}"/>
              </a:ext>
            </a:extLst>
          </p:cNvPr>
          <p:cNvSpPr txBox="1">
            <a:spLocks noGrp="1" noRot="1" noMove="1" noResize="1" noEditPoints="1" noAdjustHandles="1" noChangeArrowheads="1" noChangeShapeType="1"/>
          </p:cNvSpPr>
          <p:nvPr userDrawn="1"/>
        </p:nvSpPr>
        <p:spPr>
          <a:xfrm>
            <a:off x="5674812" y="5167805"/>
            <a:ext cx="1748732" cy="30777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b="1" i="0" u="none" strike="noStrike" dirty="0">
                <a:solidFill>
                  <a:srgbClr val="0B2339"/>
                </a:solidFill>
                <a:effectLst/>
                <a:latin typeface="Aptos SemiBold" panose="020B0004020202020204" pitchFamily="34" charset="0"/>
              </a:rPr>
              <a:t>Startup Development</a:t>
            </a:r>
            <a:r>
              <a:rPr lang="en-AE" sz="700" b="1" i="0" u="none" strike="noStrike" dirty="0">
                <a:solidFill>
                  <a:srgbClr val="0B2339"/>
                </a:solidFill>
                <a:effectLst/>
                <a:latin typeface="Aptos SemiBold" panose="020B0004020202020204" pitchFamily="34" charset="0"/>
              </a:rPr>
              <a:t> Advisory</a:t>
            </a:r>
            <a:endParaRPr lang="en-US" sz="700" b="1" i="0" u="none" strike="noStrike" dirty="0">
              <a:solidFill>
                <a:srgbClr val="0B2339"/>
              </a:solidFill>
              <a:effectLst/>
              <a:latin typeface="Aptos SemiBold" panose="020B0004020202020204" pitchFamily="34" charset="0"/>
            </a:endParaRP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Fundraising Advisory </a:t>
            </a:r>
            <a:endParaRPr lang="en-AE" sz="700" b="1" i="0" dirty="0">
              <a:solidFill>
                <a:srgbClr val="0B2339"/>
              </a:solidFill>
              <a:latin typeface="Aptos SemiBold" panose="020B0004020202020204" pitchFamily="34" charset="0"/>
            </a:endParaRPr>
          </a:p>
        </p:txBody>
      </p:sp>
      <p:sp>
        <p:nvSpPr>
          <p:cNvPr id="51" name="TextBox 50">
            <a:extLst>
              <a:ext uri="{FF2B5EF4-FFF2-40B4-BE49-F238E27FC236}">
                <a16:creationId xmlns:a16="http://schemas.microsoft.com/office/drawing/2014/main" id="{3753DDA6-D882-73AC-D531-B7E084C48F7A}"/>
              </a:ext>
            </a:extLst>
          </p:cNvPr>
          <p:cNvSpPr txBox="1">
            <a:spLocks/>
          </p:cNvSpPr>
          <p:nvPr userDrawn="1"/>
        </p:nvSpPr>
        <p:spPr>
          <a:xfrm>
            <a:off x="5674812" y="5593522"/>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Board Guidance and direction</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Customized Employee Training</a:t>
            </a:r>
            <a:endParaRPr lang="en-AE" sz="700" b="1" i="0" dirty="0">
              <a:solidFill>
                <a:srgbClr val="0B2339"/>
              </a:solidFill>
              <a:latin typeface="Aptos SemiBold" panose="020B0004020202020204" pitchFamily="34" charset="0"/>
            </a:endParaRPr>
          </a:p>
        </p:txBody>
      </p:sp>
    </p:spTree>
    <p:extLst>
      <p:ext uri="{BB962C8B-B14F-4D97-AF65-F5344CB8AC3E}">
        <p14:creationId xmlns:p14="http://schemas.microsoft.com/office/powerpoint/2010/main" val="72928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FBB8F99-871F-3A43-BB92-8679618DEB4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Regulatory &amp; Market Entry Services</a:t>
            </a:r>
          </a:p>
        </p:txBody>
      </p:sp>
      <p:pic>
        <p:nvPicPr>
          <p:cNvPr id="16" name="Picture 15" descr="Orange skies">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End-to-end support in acquiring financial, investment, and crypto licenses, ensuring businesses meet regulatory requirements.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Licensing &amp; Regulatory Affairs</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companies enter new markets with regulatory, operational, and commercial strategies tailored to local and global compliance.</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Market Expansion &amp; Entry Strategy</a:t>
              </a: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Ensuring businesses stay ahead of evolving regulatory requirements, mitigating risks, and maintaining operational integrity.</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Regulatory Risk &amp; Compliance Advisory</a:t>
              </a:r>
            </a:p>
          </p:txBody>
        </p:sp>
      </p:grpSp>
    </p:spTree>
    <p:extLst>
      <p:ext uri="{BB962C8B-B14F-4D97-AF65-F5344CB8AC3E}">
        <p14:creationId xmlns:p14="http://schemas.microsoft.com/office/powerpoint/2010/main" val="2572818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337B26B-3337-1644-AFD8-8AA7ABA676A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954107"/>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Governance, Risk &amp; Compliance (GRC) Services</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Establishing strong governance frameworks that drive accountability, compliance, and long-term business sustainability.</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Corporate Governance &amp; Risk Management</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Implementing anti-money laundering (AML) frameworks, sanctions compliance, and risk assessments to meet global regulatory standards.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AML &amp; Sanctions Advisory</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Outsourced compliance solutions to streamline operations, reduce costs, and ensure businesses meet ongoing regulatory obligations.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Compliance-as-a-Service (CaaS)</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1478612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69BAFEF-4D20-0D4A-B8A7-FFC78EBAB936}"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Business Growth &amp; Strategic Advisory</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Assisting companies in securing investment through structured capital-raising strategies, investor outreach, and financial modeling.</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Fundraising &amp; Investor Readiness</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56512"/>
            <a:ext cx="6103171" cy="1015663"/>
            <a:chOff x="1202580" y="1635055"/>
            <a:chExt cx="6103171" cy="1015663"/>
          </a:xfrm>
        </p:grpSpPr>
        <p:sp>
          <p:nvSpPr>
            <p:cNvPr id="23" name="TextBox 22">
              <a:extLst>
                <a:ext uri="{FF2B5EF4-FFF2-40B4-BE49-F238E27FC236}">
                  <a16:creationId xmlns:a16="http://schemas.microsoft.com/office/drawing/2014/main" id="{11033E0E-049A-601C-854E-7E0D6A4FA94A}"/>
                </a:ext>
              </a:extLst>
            </p:cNvPr>
            <p:cNvSpPr txBox="1">
              <a:spLocks/>
            </p:cNvSpPr>
            <p:nvPr userDrawn="1"/>
          </p:nvSpPr>
          <p:spPr>
            <a:xfrm>
              <a:off x="3216460" y="1635055"/>
              <a:ext cx="4089291" cy="1015663"/>
            </a:xfrm>
            <a:prstGeom prst="rect">
              <a:avLst/>
            </a:prstGeom>
            <a:noFill/>
          </p:spPr>
          <p:txBody>
            <a:bodyPr wrap="square">
              <a:spAutoFit/>
            </a:bodyPr>
            <a:lstStyle/>
            <a:p>
              <a:pPr algn="just"/>
              <a:r>
                <a:rPr lang="en-US" sz="1200" b="0" i="0" u="none" strike="noStrike" dirty="0">
                  <a:solidFill>
                    <a:srgbClr val="0D2339"/>
                  </a:solidFill>
                  <a:effectLst/>
                </a:rPr>
                <a:t>We assess market viability, potential customer base, and competitive landscapes to develop customized expansion playbooks to ensure that expansion efforts are scalable, sustainable, and perfectly aligned with the overarching goals of your business.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Strategy and Market Expansion</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p:cNvGrpSpPr>
          <p:nvPr userDrawn="1"/>
        </p:nvGrpSpPr>
        <p:grpSpPr>
          <a:xfrm>
            <a:off x="1202580" y="4635266"/>
            <a:ext cx="6104736" cy="1018694"/>
            <a:chOff x="1202580" y="1656655"/>
            <a:chExt cx="6104736" cy="1018694"/>
          </a:xfrm>
        </p:grpSpPr>
        <p:sp>
          <p:nvSpPr>
            <p:cNvPr id="26" name="TextBox 25">
              <a:extLst>
                <a:ext uri="{FF2B5EF4-FFF2-40B4-BE49-F238E27FC236}">
                  <a16:creationId xmlns:a16="http://schemas.microsoft.com/office/drawing/2014/main" id="{2146B07B-FFE5-0D70-C429-99784484C0FA}"/>
                </a:ext>
              </a:extLst>
            </p:cNvPr>
            <p:cNvSpPr txBox="1">
              <a:spLocks/>
            </p:cNvSpPr>
            <p:nvPr userDrawn="1"/>
          </p:nvSpPr>
          <p:spPr>
            <a:xfrm>
              <a:off x="3218025" y="1659686"/>
              <a:ext cx="4089291" cy="1015663"/>
            </a:xfrm>
            <a:prstGeom prst="rect">
              <a:avLst/>
            </a:prstGeom>
            <a:noFill/>
          </p:spPr>
          <p:txBody>
            <a:bodyPr wrap="square">
              <a:spAutoFit/>
            </a:bodyPr>
            <a:lstStyle/>
            <a:p>
              <a:pPr algn="just"/>
              <a:r>
                <a:rPr lang="en-US" sz="1200" b="0" i="0" u="none" strike="noStrike" dirty="0">
                  <a:solidFill>
                    <a:srgbClr val="0D2339"/>
                  </a:solidFill>
                  <a:effectLst/>
                </a:rPr>
                <a:t>We brings deep insights into negotiation tactics, strategic alignments, and acquisition strategies. We specialize in forging connections with key stakeholders and decision-makers, essential for facilitating partnerships that align with overarching business objectives.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Development and Dealmaking </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3741498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9909FB59-B6E3-274B-9BFF-FE4CD2811C5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Leadership &amp; Innovation Services</a:t>
            </a:r>
          </a:p>
        </p:txBody>
      </p:sp>
      <p:pic>
        <p:nvPicPr>
          <p:cNvPr id="16" name="Picture 15" descr="Person pointing at the stock market graph with virtual screen">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902091"/>
              <a:ext cx="4089291" cy="461665"/>
            </a:xfrm>
            <a:prstGeom prst="rect">
              <a:avLst/>
            </a:prstGeom>
            <a:noFill/>
          </p:spPr>
          <p:txBody>
            <a:bodyPr wrap="square">
              <a:spAutoFit/>
            </a:bodyPr>
            <a:lstStyle/>
            <a:p>
              <a:pPr algn="just"/>
              <a:r>
                <a:rPr lang="en-US" sz="1200" b="0" i="0" u="none" strike="noStrike" dirty="0">
                  <a:solidFill>
                    <a:srgbClr val="0D2339"/>
                  </a:solidFill>
                  <a:effectLst/>
                </a:rPr>
                <a:t>Strengthening leadership through governance training, compliance education, and board effectiveness programs.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Executive Coaching &amp; Board Training</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businesses adopt emerging technologies while ensuring regulatory compliance in AI, blockchain, and Web3.</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Digital Transformation &amp; AI Compliance</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Developing and implementing environmental, social, and governance (ESG) strategies that align with corporate and regulatory requirements.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ESG &amp; Sustainability Advisory</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4124017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p:cNvSpPr>
          <p:nvPr userDrawn="1"/>
        </p:nvSpPr>
        <p:spPr>
          <a:xfrm>
            <a:off x="8161623"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107B9A59-7617-BE44-ACAB-9D6207951C1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A30B434-D381-FDB9-A489-ACE661F181BD}"/>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Our understanding &amp; Point of View</a:t>
            </a:r>
            <a:endParaRPr lang="en-AE" dirty="0"/>
          </a:p>
        </p:txBody>
      </p:sp>
      <p:sp>
        <p:nvSpPr>
          <p:cNvPr id="11" name="TextBox 10">
            <a:extLst>
              <a:ext uri="{FF2B5EF4-FFF2-40B4-BE49-F238E27FC236}">
                <a16:creationId xmlns:a16="http://schemas.microsoft.com/office/drawing/2014/main" id="{2BA6B839-AD10-1512-07D7-8A734D759144}"/>
              </a:ext>
            </a:extLst>
          </p:cNvPr>
          <p:cNvSpPr txBox="1">
            <a:spLocks noGrp="1" noRot="1" noMove="1" noResize="1" noEditPoints="1" noAdjustHandles="1" noChangeArrowheads="1" noChangeShapeType="1"/>
          </p:cNvSpPr>
          <p:nvPr userDrawn="1"/>
        </p:nvSpPr>
        <p:spPr>
          <a:xfrm>
            <a:off x="900602" y="1305404"/>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Current Situation</a:t>
            </a:r>
          </a:p>
        </p:txBody>
      </p:sp>
      <p:sp>
        <p:nvSpPr>
          <p:cNvPr id="13" name="TextBox 12">
            <a:extLst>
              <a:ext uri="{FF2B5EF4-FFF2-40B4-BE49-F238E27FC236}">
                <a16:creationId xmlns:a16="http://schemas.microsoft.com/office/drawing/2014/main" id="{66953E5B-3CEC-9801-8111-3E6A768D4E50}"/>
              </a:ext>
            </a:extLst>
          </p:cNvPr>
          <p:cNvSpPr txBox="1">
            <a:spLocks noGrp="1" noRot="1" noMove="1" noResize="1" noEditPoints="1" noAdjustHandles="1" noChangeArrowheads="1" noChangeShapeType="1"/>
          </p:cNvSpPr>
          <p:nvPr userDrawn="1"/>
        </p:nvSpPr>
        <p:spPr>
          <a:xfrm>
            <a:off x="4516545" y="1302736"/>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Key Challenges</a:t>
            </a:r>
          </a:p>
        </p:txBody>
      </p:sp>
      <p:sp>
        <p:nvSpPr>
          <p:cNvPr id="16" name="TextBox 15">
            <a:extLst>
              <a:ext uri="{FF2B5EF4-FFF2-40B4-BE49-F238E27FC236}">
                <a16:creationId xmlns:a16="http://schemas.microsoft.com/office/drawing/2014/main" id="{13158977-2603-BB94-E63A-2EC4B8DB31A5}"/>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Outcomes Required</a:t>
            </a:r>
          </a:p>
        </p:txBody>
      </p:sp>
      <p:sp>
        <p:nvSpPr>
          <p:cNvPr id="25" name="Content Placeholder 5">
            <a:extLst>
              <a:ext uri="{FF2B5EF4-FFF2-40B4-BE49-F238E27FC236}">
                <a16:creationId xmlns:a16="http://schemas.microsoft.com/office/drawing/2014/main" id="{4D13BA1F-2BAE-3E55-F8CC-2F36526D1790}"/>
              </a:ext>
            </a:extLst>
          </p:cNvPr>
          <p:cNvSpPr>
            <a:spLocks noGrp="1"/>
          </p:cNvSpPr>
          <p:nvPr>
            <p:ph sz="quarter" idx="13"/>
          </p:nvPr>
        </p:nvSpPr>
        <p:spPr>
          <a:xfrm>
            <a:off x="8401152" y="1731681"/>
            <a:ext cx="2668910"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018087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29FCB497-7689-AC41-A08D-4D380992045E}"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noRot="1" noMove="1" noResize="1" noEditPoints="1" noAdjustHandles="1" noChangeArrowheads="1" noChangeShapeType="1"/>
          </p:cNvSpPr>
          <p:nvPr>
            <p:ph type="title" hasCustomPrompt="1"/>
          </p:nvPr>
        </p:nvSpPr>
        <p:spPr>
          <a:xfrm>
            <a:off x="839788" y="365126"/>
            <a:ext cx="10506636"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245862" y="1314933"/>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41888" y="1318098"/>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noRot="1" noMove="1" noResize="1" noEditPoints="1" noAdjustHandles="1" noChangeArrowheads="1" noChangeShapeType="1"/>
          </p:cNvSpPr>
          <p:nvPr>
            <p:ph sz="half" idx="17"/>
          </p:nvPr>
        </p:nvSpPr>
        <p:spPr>
          <a:xfrm>
            <a:off x="2242174" y="2521485"/>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7" name="Content Placeholder 3">
            <a:extLst>
              <a:ext uri="{FF2B5EF4-FFF2-40B4-BE49-F238E27FC236}">
                <a16:creationId xmlns:a16="http://schemas.microsoft.com/office/drawing/2014/main" id="{F28A40D3-4F78-F96D-4550-45563A648160}"/>
              </a:ext>
            </a:extLst>
          </p:cNvPr>
          <p:cNvSpPr>
            <a:spLocks noGrp="1" noRot="1" noMove="1" noResize="1" noEditPoints="1" noAdjustHandles="1" noChangeArrowheads="1" noChangeShapeType="1"/>
          </p:cNvSpPr>
          <p:nvPr>
            <p:ph sz="half" idx="18"/>
          </p:nvPr>
        </p:nvSpPr>
        <p:spPr>
          <a:xfrm>
            <a:off x="838200" y="2524650"/>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noRot="1" noMove="1" noResize="1" noEditPoints="1" noAdjustHandles="1" noChangeArrowheads="1" noChangeShapeType="1"/>
          </p:cNvSpPr>
          <p:nvPr>
            <p:ph sz="half" idx="19"/>
          </p:nvPr>
        </p:nvSpPr>
        <p:spPr>
          <a:xfrm>
            <a:off x="2245862" y="3719778"/>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9" name="Content Placeholder 3">
            <a:extLst>
              <a:ext uri="{FF2B5EF4-FFF2-40B4-BE49-F238E27FC236}">
                <a16:creationId xmlns:a16="http://schemas.microsoft.com/office/drawing/2014/main" id="{573C10D7-03BF-1B66-0D37-B2655DCC924D}"/>
              </a:ext>
            </a:extLst>
          </p:cNvPr>
          <p:cNvSpPr>
            <a:spLocks noGrp="1" noRot="1" noMove="1" noResize="1" noEditPoints="1" noAdjustHandles="1" noChangeArrowheads="1" noChangeShapeType="1"/>
          </p:cNvSpPr>
          <p:nvPr>
            <p:ph sz="half" idx="20"/>
          </p:nvPr>
        </p:nvSpPr>
        <p:spPr>
          <a:xfrm>
            <a:off x="841888" y="3722943"/>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20" name="Content Placeholder 3">
            <a:extLst>
              <a:ext uri="{FF2B5EF4-FFF2-40B4-BE49-F238E27FC236}">
                <a16:creationId xmlns:a16="http://schemas.microsoft.com/office/drawing/2014/main" id="{8CCA28C2-0709-3B37-D743-E8E86AF0D049}"/>
              </a:ext>
            </a:extLst>
          </p:cNvPr>
          <p:cNvSpPr>
            <a:spLocks noGrp="1" noRot="1" noMove="1" noResize="1" noEditPoints="1" noAdjustHandles="1" noChangeArrowheads="1" noChangeShapeType="1"/>
          </p:cNvSpPr>
          <p:nvPr>
            <p:ph sz="half" idx="21"/>
          </p:nvPr>
        </p:nvSpPr>
        <p:spPr>
          <a:xfrm>
            <a:off x="2249550" y="4938339"/>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1" name="Content Placeholder 3">
            <a:extLst>
              <a:ext uri="{FF2B5EF4-FFF2-40B4-BE49-F238E27FC236}">
                <a16:creationId xmlns:a16="http://schemas.microsoft.com/office/drawing/2014/main" id="{BD17EE86-B0AE-F626-C19E-932347BF0E68}"/>
              </a:ext>
            </a:extLst>
          </p:cNvPr>
          <p:cNvSpPr>
            <a:spLocks noGrp="1" noRot="1" noMove="1" noResize="1" noEditPoints="1" noAdjustHandles="1" noChangeArrowheads="1" noChangeShapeType="1"/>
          </p:cNvSpPr>
          <p:nvPr>
            <p:ph sz="half" idx="22"/>
          </p:nvPr>
        </p:nvSpPr>
        <p:spPr>
          <a:xfrm>
            <a:off x="845576" y="4941504"/>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758779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45090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75C9A68-7CF7-3F41-9DDA-510B87D5F9C1}"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67959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F6F2DD7B-5336-EE43-8415-E88E844A49BB}"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2">
            <a:extLst>
              <a:ext uri="{FF2B5EF4-FFF2-40B4-BE49-F238E27FC236}">
                <a16:creationId xmlns:a16="http://schemas.microsoft.com/office/drawing/2014/main" id="{370C6ECA-605D-3CD6-D729-E73E363E900B}"/>
              </a:ext>
            </a:extLst>
          </p:cNvPr>
          <p:cNvSpPr>
            <a:spLocks noGrp="1" noRot="1" noMove="1" noResize="1" noEditPoints="1" noAdjustHandles="1" noChangeArrowheads="1" noChangeShapeType="1"/>
          </p:cNvSpPr>
          <p:nvPr>
            <p:ph idx="14" hasCustomPrompt="1"/>
          </p:nvPr>
        </p:nvSpPr>
        <p:spPr>
          <a:xfrm>
            <a:off x="836614" y="4168025"/>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0" name="Text Placeholder 2">
            <a:extLst>
              <a:ext uri="{FF2B5EF4-FFF2-40B4-BE49-F238E27FC236}">
                <a16:creationId xmlns:a16="http://schemas.microsoft.com/office/drawing/2014/main" id="{FA57057A-2A47-4200-9340-46BB26E64C88}"/>
              </a:ext>
            </a:extLst>
          </p:cNvPr>
          <p:cNvSpPr>
            <a:spLocks noGrp="1" noRot="1" noMove="1" noResize="1" noEditPoints="1" noAdjustHandles="1" noChangeArrowheads="1" noChangeShapeType="1"/>
          </p:cNvSpPr>
          <p:nvPr>
            <p:ph type="body" idx="15"/>
          </p:nvPr>
        </p:nvSpPr>
        <p:spPr>
          <a:xfrm>
            <a:off x="838201" y="3770328"/>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38754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Your Project</a:t>
            </a:r>
          </a:p>
          <a:p>
            <a:pPr algn="ctr"/>
            <a:endParaRPr lang="en-CY" sz="2800" dirty="0">
              <a:solidFill>
                <a:schemeClr val="bg1"/>
              </a:solidFill>
            </a:endParaRPr>
          </a:p>
        </p:txBody>
      </p:sp>
    </p:spTree>
    <p:extLst>
      <p:ext uri="{BB962C8B-B14F-4D97-AF65-F5344CB8AC3E}">
        <p14:creationId xmlns:p14="http://schemas.microsoft.com/office/powerpoint/2010/main" val="3621866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Our Services</a:t>
            </a:r>
          </a:p>
          <a:p>
            <a:pPr algn="ctr"/>
            <a:endParaRPr lang="en-CY" sz="2800" dirty="0">
              <a:solidFill>
                <a:schemeClr val="bg1"/>
              </a:solidFill>
            </a:endParaRPr>
          </a:p>
        </p:txBody>
      </p:sp>
    </p:spTree>
    <p:extLst>
      <p:ext uri="{BB962C8B-B14F-4D97-AF65-F5344CB8AC3E}">
        <p14:creationId xmlns:p14="http://schemas.microsoft.com/office/powerpoint/2010/main" val="3697207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152533D1-B8A3-9647-AF6B-1E156F3ECC60}"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noRot="1" noMove="1" noResize="1" noEditPoints="1" noAdjustHandles="1" noChangeArrowheads="1" noChangeShapeType="1"/>
          </p:cNvSpPr>
          <p:nvPr>
            <p:ph sz="quarter" idx="13"/>
          </p:nvPr>
        </p:nvSpPr>
        <p:spPr>
          <a:xfrm>
            <a:off x="8210780" y="1766122"/>
            <a:ext cx="2668910" cy="4423541"/>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Pnyx Hill Deliverable</a:t>
            </a:r>
          </a:p>
        </p:txBody>
      </p:sp>
    </p:spTree>
    <p:extLst>
      <p:ext uri="{BB962C8B-B14F-4D97-AF65-F5344CB8AC3E}">
        <p14:creationId xmlns:p14="http://schemas.microsoft.com/office/powerpoint/2010/main" val="13124732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p:cNvSpPr>
          <p:nvPr userDrawn="1"/>
        </p:nvSpPr>
        <p:spPr>
          <a:xfrm>
            <a:off x="836612"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2B49A12-4D4D-6444-9A26-C83905C0B53D}"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p:cNvCxnSpPr>
          <p:nvPr userDrawn="1"/>
        </p:nvCxnSpPr>
        <p:spPr>
          <a:xfrm>
            <a:off x="836612"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D63ED73-538B-2E5D-B6AB-7E2DD7B22697}"/>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Service Deliverables</a:t>
            </a:r>
            <a:endParaRPr lang="en-AE" dirty="0"/>
          </a:p>
        </p:txBody>
      </p:sp>
      <p:pic>
        <p:nvPicPr>
          <p:cNvPr id="31" name="Picture 30" descr="Person standing on arrow">
            <a:extLst>
              <a:ext uri="{FF2B5EF4-FFF2-40B4-BE49-F238E27FC236}">
                <a16:creationId xmlns:a16="http://schemas.microsoft.com/office/drawing/2014/main" id="{A687B6B3-AC03-5ABD-577C-7C24667FF49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t="-335"/>
          <a:stretch/>
        </p:blipFill>
        <p:spPr>
          <a:xfrm flipH="1">
            <a:off x="8363060" y="498764"/>
            <a:ext cx="2847246" cy="5602144"/>
          </a:xfrm>
          <a:prstGeom prst="rect">
            <a:avLst/>
          </a:prstGeom>
        </p:spPr>
      </p:pic>
      <p:sp>
        <p:nvSpPr>
          <p:cNvPr id="5" name="Rectangle 4">
            <a:extLst>
              <a:ext uri="{FF2B5EF4-FFF2-40B4-BE49-F238E27FC236}">
                <a16:creationId xmlns:a16="http://schemas.microsoft.com/office/drawing/2014/main" id="{BF0F64AC-AD66-6EB6-042F-DA8645CD41E2}"/>
              </a:ext>
            </a:extLst>
          </p:cNvPr>
          <p:cNvSpPr>
            <a:spLocks/>
          </p:cNvSpPr>
          <p:nvPr userDrawn="1"/>
        </p:nvSpPr>
        <p:spPr>
          <a:xfrm>
            <a:off x="4565194"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2">
            <a:extLst>
              <a:ext uri="{FF2B5EF4-FFF2-40B4-BE49-F238E27FC236}">
                <a16:creationId xmlns:a16="http://schemas.microsoft.com/office/drawing/2014/main" id="{8C6B9B1B-3508-9EFB-6E7B-0197ABF51F0F}"/>
              </a:ext>
            </a:extLst>
          </p:cNvPr>
          <p:cNvSpPr>
            <a:spLocks noGrp="1"/>
          </p:cNvSpPr>
          <p:nvPr>
            <p:ph type="body" idx="13"/>
          </p:nvPr>
        </p:nvSpPr>
        <p:spPr>
          <a:xfrm>
            <a:off x="4568369"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3">
            <a:extLst>
              <a:ext uri="{FF2B5EF4-FFF2-40B4-BE49-F238E27FC236}">
                <a16:creationId xmlns:a16="http://schemas.microsoft.com/office/drawing/2014/main" id="{CB248F2B-2A4C-B2D1-95B0-0EC53A3BA56B}"/>
              </a:ext>
            </a:extLst>
          </p:cNvPr>
          <p:cNvSpPr>
            <a:spLocks noGrp="1"/>
          </p:cNvSpPr>
          <p:nvPr>
            <p:ph sz="half" idx="14"/>
          </p:nvPr>
        </p:nvSpPr>
        <p:spPr>
          <a:xfrm>
            <a:off x="4568370"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3" name="Straight Connector 12">
            <a:extLst>
              <a:ext uri="{FF2B5EF4-FFF2-40B4-BE49-F238E27FC236}">
                <a16:creationId xmlns:a16="http://schemas.microsoft.com/office/drawing/2014/main" id="{E29B5572-41D6-A313-12C5-597BBC92A8F8}"/>
              </a:ext>
            </a:extLst>
          </p:cNvPr>
          <p:cNvCxnSpPr>
            <a:cxnSpLocks/>
          </p:cNvCxnSpPr>
          <p:nvPr userDrawn="1"/>
        </p:nvCxnSpPr>
        <p:spPr>
          <a:xfrm>
            <a:off x="4565194"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670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4" name="TextBox 3">
            <a:extLst>
              <a:ext uri="{FF2B5EF4-FFF2-40B4-BE49-F238E27FC236}">
                <a16:creationId xmlns:a16="http://schemas.microsoft.com/office/drawing/2014/main" id="{A17DE76F-57AC-2DA3-18E3-61E4F88F2D2C}"/>
              </a:ext>
            </a:extLst>
          </p:cNvPr>
          <p:cNvSpPr txBox="1"/>
          <p:nvPr userDrawn="1"/>
        </p:nvSpPr>
        <p:spPr>
          <a:xfrm>
            <a:off x="801414" y="5838409"/>
            <a:ext cx="10552386" cy="338554"/>
          </a:xfrm>
          <a:prstGeom prst="rect">
            <a:avLst/>
          </a:prstGeom>
          <a:noFill/>
        </p:spPr>
        <p:txBody>
          <a:bodyPr wrap="square">
            <a:spAutoFit/>
          </a:bodyPr>
          <a:lstStyle/>
          <a:p>
            <a:r>
              <a:rPr lang="en-GB" sz="800" dirty="0">
                <a:solidFill>
                  <a:schemeClr val="tx1">
                    <a:lumMod val="50000"/>
                    <a:lumOff val="50000"/>
                  </a:schemeClr>
                </a:solidFill>
              </a:rPr>
              <a:t>*Timelines are subject to change based on the response times of the client and the Regulator, but also due to unforeseen circumstances</a:t>
            </a:r>
          </a:p>
          <a:p>
            <a:r>
              <a:rPr lang="en-GB" sz="800" dirty="0">
                <a:solidFill>
                  <a:schemeClr val="tx1">
                    <a:lumMod val="50000"/>
                    <a:lumOff val="50000"/>
                  </a:schemeClr>
                </a:solidFill>
              </a:rPr>
              <a:t>*Please note that delays may occur in the opening of bank accounts and the registration of lease agreements</a:t>
            </a:r>
          </a:p>
        </p:txBody>
      </p:sp>
    </p:spTree>
    <p:extLst>
      <p:ext uri="{BB962C8B-B14F-4D97-AF65-F5344CB8AC3E}">
        <p14:creationId xmlns:p14="http://schemas.microsoft.com/office/powerpoint/2010/main" val="3845445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67EC84-BDD1-0889-B6E1-87802F8A87D8}"/>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593B6A94-915F-7D46-804B-C98F40B62CCF}"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8" name="Title 1">
            <a:extLst>
              <a:ext uri="{FF2B5EF4-FFF2-40B4-BE49-F238E27FC236}">
                <a16:creationId xmlns:a16="http://schemas.microsoft.com/office/drawing/2014/main" id="{BC5D2D8E-A775-207F-812C-3273AEABB07E}"/>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r>
              <a:rPr lang="en-US" sz="3600" dirty="0">
                <a:solidFill>
                  <a:schemeClr val="bg1"/>
                </a:solidFill>
              </a:rPr>
              <a:t>Optional After-Service Support</a:t>
            </a:r>
          </a:p>
          <a:p>
            <a:pPr algn="ctr"/>
            <a:endParaRPr lang="en-US" sz="3600" dirty="0">
              <a:solidFill>
                <a:schemeClr val="bg1"/>
              </a:solidFill>
            </a:endParaRPr>
          </a:p>
          <a:p>
            <a:pPr algn="ctr"/>
            <a:endParaRPr lang="en-CY" sz="2800" dirty="0">
              <a:solidFill>
                <a:schemeClr val="bg1"/>
              </a:solidFill>
            </a:endParaRPr>
          </a:p>
        </p:txBody>
      </p:sp>
      <p:sp>
        <p:nvSpPr>
          <p:cNvPr id="9" name="Title 1">
            <a:extLst>
              <a:ext uri="{FF2B5EF4-FFF2-40B4-BE49-F238E27FC236}">
                <a16:creationId xmlns:a16="http://schemas.microsoft.com/office/drawing/2014/main" id="{CC6603CA-9028-2902-FBDF-49159FC41191}"/>
              </a:ext>
            </a:extLst>
          </p:cNvPr>
          <p:cNvSpPr>
            <a:spLocks noGrp="1"/>
          </p:cNvSpPr>
          <p:nvPr>
            <p:ph type="title"/>
          </p:nvPr>
        </p:nvSpPr>
        <p:spPr>
          <a:xfrm>
            <a:off x="468923" y="3587950"/>
            <a:ext cx="11254154" cy="721032"/>
          </a:xfrm>
        </p:spPr>
        <p:txBody>
          <a:bodyPr anchor="t">
            <a:normAutofit/>
          </a:bodyPr>
          <a:lstStyle>
            <a:lvl1pPr algn="ctr">
              <a:defRPr sz="2800" b="1" i="0">
                <a:solidFill>
                  <a:schemeClr val="bg1"/>
                </a:solidFill>
                <a:latin typeface="Aptos ExtraBold" panose="020B0004020202020204" pitchFamily="34" charset="0"/>
              </a:defRPr>
            </a:lvl1pPr>
          </a:lstStyle>
          <a:p>
            <a:endParaRPr lang="en-AE" dirty="0"/>
          </a:p>
        </p:txBody>
      </p:sp>
    </p:spTree>
    <p:extLst>
      <p:ext uri="{BB962C8B-B14F-4D97-AF65-F5344CB8AC3E}">
        <p14:creationId xmlns:p14="http://schemas.microsoft.com/office/powerpoint/2010/main" val="1743836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29A3999-8562-C449-A41E-DA4EF819F873}"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p:cNvSpPr>
          <p:nvPr>
            <p:ph sz="quarter" idx="13"/>
          </p:nvPr>
        </p:nvSpPr>
        <p:spPr>
          <a:xfrm>
            <a:off x="8447039" y="1328321"/>
            <a:ext cx="2668910" cy="4738182"/>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10778" y="677447"/>
            <a:ext cx="3141432" cy="338554"/>
          </a:xfrm>
          <a:prstGeom prst="rect">
            <a:avLst/>
          </a:prstGeom>
          <a:noFill/>
        </p:spPr>
        <p:txBody>
          <a:bodyPr wrap="square">
            <a:spAutoFit/>
          </a:bodyPr>
          <a:lstStyle/>
          <a:p>
            <a:pPr algn="ctr"/>
            <a:r>
              <a:rPr lang="en-US" sz="1600" b="1" i="0" u="none" strike="noStrike" dirty="0">
                <a:solidFill>
                  <a:schemeClr val="bg1"/>
                </a:solidFill>
                <a:effectLst/>
                <a:latin typeface="Aptos ExtraBold" panose="020B0004020202020204" pitchFamily="34" charset="0"/>
              </a:rPr>
              <a:t>Continued Support</a:t>
            </a:r>
          </a:p>
        </p:txBody>
      </p:sp>
    </p:spTree>
    <p:extLst>
      <p:ext uri="{BB962C8B-B14F-4D97-AF65-F5344CB8AC3E}">
        <p14:creationId xmlns:p14="http://schemas.microsoft.com/office/powerpoint/2010/main" val="24353381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F5A684B6-C2FA-1649-9400-6F606FE8081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p:cNvSpPr>
          <p:nvPr>
            <p:ph sz="quarter" idx="13"/>
          </p:nvPr>
        </p:nvSpPr>
        <p:spPr>
          <a:xfrm>
            <a:off x="8276194" y="1766121"/>
            <a:ext cx="2783969"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12" name="Text Placeholder 2">
            <a:extLst>
              <a:ext uri="{FF2B5EF4-FFF2-40B4-BE49-F238E27FC236}">
                <a16:creationId xmlns:a16="http://schemas.microsoft.com/office/drawing/2014/main" id="{15BC6520-FF31-EAB6-15C1-8A5ADD66F62F}"/>
              </a:ext>
            </a:extLst>
          </p:cNvPr>
          <p:cNvSpPr>
            <a:spLocks noGrp="1" noRot="1" noMove="1" noResize="1" noEditPoints="1" noAdjustHandles="1" noChangeArrowheads="1" noChangeShapeType="1"/>
          </p:cNvSpPr>
          <p:nvPr>
            <p:ph type="body" idx="14"/>
          </p:nvPr>
        </p:nvSpPr>
        <p:spPr>
          <a:xfrm>
            <a:off x="4534019" y="1270195"/>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692033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7243011" cy="414766"/>
          </a:xfrm>
        </p:spPr>
        <p:txBody>
          <a:bodyPr anchor="t">
            <a:normAutofit/>
          </a:bodyPr>
          <a:lstStyle>
            <a:lvl1pPr marL="0" indent="0">
              <a:buNone/>
              <a:defRPr sz="20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A0CE926-D45C-0849-876B-38F2BC536F1E}"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noRot="1" noMove="1" noResize="1" noEditPoints="1" noAdjustHandles="1" noChangeArrowheads="1" noChangeShapeType="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4197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TextBox 21">
            <a:extLst>
              <a:ext uri="{FF2B5EF4-FFF2-40B4-BE49-F238E27FC236}">
                <a16:creationId xmlns:a16="http://schemas.microsoft.com/office/drawing/2014/main" id="{DC47170E-6111-6225-9675-C0794B63278F}"/>
              </a:ext>
            </a:extLst>
          </p:cNvPr>
          <p:cNvSpPr txBox="1">
            <a:spLocks noGrp="1" noRot="1" noMove="1" noResize="1" noEditPoints="1" noAdjustHandles="1" noChangeArrowheads="1" noChangeShapeType="1"/>
          </p:cNvSpPr>
          <p:nvPr userDrawn="1"/>
        </p:nvSpPr>
        <p:spPr>
          <a:xfrm>
            <a:off x="8257296" y="1766121"/>
            <a:ext cx="2792995" cy="3647152"/>
          </a:xfrm>
          <a:prstGeom prst="rect">
            <a:avLst/>
          </a:prstGeom>
          <a:noFill/>
        </p:spPr>
        <p:txBody>
          <a:bodyPr wrap="square">
            <a:spAutoFit/>
          </a:bodyPr>
          <a:lstStyle/>
          <a:p>
            <a:pPr algn="just"/>
            <a:r>
              <a:rPr lang="en-US" sz="1100" b="0" i="0" u="none" strike="noStrike" dirty="0">
                <a:solidFill>
                  <a:schemeClr val="bg1"/>
                </a:solidFill>
                <a:effectLst/>
              </a:rPr>
              <a:t>At Pnyx Hill, our strength lies in our people. We are a powerhouse of seasoned experts, bringing together deep knowledge across:</a:t>
            </a:r>
          </a:p>
          <a:p>
            <a:pPr algn="just"/>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Regulated Finance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Licensing &amp; Compliance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Risk &amp; Governance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Digital Transformation</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Fundraising &amp; Market Entry</a:t>
            </a:r>
          </a:p>
          <a:p>
            <a:pPr algn="just">
              <a:buFont typeface="Arial" panose="020B0604020202020204" pitchFamily="34" charset="0"/>
              <a:buNone/>
            </a:pPr>
            <a:endParaRPr lang="en-US" sz="1100" b="0" i="0" u="none" strike="noStrike" dirty="0">
              <a:solidFill>
                <a:schemeClr val="bg1"/>
              </a:solidFill>
              <a:effectLst/>
            </a:endParaRPr>
          </a:p>
          <a:p>
            <a:pPr algn="just"/>
            <a:endParaRPr lang="en-US" sz="1100" b="0" i="0" u="none" strike="noStrike" dirty="0">
              <a:solidFill>
                <a:schemeClr val="bg1"/>
              </a:solidFill>
              <a:effectLst/>
            </a:endParaRPr>
          </a:p>
          <a:p>
            <a:pPr algn="just"/>
            <a:r>
              <a:rPr lang="en-US" sz="1100" b="0" i="0" u="none" strike="noStrike" dirty="0">
                <a:solidFill>
                  <a:schemeClr val="bg1"/>
                </a:solidFill>
                <a:effectLst/>
              </a:rPr>
              <a:t>Driven by continuous learning and collaboration, we stay ahead of industry shifts, delivering sharp, forward-thinking solutions. Our commitment to innovation ensures we lead, adapt, and set the pace in a rapidly evolving landscape.</a:t>
            </a:r>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006E44-0A94-1F41-9E52-E1701CAF842A}"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876764" y="1766121"/>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Content Placeholder 3">
            <a:extLst>
              <a:ext uri="{FF2B5EF4-FFF2-40B4-BE49-F238E27FC236}">
                <a16:creationId xmlns:a16="http://schemas.microsoft.com/office/drawing/2014/main" id="{1B19B4BB-8A26-CD36-8825-5A3E641C2D2E}"/>
              </a:ext>
            </a:extLst>
          </p:cNvPr>
          <p:cNvSpPr>
            <a:spLocks noGrp="1" noRot="1" noMove="1" noResize="1" noEditPoints="1" noAdjustHandles="1" noChangeArrowheads="1" noChangeShapeType="1"/>
          </p:cNvSpPr>
          <p:nvPr>
            <p:ph sz="half" idx="14"/>
          </p:nvPr>
        </p:nvSpPr>
        <p:spPr>
          <a:xfrm>
            <a:off x="2876764" y="4068567"/>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3" name="Content Placeholder 3">
            <a:extLst>
              <a:ext uri="{FF2B5EF4-FFF2-40B4-BE49-F238E27FC236}">
                <a16:creationId xmlns:a16="http://schemas.microsoft.com/office/drawing/2014/main" id="{CA1255E4-C5AD-7B2A-DA4A-0465AF140347}"/>
              </a:ext>
            </a:extLst>
          </p:cNvPr>
          <p:cNvSpPr>
            <a:spLocks noGrp="1" noRot="1" noMove="1" noResize="1" noEditPoints="1" noAdjustHandles="1" noChangeArrowheads="1" noChangeShapeType="1"/>
          </p:cNvSpPr>
          <p:nvPr>
            <p:ph sz="half" idx="15" hasCustomPrompt="1"/>
          </p:nvPr>
        </p:nvSpPr>
        <p:spPr>
          <a:xfrm>
            <a:off x="1012294" y="1766121"/>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36610" y="3367850"/>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6" name="Content Placeholder 3">
            <a:extLst>
              <a:ext uri="{FF2B5EF4-FFF2-40B4-BE49-F238E27FC236}">
                <a16:creationId xmlns:a16="http://schemas.microsoft.com/office/drawing/2014/main" id="{7F99F0FE-757B-C930-6550-E461D27B9693}"/>
              </a:ext>
            </a:extLst>
          </p:cNvPr>
          <p:cNvSpPr>
            <a:spLocks noGrp="1" noRot="1" noMove="1" noResize="1" noEditPoints="1" noAdjustHandles="1" noChangeArrowheads="1" noChangeShapeType="1"/>
          </p:cNvSpPr>
          <p:nvPr>
            <p:ph sz="half" idx="18"/>
          </p:nvPr>
        </p:nvSpPr>
        <p:spPr>
          <a:xfrm>
            <a:off x="830207" y="5665051"/>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cxnSp>
        <p:nvCxnSpPr>
          <p:cNvPr id="19" name="Straight Connector 18">
            <a:extLst>
              <a:ext uri="{FF2B5EF4-FFF2-40B4-BE49-F238E27FC236}">
                <a16:creationId xmlns:a16="http://schemas.microsoft.com/office/drawing/2014/main" id="{64DE4F4E-4617-C455-5026-18EBBA954482}"/>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0" name="Content Placeholder 3">
            <a:extLst>
              <a:ext uri="{FF2B5EF4-FFF2-40B4-BE49-F238E27FC236}">
                <a16:creationId xmlns:a16="http://schemas.microsoft.com/office/drawing/2014/main" id="{3F289E22-9108-13C7-B035-EDE87363A152}"/>
              </a:ext>
            </a:extLst>
          </p:cNvPr>
          <p:cNvSpPr>
            <a:spLocks noGrp="1" noRot="1" noMove="1" noResize="1" noEditPoints="1" noAdjustHandles="1" noChangeArrowheads="1" noChangeShapeType="1"/>
          </p:cNvSpPr>
          <p:nvPr>
            <p:ph sz="half" idx="19" hasCustomPrompt="1"/>
          </p:nvPr>
        </p:nvSpPr>
        <p:spPr>
          <a:xfrm>
            <a:off x="1012294" y="4017093"/>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21" name="TextBox 20">
            <a:extLst>
              <a:ext uri="{FF2B5EF4-FFF2-40B4-BE49-F238E27FC236}">
                <a16:creationId xmlns:a16="http://schemas.microsoft.com/office/drawing/2014/main" id="{5FA334E4-EA9B-B702-92DA-7FABA658F8FD}"/>
              </a:ext>
            </a:extLst>
          </p:cNvPr>
          <p:cNvSpPr txBox="1">
            <a:spLocks noGrp="1" noRot="1" noMove="1" noResize="1" noEditPoints="1" noAdjustHandles="1" noChangeArrowheads="1" noChangeShapeType="1"/>
          </p:cNvSpPr>
          <p:nvPr userDrawn="1"/>
        </p:nvSpPr>
        <p:spPr>
          <a:xfrm>
            <a:off x="8257297" y="1309784"/>
            <a:ext cx="2792994" cy="338554"/>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Expertise Driving Impact</a:t>
            </a:r>
          </a:p>
        </p:txBody>
      </p:sp>
      <p:grpSp>
        <p:nvGrpSpPr>
          <p:cNvPr id="32" name="Group 185">
            <a:extLst>
              <a:ext uri="{FF2B5EF4-FFF2-40B4-BE49-F238E27FC236}">
                <a16:creationId xmlns:a16="http://schemas.microsoft.com/office/drawing/2014/main" id="{D9E67B71-4966-7913-9602-EE2AD5A59848}"/>
              </a:ext>
            </a:extLst>
          </p:cNvPr>
          <p:cNvGrpSpPr>
            <a:grpSpLocks noGrp="1" noUngrp="1" noRot="1" noChangeAspect="1" noMove="1" noResize="1"/>
          </p:cNvGrpSpPr>
          <p:nvPr userDrawn="1"/>
        </p:nvGrpSpPr>
        <p:grpSpPr bwMode="auto">
          <a:xfrm>
            <a:off x="8759269" y="2778049"/>
            <a:ext cx="253213" cy="252620"/>
            <a:chOff x="346" y="2998"/>
            <a:chExt cx="427" cy="426"/>
          </a:xfrm>
          <a:solidFill>
            <a:schemeClr val="bg1"/>
          </a:solidFill>
        </p:grpSpPr>
        <p:sp>
          <p:nvSpPr>
            <p:cNvPr id="33" name="Freeform 186">
              <a:extLst>
                <a:ext uri="{FF2B5EF4-FFF2-40B4-BE49-F238E27FC236}">
                  <a16:creationId xmlns:a16="http://schemas.microsoft.com/office/drawing/2014/main" id="{75A39533-FB38-1887-EDD8-0E315469B789}"/>
                </a:ext>
              </a:extLst>
            </p:cNvPr>
            <p:cNvSpPr>
              <a:spLocks noGrp="1" noRot="1" noMove="1" noResize="1" noEditPoints="1" noAdjustHandles="1" noChangeArrowheads="1" noChangeShapeType="1"/>
            </p:cNvSpPr>
            <p:nvPr/>
          </p:nvSpPr>
          <p:spPr bwMode="auto">
            <a:xfrm>
              <a:off x="346" y="3052"/>
              <a:ext cx="187" cy="337"/>
            </a:xfrm>
            <a:custGeom>
              <a:avLst/>
              <a:gdLst>
                <a:gd name="T0" fmla="*/ 120 w 126"/>
                <a:gd name="T1" fmla="*/ 228 h 228"/>
                <a:gd name="T2" fmla="*/ 30 w 126"/>
                <a:gd name="T3" fmla="*/ 228 h 228"/>
                <a:gd name="T4" fmla="*/ 0 w 126"/>
                <a:gd name="T5" fmla="*/ 198 h 228"/>
                <a:gd name="T6" fmla="*/ 0 w 126"/>
                <a:gd name="T7" fmla="*/ 6 h 228"/>
                <a:gd name="T8" fmla="*/ 6 w 126"/>
                <a:gd name="T9" fmla="*/ 0 h 228"/>
                <a:gd name="T10" fmla="*/ 54 w 126"/>
                <a:gd name="T11" fmla="*/ 0 h 228"/>
                <a:gd name="T12" fmla="*/ 60 w 126"/>
                <a:gd name="T13" fmla="*/ 6 h 228"/>
                <a:gd name="T14" fmla="*/ 54 w 126"/>
                <a:gd name="T15" fmla="*/ 12 h 228"/>
                <a:gd name="T16" fmla="*/ 12 w 126"/>
                <a:gd name="T17" fmla="*/ 12 h 228"/>
                <a:gd name="T18" fmla="*/ 12 w 126"/>
                <a:gd name="T19" fmla="*/ 198 h 228"/>
                <a:gd name="T20" fmla="*/ 30 w 126"/>
                <a:gd name="T21" fmla="*/ 216 h 228"/>
                <a:gd name="T22" fmla="*/ 120 w 126"/>
                <a:gd name="T23" fmla="*/ 216 h 228"/>
                <a:gd name="T24" fmla="*/ 126 w 126"/>
                <a:gd name="T25" fmla="*/ 222 h 228"/>
                <a:gd name="T26" fmla="*/ 120 w 126"/>
                <a:gd name="T27"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6" h="228">
                  <a:moveTo>
                    <a:pt x="120" y="228"/>
                  </a:moveTo>
                  <a:cubicBezTo>
                    <a:pt x="30" y="228"/>
                    <a:pt x="30" y="228"/>
                    <a:pt x="30" y="228"/>
                  </a:cubicBezTo>
                  <a:cubicBezTo>
                    <a:pt x="13" y="228"/>
                    <a:pt x="0" y="215"/>
                    <a:pt x="0" y="198"/>
                  </a:cubicBezTo>
                  <a:cubicBezTo>
                    <a:pt x="0" y="6"/>
                    <a:pt x="0" y="6"/>
                    <a:pt x="0" y="6"/>
                  </a:cubicBezTo>
                  <a:cubicBezTo>
                    <a:pt x="0" y="3"/>
                    <a:pt x="3" y="0"/>
                    <a:pt x="6" y="0"/>
                  </a:cubicBezTo>
                  <a:cubicBezTo>
                    <a:pt x="54" y="0"/>
                    <a:pt x="54" y="0"/>
                    <a:pt x="54" y="0"/>
                  </a:cubicBezTo>
                  <a:cubicBezTo>
                    <a:pt x="57" y="0"/>
                    <a:pt x="60" y="3"/>
                    <a:pt x="60" y="6"/>
                  </a:cubicBezTo>
                  <a:cubicBezTo>
                    <a:pt x="60" y="10"/>
                    <a:pt x="57" y="12"/>
                    <a:pt x="54" y="12"/>
                  </a:cubicBezTo>
                  <a:cubicBezTo>
                    <a:pt x="12" y="12"/>
                    <a:pt x="12" y="12"/>
                    <a:pt x="12" y="12"/>
                  </a:cubicBezTo>
                  <a:cubicBezTo>
                    <a:pt x="12" y="198"/>
                    <a:pt x="12" y="198"/>
                    <a:pt x="12" y="198"/>
                  </a:cubicBezTo>
                  <a:cubicBezTo>
                    <a:pt x="12" y="208"/>
                    <a:pt x="20" y="216"/>
                    <a:pt x="30" y="216"/>
                  </a:cubicBezTo>
                  <a:cubicBezTo>
                    <a:pt x="120" y="216"/>
                    <a:pt x="120" y="216"/>
                    <a:pt x="120" y="216"/>
                  </a:cubicBezTo>
                  <a:cubicBezTo>
                    <a:pt x="123" y="216"/>
                    <a:pt x="126" y="219"/>
                    <a:pt x="126" y="222"/>
                  </a:cubicBezTo>
                  <a:cubicBezTo>
                    <a:pt x="126" y="226"/>
                    <a:pt x="123" y="228"/>
                    <a:pt x="120" y="22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4" name="Freeform 187">
              <a:extLst>
                <a:ext uri="{FF2B5EF4-FFF2-40B4-BE49-F238E27FC236}">
                  <a16:creationId xmlns:a16="http://schemas.microsoft.com/office/drawing/2014/main" id="{378C1339-5769-BFEB-7692-9F60F41B106B}"/>
                </a:ext>
              </a:extLst>
            </p:cNvPr>
            <p:cNvSpPr>
              <a:spLocks noGrp="1" noRot="1" noMove="1" noResize="1" noEditPoints="1" noAdjustHandles="1" noChangeArrowheads="1" noChangeShapeType="1"/>
            </p:cNvSpPr>
            <p:nvPr/>
          </p:nvSpPr>
          <p:spPr bwMode="auto">
            <a:xfrm>
              <a:off x="382" y="3087"/>
              <a:ext cx="169" cy="266"/>
            </a:xfrm>
            <a:custGeom>
              <a:avLst/>
              <a:gdLst>
                <a:gd name="T0" fmla="*/ 108 w 114"/>
                <a:gd name="T1" fmla="*/ 180 h 180"/>
                <a:gd name="T2" fmla="*/ 6 w 114"/>
                <a:gd name="T3" fmla="*/ 180 h 180"/>
                <a:gd name="T4" fmla="*/ 0 w 114"/>
                <a:gd name="T5" fmla="*/ 174 h 180"/>
                <a:gd name="T6" fmla="*/ 0 w 114"/>
                <a:gd name="T7" fmla="*/ 6 h 180"/>
                <a:gd name="T8" fmla="*/ 6 w 114"/>
                <a:gd name="T9" fmla="*/ 0 h 180"/>
                <a:gd name="T10" fmla="*/ 30 w 114"/>
                <a:gd name="T11" fmla="*/ 0 h 180"/>
                <a:gd name="T12" fmla="*/ 36 w 114"/>
                <a:gd name="T13" fmla="*/ 6 h 180"/>
                <a:gd name="T14" fmla="*/ 30 w 114"/>
                <a:gd name="T15" fmla="*/ 12 h 180"/>
                <a:gd name="T16" fmla="*/ 12 w 114"/>
                <a:gd name="T17" fmla="*/ 12 h 180"/>
                <a:gd name="T18" fmla="*/ 12 w 114"/>
                <a:gd name="T19" fmla="*/ 168 h 180"/>
                <a:gd name="T20" fmla="*/ 108 w 114"/>
                <a:gd name="T21" fmla="*/ 168 h 180"/>
                <a:gd name="T22" fmla="*/ 114 w 114"/>
                <a:gd name="T23" fmla="*/ 174 h 180"/>
                <a:gd name="T24" fmla="*/ 108 w 114"/>
                <a:gd name="T25"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80">
                  <a:moveTo>
                    <a:pt x="108" y="180"/>
                  </a:moveTo>
                  <a:cubicBezTo>
                    <a:pt x="6" y="180"/>
                    <a:pt x="6" y="180"/>
                    <a:pt x="6" y="180"/>
                  </a:cubicBezTo>
                  <a:cubicBezTo>
                    <a:pt x="3" y="180"/>
                    <a:pt x="0" y="178"/>
                    <a:pt x="0" y="174"/>
                  </a:cubicBezTo>
                  <a:cubicBezTo>
                    <a:pt x="0" y="6"/>
                    <a:pt x="0" y="6"/>
                    <a:pt x="0" y="6"/>
                  </a:cubicBezTo>
                  <a:cubicBezTo>
                    <a:pt x="0" y="3"/>
                    <a:pt x="3" y="0"/>
                    <a:pt x="6" y="0"/>
                  </a:cubicBezTo>
                  <a:cubicBezTo>
                    <a:pt x="30" y="0"/>
                    <a:pt x="30" y="0"/>
                    <a:pt x="30" y="0"/>
                  </a:cubicBezTo>
                  <a:cubicBezTo>
                    <a:pt x="33" y="0"/>
                    <a:pt x="36" y="3"/>
                    <a:pt x="36" y="6"/>
                  </a:cubicBezTo>
                  <a:cubicBezTo>
                    <a:pt x="36" y="10"/>
                    <a:pt x="33" y="12"/>
                    <a:pt x="30" y="12"/>
                  </a:cubicBezTo>
                  <a:cubicBezTo>
                    <a:pt x="12" y="12"/>
                    <a:pt x="12" y="12"/>
                    <a:pt x="12" y="12"/>
                  </a:cubicBezTo>
                  <a:cubicBezTo>
                    <a:pt x="12" y="168"/>
                    <a:pt x="12" y="168"/>
                    <a:pt x="12" y="168"/>
                  </a:cubicBezTo>
                  <a:cubicBezTo>
                    <a:pt x="108" y="168"/>
                    <a:pt x="108" y="168"/>
                    <a:pt x="108" y="168"/>
                  </a:cubicBezTo>
                  <a:cubicBezTo>
                    <a:pt x="111" y="168"/>
                    <a:pt x="114" y="171"/>
                    <a:pt x="114" y="174"/>
                  </a:cubicBezTo>
                  <a:cubicBezTo>
                    <a:pt x="114" y="178"/>
                    <a:pt x="111" y="180"/>
                    <a:pt x="108" y="18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5" name="Freeform 188">
              <a:extLst>
                <a:ext uri="{FF2B5EF4-FFF2-40B4-BE49-F238E27FC236}">
                  <a16:creationId xmlns:a16="http://schemas.microsoft.com/office/drawing/2014/main" id="{43D577AC-2AE3-3814-77AE-3AC4822EAF50}"/>
                </a:ext>
              </a:extLst>
            </p:cNvPr>
            <p:cNvSpPr>
              <a:spLocks noGrp="1" noRot="1" noMove="1" noResize="1" noEditPoints="1" noAdjustHandles="1" noChangeArrowheads="1" noChangeShapeType="1"/>
            </p:cNvSpPr>
            <p:nvPr/>
          </p:nvSpPr>
          <p:spPr bwMode="auto">
            <a:xfrm>
              <a:off x="559" y="3052"/>
              <a:ext cx="89" cy="133"/>
            </a:xfrm>
            <a:custGeom>
              <a:avLst/>
              <a:gdLst>
                <a:gd name="T0" fmla="*/ 54 w 60"/>
                <a:gd name="T1" fmla="*/ 90 h 90"/>
                <a:gd name="T2" fmla="*/ 48 w 60"/>
                <a:gd name="T3" fmla="*/ 84 h 90"/>
                <a:gd name="T4" fmla="*/ 48 w 60"/>
                <a:gd name="T5" fmla="*/ 12 h 90"/>
                <a:gd name="T6" fmla="*/ 6 w 60"/>
                <a:gd name="T7" fmla="*/ 12 h 90"/>
                <a:gd name="T8" fmla="*/ 0 w 60"/>
                <a:gd name="T9" fmla="*/ 6 h 90"/>
                <a:gd name="T10" fmla="*/ 6 w 60"/>
                <a:gd name="T11" fmla="*/ 0 h 90"/>
                <a:gd name="T12" fmla="*/ 54 w 60"/>
                <a:gd name="T13" fmla="*/ 0 h 90"/>
                <a:gd name="T14" fmla="*/ 60 w 60"/>
                <a:gd name="T15" fmla="*/ 6 h 90"/>
                <a:gd name="T16" fmla="*/ 60 w 60"/>
                <a:gd name="T17" fmla="*/ 84 h 90"/>
                <a:gd name="T18" fmla="*/ 54 w 60"/>
                <a:gd name="T19"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90">
                  <a:moveTo>
                    <a:pt x="54" y="90"/>
                  </a:moveTo>
                  <a:cubicBezTo>
                    <a:pt x="51" y="90"/>
                    <a:pt x="48" y="88"/>
                    <a:pt x="48" y="84"/>
                  </a:cubicBezTo>
                  <a:cubicBezTo>
                    <a:pt x="48" y="12"/>
                    <a:pt x="48" y="12"/>
                    <a:pt x="48" y="12"/>
                  </a:cubicBezTo>
                  <a:cubicBezTo>
                    <a:pt x="6" y="12"/>
                    <a:pt x="6" y="12"/>
                    <a:pt x="6" y="12"/>
                  </a:cubicBezTo>
                  <a:cubicBezTo>
                    <a:pt x="3" y="12"/>
                    <a:pt x="0" y="10"/>
                    <a:pt x="0" y="6"/>
                  </a:cubicBezTo>
                  <a:cubicBezTo>
                    <a:pt x="0" y="3"/>
                    <a:pt x="3" y="0"/>
                    <a:pt x="6" y="0"/>
                  </a:cubicBezTo>
                  <a:cubicBezTo>
                    <a:pt x="54" y="0"/>
                    <a:pt x="54" y="0"/>
                    <a:pt x="54" y="0"/>
                  </a:cubicBezTo>
                  <a:cubicBezTo>
                    <a:pt x="57" y="0"/>
                    <a:pt x="60" y="3"/>
                    <a:pt x="60" y="6"/>
                  </a:cubicBezTo>
                  <a:cubicBezTo>
                    <a:pt x="60" y="84"/>
                    <a:pt x="60" y="84"/>
                    <a:pt x="60" y="84"/>
                  </a:cubicBezTo>
                  <a:cubicBezTo>
                    <a:pt x="60" y="88"/>
                    <a:pt x="57" y="90"/>
                    <a:pt x="54" y="9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6" name="Freeform 189">
              <a:extLst>
                <a:ext uri="{FF2B5EF4-FFF2-40B4-BE49-F238E27FC236}">
                  <a16:creationId xmlns:a16="http://schemas.microsoft.com/office/drawing/2014/main" id="{F3C43F43-4BFC-05AA-35C8-64E9D303A40B}"/>
                </a:ext>
              </a:extLst>
            </p:cNvPr>
            <p:cNvSpPr>
              <a:spLocks noGrp="1" noRot="1" noMove="1" noResize="1" noEditPoints="1" noAdjustHandles="1" noChangeArrowheads="1" noChangeShapeType="1"/>
            </p:cNvSpPr>
            <p:nvPr/>
          </p:nvSpPr>
          <p:spPr bwMode="auto">
            <a:xfrm>
              <a:off x="417" y="2998"/>
              <a:ext cx="160" cy="125"/>
            </a:xfrm>
            <a:custGeom>
              <a:avLst/>
              <a:gdLst>
                <a:gd name="T0" fmla="*/ 102 w 108"/>
                <a:gd name="T1" fmla="*/ 84 h 84"/>
                <a:gd name="T2" fmla="*/ 6 w 108"/>
                <a:gd name="T3" fmla="*/ 84 h 84"/>
                <a:gd name="T4" fmla="*/ 0 w 108"/>
                <a:gd name="T5" fmla="*/ 78 h 84"/>
                <a:gd name="T6" fmla="*/ 0 w 108"/>
                <a:gd name="T7" fmla="*/ 30 h 84"/>
                <a:gd name="T8" fmla="*/ 6 w 108"/>
                <a:gd name="T9" fmla="*/ 24 h 84"/>
                <a:gd name="T10" fmla="*/ 25 w 108"/>
                <a:gd name="T11" fmla="*/ 24 h 84"/>
                <a:gd name="T12" fmla="*/ 54 w 108"/>
                <a:gd name="T13" fmla="*/ 0 h 84"/>
                <a:gd name="T14" fmla="*/ 83 w 108"/>
                <a:gd name="T15" fmla="*/ 24 h 84"/>
                <a:gd name="T16" fmla="*/ 102 w 108"/>
                <a:gd name="T17" fmla="*/ 24 h 84"/>
                <a:gd name="T18" fmla="*/ 108 w 108"/>
                <a:gd name="T19" fmla="*/ 30 h 84"/>
                <a:gd name="T20" fmla="*/ 108 w 108"/>
                <a:gd name="T21" fmla="*/ 78 h 84"/>
                <a:gd name="T22" fmla="*/ 102 w 108"/>
                <a:gd name="T23" fmla="*/ 84 h 84"/>
                <a:gd name="T24" fmla="*/ 12 w 108"/>
                <a:gd name="T25" fmla="*/ 72 h 84"/>
                <a:gd name="T26" fmla="*/ 96 w 108"/>
                <a:gd name="T27" fmla="*/ 72 h 84"/>
                <a:gd name="T28" fmla="*/ 96 w 108"/>
                <a:gd name="T29" fmla="*/ 36 h 84"/>
                <a:gd name="T30" fmla="*/ 78 w 108"/>
                <a:gd name="T31" fmla="*/ 36 h 84"/>
                <a:gd name="T32" fmla="*/ 72 w 108"/>
                <a:gd name="T33" fmla="*/ 30 h 84"/>
                <a:gd name="T34" fmla="*/ 54 w 108"/>
                <a:gd name="T35" fmla="*/ 12 h 84"/>
                <a:gd name="T36" fmla="*/ 36 w 108"/>
                <a:gd name="T37" fmla="*/ 30 h 84"/>
                <a:gd name="T38" fmla="*/ 30 w 108"/>
                <a:gd name="T39" fmla="*/ 36 h 84"/>
                <a:gd name="T40" fmla="*/ 12 w 108"/>
                <a:gd name="T41" fmla="*/ 36 h 84"/>
                <a:gd name="T42" fmla="*/ 12 w 108"/>
                <a:gd name="T43" fmla="*/ 72 h 84"/>
                <a:gd name="T44" fmla="*/ 84 w 108"/>
                <a:gd name="T45" fmla="*/ 30 h 84"/>
                <a:gd name="T46" fmla="*/ 84 w 108"/>
                <a:gd name="T47"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8" h="84">
                  <a:moveTo>
                    <a:pt x="102" y="84"/>
                  </a:moveTo>
                  <a:cubicBezTo>
                    <a:pt x="6" y="84"/>
                    <a:pt x="6" y="84"/>
                    <a:pt x="6" y="84"/>
                  </a:cubicBezTo>
                  <a:cubicBezTo>
                    <a:pt x="3" y="84"/>
                    <a:pt x="0" y="82"/>
                    <a:pt x="0" y="78"/>
                  </a:cubicBezTo>
                  <a:cubicBezTo>
                    <a:pt x="0" y="30"/>
                    <a:pt x="0" y="30"/>
                    <a:pt x="0" y="30"/>
                  </a:cubicBezTo>
                  <a:cubicBezTo>
                    <a:pt x="0" y="27"/>
                    <a:pt x="3" y="24"/>
                    <a:pt x="6" y="24"/>
                  </a:cubicBezTo>
                  <a:cubicBezTo>
                    <a:pt x="25" y="24"/>
                    <a:pt x="25" y="24"/>
                    <a:pt x="25" y="24"/>
                  </a:cubicBezTo>
                  <a:cubicBezTo>
                    <a:pt x="27" y="12"/>
                    <a:pt x="36" y="0"/>
                    <a:pt x="54" y="0"/>
                  </a:cubicBezTo>
                  <a:cubicBezTo>
                    <a:pt x="72" y="0"/>
                    <a:pt x="81" y="12"/>
                    <a:pt x="83" y="24"/>
                  </a:cubicBezTo>
                  <a:cubicBezTo>
                    <a:pt x="102" y="24"/>
                    <a:pt x="102" y="24"/>
                    <a:pt x="102" y="24"/>
                  </a:cubicBezTo>
                  <a:cubicBezTo>
                    <a:pt x="105" y="24"/>
                    <a:pt x="108" y="27"/>
                    <a:pt x="108" y="30"/>
                  </a:cubicBezTo>
                  <a:cubicBezTo>
                    <a:pt x="108" y="78"/>
                    <a:pt x="108" y="78"/>
                    <a:pt x="108" y="78"/>
                  </a:cubicBezTo>
                  <a:cubicBezTo>
                    <a:pt x="108" y="82"/>
                    <a:pt x="105" y="84"/>
                    <a:pt x="102" y="84"/>
                  </a:cubicBezTo>
                  <a:close/>
                  <a:moveTo>
                    <a:pt x="12" y="72"/>
                  </a:moveTo>
                  <a:cubicBezTo>
                    <a:pt x="96" y="72"/>
                    <a:pt x="96" y="72"/>
                    <a:pt x="96" y="72"/>
                  </a:cubicBezTo>
                  <a:cubicBezTo>
                    <a:pt x="96" y="36"/>
                    <a:pt x="96" y="36"/>
                    <a:pt x="96" y="36"/>
                  </a:cubicBezTo>
                  <a:cubicBezTo>
                    <a:pt x="78" y="36"/>
                    <a:pt x="78" y="36"/>
                    <a:pt x="78" y="36"/>
                  </a:cubicBezTo>
                  <a:cubicBezTo>
                    <a:pt x="75" y="36"/>
                    <a:pt x="72" y="34"/>
                    <a:pt x="72" y="30"/>
                  </a:cubicBezTo>
                  <a:cubicBezTo>
                    <a:pt x="72" y="29"/>
                    <a:pt x="72" y="12"/>
                    <a:pt x="54" y="12"/>
                  </a:cubicBezTo>
                  <a:cubicBezTo>
                    <a:pt x="37" y="12"/>
                    <a:pt x="36" y="29"/>
                    <a:pt x="36" y="30"/>
                  </a:cubicBezTo>
                  <a:cubicBezTo>
                    <a:pt x="36" y="34"/>
                    <a:pt x="33" y="36"/>
                    <a:pt x="30" y="36"/>
                  </a:cubicBezTo>
                  <a:cubicBezTo>
                    <a:pt x="12" y="36"/>
                    <a:pt x="12" y="36"/>
                    <a:pt x="12" y="36"/>
                  </a:cubicBezTo>
                  <a:lnTo>
                    <a:pt x="12" y="72"/>
                  </a:lnTo>
                  <a:close/>
                  <a:moveTo>
                    <a:pt x="84" y="30"/>
                  </a:moveTo>
                  <a:cubicBezTo>
                    <a:pt x="84" y="30"/>
                    <a:pt x="84" y="30"/>
                    <a:pt x="84" y="3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7" name="Freeform 190">
              <a:extLst>
                <a:ext uri="{FF2B5EF4-FFF2-40B4-BE49-F238E27FC236}">
                  <a16:creationId xmlns:a16="http://schemas.microsoft.com/office/drawing/2014/main" id="{6EA291D3-4C4D-813E-7592-D53C695AA5BC}"/>
                </a:ext>
              </a:extLst>
            </p:cNvPr>
            <p:cNvSpPr>
              <a:spLocks noGrp="1" noRot="1" noMove="1" noResize="1" noEditPoints="1" noAdjustHandles="1" noChangeArrowheads="1" noChangeShapeType="1"/>
            </p:cNvSpPr>
            <p:nvPr/>
          </p:nvSpPr>
          <p:spPr bwMode="auto">
            <a:xfrm>
              <a:off x="559" y="3087"/>
              <a:ext cx="54" cy="151"/>
            </a:xfrm>
            <a:custGeom>
              <a:avLst/>
              <a:gdLst>
                <a:gd name="T0" fmla="*/ 30 w 36"/>
                <a:gd name="T1" fmla="*/ 102 h 102"/>
                <a:gd name="T2" fmla="*/ 24 w 36"/>
                <a:gd name="T3" fmla="*/ 96 h 102"/>
                <a:gd name="T4" fmla="*/ 24 w 36"/>
                <a:gd name="T5" fmla="*/ 12 h 102"/>
                <a:gd name="T6" fmla="*/ 6 w 36"/>
                <a:gd name="T7" fmla="*/ 12 h 102"/>
                <a:gd name="T8" fmla="*/ 0 w 36"/>
                <a:gd name="T9" fmla="*/ 6 h 102"/>
                <a:gd name="T10" fmla="*/ 6 w 36"/>
                <a:gd name="T11" fmla="*/ 0 h 102"/>
                <a:gd name="T12" fmla="*/ 30 w 36"/>
                <a:gd name="T13" fmla="*/ 0 h 102"/>
                <a:gd name="T14" fmla="*/ 36 w 36"/>
                <a:gd name="T15" fmla="*/ 6 h 102"/>
                <a:gd name="T16" fmla="*/ 36 w 36"/>
                <a:gd name="T17" fmla="*/ 96 h 102"/>
                <a:gd name="T18" fmla="*/ 30 w 36"/>
                <a:gd name="T1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02">
                  <a:moveTo>
                    <a:pt x="30" y="102"/>
                  </a:moveTo>
                  <a:cubicBezTo>
                    <a:pt x="27" y="102"/>
                    <a:pt x="24" y="100"/>
                    <a:pt x="24" y="96"/>
                  </a:cubicBezTo>
                  <a:cubicBezTo>
                    <a:pt x="24" y="12"/>
                    <a:pt x="24" y="12"/>
                    <a:pt x="24" y="12"/>
                  </a:cubicBezTo>
                  <a:cubicBezTo>
                    <a:pt x="6" y="12"/>
                    <a:pt x="6" y="12"/>
                    <a:pt x="6" y="12"/>
                  </a:cubicBezTo>
                  <a:cubicBezTo>
                    <a:pt x="3" y="12"/>
                    <a:pt x="0" y="10"/>
                    <a:pt x="0" y="6"/>
                  </a:cubicBezTo>
                  <a:cubicBezTo>
                    <a:pt x="0" y="3"/>
                    <a:pt x="3" y="0"/>
                    <a:pt x="6" y="0"/>
                  </a:cubicBezTo>
                  <a:cubicBezTo>
                    <a:pt x="30" y="0"/>
                    <a:pt x="30" y="0"/>
                    <a:pt x="30" y="0"/>
                  </a:cubicBezTo>
                  <a:cubicBezTo>
                    <a:pt x="33" y="0"/>
                    <a:pt x="36" y="3"/>
                    <a:pt x="36" y="6"/>
                  </a:cubicBezTo>
                  <a:cubicBezTo>
                    <a:pt x="36" y="96"/>
                    <a:pt x="36" y="96"/>
                    <a:pt x="36" y="96"/>
                  </a:cubicBezTo>
                  <a:cubicBezTo>
                    <a:pt x="36" y="100"/>
                    <a:pt x="33" y="102"/>
                    <a:pt x="30" y="10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8" name="Freeform 191">
              <a:extLst>
                <a:ext uri="{FF2B5EF4-FFF2-40B4-BE49-F238E27FC236}">
                  <a16:creationId xmlns:a16="http://schemas.microsoft.com/office/drawing/2014/main" id="{55ECF1E1-AAA2-6F2A-7045-C6985E5698D5}"/>
                </a:ext>
              </a:extLst>
            </p:cNvPr>
            <p:cNvSpPr>
              <a:spLocks noGrp="1" noRot="1" noMove="1" noResize="1" noEditPoints="1" noAdjustHandles="1" noChangeArrowheads="1" noChangeShapeType="1"/>
            </p:cNvSpPr>
            <p:nvPr/>
          </p:nvSpPr>
          <p:spPr bwMode="auto">
            <a:xfrm>
              <a:off x="435" y="3158"/>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9" name="Freeform 192">
              <a:extLst>
                <a:ext uri="{FF2B5EF4-FFF2-40B4-BE49-F238E27FC236}">
                  <a16:creationId xmlns:a16="http://schemas.microsoft.com/office/drawing/2014/main" id="{E4535C48-B01E-694B-9929-93D93E413BD0}"/>
                </a:ext>
              </a:extLst>
            </p:cNvPr>
            <p:cNvSpPr>
              <a:spLocks noGrp="1" noRot="1" noMove="1" noResize="1" noEditPoints="1" noAdjustHandles="1" noChangeArrowheads="1" noChangeShapeType="1"/>
            </p:cNvSpPr>
            <p:nvPr/>
          </p:nvSpPr>
          <p:spPr bwMode="auto">
            <a:xfrm>
              <a:off x="435" y="3193"/>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0" name="Freeform 193">
              <a:extLst>
                <a:ext uri="{FF2B5EF4-FFF2-40B4-BE49-F238E27FC236}">
                  <a16:creationId xmlns:a16="http://schemas.microsoft.com/office/drawing/2014/main" id="{008AA57D-AC11-AB3C-AD3D-BA1AA5A5943F}"/>
                </a:ext>
              </a:extLst>
            </p:cNvPr>
            <p:cNvSpPr>
              <a:spLocks noGrp="1" noRot="1" noMove="1" noResize="1" noEditPoints="1" noAdjustHandles="1" noChangeArrowheads="1" noChangeShapeType="1"/>
            </p:cNvSpPr>
            <p:nvPr/>
          </p:nvSpPr>
          <p:spPr bwMode="auto">
            <a:xfrm>
              <a:off x="435" y="3229"/>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1" name="Freeform 194">
              <a:extLst>
                <a:ext uri="{FF2B5EF4-FFF2-40B4-BE49-F238E27FC236}">
                  <a16:creationId xmlns:a16="http://schemas.microsoft.com/office/drawing/2014/main" id="{8B0679F6-9F92-2056-163E-4B315CC6C8CC}"/>
                </a:ext>
              </a:extLst>
            </p:cNvPr>
            <p:cNvSpPr>
              <a:spLocks noGrp="1" noRot="1" noMove="1" noResize="1" noEditPoints="1" noAdjustHandles="1" noChangeArrowheads="1" noChangeShapeType="1"/>
            </p:cNvSpPr>
            <p:nvPr/>
          </p:nvSpPr>
          <p:spPr bwMode="auto">
            <a:xfrm>
              <a:off x="435" y="326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5" y="0"/>
                    <a:pt x="48" y="3"/>
                    <a:pt x="48" y="6"/>
                  </a:cubicBezTo>
                  <a:cubicBezTo>
                    <a:pt x="48" y="10"/>
                    <a:pt x="45" y="12"/>
                    <a:pt x="4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2" name="Freeform 195">
              <a:extLst>
                <a:ext uri="{FF2B5EF4-FFF2-40B4-BE49-F238E27FC236}">
                  <a16:creationId xmlns:a16="http://schemas.microsoft.com/office/drawing/2014/main" id="{48CF07A8-F311-428B-379E-C829B4A2826F}"/>
                </a:ext>
              </a:extLst>
            </p:cNvPr>
            <p:cNvSpPr>
              <a:spLocks noGrp="1" noRot="1" noMove="1" noResize="1" noEditPoints="1" noAdjustHandles="1" noChangeArrowheads="1" noChangeShapeType="1"/>
            </p:cNvSpPr>
            <p:nvPr/>
          </p:nvSpPr>
          <p:spPr bwMode="auto">
            <a:xfrm>
              <a:off x="542" y="3193"/>
              <a:ext cx="231" cy="231"/>
            </a:xfrm>
            <a:custGeom>
              <a:avLst/>
              <a:gdLst>
                <a:gd name="T0" fmla="*/ 150 w 156"/>
                <a:gd name="T1" fmla="*/ 156 h 156"/>
                <a:gd name="T2" fmla="*/ 6 w 156"/>
                <a:gd name="T3" fmla="*/ 156 h 156"/>
                <a:gd name="T4" fmla="*/ 1 w 156"/>
                <a:gd name="T5" fmla="*/ 154 h 156"/>
                <a:gd name="T6" fmla="*/ 1 w 156"/>
                <a:gd name="T7" fmla="*/ 148 h 156"/>
                <a:gd name="T8" fmla="*/ 73 w 156"/>
                <a:gd name="T9" fmla="*/ 4 h 156"/>
                <a:gd name="T10" fmla="*/ 78 w 156"/>
                <a:gd name="T11" fmla="*/ 0 h 156"/>
                <a:gd name="T12" fmla="*/ 83 w 156"/>
                <a:gd name="T13" fmla="*/ 4 h 156"/>
                <a:gd name="T14" fmla="*/ 155 w 156"/>
                <a:gd name="T15" fmla="*/ 148 h 156"/>
                <a:gd name="T16" fmla="*/ 155 w 156"/>
                <a:gd name="T17" fmla="*/ 154 h 156"/>
                <a:gd name="T18" fmla="*/ 150 w 156"/>
                <a:gd name="T19" fmla="*/ 156 h 156"/>
                <a:gd name="T20" fmla="*/ 16 w 156"/>
                <a:gd name="T21" fmla="*/ 144 h 156"/>
                <a:gd name="T22" fmla="*/ 140 w 156"/>
                <a:gd name="T23" fmla="*/ 144 h 156"/>
                <a:gd name="T24" fmla="*/ 78 w 156"/>
                <a:gd name="T25" fmla="*/ 20 h 156"/>
                <a:gd name="T26" fmla="*/ 16 w 156"/>
                <a:gd name="T27" fmla="*/ 14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6" h="156">
                  <a:moveTo>
                    <a:pt x="150" y="156"/>
                  </a:moveTo>
                  <a:cubicBezTo>
                    <a:pt x="6" y="156"/>
                    <a:pt x="6" y="156"/>
                    <a:pt x="6" y="156"/>
                  </a:cubicBezTo>
                  <a:cubicBezTo>
                    <a:pt x="4" y="156"/>
                    <a:pt x="2" y="155"/>
                    <a:pt x="1" y="154"/>
                  </a:cubicBezTo>
                  <a:cubicBezTo>
                    <a:pt x="0" y="152"/>
                    <a:pt x="0" y="150"/>
                    <a:pt x="1" y="148"/>
                  </a:cubicBezTo>
                  <a:cubicBezTo>
                    <a:pt x="73" y="4"/>
                    <a:pt x="73" y="4"/>
                    <a:pt x="73" y="4"/>
                  </a:cubicBezTo>
                  <a:cubicBezTo>
                    <a:pt x="74" y="2"/>
                    <a:pt x="76" y="0"/>
                    <a:pt x="78" y="0"/>
                  </a:cubicBezTo>
                  <a:cubicBezTo>
                    <a:pt x="80" y="0"/>
                    <a:pt x="82" y="2"/>
                    <a:pt x="83" y="4"/>
                  </a:cubicBezTo>
                  <a:cubicBezTo>
                    <a:pt x="155" y="148"/>
                    <a:pt x="155" y="148"/>
                    <a:pt x="155" y="148"/>
                  </a:cubicBezTo>
                  <a:cubicBezTo>
                    <a:pt x="156" y="150"/>
                    <a:pt x="156" y="152"/>
                    <a:pt x="155" y="154"/>
                  </a:cubicBezTo>
                  <a:cubicBezTo>
                    <a:pt x="154" y="155"/>
                    <a:pt x="152" y="156"/>
                    <a:pt x="150" y="156"/>
                  </a:cubicBezTo>
                  <a:close/>
                  <a:moveTo>
                    <a:pt x="16" y="144"/>
                  </a:moveTo>
                  <a:cubicBezTo>
                    <a:pt x="140" y="144"/>
                    <a:pt x="140" y="144"/>
                    <a:pt x="140" y="144"/>
                  </a:cubicBezTo>
                  <a:cubicBezTo>
                    <a:pt x="78" y="20"/>
                    <a:pt x="78" y="20"/>
                    <a:pt x="78" y="20"/>
                  </a:cubicBezTo>
                  <a:lnTo>
                    <a:pt x="16" y="144"/>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3" name="Freeform 196">
              <a:extLst>
                <a:ext uri="{FF2B5EF4-FFF2-40B4-BE49-F238E27FC236}">
                  <a16:creationId xmlns:a16="http://schemas.microsoft.com/office/drawing/2014/main" id="{0512DE5D-93B5-D0D4-F4DC-468052D59B66}"/>
                </a:ext>
              </a:extLst>
            </p:cNvPr>
            <p:cNvSpPr>
              <a:spLocks noGrp="1" noRot="1" noMove="1" noResize="1" noEditPoints="1" noAdjustHandles="1" noChangeArrowheads="1" noChangeShapeType="1"/>
            </p:cNvSpPr>
            <p:nvPr/>
          </p:nvSpPr>
          <p:spPr bwMode="auto">
            <a:xfrm>
              <a:off x="648" y="3281"/>
              <a:ext cx="18" cy="77"/>
            </a:xfrm>
            <a:custGeom>
              <a:avLst/>
              <a:gdLst>
                <a:gd name="T0" fmla="*/ 6 w 12"/>
                <a:gd name="T1" fmla="*/ 52 h 52"/>
                <a:gd name="T2" fmla="*/ 0 w 12"/>
                <a:gd name="T3" fmla="*/ 46 h 52"/>
                <a:gd name="T4" fmla="*/ 0 w 12"/>
                <a:gd name="T5" fmla="*/ 6 h 52"/>
                <a:gd name="T6" fmla="*/ 6 w 12"/>
                <a:gd name="T7" fmla="*/ 0 h 52"/>
                <a:gd name="T8" fmla="*/ 12 w 12"/>
                <a:gd name="T9" fmla="*/ 6 h 52"/>
                <a:gd name="T10" fmla="*/ 12 w 12"/>
                <a:gd name="T11" fmla="*/ 46 h 52"/>
                <a:gd name="T12" fmla="*/ 6 w 12"/>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2" h="52">
                  <a:moveTo>
                    <a:pt x="6" y="52"/>
                  </a:moveTo>
                  <a:cubicBezTo>
                    <a:pt x="3" y="52"/>
                    <a:pt x="0" y="49"/>
                    <a:pt x="0" y="46"/>
                  </a:cubicBezTo>
                  <a:cubicBezTo>
                    <a:pt x="0" y="6"/>
                    <a:pt x="0" y="6"/>
                    <a:pt x="0" y="6"/>
                  </a:cubicBezTo>
                  <a:cubicBezTo>
                    <a:pt x="0" y="3"/>
                    <a:pt x="3" y="0"/>
                    <a:pt x="6" y="0"/>
                  </a:cubicBezTo>
                  <a:cubicBezTo>
                    <a:pt x="9" y="0"/>
                    <a:pt x="12" y="3"/>
                    <a:pt x="12" y="6"/>
                  </a:cubicBezTo>
                  <a:cubicBezTo>
                    <a:pt x="12" y="46"/>
                    <a:pt x="12" y="46"/>
                    <a:pt x="12" y="46"/>
                  </a:cubicBezTo>
                  <a:cubicBezTo>
                    <a:pt x="12" y="49"/>
                    <a:pt x="9" y="52"/>
                    <a:pt x="6" y="5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4" name="Oval 197">
              <a:extLst>
                <a:ext uri="{FF2B5EF4-FFF2-40B4-BE49-F238E27FC236}">
                  <a16:creationId xmlns:a16="http://schemas.microsoft.com/office/drawing/2014/main" id="{78DB9544-D12E-1406-AC58-0E1F7461A57C}"/>
                </a:ext>
              </a:extLst>
            </p:cNvPr>
            <p:cNvSpPr>
              <a:spLocks noGrp="1" noRot="1" noMove="1" noResize="1" noEditPoints="1" noAdjustHandles="1" noChangeArrowheads="1" noChangeShapeType="1"/>
            </p:cNvSpPr>
            <p:nvPr/>
          </p:nvSpPr>
          <p:spPr bwMode="auto">
            <a:xfrm>
              <a:off x="647" y="3368"/>
              <a:ext cx="20" cy="19"/>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grpSp>
        <p:nvGrpSpPr>
          <p:cNvPr id="45" name="Group 148">
            <a:extLst>
              <a:ext uri="{FF2B5EF4-FFF2-40B4-BE49-F238E27FC236}">
                <a16:creationId xmlns:a16="http://schemas.microsoft.com/office/drawing/2014/main" id="{F7A3D14B-E7A5-F32B-BD1A-09D5781D267A}"/>
              </a:ext>
            </a:extLst>
          </p:cNvPr>
          <p:cNvGrpSpPr>
            <a:grpSpLocks noGrp="1" noUngrp="1" noRot="1" noChangeAspect="1" noMove="1" noResize="1"/>
          </p:cNvGrpSpPr>
          <p:nvPr userDrawn="1"/>
        </p:nvGrpSpPr>
        <p:grpSpPr bwMode="auto">
          <a:xfrm>
            <a:off x="8749499" y="3136579"/>
            <a:ext cx="252090" cy="250909"/>
            <a:chOff x="1369" y="2997"/>
            <a:chExt cx="427" cy="425"/>
          </a:xfrm>
          <a:solidFill>
            <a:schemeClr val="bg1"/>
          </a:solidFill>
        </p:grpSpPr>
        <p:sp>
          <p:nvSpPr>
            <p:cNvPr id="46" name="Freeform 149">
              <a:extLst>
                <a:ext uri="{FF2B5EF4-FFF2-40B4-BE49-F238E27FC236}">
                  <a16:creationId xmlns:a16="http://schemas.microsoft.com/office/drawing/2014/main" id="{6D2A04B7-4417-EB73-966B-C6196AE3A649}"/>
                </a:ext>
              </a:extLst>
            </p:cNvPr>
            <p:cNvSpPr>
              <a:spLocks noGrp="1" noRot="1" noMove="1" noResize="1" noEditPoints="1" noAdjustHandles="1" noChangeArrowheads="1" noChangeShapeType="1"/>
            </p:cNvSpPr>
            <p:nvPr/>
          </p:nvSpPr>
          <p:spPr bwMode="auto">
            <a:xfrm>
              <a:off x="1369" y="2997"/>
              <a:ext cx="338" cy="354"/>
            </a:xfrm>
            <a:custGeom>
              <a:avLst/>
              <a:gdLst>
                <a:gd name="T0" fmla="*/ 138 w 228"/>
                <a:gd name="T1" fmla="*/ 240 h 240"/>
                <a:gd name="T2" fmla="*/ 30 w 228"/>
                <a:gd name="T3" fmla="*/ 240 h 240"/>
                <a:gd name="T4" fmla="*/ 0 w 228"/>
                <a:gd name="T5" fmla="*/ 210 h 240"/>
                <a:gd name="T6" fmla="*/ 0 w 228"/>
                <a:gd name="T7" fmla="*/ 30 h 240"/>
                <a:gd name="T8" fmla="*/ 30 w 228"/>
                <a:gd name="T9" fmla="*/ 0 h 240"/>
                <a:gd name="T10" fmla="*/ 198 w 228"/>
                <a:gd name="T11" fmla="*/ 0 h 240"/>
                <a:gd name="T12" fmla="*/ 228 w 228"/>
                <a:gd name="T13" fmla="*/ 30 h 240"/>
                <a:gd name="T14" fmla="*/ 228 w 228"/>
                <a:gd name="T15" fmla="*/ 120 h 240"/>
                <a:gd name="T16" fmla="*/ 222 w 228"/>
                <a:gd name="T17" fmla="*/ 126 h 240"/>
                <a:gd name="T18" fmla="*/ 216 w 228"/>
                <a:gd name="T19" fmla="*/ 120 h 240"/>
                <a:gd name="T20" fmla="*/ 216 w 228"/>
                <a:gd name="T21" fmla="*/ 30 h 240"/>
                <a:gd name="T22" fmla="*/ 198 w 228"/>
                <a:gd name="T23" fmla="*/ 12 h 240"/>
                <a:gd name="T24" fmla="*/ 30 w 228"/>
                <a:gd name="T25" fmla="*/ 12 h 240"/>
                <a:gd name="T26" fmla="*/ 12 w 228"/>
                <a:gd name="T27" fmla="*/ 30 h 240"/>
                <a:gd name="T28" fmla="*/ 12 w 228"/>
                <a:gd name="T29" fmla="*/ 210 h 240"/>
                <a:gd name="T30" fmla="*/ 30 w 228"/>
                <a:gd name="T31" fmla="*/ 228 h 240"/>
                <a:gd name="T32" fmla="*/ 138 w 228"/>
                <a:gd name="T33" fmla="*/ 228 h 240"/>
                <a:gd name="T34" fmla="*/ 144 w 228"/>
                <a:gd name="T35" fmla="*/ 234 h 240"/>
                <a:gd name="T36" fmla="*/ 138 w 228"/>
                <a:gd name="T3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8" h="240">
                  <a:moveTo>
                    <a:pt x="138" y="240"/>
                  </a:moveTo>
                  <a:cubicBezTo>
                    <a:pt x="30" y="240"/>
                    <a:pt x="30" y="240"/>
                    <a:pt x="30" y="240"/>
                  </a:cubicBezTo>
                  <a:cubicBezTo>
                    <a:pt x="13" y="240"/>
                    <a:pt x="0" y="227"/>
                    <a:pt x="0" y="210"/>
                  </a:cubicBezTo>
                  <a:cubicBezTo>
                    <a:pt x="0" y="30"/>
                    <a:pt x="0" y="30"/>
                    <a:pt x="0" y="30"/>
                  </a:cubicBezTo>
                  <a:cubicBezTo>
                    <a:pt x="0" y="14"/>
                    <a:pt x="13" y="0"/>
                    <a:pt x="30" y="0"/>
                  </a:cubicBezTo>
                  <a:cubicBezTo>
                    <a:pt x="198" y="0"/>
                    <a:pt x="198" y="0"/>
                    <a:pt x="198" y="0"/>
                  </a:cubicBezTo>
                  <a:cubicBezTo>
                    <a:pt x="214" y="0"/>
                    <a:pt x="228" y="14"/>
                    <a:pt x="228" y="30"/>
                  </a:cubicBezTo>
                  <a:cubicBezTo>
                    <a:pt x="228" y="120"/>
                    <a:pt x="228" y="120"/>
                    <a:pt x="228" y="120"/>
                  </a:cubicBezTo>
                  <a:cubicBezTo>
                    <a:pt x="228" y="124"/>
                    <a:pt x="225" y="126"/>
                    <a:pt x="222" y="126"/>
                  </a:cubicBezTo>
                  <a:cubicBezTo>
                    <a:pt x="219" y="126"/>
                    <a:pt x="216" y="124"/>
                    <a:pt x="216" y="120"/>
                  </a:cubicBezTo>
                  <a:cubicBezTo>
                    <a:pt x="216" y="30"/>
                    <a:pt x="216" y="30"/>
                    <a:pt x="216" y="30"/>
                  </a:cubicBezTo>
                  <a:cubicBezTo>
                    <a:pt x="216" y="20"/>
                    <a:pt x="208" y="12"/>
                    <a:pt x="198" y="12"/>
                  </a:cubicBezTo>
                  <a:cubicBezTo>
                    <a:pt x="30" y="12"/>
                    <a:pt x="30" y="12"/>
                    <a:pt x="30" y="12"/>
                  </a:cubicBezTo>
                  <a:cubicBezTo>
                    <a:pt x="20" y="12"/>
                    <a:pt x="12" y="20"/>
                    <a:pt x="12" y="30"/>
                  </a:cubicBezTo>
                  <a:cubicBezTo>
                    <a:pt x="12" y="210"/>
                    <a:pt x="12" y="210"/>
                    <a:pt x="12" y="210"/>
                  </a:cubicBezTo>
                  <a:cubicBezTo>
                    <a:pt x="12" y="220"/>
                    <a:pt x="20" y="228"/>
                    <a:pt x="30" y="228"/>
                  </a:cubicBezTo>
                  <a:cubicBezTo>
                    <a:pt x="138" y="228"/>
                    <a:pt x="138" y="228"/>
                    <a:pt x="138" y="228"/>
                  </a:cubicBezTo>
                  <a:cubicBezTo>
                    <a:pt x="142" y="228"/>
                    <a:pt x="144" y="231"/>
                    <a:pt x="144" y="234"/>
                  </a:cubicBezTo>
                  <a:cubicBezTo>
                    <a:pt x="144" y="238"/>
                    <a:pt x="142" y="240"/>
                    <a:pt x="138"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7" name="Freeform 150">
              <a:extLst>
                <a:ext uri="{FF2B5EF4-FFF2-40B4-BE49-F238E27FC236}">
                  <a16:creationId xmlns:a16="http://schemas.microsoft.com/office/drawing/2014/main" id="{CD5AFDD6-8A7E-CCB8-7EAC-7AC2CF2319FF}"/>
                </a:ext>
              </a:extLst>
            </p:cNvPr>
            <p:cNvSpPr>
              <a:spLocks noGrp="1" noRot="1" noMove="1" noResize="1" noEditPoints="1" noAdjustHandles="1" noChangeArrowheads="1" noChangeShapeType="1"/>
            </p:cNvSpPr>
            <p:nvPr/>
          </p:nvSpPr>
          <p:spPr bwMode="auto">
            <a:xfrm>
              <a:off x="1369" y="3103"/>
              <a:ext cx="338" cy="18"/>
            </a:xfrm>
            <a:custGeom>
              <a:avLst/>
              <a:gdLst>
                <a:gd name="T0" fmla="*/ 222 w 228"/>
                <a:gd name="T1" fmla="*/ 12 h 12"/>
                <a:gd name="T2" fmla="*/ 6 w 228"/>
                <a:gd name="T3" fmla="*/ 12 h 12"/>
                <a:gd name="T4" fmla="*/ 0 w 228"/>
                <a:gd name="T5" fmla="*/ 6 h 12"/>
                <a:gd name="T6" fmla="*/ 6 w 228"/>
                <a:gd name="T7" fmla="*/ 0 h 12"/>
                <a:gd name="T8" fmla="*/ 222 w 228"/>
                <a:gd name="T9" fmla="*/ 0 h 12"/>
                <a:gd name="T10" fmla="*/ 228 w 228"/>
                <a:gd name="T11" fmla="*/ 6 h 12"/>
                <a:gd name="T12" fmla="*/ 222 w 22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28" h="12">
                  <a:moveTo>
                    <a:pt x="222" y="12"/>
                  </a:moveTo>
                  <a:cubicBezTo>
                    <a:pt x="6" y="12"/>
                    <a:pt x="6" y="12"/>
                    <a:pt x="6" y="12"/>
                  </a:cubicBezTo>
                  <a:cubicBezTo>
                    <a:pt x="3" y="12"/>
                    <a:pt x="0" y="10"/>
                    <a:pt x="0" y="6"/>
                  </a:cubicBezTo>
                  <a:cubicBezTo>
                    <a:pt x="0" y="3"/>
                    <a:pt x="3" y="0"/>
                    <a:pt x="6" y="0"/>
                  </a:cubicBezTo>
                  <a:cubicBezTo>
                    <a:pt x="222" y="0"/>
                    <a:pt x="222" y="0"/>
                    <a:pt x="222" y="0"/>
                  </a:cubicBezTo>
                  <a:cubicBezTo>
                    <a:pt x="225" y="0"/>
                    <a:pt x="228" y="3"/>
                    <a:pt x="228" y="6"/>
                  </a:cubicBezTo>
                  <a:cubicBezTo>
                    <a:pt x="228" y="10"/>
                    <a:pt x="225" y="12"/>
                    <a:pt x="22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8" name="Freeform 151">
              <a:extLst>
                <a:ext uri="{FF2B5EF4-FFF2-40B4-BE49-F238E27FC236}">
                  <a16:creationId xmlns:a16="http://schemas.microsoft.com/office/drawing/2014/main" id="{E74142DE-F805-233D-5F2A-EA201C868413}"/>
                </a:ext>
              </a:extLst>
            </p:cNvPr>
            <p:cNvSpPr>
              <a:spLocks noGrp="1" noRot="1" noMove="1" noResize="1" noEditPoints="1" noAdjustHandles="1" noChangeArrowheads="1" noChangeShapeType="1"/>
            </p:cNvSpPr>
            <p:nvPr/>
          </p:nvSpPr>
          <p:spPr bwMode="auto">
            <a:xfrm>
              <a:off x="1369" y="3227"/>
              <a:ext cx="231" cy="18"/>
            </a:xfrm>
            <a:custGeom>
              <a:avLst/>
              <a:gdLst>
                <a:gd name="T0" fmla="*/ 150 w 156"/>
                <a:gd name="T1" fmla="*/ 12 h 12"/>
                <a:gd name="T2" fmla="*/ 6 w 156"/>
                <a:gd name="T3" fmla="*/ 12 h 12"/>
                <a:gd name="T4" fmla="*/ 0 w 156"/>
                <a:gd name="T5" fmla="*/ 6 h 12"/>
                <a:gd name="T6" fmla="*/ 6 w 156"/>
                <a:gd name="T7" fmla="*/ 0 h 12"/>
                <a:gd name="T8" fmla="*/ 150 w 156"/>
                <a:gd name="T9" fmla="*/ 0 h 12"/>
                <a:gd name="T10" fmla="*/ 156 w 156"/>
                <a:gd name="T11" fmla="*/ 6 h 12"/>
                <a:gd name="T12" fmla="*/ 150 w 1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56" h="12">
                  <a:moveTo>
                    <a:pt x="150" y="12"/>
                  </a:moveTo>
                  <a:cubicBezTo>
                    <a:pt x="6" y="12"/>
                    <a:pt x="6" y="12"/>
                    <a:pt x="6" y="12"/>
                  </a:cubicBezTo>
                  <a:cubicBezTo>
                    <a:pt x="3" y="12"/>
                    <a:pt x="0" y="10"/>
                    <a:pt x="0" y="6"/>
                  </a:cubicBezTo>
                  <a:cubicBezTo>
                    <a:pt x="0" y="3"/>
                    <a:pt x="3" y="0"/>
                    <a:pt x="6" y="0"/>
                  </a:cubicBezTo>
                  <a:cubicBezTo>
                    <a:pt x="150" y="0"/>
                    <a:pt x="150" y="0"/>
                    <a:pt x="150" y="0"/>
                  </a:cubicBezTo>
                  <a:cubicBezTo>
                    <a:pt x="153" y="0"/>
                    <a:pt x="156" y="3"/>
                    <a:pt x="156" y="6"/>
                  </a:cubicBezTo>
                  <a:cubicBezTo>
                    <a:pt x="156" y="10"/>
                    <a:pt x="153" y="12"/>
                    <a:pt x="150"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9" name="Freeform 152">
              <a:extLst>
                <a:ext uri="{FF2B5EF4-FFF2-40B4-BE49-F238E27FC236}">
                  <a16:creationId xmlns:a16="http://schemas.microsoft.com/office/drawing/2014/main" id="{D48F190B-BC2B-948A-23FD-EE50A4928035}"/>
                </a:ext>
              </a:extLst>
            </p:cNvPr>
            <p:cNvSpPr>
              <a:spLocks noGrp="1" noRot="1" noMove="1" noResize="1" noEditPoints="1" noAdjustHandles="1" noChangeArrowheads="1" noChangeShapeType="1"/>
            </p:cNvSpPr>
            <p:nvPr/>
          </p:nvSpPr>
          <p:spPr bwMode="auto">
            <a:xfrm>
              <a:off x="1582" y="2997"/>
              <a:ext cx="18" cy="248"/>
            </a:xfrm>
            <a:custGeom>
              <a:avLst/>
              <a:gdLst>
                <a:gd name="T0" fmla="*/ 6 w 12"/>
                <a:gd name="T1" fmla="*/ 168 h 168"/>
                <a:gd name="T2" fmla="*/ 0 w 12"/>
                <a:gd name="T3" fmla="*/ 162 h 168"/>
                <a:gd name="T4" fmla="*/ 0 w 12"/>
                <a:gd name="T5" fmla="*/ 6 h 168"/>
                <a:gd name="T6" fmla="*/ 6 w 12"/>
                <a:gd name="T7" fmla="*/ 0 h 168"/>
                <a:gd name="T8" fmla="*/ 12 w 12"/>
                <a:gd name="T9" fmla="*/ 6 h 168"/>
                <a:gd name="T10" fmla="*/ 12 w 12"/>
                <a:gd name="T11" fmla="*/ 162 h 168"/>
                <a:gd name="T12" fmla="*/ 6 w 12"/>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12" h="168">
                  <a:moveTo>
                    <a:pt x="6" y="168"/>
                  </a:moveTo>
                  <a:cubicBezTo>
                    <a:pt x="3" y="168"/>
                    <a:pt x="0" y="166"/>
                    <a:pt x="0" y="162"/>
                  </a:cubicBezTo>
                  <a:cubicBezTo>
                    <a:pt x="0" y="6"/>
                    <a:pt x="0" y="6"/>
                    <a:pt x="0" y="6"/>
                  </a:cubicBezTo>
                  <a:cubicBezTo>
                    <a:pt x="0" y="3"/>
                    <a:pt x="3" y="0"/>
                    <a:pt x="6" y="0"/>
                  </a:cubicBezTo>
                  <a:cubicBezTo>
                    <a:pt x="9" y="0"/>
                    <a:pt x="12" y="3"/>
                    <a:pt x="12" y="6"/>
                  </a:cubicBezTo>
                  <a:cubicBezTo>
                    <a:pt x="12" y="162"/>
                    <a:pt x="12" y="162"/>
                    <a:pt x="12" y="162"/>
                  </a:cubicBezTo>
                  <a:cubicBezTo>
                    <a:pt x="12" y="166"/>
                    <a:pt x="9" y="168"/>
                    <a:pt x="6" y="16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0" name="Freeform 153">
              <a:extLst>
                <a:ext uri="{FF2B5EF4-FFF2-40B4-BE49-F238E27FC236}">
                  <a16:creationId xmlns:a16="http://schemas.microsoft.com/office/drawing/2014/main" id="{70E2871A-D3DC-3F8E-D971-503B07D0FD4A}"/>
                </a:ext>
              </a:extLst>
            </p:cNvPr>
            <p:cNvSpPr>
              <a:spLocks noGrp="1" noRot="1" noMove="1" noResize="1" noEditPoints="1" noAdjustHandles="1" noChangeArrowheads="1" noChangeShapeType="1"/>
            </p:cNvSpPr>
            <p:nvPr/>
          </p:nvSpPr>
          <p:spPr bwMode="auto">
            <a:xfrm>
              <a:off x="1476" y="2997"/>
              <a:ext cx="18" cy="354"/>
            </a:xfrm>
            <a:custGeom>
              <a:avLst/>
              <a:gdLst>
                <a:gd name="T0" fmla="*/ 6 w 12"/>
                <a:gd name="T1" fmla="*/ 240 h 240"/>
                <a:gd name="T2" fmla="*/ 0 w 12"/>
                <a:gd name="T3" fmla="*/ 234 h 240"/>
                <a:gd name="T4" fmla="*/ 0 w 12"/>
                <a:gd name="T5" fmla="*/ 6 h 240"/>
                <a:gd name="T6" fmla="*/ 6 w 12"/>
                <a:gd name="T7" fmla="*/ 0 h 240"/>
                <a:gd name="T8" fmla="*/ 12 w 12"/>
                <a:gd name="T9" fmla="*/ 6 h 240"/>
                <a:gd name="T10" fmla="*/ 12 w 12"/>
                <a:gd name="T11" fmla="*/ 234 h 240"/>
                <a:gd name="T12" fmla="*/ 6 w 12"/>
                <a:gd name="T13" fmla="*/ 240 h 240"/>
              </a:gdLst>
              <a:ahLst/>
              <a:cxnLst>
                <a:cxn ang="0">
                  <a:pos x="T0" y="T1"/>
                </a:cxn>
                <a:cxn ang="0">
                  <a:pos x="T2" y="T3"/>
                </a:cxn>
                <a:cxn ang="0">
                  <a:pos x="T4" y="T5"/>
                </a:cxn>
                <a:cxn ang="0">
                  <a:pos x="T6" y="T7"/>
                </a:cxn>
                <a:cxn ang="0">
                  <a:pos x="T8" y="T9"/>
                </a:cxn>
                <a:cxn ang="0">
                  <a:pos x="T10" y="T11"/>
                </a:cxn>
                <a:cxn ang="0">
                  <a:pos x="T12" y="T13"/>
                </a:cxn>
              </a:cxnLst>
              <a:rect l="0" t="0" r="r" b="b"/>
              <a:pathLst>
                <a:path w="12" h="240">
                  <a:moveTo>
                    <a:pt x="6" y="240"/>
                  </a:moveTo>
                  <a:cubicBezTo>
                    <a:pt x="3" y="240"/>
                    <a:pt x="0" y="238"/>
                    <a:pt x="0" y="234"/>
                  </a:cubicBezTo>
                  <a:cubicBezTo>
                    <a:pt x="0" y="6"/>
                    <a:pt x="0" y="6"/>
                    <a:pt x="0" y="6"/>
                  </a:cubicBezTo>
                  <a:cubicBezTo>
                    <a:pt x="0" y="3"/>
                    <a:pt x="3" y="0"/>
                    <a:pt x="6" y="0"/>
                  </a:cubicBezTo>
                  <a:cubicBezTo>
                    <a:pt x="9" y="0"/>
                    <a:pt x="12" y="3"/>
                    <a:pt x="12" y="6"/>
                  </a:cubicBezTo>
                  <a:cubicBezTo>
                    <a:pt x="12" y="234"/>
                    <a:pt x="12" y="234"/>
                    <a:pt x="12" y="234"/>
                  </a:cubicBezTo>
                  <a:cubicBezTo>
                    <a:pt x="12" y="238"/>
                    <a:pt x="9" y="240"/>
                    <a:pt x="6"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1" name="Freeform 154">
              <a:extLst>
                <a:ext uri="{FF2B5EF4-FFF2-40B4-BE49-F238E27FC236}">
                  <a16:creationId xmlns:a16="http://schemas.microsoft.com/office/drawing/2014/main" id="{2E723ADA-3C70-D9D3-AEEA-120EF7F8D259}"/>
                </a:ext>
              </a:extLst>
            </p:cNvPr>
            <p:cNvSpPr>
              <a:spLocks noGrp="1" noRot="1" noMove="1" noResize="1" noEditPoints="1" noAdjustHandles="1" noChangeArrowheads="1" noChangeShapeType="1"/>
            </p:cNvSpPr>
            <p:nvPr/>
          </p:nvSpPr>
          <p:spPr bwMode="auto">
            <a:xfrm>
              <a:off x="1582" y="3209"/>
              <a:ext cx="214" cy="213"/>
            </a:xfrm>
            <a:custGeom>
              <a:avLst/>
              <a:gdLst>
                <a:gd name="T0" fmla="*/ 138 w 144"/>
                <a:gd name="T1" fmla="*/ 144 h 144"/>
                <a:gd name="T2" fmla="*/ 6 w 144"/>
                <a:gd name="T3" fmla="*/ 144 h 144"/>
                <a:gd name="T4" fmla="*/ 1 w 144"/>
                <a:gd name="T5" fmla="*/ 141 h 144"/>
                <a:gd name="T6" fmla="*/ 0 w 144"/>
                <a:gd name="T7" fmla="*/ 136 h 144"/>
                <a:gd name="T8" fmla="*/ 66 w 144"/>
                <a:gd name="T9" fmla="*/ 4 h 144"/>
                <a:gd name="T10" fmla="*/ 72 w 144"/>
                <a:gd name="T11" fmla="*/ 0 h 144"/>
                <a:gd name="T12" fmla="*/ 77 w 144"/>
                <a:gd name="T13" fmla="*/ 4 h 144"/>
                <a:gd name="T14" fmla="*/ 143 w 144"/>
                <a:gd name="T15" fmla="*/ 136 h 144"/>
                <a:gd name="T16" fmla="*/ 143 w 144"/>
                <a:gd name="T17" fmla="*/ 141 h 144"/>
                <a:gd name="T18" fmla="*/ 138 w 144"/>
                <a:gd name="T19" fmla="*/ 144 h 144"/>
                <a:gd name="T20" fmla="*/ 16 w 144"/>
                <a:gd name="T21" fmla="*/ 132 h 144"/>
                <a:gd name="T22" fmla="*/ 128 w 144"/>
                <a:gd name="T23" fmla="*/ 132 h 144"/>
                <a:gd name="T24" fmla="*/ 72 w 144"/>
                <a:gd name="T25" fmla="*/ 20 h 144"/>
                <a:gd name="T26" fmla="*/ 16 w 144"/>
                <a:gd name="T27" fmla="*/ 1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 h="144">
                  <a:moveTo>
                    <a:pt x="138" y="144"/>
                  </a:moveTo>
                  <a:cubicBezTo>
                    <a:pt x="6" y="144"/>
                    <a:pt x="6" y="144"/>
                    <a:pt x="6" y="144"/>
                  </a:cubicBezTo>
                  <a:cubicBezTo>
                    <a:pt x="4" y="144"/>
                    <a:pt x="2" y="143"/>
                    <a:pt x="1" y="141"/>
                  </a:cubicBezTo>
                  <a:cubicBezTo>
                    <a:pt x="0" y="140"/>
                    <a:pt x="0" y="137"/>
                    <a:pt x="0" y="136"/>
                  </a:cubicBezTo>
                  <a:cubicBezTo>
                    <a:pt x="66" y="4"/>
                    <a:pt x="66" y="4"/>
                    <a:pt x="66" y="4"/>
                  </a:cubicBezTo>
                  <a:cubicBezTo>
                    <a:pt x="67" y="2"/>
                    <a:pt x="70" y="0"/>
                    <a:pt x="72" y="0"/>
                  </a:cubicBezTo>
                  <a:cubicBezTo>
                    <a:pt x="74" y="0"/>
                    <a:pt x="76" y="2"/>
                    <a:pt x="77" y="4"/>
                  </a:cubicBezTo>
                  <a:cubicBezTo>
                    <a:pt x="143" y="136"/>
                    <a:pt x="143" y="136"/>
                    <a:pt x="143" y="136"/>
                  </a:cubicBezTo>
                  <a:cubicBezTo>
                    <a:pt x="144" y="137"/>
                    <a:pt x="144" y="140"/>
                    <a:pt x="143" y="141"/>
                  </a:cubicBezTo>
                  <a:cubicBezTo>
                    <a:pt x="142" y="143"/>
                    <a:pt x="140" y="144"/>
                    <a:pt x="138" y="144"/>
                  </a:cubicBezTo>
                  <a:close/>
                  <a:moveTo>
                    <a:pt x="16" y="132"/>
                  </a:moveTo>
                  <a:cubicBezTo>
                    <a:pt x="128" y="132"/>
                    <a:pt x="128" y="132"/>
                    <a:pt x="128" y="132"/>
                  </a:cubicBezTo>
                  <a:cubicBezTo>
                    <a:pt x="72" y="20"/>
                    <a:pt x="72" y="20"/>
                    <a:pt x="72" y="20"/>
                  </a:cubicBezTo>
                  <a:lnTo>
                    <a:pt x="16" y="132"/>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2" name="Freeform 155">
              <a:extLst>
                <a:ext uri="{FF2B5EF4-FFF2-40B4-BE49-F238E27FC236}">
                  <a16:creationId xmlns:a16="http://schemas.microsoft.com/office/drawing/2014/main" id="{2A185247-B065-C2DE-337B-569EA05FC98F}"/>
                </a:ext>
              </a:extLst>
            </p:cNvPr>
            <p:cNvSpPr>
              <a:spLocks noGrp="1" noRot="1" noMove="1" noResize="1" noEditPoints="1" noAdjustHandles="1" noChangeArrowheads="1" noChangeShapeType="1"/>
            </p:cNvSpPr>
            <p:nvPr/>
          </p:nvSpPr>
          <p:spPr bwMode="auto">
            <a:xfrm>
              <a:off x="1680" y="3289"/>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6"/>
                    <a:pt x="0" y="42"/>
                  </a:cubicBezTo>
                  <a:cubicBezTo>
                    <a:pt x="0" y="6"/>
                    <a:pt x="0" y="6"/>
                    <a:pt x="0" y="6"/>
                  </a:cubicBezTo>
                  <a:cubicBezTo>
                    <a:pt x="0" y="3"/>
                    <a:pt x="3" y="0"/>
                    <a:pt x="6" y="0"/>
                  </a:cubicBezTo>
                  <a:cubicBezTo>
                    <a:pt x="9" y="0"/>
                    <a:pt x="12" y="3"/>
                    <a:pt x="12" y="6"/>
                  </a:cubicBezTo>
                  <a:cubicBezTo>
                    <a:pt x="12" y="42"/>
                    <a:pt x="12" y="42"/>
                    <a:pt x="12" y="42"/>
                  </a:cubicBezTo>
                  <a:cubicBezTo>
                    <a:pt x="12" y="46"/>
                    <a:pt x="9" y="48"/>
                    <a:pt x="6" y="4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3" name="Oval 156">
              <a:extLst>
                <a:ext uri="{FF2B5EF4-FFF2-40B4-BE49-F238E27FC236}">
                  <a16:creationId xmlns:a16="http://schemas.microsoft.com/office/drawing/2014/main" id="{5FE6CE18-0BF1-838F-7004-63BCCBC7F2B9}"/>
                </a:ext>
              </a:extLst>
            </p:cNvPr>
            <p:cNvSpPr>
              <a:spLocks noGrp="1" noRot="1" noMove="1" noResize="1" noEditPoints="1" noAdjustHandles="1" noChangeArrowheads="1" noChangeShapeType="1"/>
            </p:cNvSpPr>
            <p:nvPr/>
          </p:nvSpPr>
          <p:spPr bwMode="auto">
            <a:xfrm>
              <a:off x="1680" y="3369"/>
              <a:ext cx="18" cy="18"/>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65" name="Graphic 64" descr="Internet with solid fill">
            <a:extLst>
              <a:ext uri="{FF2B5EF4-FFF2-40B4-BE49-F238E27FC236}">
                <a16:creationId xmlns:a16="http://schemas.microsoft.com/office/drawing/2014/main" id="{98122695-8B8E-AD17-EF38-87B3AAB1640F}"/>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8700172" y="3410870"/>
            <a:ext cx="332880" cy="332880"/>
          </a:xfrm>
          <a:prstGeom prst="rect">
            <a:avLst/>
          </a:prstGeom>
        </p:spPr>
      </p:pic>
      <p:grpSp>
        <p:nvGrpSpPr>
          <p:cNvPr id="66" name="Group 29">
            <a:extLst>
              <a:ext uri="{FF2B5EF4-FFF2-40B4-BE49-F238E27FC236}">
                <a16:creationId xmlns:a16="http://schemas.microsoft.com/office/drawing/2014/main" id="{0598E637-0E6F-3E8F-511F-A0001E17C7EA}"/>
              </a:ext>
            </a:extLst>
          </p:cNvPr>
          <p:cNvGrpSpPr>
            <a:grpSpLocks noGrp="1" noUngrp="1" noRot="1" noChangeAspect="1" noMove="1" noResize="1"/>
          </p:cNvGrpSpPr>
          <p:nvPr userDrawn="1"/>
        </p:nvGrpSpPr>
        <p:grpSpPr bwMode="auto">
          <a:xfrm>
            <a:off x="8706110" y="3766155"/>
            <a:ext cx="263527" cy="262909"/>
            <a:chOff x="3625" y="600"/>
            <a:chExt cx="427" cy="426"/>
          </a:xfrm>
          <a:solidFill>
            <a:schemeClr val="bg1"/>
          </a:solidFill>
        </p:grpSpPr>
        <p:sp>
          <p:nvSpPr>
            <p:cNvPr id="67" name="Freeform 30">
              <a:extLst>
                <a:ext uri="{FF2B5EF4-FFF2-40B4-BE49-F238E27FC236}">
                  <a16:creationId xmlns:a16="http://schemas.microsoft.com/office/drawing/2014/main" id="{131E08DA-90D1-CD78-65D6-F460A929B71B}"/>
                </a:ext>
              </a:extLst>
            </p:cNvPr>
            <p:cNvSpPr>
              <a:spLocks noGrp="1" noRot="1" noMove="1" noResize="1" noEditPoints="1" noAdjustHandles="1" noChangeArrowheads="1" noChangeShapeType="1"/>
            </p:cNvSpPr>
            <p:nvPr/>
          </p:nvSpPr>
          <p:spPr bwMode="auto">
            <a:xfrm>
              <a:off x="3625" y="600"/>
              <a:ext cx="427"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50 w 288"/>
                <a:gd name="T19" fmla="*/ 282 h 288"/>
                <a:gd name="T20" fmla="*/ 144 w 288"/>
                <a:gd name="T21"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88">
                  <a:moveTo>
                    <a:pt x="144" y="288"/>
                  </a:moveTo>
                  <a:cubicBezTo>
                    <a:pt x="64" y="288"/>
                    <a:pt x="0" y="224"/>
                    <a:pt x="0" y="144"/>
                  </a:cubicBezTo>
                  <a:cubicBezTo>
                    <a:pt x="0" y="65"/>
                    <a:pt x="64" y="0"/>
                    <a:pt x="144" y="0"/>
                  </a:cubicBezTo>
                  <a:cubicBezTo>
                    <a:pt x="223" y="0"/>
                    <a:pt x="288" y="65"/>
                    <a:pt x="288" y="144"/>
                  </a:cubicBezTo>
                  <a:cubicBezTo>
                    <a:pt x="288" y="148"/>
                    <a:pt x="285" y="150"/>
                    <a:pt x="282" y="150"/>
                  </a:cubicBezTo>
                  <a:cubicBezTo>
                    <a:pt x="279" y="150"/>
                    <a:pt x="276" y="148"/>
                    <a:pt x="276" y="144"/>
                  </a:cubicBezTo>
                  <a:cubicBezTo>
                    <a:pt x="276" y="71"/>
                    <a:pt x="217" y="12"/>
                    <a:pt x="144" y="12"/>
                  </a:cubicBezTo>
                  <a:cubicBezTo>
                    <a:pt x="71" y="12"/>
                    <a:pt x="12" y="71"/>
                    <a:pt x="12" y="144"/>
                  </a:cubicBezTo>
                  <a:cubicBezTo>
                    <a:pt x="12" y="217"/>
                    <a:pt x="71" y="276"/>
                    <a:pt x="144" y="276"/>
                  </a:cubicBezTo>
                  <a:cubicBezTo>
                    <a:pt x="147" y="276"/>
                    <a:pt x="150" y="279"/>
                    <a:pt x="150" y="282"/>
                  </a:cubicBezTo>
                  <a:cubicBezTo>
                    <a:pt x="150" y="286"/>
                    <a:pt x="147" y="288"/>
                    <a:pt x="144" y="28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8" name="Freeform 31">
              <a:extLst>
                <a:ext uri="{FF2B5EF4-FFF2-40B4-BE49-F238E27FC236}">
                  <a16:creationId xmlns:a16="http://schemas.microsoft.com/office/drawing/2014/main" id="{1FBCA1D2-3A5E-1ED2-F95E-9371BE5DAE0D}"/>
                </a:ext>
              </a:extLst>
            </p:cNvPr>
            <p:cNvSpPr>
              <a:spLocks noGrp="1" noRot="1" noMove="1" noResize="1" noEditPoints="1" noAdjustHandles="1" noChangeArrowheads="1" noChangeShapeType="1"/>
            </p:cNvSpPr>
            <p:nvPr/>
          </p:nvSpPr>
          <p:spPr bwMode="auto">
            <a:xfrm>
              <a:off x="3821" y="795"/>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2"/>
                    <a:pt x="12" y="78"/>
                  </a:cubicBezTo>
                  <a:cubicBezTo>
                    <a:pt x="12" y="115"/>
                    <a:pt x="41" y="144"/>
                    <a:pt x="78" y="144"/>
                  </a:cubicBezTo>
                  <a:cubicBezTo>
                    <a:pt x="114" y="144"/>
                    <a:pt x="144" y="115"/>
                    <a:pt x="144" y="78"/>
                  </a:cubicBezTo>
                  <a:cubicBezTo>
                    <a:pt x="144" y="42"/>
                    <a:pt x="114" y="12"/>
                    <a:pt x="78"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9" name="Freeform 32">
              <a:extLst>
                <a:ext uri="{FF2B5EF4-FFF2-40B4-BE49-F238E27FC236}">
                  <a16:creationId xmlns:a16="http://schemas.microsoft.com/office/drawing/2014/main" id="{5BB3C397-8DC9-4C89-29D6-001647A75050}"/>
                </a:ext>
              </a:extLst>
            </p:cNvPr>
            <p:cNvSpPr>
              <a:spLocks noGrp="1" noRot="1" noMove="1" noResize="1" noEditPoints="1" noAdjustHandles="1" noChangeArrowheads="1" noChangeShapeType="1"/>
            </p:cNvSpPr>
            <p:nvPr/>
          </p:nvSpPr>
          <p:spPr bwMode="auto">
            <a:xfrm>
              <a:off x="3902" y="851"/>
              <a:ext cx="68" cy="117"/>
            </a:xfrm>
            <a:custGeom>
              <a:avLst/>
              <a:gdLst>
                <a:gd name="T0" fmla="*/ 23 w 46"/>
                <a:gd name="T1" fmla="*/ 79 h 79"/>
                <a:gd name="T2" fmla="*/ 0 w 46"/>
                <a:gd name="T3" fmla="*/ 56 h 79"/>
                <a:gd name="T4" fmla="*/ 6 w 46"/>
                <a:gd name="T5" fmla="*/ 50 h 79"/>
                <a:gd name="T6" fmla="*/ 12 w 46"/>
                <a:gd name="T7" fmla="*/ 56 h 79"/>
                <a:gd name="T8" fmla="*/ 23 w 46"/>
                <a:gd name="T9" fmla="*/ 67 h 79"/>
                <a:gd name="T10" fmla="*/ 34 w 46"/>
                <a:gd name="T11" fmla="*/ 56 h 79"/>
                <a:gd name="T12" fmla="*/ 23 w 46"/>
                <a:gd name="T13" fmla="*/ 45 h 79"/>
                <a:gd name="T14" fmla="*/ 0 w 46"/>
                <a:gd name="T15" fmla="*/ 23 h 79"/>
                <a:gd name="T16" fmla="*/ 23 w 46"/>
                <a:gd name="T17" fmla="*/ 0 h 79"/>
                <a:gd name="T18" fmla="*/ 46 w 46"/>
                <a:gd name="T19" fmla="*/ 23 h 79"/>
                <a:gd name="T20" fmla="*/ 40 w 46"/>
                <a:gd name="T21" fmla="*/ 29 h 79"/>
                <a:gd name="T22" fmla="*/ 34 w 46"/>
                <a:gd name="T23" fmla="*/ 23 h 79"/>
                <a:gd name="T24" fmla="*/ 23 w 46"/>
                <a:gd name="T25" fmla="*/ 12 h 79"/>
                <a:gd name="T26" fmla="*/ 12 w 46"/>
                <a:gd name="T27" fmla="*/ 23 h 79"/>
                <a:gd name="T28" fmla="*/ 23 w 46"/>
                <a:gd name="T29" fmla="*/ 33 h 79"/>
                <a:gd name="T30" fmla="*/ 46 w 46"/>
                <a:gd name="T31" fmla="*/ 56 h 79"/>
                <a:gd name="T32" fmla="*/ 23 w 46"/>
                <a:gd name="T33"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79">
                  <a:moveTo>
                    <a:pt x="23" y="79"/>
                  </a:moveTo>
                  <a:cubicBezTo>
                    <a:pt x="10" y="79"/>
                    <a:pt x="0" y="69"/>
                    <a:pt x="0" y="56"/>
                  </a:cubicBezTo>
                  <a:cubicBezTo>
                    <a:pt x="0" y="53"/>
                    <a:pt x="3" y="50"/>
                    <a:pt x="6" y="50"/>
                  </a:cubicBezTo>
                  <a:cubicBezTo>
                    <a:pt x="9" y="50"/>
                    <a:pt x="12" y="53"/>
                    <a:pt x="12" y="56"/>
                  </a:cubicBezTo>
                  <a:cubicBezTo>
                    <a:pt x="12" y="62"/>
                    <a:pt x="17" y="67"/>
                    <a:pt x="23" y="67"/>
                  </a:cubicBezTo>
                  <a:cubicBezTo>
                    <a:pt x="29" y="67"/>
                    <a:pt x="34" y="62"/>
                    <a:pt x="34" y="56"/>
                  </a:cubicBezTo>
                  <a:cubicBezTo>
                    <a:pt x="34" y="50"/>
                    <a:pt x="29" y="45"/>
                    <a:pt x="23" y="45"/>
                  </a:cubicBezTo>
                  <a:cubicBezTo>
                    <a:pt x="10" y="45"/>
                    <a:pt x="0" y="35"/>
                    <a:pt x="0" y="23"/>
                  </a:cubicBezTo>
                  <a:cubicBezTo>
                    <a:pt x="0" y="10"/>
                    <a:pt x="10" y="0"/>
                    <a:pt x="23" y="0"/>
                  </a:cubicBezTo>
                  <a:cubicBezTo>
                    <a:pt x="35" y="0"/>
                    <a:pt x="46" y="10"/>
                    <a:pt x="46" y="23"/>
                  </a:cubicBezTo>
                  <a:cubicBezTo>
                    <a:pt x="46" y="26"/>
                    <a:pt x="43" y="29"/>
                    <a:pt x="40" y="29"/>
                  </a:cubicBezTo>
                  <a:cubicBezTo>
                    <a:pt x="36" y="29"/>
                    <a:pt x="34" y="26"/>
                    <a:pt x="34" y="23"/>
                  </a:cubicBezTo>
                  <a:cubicBezTo>
                    <a:pt x="34" y="17"/>
                    <a:pt x="29" y="12"/>
                    <a:pt x="23" y="12"/>
                  </a:cubicBezTo>
                  <a:cubicBezTo>
                    <a:pt x="17" y="12"/>
                    <a:pt x="12" y="17"/>
                    <a:pt x="12" y="23"/>
                  </a:cubicBezTo>
                  <a:cubicBezTo>
                    <a:pt x="12" y="29"/>
                    <a:pt x="17" y="33"/>
                    <a:pt x="23" y="33"/>
                  </a:cubicBezTo>
                  <a:cubicBezTo>
                    <a:pt x="35" y="33"/>
                    <a:pt x="46" y="44"/>
                    <a:pt x="46" y="56"/>
                  </a:cubicBezTo>
                  <a:cubicBezTo>
                    <a:pt x="46" y="69"/>
                    <a:pt x="35" y="79"/>
                    <a:pt x="23" y="79"/>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0" name="Freeform 33">
              <a:extLst>
                <a:ext uri="{FF2B5EF4-FFF2-40B4-BE49-F238E27FC236}">
                  <a16:creationId xmlns:a16="http://schemas.microsoft.com/office/drawing/2014/main" id="{98E014B9-30DD-4A02-BA76-622868153D63}"/>
                </a:ext>
              </a:extLst>
            </p:cNvPr>
            <p:cNvSpPr>
              <a:spLocks noGrp="1" noRot="1" noMove="1" noResize="1" noEditPoints="1" noAdjustHandles="1" noChangeArrowheads="1" noChangeShapeType="1"/>
            </p:cNvSpPr>
            <p:nvPr/>
          </p:nvSpPr>
          <p:spPr bwMode="auto">
            <a:xfrm>
              <a:off x="3927" y="951"/>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2"/>
                    <a:pt x="3" y="0"/>
                    <a:pt x="6" y="0"/>
                  </a:cubicBezTo>
                  <a:cubicBezTo>
                    <a:pt x="9" y="0"/>
                    <a:pt x="12" y="2"/>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1" name="Freeform 34">
              <a:extLst>
                <a:ext uri="{FF2B5EF4-FFF2-40B4-BE49-F238E27FC236}">
                  <a16:creationId xmlns:a16="http://schemas.microsoft.com/office/drawing/2014/main" id="{F9B5E6C6-21CE-B802-1438-59FA3277ECDE}"/>
                </a:ext>
              </a:extLst>
            </p:cNvPr>
            <p:cNvSpPr>
              <a:spLocks noGrp="1" noRot="1" noMove="1" noResize="1" noEditPoints="1" noAdjustHandles="1" noChangeArrowheads="1" noChangeShapeType="1"/>
            </p:cNvSpPr>
            <p:nvPr/>
          </p:nvSpPr>
          <p:spPr bwMode="auto">
            <a:xfrm>
              <a:off x="3927" y="835"/>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3"/>
                    <a:pt x="3" y="0"/>
                    <a:pt x="6" y="0"/>
                  </a:cubicBezTo>
                  <a:cubicBezTo>
                    <a:pt x="9" y="0"/>
                    <a:pt x="12" y="3"/>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2" name="Freeform 35">
              <a:extLst>
                <a:ext uri="{FF2B5EF4-FFF2-40B4-BE49-F238E27FC236}">
                  <a16:creationId xmlns:a16="http://schemas.microsoft.com/office/drawing/2014/main" id="{E6A2991B-0DB3-557C-E21C-016019BB29BC}"/>
                </a:ext>
              </a:extLst>
            </p:cNvPr>
            <p:cNvSpPr>
              <a:spLocks noGrp="1" noRot="1" noMove="1" noResize="1" noEditPoints="1" noAdjustHandles="1" noChangeArrowheads="1" noChangeShapeType="1"/>
            </p:cNvSpPr>
            <p:nvPr/>
          </p:nvSpPr>
          <p:spPr bwMode="auto">
            <a:xfrm>
              <a:off x="3695" y="607"/>
              <a:ext cx="213" cy="313"/>
            </a:xfrm>
            <a:custGeom>
              <a:avLst/>
              <a:gdLst>
                <a:gd name="T0" fmla="*/ 67 w 144"/>
                <a:gd name="T1" fmla="*/ 211 h 211"/>
                <a:gd name="T2" fmla="*/ 61 w 144"/>
                <a:gd name="T3" fmla="*/ 205 h 211"/>
                <a:gd name="T4" fmla="*/ 61 w 144"/>
                <a:gd name="T5" fmla="*/ 178 h 211"/>
                <a:gd name="T6" fmla="*/ 3 w 144"/>
                <a:gd name="T7" fmla="*/ 132 h 211"/>
                <a:gd name="T8" fmla="*/ 2 w 144"/>
                <a:gd name="T9" fmla="*/ 124 h 211"/>
                <a:gd name="T10" fmla="*/ 29 w 144"/>
                <a:gd name="T11" fmla="*/ 82 h 211"/>
                <a:gd name="T12" fmla="*/ 34 w 144"/>
                <a:gd name="T13" fmla="*/ 79 h 211"/>
                <a:gd name="T14" fmla="*/ 97 w 144"/>
                <a:gd name="T15" fmla="*/ 79 h 211"/>
                <a:gd name="T16" fmla="*/ 97 w 144"/>
                <a:gd name="T17" fmla="*/ 52 h 211"/>
                <a:gd name="T18" fmla="*/ 82 w 144"/>
                <a:gd name="T19" fmla="*/ 42 h 211"/>
                <a:gd name="T20" fmla="*/ 79 w 144"/>
                <a:gd name="T21" fmla="*/ 37 h 211"/>
                <a:gd name="T22" fmla="*/ 82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9 w 144"/>
                <a:gd name="T35" fmla="*/ 49 h 211"/>
                <a:gd name="T36" fmla="*/ 109 w 144"/>
                <a:gd name="T37" fmla="*/ 85 h 211"/>
                <a:gd name="T38" fmla="*/ 103 w 144"/>
                <a:gd name="T39" fmla="*/ 91 h 211"/>
                <a:gd name="T40" fmla="*/ 37 w 144"/>
                <a:gd name="T41" fmla="*/ 91 h 211"/>
                <a:gd name="T42" fmla="*/ 15 w 144"/>
                <a:gd name="T43" fmla="*/ 126 h 211"/>
                <a:gd name="T44" fmla="*/ 71 w 144"/>
                <a:gd name="T45" fmla="*/ 171 h 211"/>
                <a:gd name="T46" fmla="*/ 73 w 144"/>
                <a:gd name="T47" fmla="*/ 175 h 211"/>
                <a:gd name="T48" fmla="*/ 73 w 144"/>
                <a:gd name="T49" fmla="*/ 205 h 211"/>
                <a:gd name="T50" fmla="*/ 67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7" y="211"/>
                  </a:moveTo>
                  <a:cubicBezTo>
                    <a:pt x="64" y="211"/>
                    <a:pt x="61" y="209"/>
                    <a:pt x="61" y="205"/>
                  </a:cubicBezTo>
                  <a:cubicBezTo>
                    <a:pt x="61" y="178"/>
                    <a:pt x="61" y="178"/>
                    <a:pt x="61" y="178"/>
                  </a:cubicBezTo>
                  <a:cubicBezTo>
                    <a:pt x="3" y="132"/>
                    <a:pt x="3" y="132"/>
                    <a:pt x="3" y="132"/>
                  </a:cubicBezTo>
                  <a:cubicBezTo>
                    <a:pt x="1" y="130"/>
                    <a:pt x="0" y="127"/>
                    <a:pt x="2" y="124"/>
                  </a:cubicBezTo>
                  <a:cubicBezTo>
                    <a:pt x="29" y="82"/>
                    <a:pt x="29" y="82"/>
                    <a:pt x="29" y="82"/>
                  </a:cubicBezTo>
                  <a:cubicBezTo>
                    <a:pt x="30" y="80"/>
                    <a:pt x="32" y="79"/>
                    <a:pt x="34" y="79"/>
                  </a:cubicBezTo>
                  <a:cubicBezTo>
                    <a:pt x="97" y="79"/>
                    <a:pt x="97" y="79"/>
                    <a:pt x="97" y="79"/>
                  </a:cubicBezTo>
                  <a:cubicBezTo>
                    <a:pt x="97" y="52"/>
                    <a:pt x="97" y="52"/>
                    <a:pt x="97" y="52"/>
                  </a:cubicBezTo>
                  <a:cubicBezTo>
                    <a:pt x="82" y="42"/>
                    <a:pt x="82" y="42"/>
                    <a:pt x="82" y="42"/>
                  </a:cubicBezTo>
                  <a:cubicBezTo>
                    <a:pt x="80" y="41"/>
                    <a:pt x="79" y="39"/>
                    <a:pt x="79" y="37"/>
                  </a:cubicBezTo>
                  <a:cubicBezTo>
                    <a:pt x="79" y="35"/>
                    <a:pt x="80" y="33"/>
                    <a:pt x="82" y="32"/>
                  </a:cubicBezTo>
                  <a:cubicBezTo>
                    <a:pt x="134" y="2"/>
                    <a:pt x="134" y="2"/>
                    <a:pt x="134" y="2"/>
                  </a:cubicBezTo>
                  <a:cubicBezTo>
                    <a:pt x="137" y="0"/>
                    <a:pt x="141" y="1"/>
                    <a:pt x="142" y="4"/>
                  </a:cubicBezTo>
                  <a:cubicBezTo>
                    <a:pt x="144" y="7"/>
                    <a:pt x="143" y="11"/>
                    <a:pt x="140" y="12"/>
                  </a:cubicBezTo>
                  <a:cubicBezTo>
                    <a:pt x="96" y="38"/>
                    <a:pt x="96" y="38"/>
                    <a:pt x="96" y="38"/>
                  </a:cubicBezTo>
                  <a:cubicBezTo>
                    <a:pt x="106" y="44"/>
                    <a:pt x="106" y="44"/>
                    <a:pt x="106" y="44"/>
                  </a:cubicBezTo>
                  <a:cubicBezTo>
                    <a:pt x="108" y="45"/>
                    <a:pt x="109" y="47"/>
                    <a:pt x="109" y="49"/>
                  </a:cubicBezTo>
                  <a:cubicBezTo>
                    <a:pt x="109" y="85"/>
                    <a:pt x="109" y="85"/>
                    <a:pt x="109" y="85"/>
                  </a:cubicBezTo>
                  <a:cubicBezTo>
                    <a:pt x="109" y="89"/>
                    <a:pt x="106" y="91"/>
                    <a:pt x="103" y="91"/>
                  </a:cubicBezTo>
                  <a:cubicBezTo>
                    <a:pt x="37" y="91"/>
                    <a:pt x="37" y="91"/>
                    <a:pt x="37" y="91"/>
                  </a:cubicBezTo>
                  <a:cubicBezTo>
                    <a:pt x="15" y="126"/>
                    <a:pt x="15" y="126"/>
                    <a:pt x="15" y="126"/>
                  </a:cubicBezTo>
                  <a:cubicBezTo>
                    <a:pt x="71" y="171"/>
                    <a:pt x="71" y="171"/>
                    <a:pt x="71" y="171"/>
                  </a:cubicBezTo>
                  <a:cubicBezTo>
                    <a:pt x="72" y="172"/>
                    <a:pt x="73" y="173"/>
                    <a:pt x="73" y="175"/>
                  </a:cubicBezTo>
                  <a:cubicBezTo>
                    <a:pt x="73" y="205"/>
                    <a:pt x="73" y="205"/>
                    <a:pt x="73" y="205"/>
                  </a:cubicBezTo>
                  <a:cubicBezTo>
                    <a:pt x="73" y="209"/>
                    <a:pt x="70" y="211"/>
                    <a:pt x="67" y="211"/>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3" name="Freeform 36">
              <a:extLst>
                <a:ext uri="{FF2B5EF4-FFF2-40B4-BE49-F238E27FC236}">
                  <a16:creationId xmlns:a16="http://schemas.microsoft.com/office/drawing/2014/main" id="{152CDA7D-3D68-3D0A-CBAA-429B459779CE}"/>
                </a:ext>
              </a:extLst>
            </p:cNvPr>
            <p:cNvSpPr>
              <a:spLocks noGrp="1" noRot="1" noMove="1" noResize="1" noEditPoints="1" noAdjustHandles="1" noChangeArrowheads="1" noChangeShapeType="1"/>
            </p:cNvSpPr>
            <p:nvPr/>
          </p:nvSpPr>
          <p:spPr bwMode="auto">
            <a:xfrm>
              <a:off x="3886" y="665"/>
              <a:ext cx="114" cy="108"/>
            </a:xfrm>
            <a:custGeom>
              <a:avLst/>
              <a:gdLst>
                <a:gd name="T0" fmla="*/ 7 w 77"/>
                <a:gd name="T1" fmla="*/ 73 h 73"/>
                <a:gd name="T2" fmla="*/ 3 w 77"/>
                <a:gd name="T3" fmla="*/ 71 h 73"/>
                <a:gd name="T4" fmla="*/ 3 w 77"/>
                <a:gd name="T5" fmla="*/ 63 h 73"/>
                <a:gd name="T6" fmla="*/ 24 w 77"/>
                <a:gd name="T7" fmla="*/ 42 h 73"/>
                <a:gd name="T8" fmla="*/ 28 w 77"/>
                <a:gd name="T9" fmla="*/ 40 h 73"/>
                <a:gd name="T10" fmla="*/ 45 w 77"/>
                <a:gd name="T11" fmla="*/ 40 h 73"/>
                <a:gd name="T12" fmla="*/ 65 w 77"/>
                <a:gd name="T13" fmla="*/ 4 h 73"/>
                <a:gd name="T14" fmla="*/ 73 w 77"/>
                <a:gd name="T15" fmla="*/ 2 h 73"/>
                <a:gd name="T16" fmla="*/ 75 w 77"/>
                <a:gd name="T17" fmla="*/ 10 h 73"/>
                <a:gd name="T18" fmla="*/ 54 w 77"/>
                <a:gd name="T19" fmla="*/ 49 h 73"/>
                <a:gd name="T20" fmla="*/ 49 w 77"/>
                <a:gd name="T21" fmla="*/ 52 h 73"/>
                <a:gd name="T22" fmla="*/ 30 w 77"/>
                <a:gd name="T23" fmla="*/ 52 h 73"/>
                <a:gd name="T24" fmla="*/ 11 w 77"/>
                <a:gd name="T25" fmla="*/ 71 h 73"/>
                <a:gd name="T26" fmla="*/ 7 w 77"/>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73">
                  <a:moveTo>
                    <a:pt x="7" y="73"/>
                  </a:moveTo>
                  <a:cubicBezTo>
                    <a:pt x="5" y="73"/>
                    <a:pt x="4" y="73"/>
                    <a:pt x="3" y="71"/>
                  </a:cubicBezTo>
                  <a:cubicBezTo>
                    <a:pt x="0" y="69"/>
                    <a:pt x="0" y="65"/>
                    <a:pt x="3" y="63"/>
                  </a:cubicBezTo>
                  <a:cubicBezTo>
                    <a:pt x="24" y="42"/>
                    <a:pt x="24" y="42"/>
                    <a:pt x="24" y="42"/>
                  </a:cubicBezTo>
                  <a:cubicBezTo>
                    <a:pt x="25" y="41"/>
                    <a:pt x="26" y="40"/>
                    <a:pt x="28" y="40"/>
                  </a:cubicBezTo>
                  <a:cubicBezTo>
                    <a:pt x="45" y="40"/>
                    <a:pt x="45" y="40"/>
                    <a:pt x="45" y="40"/>
                  </a:cubicBezTo>
                  <a:cubicBezTo>
                    <a:pt x="65" y="4"/>
                    <a:pt x="65" y="4"/>
                    <a:pt x="65" y="4"/>
                  </a:cubicBezTo>
                  <a:cubicBezTo>
                    <a:pt x="66" y="2"/>
                    <a:pt x="70" y="0"/>
                    <a:pt x="73" y="2"/>
                  </a:cubicBezTo>
                  <a:cubicBezTo>
                    <a:pt x="76" y="4"/>
                    <a:pt x="77" y="7"/>
                    <a:pt x="75" y="10"/>
                  </a:cubicBezTo>
                  <a:cubicBezTo>
                    <a:pt x="54" y="49"/>
                    <a:pt x="54" y="49"/>
                    <a:pt x="54" y="49"/>
                  </a:cubicBezTo>
                  <a:cubicBezTo>
                    <a:pt x="53" y="51"/>
                    <a:pt x="51" y="52"/>
                    <a:pt x="49" y="52"/>
                  </a:cubicBezTo>
                  <a:cubicBezTo>
                    <a:pt x="30" y="52"/>
                    <a:pt x="30" y="52"/>
                    <a:pt x="30" y="52"/>
                  </a:cubicBezTo>
                  <a:cubicBezTo>
                    <a:pt x="11" y="71"/>
                    <a:pt x="11" y="71"/>
                    <a:pt x="11" y="71"/>
                  </a:cubicBezTo>
                  <a:cubicBezTo>
                    <a:pt x="10" y="73"/>
                    <a:pt x="8" y="73"/>
                    <a:pt x="7" y="7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75" name="Graphic 74" descr="Warning outline">
            <a:extLst>
              <a:ext uri="{FF2B5EF4-FFF2-40B4-BE49-F238E27FC236}">
                <a16:creationId xmlns:a16="http://schemas.microsoft.com/office/drawing/2014/main" id="{2DE9D042-E8AF-77B2-685F-27B67E3AA9FA}"/>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8719357" y="2450825"/>
            <a:ext cx="259001" cy="259001"/>
          </a:xfrm>
          <a:prstGeom prst="rect">
            <a:avLst/>
          </a:prstGeom>
        </p:spPr>
      </p:pic>
      <p:sp>
        <p:nvSpPr>
          <p:cNvPr id="76" name="Title 1">
            <a:extLst>
              <a:ext uri="{FF2B5EF4-FFF2-40B4-BE49-F238E27FC236}">
                <a16:creationId xmlns:a16="http://schemas.microsoft.com/office/drawing/2014/main" id="{CC8E3926-B814-07F3-EA99-88880B2D174E}"/>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Engagement Partners</a:t>
            </a:r>
            <a:endParaRPr lang="en-AE" dirty="0"/>
          </a:p>
        </p:txBody>
      </p:sp>
      <p:sp>
        <p:nvSpPr>
          <p:cNvPr id="77" name="TextBox 76">
            <a:extLst>
              <a:ext uri="{FF2B5EF4-FFF2-40B4-BE49-F238E27FC236}">
                <a16:creationId xmlns:a16="http://schemas.microsoft.com/office/drawing/2014/main" id="{5495B9DB-2223-7720-007E-FD13CCBBF622}"/>
              </a:ext>
            </a:extLst>
          </p:cNvPr>
          <p:cNvSpPr txBox="1">
            <a:spLocks noGrp="1" noRot="1" noMove="1" noResize="1" noEditPoints="1" noAdjustHandles="1" noChangeArrowheads="1" noChangeShapeType="1"/>
          </p:cNvSpPr>
          <p:nvPr userDrawn="1"/>
        </p:nvSpPr>
        <p:spPr>
          <a:xfrm>
            <a:off x="900602" y="1305404"/>
            <a:ext cx="712506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Client Excellence</a:t>
            </a:r>
          </a:p>
        </p:txBody>
      </p:sp>
    </p:spTree>
    <p:extLst>
      <p:ext uri="{BB962C8B-B14F-4D97-AF65-F5344CB8AC3E}">
        <p14:creationId xmlns:p14="http://schemas.microsoft.com/office/powerpoint/2010/main" val="41608624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p:cNvSpPr>
          <p:nvPr>
            <p:ph idx="1" hasCustomPrompt="1"/>
          </p:nvPr>
        </p:nvSpPr>
        <p:spPr>
          <a:xfrm>
            <a:off x="838200" y="4433853"/>
            <a:ext cx="7243012" cy="1743110"/>
          </a:xfrm>
        </p:spPr>
        <p:txBody>
          <a:bodyPr/>
          <a:lstStyle>
            <a:lvl1pPr>
              <a:defRPr sz="900"/>
            </a:lvl1pPr>
            <a:lvl2pPr>
              <a:defRPr sz="7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5B1451D5-A6AB-0A43-AF31-BAE02F9C113D}"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57296" y="1309784"/>
            <a:ext cx="2792995" cy="584775"/>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Transparent &amp; Value-Driven Pricing</a:t>
            </a:r>
          </a:p>
        </p:txBody>
      </p:sp>
      <p:sp>
        <p:nvSpPr>
          <p:cNvPr id="4" name="Title 1">
            <a:extLst>
              <a:ext uri="{FF2B5EF4-FFF2-40B4-BE49-F238E27FC236}">
                <a16:creationId xmlns:a16="http://schemas.microsoft.com/office/drawing/2014/main" id="{FAD61149-8229-E21A-EF18-7AECB3210A93}"/>
              </a:ext>
            </a:extLst>
          </p:cNvPr>
          <p:cNvSpPr txBox="1"/>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Commercial Proposal for Maximum Value</a:t>
            </a:r>
            <a:endParaRPr lang="en-AE" dirty="0"/>
          </a:p>
        </p:txBody>
      </p:sp>
      <p:sp>
        <p:nvSpPr>
          <p:cNvPr id="15" name="TextBox 14">
            <a:extLst>
              <a:ext uri="{FF2B5EF4-FFF2-40B4-BE49-F238E27FC236}">
                <a16:creationId xmlns:a16="http://schemas.microsoft.com/office/drawing/2014/main" id="{A341D621-5A78-0BF0-37D3-39C99484F389}"/>
              </a:ext>
            </a:extLst>
          </p:cNvPr>
          <p:cNvSpPr txBox="1"/>
          <p:nvPr userDrawn="1"/>
        </p:nvSpPr>
        <p:spPr>
          <a:xfrm>
            <a:off x="8257297" y="1956894"/>
            <a:ext cx="2792995" cy="4147289"/>
          </a:xfrm>
          <a:prstGeom prst="rect">
            <a:avLst/>
          </a:prstGeom>
          <a:noFill/>
        </p:spPr>
        <p:txBody>
          <a:bodyPr wrap="square">
            <a:spAutoFit/>
          </a:bodyPr>
          <a:lstStyle/>
          <a:p>
            <a:pPr marL="285750" indent="-285750" algn="just">
              <a:buFont typeface="Arial" panose="020B0604020202020204" pitchFamily="34" charset="0"/>
              <a:buChar char="•"/>
            </a:pPr>
            <a:r>
              <a:rPr lang="en-GB" sz="850" dirty="0">
                <a:solidFill>
                  <a:schemeClr val="bg1"/>
                </a:solidFill>
              </a:rPr>
              <a:t>Our fee structure is designed to reflect the level of responsibility, expertise, and time commitment required to successfully execute your mandate. We pride ourselves on offering competitive rates that align with the resource commitment and personalized service we provide.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Our hands-on approach ensures that we contribute significantly to the effort needed for a successful outcome, allowing your team to focus on core business activities without operational interruptions.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This proposal is based on our estimated time costs, calculated using our standard rates that account for the experience and seniority of the staff involved.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We are committed to providing transparency and value, ensuring you understand the benefits of engaging Pnyx Hill as your service provider.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Any additional fees will be communicated and agreed upon in advance, ensuring there are no surprises.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By choosing us, you can be confident in receiving dedicated support that enables your front office to achieve commercial objectives while we handle the complexities of compliance and regulatory requirements.</a:t>
            </a:r>
          </a:p>
        </p:txBody>
      </p:sp>
    </p:spTree>
    <p:extLst>
      <p:ext uri="{BB962C8B-B14F-4D97-AF65-F5344CB8AC3E}">
        <p14:creationId xmlns:p14="http://schemas.microsoft.com/office/powerpoint/2010/main" val="2265164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703BD479-8D0B-05E2-C295-FAC9DB1DE323}"/>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452506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0AD7841D-6EC2-B3D3-EFA3-53117598B1D9}"/>
              </a:ext>
            </a:extLst>
          </p:cNvPr>
          <p:cNvSpPr>
            <a:spLocks noGrp="1"/>
          </p:cNvSpPr>
          <p:nvPr>
            <p:ph type="dt" sz="half" idx="10"/>
          </p:nvPr>
        </p:nvSpPr>
        <p:spPr>
          <a:xfrm>
            <a:off x="2018488" y="6356350"/>
            <a:ext cx="1562912" cy="365125"/>
          </a:xfrm>
        </p:spPr>
        <p:txBody>
          <a:bodyPr/>
          <a:lstStyle>
            <a:lvl1pPr algn="r">
              <a:defRPr sz="1000"/>
            </a:lvl1pPr>
          </a:lstStyle>
          <a:p>
            <a:fld id="{6288F501-14FD-8647-8CE2-05776A932237}" type="datetime1">
              <a:rPr lang="en-US" smtClean="0"/>
              <a:t>11/19/2025</a:t>
            </a:fld>
            <a:endParaRPr lang="en-AE"/>
          </a:p>
        </p:txBody>
      </p:sp>
      <p:sp>
        <p:nvSpPr>
          <p:cNvPr id="6" name="Slide Number Placeholder 5">
            <a:extLst>
              <a:ext uri="{FF2B5EF4-FFF2-40B4-BE49-F238E27FC236}">
                <a16:creationId xmlns:a16="http://schemas.microsoft.com/office/drawing/2014/main" id="{230CE271-72F2-688B-3011-83FB7EA0EF45}"/>
              </a:ext>
            </a:extLst>
          </p:cNvPr>
          <p:cNvSpPr>
            <a:spLocks noGrp="1" noRot="1" noMove="1" noResize="1" noEditPoints="1" noAdjustHandles="1" noChangeArrowheads="1" noChangeShapeType="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6811246" y="686060"/>
            <a:ext cx="3127484" cy="967495"/>
          </a:xfrm>
          <a:prstGeom prst="rect">
            <a:avLst/>
          </a:prstGeom>
        </p:spPr>
      </p:pic>
      <p:pic>
        <p:nvPicPr>
          <p:cNvPr id="10" name="Picture 2">
            <a:extLst>
              <a:ext uri="{FF2B5EF4-FFF2-40B4-BE49-F238E27FC236}">
                <a16:creationId xmlns:a16="http://schemas.microsoft.com/office/drawing/2014/main" id="{BAE3F37B-EE43-82B0-5586-5199F8C0DFAC}"/>
              </a:ext>
            </a:extLst>
          </p:cNvPr>
          <p:cNvPicPr>
            <a:picLocks noGrp="1" noRot="1" noChangeAspect="1" noMove="1" noResize="1" noEditPoints="1" noAdjustHandles="1" noChangeArrowheads="1" noChangeShapeType="1" noCrop="1"/>
          </p:cNvPicPr>
          <p:nvPr userDrawn="1"/>
        </p:nvPicPr>
        <p:blipFill>
          <a:blip r:embed="rId4" cstate="print">
            <a:extLst>
              <a:ext uri="{28A0092B-C50C-407E-A947-70E740481C1C}">
                <a14:useLocalDpi xmlns:a14="http://schemas.microsoft.com/office/drawing/2010/main"/>
              </a:ext>
            </a:extLst>
          </a:blip>
          <a:srcRect/>
          <a:stretch/>
        </p:blipFill>
        <p:spPr bwMode="auto">
          <a:xfrm>
            <a:off x="5986197" y="5811316"/>
            <a:ext cx="559183" cy="300894"/>
          </a:xfrm>
          <a:prstGeom prst="rect">
            <a:avLst/>
          </a:prstGeom>
          <a:noFill/>
          <a:extLst>
            <a:ext uri="{909E8E84-426E-40DD-AFC4-6F175D3DCCD1}">
              <a14:hiddenFill xmlns:a14="http://schemas.microsoft.com/office/drawing/2010/main">
                <a:solidFill>
                  <a:srgbClr val="FFFFFF"/>
                </a:solidFill>
              </a14:hiddenFill>
            </a:ext>
          </a:extLst>
        </p:spPr>
      </p:pic>
      <p:sp>
        <p:nvSpPr>
          <p:cNvPr id="19" name="Subtitle 2">
            <a:extLst>
              <a:ext uri="{FF2B5EF4-FFF2-40B4-BE49-F238E27FC236}">
                <a16:creationId xmlns:a16="http://schemas.microsoft.com/office/drawing/2014/main" id="{470A0FF0-4B19-ECEE-B126-8CD833B78BD0}"/>
              </a:ext>
            </a:extLst>
          </p:cNvPr>
          <p:cNvSpPr txBox="1">
            <a:spLocks noGrp="1" noRot="1" noMove="1" noResize="1" noEditPoints="1" noAdjustHandles="1" noChangeArrowheads="1" noChangeShapeType="1"/>
          </p:cNvSpPr>
          <p:nvPr userDrawn="1"/>
        </p:nvSpPr>
        <p:spPr>
          <a:xfrm>
            <a:off x="8011884" y="549702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Offices in</a:t>
            </a:r>
            <a:endParaRPr lang="en-AE" sz="9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noGrp="1" noRot="1" noMove="1" noResize="1" noEditPoints="1" noAdjustHandles="1" noChangeArrowheads="1" noChangeShapeType="1"/>
          </p:cNvCxnSpPr>
          <p:nvPr userDrawn="1"/>
        </p:nvCxnSpPr>
        <p:spPr>
          <a:xfrm>
            <a:off x="5694091" y="5729393"/>
            <a:ext cx="5845303" cy="1129"/>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noGrp="1" noRot="1" noMove="1" noResize="1" noEditPoints="1" noAdjustHandles="1" noChangeArrowheads="1" noChangeShapeType="1"/>
          </p:cNvSpPr>
          <p:nvPr userDrawn="1"/>
        </p:nvSpPr>
        <p:spPr>
          <a:xfrm>
            <a:off x="7738814" y="5814990"/>
            <a:ext cx="3142658" cy="23237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1000" b="1" i="0" dirty="0">
                <a:solidFill>
                  <a:srgbClr val="7D4E1D"/>
                </a:solidFill>
                <a:latin typeface="Aptos SemiBold" panose="020B0004020202020204" pitchFamily="34" charset="0"/>
              </a:rPr>
              <a:t>UAE	CYPRUS	GREECE</a:t>
            </a:r>
            <a:endParaRPr lang="en-AE" sz="1000" b="1" i="0" dirty="0">
              <a:solidFill>
                <a:srgbClr val="7D4E1D"/>
              </a:solidFill>
              <a:latin typeface="Aptos SemiBold" panose="020B0004020202020204" pitchFamily="34" charset="0"/>
            </a:endParaRPr>
          </a:p>
        </p:txBody>
      </p:sp>
      <p:sp>
        <p:nvSpPr>
          <p:cNvPr id="12" name="Subtitle 2">
            <a:extLst>
              <a:ext uri="{FF2B5EF4-FFF2-40B4-BE49-F238E27FC236}">
                <a16:creationId xmlns:a16="http://schemas.microsoft.com/office/drawing/2014/main" id="{E70F7C81-9F4A-2CB8-5DD1-E802EA04E8A1}"/>
              </a:ext>
            </a:extLst>
          </p:cNvPr>
          <p:cNvSpPr txBox="1">
            <a:spLocks noGrp="1" noRot="1" noMove="1" noResize="1" noEditPoints="1" noAdjustHandles="1" noChangeArrowheads="1" noChangeShapeType="1"/>
          </p:cNvSpPr>
          <p:nvPr userDrawn="1"/>
        </p:nvSpPr>
        <p:spPr>
          <a:xfrm>
            <a:off x="5694091" y="5497021"/>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Headquartered in</a:t>
            </a:r>
            <a:endParaRPr lang="en-AE" sz="900" b="1" i="0" dirty="0">
              <a:solidFill>
                <a:srgbClr val="0B2339"/>
              </a:solidFill>
              <a:latin typeface="Aptos Light" panose="020B0004020202020204" pitchFamily="34" charset="0"/>
            </a:endParaRPr>
          </a:p>
        </p:txBody>
      </p:sp>
      <p:sp>
        <p:nvSpPr>
          <p:cNvPr id="13" name="Title 1">
            <a:extLst>
              <a:ext uri="{FF2B5EF4-FFF2-40B4-BE49-F238E27FC236}">
                <a16:creationId xmlns:a16="http://schemas.microsoft.com/office/drawing/2014/main" id="{9F7F6F3E-EBD9-D01B-E56C-4ECCC02BD1EB}"/>
              </a:ext>
            </a:extLst>
          </p:cNvPr>
          <p:cNvSpPr txBox="1">
            <a:spLocks noGrp="1" noRot="1" noMove="1" noResize="1" noEditPoints="1" noAdjustHandles="1" noChangeArrowheads="1" noChangeShapeType="1"/>
          </p:cNvSpPr>
          <p:nvPr userDrawn="1"/>
        </p:nvSpPr>
        <p:spPr>
          <a:xfrm>
            <a:off x="4525060" y="1897534"/>
            <a:ext cx="7666940" cy="583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spcBef>
                <a:spcPts val="0"/>
              </a:spcBef>
              <a:spcAft>
                <a:spcPts val="300"/>
              </a:spcAft>
            </a:pPr>
            <a:r>
              <a:rPr lang="en-AE" sz="1200" b="0" i="0" dirty="0">
                <a:solidFill>
                  <a:srgbClr val="0B2339"/>
                </a:solidFill>
                <a:latin typeface="Aptos Light" panose="020B0004020202020204" pitchFamily="34" charset="0"/>
              </a:rPr>
              <a:t>Pnyx Hill Ltd</a:t>
            </a:r>
          </a:p>
          <a:p>
            <a:pPr algn="ctr">
              <a:spcBef>
                <a:spcPts val="0"/>
              </a:spcBef>
              <a:spcAft>
                <a:spcPts val="300"/>
              </a:spcAft>
            </a:pPr>
            <a:r>
              <a:rPr lang="en-AE" sz="1200" b="0" i="0" dirty="0">
                <a:solidFill>
                  <a:srgbClr val="0B2339"/>
                </a:solidFill>
                <a:latin typeface="Aptos Light" panose="020B0004020202020204" pitchFamily="34" charset="0"/>
              </a:rPr>
              <a:t>info@pnyxhill.co</a:t>
            </a:r>
          </a:p>
        </p:txBody>
      </p:sp>
      <p:grpSp>
        <p:nvGrpSpPr>
          <p:cNvPr id="24" name="Group 23">
            <a:extLst>
              <a:ext uri="{FF2B5EF4-FFF2-40B4-BE49-F238E27FC236}">
                <a16:creationId xmlns:a16="http://schemas.microsoft.com/office/drawing/2014/main" id="{DB4A5131-C9E9-B022-2783-881416DD905A}"/>
              </a:ext>
            </a:extLst>
          </p:cNvPr>
          <p:cNvGrpSpPr>
            <a:grpSpLocks noGrp="1" noUngrp="1" noRot="1" noMove="1" noResize="1"/>
          </p:cNvGrpSpPr>
          <p:nvPr userDrawn="1"/>
        </p:nvGrpSpPr>
        <p:grpSpPr>
          <a:xfrm>
            <a:off x="5859846" y="2792389"/>
            <a:ext cx="2327524" cy="2078305"/>
            <a:chOff x="5544535" y="3019184"/>
            <a:chExt cx="2327524" cy="2078305"/>
          </a:xfrm>
        </p:grpSpPr>
        <p:pic>
          <p:nvPicPr>
            <p:cNvPr id="15" name="Picture 2">
              <a:extLst>
                <a:ext uri="{FF2B5EF4-FFF2-40B4-BE49-F238E27FC236}">
                  <a16:creationId xmlns:a16="http://schemas.microsoft.com/office/drawing/2014/main" id="{61DD2A2B-F825-769D-147C-465DCCFA4547}"/>
                </a:ext>
              </a:extLst>
            </p:cNvPr>
            <p:cNvPicPr>
              <a:picLocks noGrp="1" noRot="1" noChangeAspect="1" noMove="1" noResize="1" noEditPoints="1" noAdjustHandles="1" noChangeArrowheads="1" noChangeShapeType="1" noCrop="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6098809" y="3019184"/>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B4F2C1AD-0347-5905-3077-5591A01E694C}"/>
                </a:ext>
              </a:extLst>
            </p:cNvPr>
            <p:cNvSpPr txBox="1">
              <a:spLocks noGrp="1" noRot="1" noMove="1" noResize="1" noEditPoints="1" noAdjustHandles="1" noChangeArrowheads="1" noChangeShapeType="1"/>
            </p:cNvSpPr>
            <p:nvPr userDrawn="1"/>
          </p:nvSpPr>
          <p:spPr>
            <a:xfrm>
              <a:off x="5544535"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dirty="0">
                  <a:solidFill>
                    <a:schemeClr val="tx1"/>
                  </a:solidFill>
                  <a:latin typeface="Aptos" panose="020B0004020202020204" pitchFamily="34" charset="0"/>
                </a:rPr>
                <a:t>Andreas Kourouklaris</a:t>
              </a:r>
            </a:p>
            <a:p>
              <a:pPr algn="ctr"/>
              <a:r>
                <a:rPr lang="en-GB" sz="800" b="0" dirty="0">
                  <a:solidFill>
                    <a:schemeClr val="tx1"/>
                  </a:solidFill>
                  <a:latin typeface="Aptos" panose="020B0004020202020204" pitchFamily="34" charset="0"/>
                </a:rPr>
                <a:t>Co-founder and Group CEO</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+971 58 580 6064</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ak@pnyxhill.co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grpSp>
        <p:nvGrpSpPr>
          <p:cNvPr id="25" name="Group 24">
            <a:extLst>
              <a:ext uri="{FF2B5EF4-FFF2-40B4-BE49-F238E27FC236}">
                <a16:creationId xmlns:a16="http://schemas.microsoft.com/office/drawing/2014/main" id="{BFC26FB6-5F96-C32B-147B-32945F288CC7}"/>
              </a:ext>
            </a:extLst>
          </p:cNvPr>
          <p:cNvGrpSpPr>
            <a:grpSpLocks noGrp="1" noUngrp="1" noRot="1" noMove="1" noResize="1"/>
          </p:cNvGrpSpPr>
          <p:nvPr userDrawn="1"/>
        </p:nvGrpSpPr>
        <p:grpSpPr>
          <a:xfrm>
            <a:off x="9211870" y="2790452"/>
            <a:ext cx="2327524" cy="2039089"/>
            <a:chOff x="8327790" y="3058400"/>
            <a:chExt cx="2327524" cy="2039089"/>
          </a:xfrm>
        </p:grpSpPr>
        <p:pic>
          <p:nvPicPr>
            <p:cNvPr id="16" name="Picture 2">
              <a:extLst>
                <a:ext uri="{FF2B5EF4-FFF2-40B4-BE49-F238E27FC236}">
                  <a16:creationId xmlns:a16="http://schemas.microsoft.com/office/drawing/2014/main" id="{B9747782-BC11-E3DF-DB56-558CE0556C08}"/>
                </a:ext>
              </a:extLst>
            </p:cNvPr>
            <p:cNvPicPr>
              <a:picLocks noGrp="1" noRot="1" noChangeAspect="1" noMove="1" noResize="1" noEditPoints="1" noAdjustHandles="1" noChangeArrowheads="1" noChangeShapeType="1" noCrop="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8882064" y="3058400"/>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 name="Title 1">
              <a:extLst>
                <a:ext uri="{FF2B5EF4-FFF2-40B4-BE49-F238E27FC236}">
                  <a16:creationId xmlns:a16="http://schemas.microsoft.com/office/drawing/2014/main" id="{FE87F26D-A7C3-EB69-E7FB-D299BE6A4EC2}"/>
                </a:ext>
              </a:extLst>
            </p:cNvPr>
            <p:cNvSpPr txBox="1">
              <a:spLocks noGrp="1" noRot="1" noMove="1" noResize="1" noEditPoints="1" noAdjustHandles="1" noChangeArrowheads="1" noChangeShapeType="1"/>
            </p:cNvSpPr>
            <p:nvPr userDrawn="1"/>
          </p:nvSpPr>
          <p:spPr>
            <a:xfrm>
              <a:off x="8327790"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b="1" dirty="0">
                  <a:solidFill>
                    <a:schemeClr val="tx1"/>
                  </a:solidFill>
                  <a:latin typeface="Aptos" panose="020B0004020202020204" pitchFamily="34" charset="0"/>
                </a:rPr>
                <a:t>Yiannos Ashiotis</a:t>
              </a:r>
            </a:p>
            <a:p>
              <a:pPr algn="ctr"/>
              <a:r>
                <a:rPr lang="en-GB" sz="800" b="0" dirty="0">
                  <a:solidFill>
                    <a:schemeClr val="tx1"/>
                  </a:solidFill>
                  <a:latin typeface="Aptos" panose="020B0004020202020204" pitchFamily="34" charset="0"/>
                </a:rPr>
                <a:t>Co-founder and Group Managing Partner</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+971 58 508 7787</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ya@pnyxhill.co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pic>
        <p:nvPicPr>
          <p:cNvPr id="3" name="Picture 2" descr="A logo with blue and black text&#10;&#10;AI-generated content may be incorrect.">
            <a:extLst>
              <a:ext uri="{FF2B5EF4-FFF2-40B4-BE49-F238E27FC236}">
                <a16:creationId xmlns:a16="http://schemas.microsoft.com/office/drawing/2014/main" id="{D216A860-4503-45C7-BD79-1FF6A56E922C}"/>
              </a:ext>
            </a:extLst>
          </p:cNvPr>
          <p:cNvPicPr>
            <a:picLocks noChangeAspect="1"/>
          </p:cNvPicPr>
          <p:nvPr userDrawn="1"/>
        </p:nvPicPr>
        <p:blipFill>
          <a:blip r:embed="rId7" cstate="print">
            <a:extLst>
              <a:ext uri="{28A0092B-C50C-407E-A947-70E740481C1C}">
                <a14:useLocalDpi xmlns:a14="http://schemas.microsoft.com/office/drawing/2010/main"/>
              </a:ext>
            </a:extLst>
          </a:blip>
          <a:srcRect/>
          <a:stretch/>
        </p:blipFill>
        <p:spPr>
          <a:xfrm>
            <a:off x="5589346" y="5764384"/>
            <a:ext cx="1221899" cy="583930"/>
          </a:xfrm>
          <a:prstGeom prst="rect">
            <a:avLst/>
          </a:prstGeom>
        </p:spPr>
      </p:pic>
    </p:spTree>
    <p:extLst>
      <p:ext uri="{BB962C8B-B14F-4D97-AF65-F5344CB8AC3E}">
        <p14:creationId xmlns:p14="http://schemas.microsoft.com/office/powerpoint/2010/main" val="16837977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A2394A9-B416-1144-BCC0-D5B13D1E1099}"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Tree>
    <p:extLst>
      <p:ext uri="{BB962C8B-B14F-4D97-AF65-F5344CB8AC3E}">
        <p14:creationId xmlns:p14="http://schemas.microsoft.com/office/powerpoint/2010/main" val="26788135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8B46457-0550-A94B-A370-CCEFCECD6019}"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p:cNvSpPr>
          <p:nvPr>
            <p:ph sz="half" idx="16"/>
          </p:nvPr>
        </p:nvSpPr>
        <p:spPr>
          <a:xfrm>
            <a:off x="841886"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p:cNvSpPr>
          <p:nvPr>
            <p:ph sz="half" idx="17"/>
          </p:nvPr>
        </p:nvSpPr>
        <p:spPr>
          <a:xfrm>
            <a:off x="83820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7" name="Content Placeholder 3">
            <a:extLst>
              <a:ext uri="{FF2B5EF4-FFF2-40B4-BE49-F238E27FC236}">
                <a16:creationId xmlns:a16="http://schemas.microsoft.com/office/drawing/2014/main" id="{F28A40D3-4F78-F96D-4550-45563A648160}"/>
              </a:ext>
            </a:extLst>
          </p:cNvPr>
          <p:cNvSpPr>
            <a:spLocks noGrp="1"/>
          </p:cNvSpPr>
          <p:nvPr>
            <p:ph sz="half" idx="18"/>
          </p:nvPr>
        </p:nvSpPr>
        <p:spPr>
          <a:xfrm>
            <a:off x="6161398" y="131305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p:cNvSpPr>
          <p:nvPr>
            <p:ph sz="half" idx="19"/>
          </p:nvPr>
        </p:nvSpPr>
        <p:spPr>
          <a:xfrm>
            <a:off x="349183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0" name="Content Placeholder 3">
            <a:extLst>
              <a:ext uri="{FF2B5EF4-FFF2-40B4-BE49-F238E27FC236}">
                <a16:creationId xmlns:a16="http://schemas.microsoft.com/office/drawing/2014/main" id="{8CCA28C2-0709-3B37-D743-E8E86AF0D049}"/>
              </a:ext>
            </a:extLst>
          </p:cNvPr>
          <p:cNvSpPr>
            <a:spLocks noGrp="1"/>
          </p:cNvSpPr>
          <p:nvPr>
            <p:ph sz="half" idx="21"/>
          </p:nvPr>
        </p:nvSpPr>
        <p:spPr>
          <a:xfrm>
            <a:off x="6177340"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 name="Content Placeholder 3">
            <a:extLst>
              <a:ext uri="{FF2B5EF4-FFF2-40B4-BE49-F238E27FC236}">
                <a16:creationId xmlns:a16="http://schemas.microsoft.com/office/drawing/2014/main" id="{8CAF84D6-B951-B447-6715-44B061C6688F}"/>
              </a:ext>
            </a:extLst>
          </p:cNvPr>
          <p:cNvSpPr>
            <a:spLocks noGrp="1"/>
          </p:cNvSpPr>
          <p:nvPr>
            <p:ph sz="half" idx="23"/>
          </p:nvPr>
        </p:nvSpPr>
        <p:spPr>
          <a:xfrm>
            <a:off x="3491830"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3" name="Content Placeholder 3">
            <a:extLst>
              <a:ext uri="{FF2B5EF4-FFF2-40B4-BE49-F238E27FC236}">
                <a16:creationId xmlns:a16="http://schemas.microsoft.com/office/drawing/2014/main" id="{DC6CD525-8ADC-EE4B-BBAF-67F19CCF5B8A}"/>
              </a:ext>
            </a:extLst>
          </p:cNvPr>
          <p:cNvSpPr>
            <a:spLocks noGrp="1"/>
          </p:cNvSpPr>
          <p:nvPr>
            <p:ph sz="half" idx="24"/>
          </p:nvPr>
        </p:nvSpPr>
        <p:spPr>
          <a:xfrm>
            <a:off x="8830967" y="128946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7" name="Content Placeholder 3">
            <a:extLst>
              <a:ext uri="{FF2B5EF4-FFF2-40B4-BE49-F238E27FC236}">
                <a16:creationId xmlns:a16="http://schemas.microsoft.com/office/drawing/2014/main" id="{2CB7C4FB-0F7C-C258-8A4B-4D41617230E2}"/>
              </a:ext>
            </a:extLst>
          </p:cNvPr>
          <p:cNvSpPr>
            <a:spLocks noGrp="1"/>
          </p:cNvSpPr>
          <p:nvPr>
            <p:ph sz="half" idx="25"/>
          </p:nvPr>
        </p:nvSpPr>
        <p:spPr>
          <a:xfrm>
            <a:off x="8826853"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3">
            <a:extLst>
              <a:ext uri="{FF2B5EF4-FFF2-40B4-BE49-F238E27FC236}">
                <a16:creationId xmlns:a16="http://schemas.microsoft.com/office/drawing/2014/main" id="{CED19BB9-E50A-EBF3-E2CD-AF3626896EE2}"/>
              </a:ext>
            </a:extLst>
          </p:cNvPr>
          <p:cNvSpPr>
            <a:spLocks noGrp="1"/>
          </p:cNvSpPr>
          <p:nvPr>
            <p:ph sz="half" idx="26"/>
          </p:nvPr>
        </p:nvSpPr>
        <p:spPr>
          <a:xfrm>
            <a:off x="83820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31427A7D-2EBB-EB53-3582-75CD8D94B60C}"/>
              </a:ext>
            </a:extLst>
          </p:cNvPr>
          <p:cNvSpPr>
            <a:spLocks noGrp="1"/>
          </p:cNvSpPr>
          <p:nvPr>
            <p:ph sz="half" idx="27"/>
          </p:nvPr>
        </p:nvSpPr>
        <p:spPr>
          <a:xfrm>
            <a:off x="349183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2" name="Content Placeholder 3">
            <a:extLst>
              <a:ext uri="{FF2B5EF4-FFF2-40B4-BE49-F238E27FC236}">
                <a16:creationId xmlns:a16="http://schemas.microsoft.com/office/drawing/2014/main" id="{2163370E-03D1-01E6-0586-7AA428401858}"/>
              </a:ext>
            </a:extLst>
          </p:cNvPr>
          <p:cNvSpPr>
            <a:spLocks noGrp="1"/>
          </p:cNvSpPr>
          <p:nvPr>
            <p:ph sz="half" idx="28"/>
          </p:nvPr>
        </p:nvSpPr>
        <p:spPr>
          <a:xfrm>
            <a:off x="6177340"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5" name="Content Placeholder 3">
            <a:extLst>
              <a:ext uri="{FF2B5EF4-FFF2-40B4-BE49-F238E27FC236}">
                <a16:creationId xmlns:a16="http://schemas.microsoft.com/office/drawing/2014/main" id="{26DA2CA2-0AF9-79E5-C103-FBE9145511E6}"/>
              </a:ext>
            </a:extLst>
          </p:cNvPr>
          <p:cNvSpPr>
            <a:spLocks noGrp="1"/>
          </p:cNvSpPr>
          <p:nvPr>
            <p:ph sz="half" idx="29"/>
          </p:nvPr>
        </p:nvSpPr>
        <p:spPr>
          <a:xfrm>
            <a:off x="8826853"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3013508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F8E5778-CF41-8846-BCF8-64651384D266}"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4" name="Rectangle 3">
            <a:extLst>
              <a:ext uri="{FF2B5EF4-FFF2-40B4-BE49-F238E27FC236}">
                <a16:creationId xmlns:a16="http://schemas.microsoft.com/office/drawing/2014/main" id="{B94A91D8-76DC-451C-9EC7-BEF8EFA5569E}"/>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Content Placeholder 5">
            <a:extLst>
              <a:ext uri="{FF2B5EF4-FFF2-40B4-BE49-F238E27FC236}">
                <a16:creationId xmlns:a16="http://schemas.microsoft.com/office/drawing/2014/main" id="{7310415F-38F6-FC23-30B1-5BED6E17FEFD}"/>
              </a:ext>
            </a:extLst>
          </p:cNvPr>
          <p:cNvSpPr>
            <a:spLocks noGrp="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5074549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7912559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762E6944-38EE-544E-9BCD-42DF30DA589E}"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13396116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0EBE7F4-BEFC-D845-9A43-BAA0FD9399BA}"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Rectangle 1">
            <a:extLst>
              <a:ext uri="{FF2B5EF4-FFF2-40B4-BE49-F238E27FC236}">
                <a16:creationId xmlns:a16="http://schemas.microsoft.com/office/drawing/2014/main" id="{FB4F6065-FF3F-A417-7AA1-95362B2DEF12}"/>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8840A9DE-A11D-9854-DF33-2C6D44D7BC5F}"/>
              </a:ext>
            </a:extLst>
          </p:cNvPr>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573963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8231C-BC5A-9014-837F-675BE9849964}"/>
              </a:ext>
            </a:extLst>
          </p:cNvPr>
          <p:cNvSpPr>
            <a:spLocks noGrp="1"/>
          </p:cNvSpPr>
          <p:nvPr>
            <p:ph type="title"/>
          </p:nvPr>
        </p:nvSpPr>
        <p:spPr>
          <a:xfrm>
            <a:off x="838200" y="365125"/>
            <a:ext cx="10515600" cy="1213967"/>
          </a:xfrm>
          <a:prstGeom prst="rect">
            <a:avLst/>
          </a:prstGeom>
        </p:spPr>
        <p:txBody>
          <a:bodyPr vert="horz" lIns="91440" tIns="45720" rIns="91440" bIns="45720" rtlCol="0" anchor="ctr">
            <a:normAutofit/>
          </a:bodyPr>
          <a:lstStyle/>
          <a:p>
            <a:r>
              <a:rPr lang="en-US"/>
              <a:t>Click to edit Master title style</a:t>
            </a:r>
            <a:endParaRPr lang="en-AE" dirty="0"/>
          </a:p>
        </p:txBody>
      </p:sp>
      <p:sp>
        <p:nvSpPr>
          <p:cNvPr id="3" name="Text Placeholder 2">
            <a:extLst>
              <a:ext uri="{FF2B5EF4-FFF2-40B4-BE49-F238E27FC236}">
                <a16:creationId xmlns:a16="http://schemas.microsoft.com/office/drawing/2014/main" id="{7D0C513B-E98B-6D0B-9987-67E71FDC7814}"/>
              </a:ext>
            </a:extLst>
          </p:cNvPr>
          <p:cNvSpPr>
            <a:spLocks noGrp="1"/>
          </p:cNvSpPr>
          <p:nvPr>
            <p:ph type="body" idx="1"/>
          </p:nvPr>
        </p:nvSpPr>
        <p:spPr>
          <a:xfrm>
            <a:off x="838200" y="1737360"/>
            <a:ext cx="10515600" cy="44396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Date Placeholder 3">
            <a:extLst>
              <a:ext uri="{FF2B5EF4-FFF2-40B4-BE49-F238E27FC236}">
                <a16:creationId xmlns:a16="http://schemas.microsoft.com/office/drawing/2014/main" id="{6733AD28-33AC-0B4A-23E7-04B070FE002E}"/>
              </a:ext>
            </a:extLst>
          </p:cNvPr>
          <p:cNvSpPr>
            <a:spLocks noGrp="1" noRot="1" noMove="1" noResize="1" noEditPoints="1" noAdjustHandles="1" noChangeArrowheads="1" noChangeShapeType="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6E9873C8-C767-9A40-8D22-2B36E5913080}" type="datetime1">
              <a:rPr lang="en-US" smtClean="0"/>
              <a:t>11/19/2025</a:t>
            </a:fld>
            <a:endParaRPr lang="en-AE"/>
          </a:p>
        </p:txBody>
      </p:sp>
      <p:sp>
        <p:nvSpPr>
          <p:cNvPr id="6" name="Slide Number Placeholder 5">
            <a:extLst>
              <a:ext uri="{FF2B5EF4-FFF2-40B4-BE49-F238E27FC236}">
                <a16:creationId xmlns:a16="http://schemas.microsoft.com/office/drawing/2014/main" id="{0E09F46D-D686-930F-1B26-EFFF8905DC19}"/>
              </a:ext>
            </a:extLst>
          </p:cNvPr>
          <p:cNvSpPr>
            <a:spLocks noGrp="1" noRot="1" noMove="1" noResize="1" noEditPoints="1" noAdjustHandles="1" noChangeArrowheads="1" noChangeShapeType="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FEBB2247-6CF9-174D-B1BD-16046E6DC6C6}" type="slidenum">
              <a:rPr lang="en-AE" smtClean="0"/>
              <a:pPr/>
              <a:t>‹#›</a:t>
            </a:fld>
            <a:endParaRPr lang="en-AE"/>
          </a:p>
        </p:txBody>
      </p:sp>
      <p:sp>
        <p:nvSpPr>
          <p:cNvPr id="5" name="TextBox 4">
            <a:extLst>
              <a:ext uri="{FF2B5EF4-FFF2-40B4-BE49-F238E27FC236}">
                <a16:creationId xmlns:a16="http://schemas.microsoft.com/office/drawing/2014/main" id="{EE4C0AD7-49BD-25E2-E7A6-A53CC83AD2DE}"/>
              </a:ext>
            </a:extLst>
          </p:cNvPr>
          <p:cNvSpPr txBox="1">
            <a:spLocks/>
          </p:cNvSpPr>
          <p:nvPr userDrawn="1"/>
        </p:nvSpPr>
        <p:spPr>
          <a:xfrm>
            <a:off x="3628062" y="6495414"/>
            <a:ext cx="4935876" cy="230832"/>
          </a:xfrm>
          <a:prstGeom prst="rect">
            <a:avLst/>
          </a:prstGeom>
          <a:noFill/>
        </p:spPr>
        <p:txBody>
          <a:bodyPr wrap="square">
            <a:spAutoFit/>
          </a:bodyPr>
          <a:lstStyle/>
          <a:p>
            <a:pPr algn="ctr"/>
            <a:r>
              <a:rPr lang="en-US" sz="900" i="1" dirty="0">
                <a:solidFill>
                  <a:schemeClr val="tx1">
                    <a:lumMod val="50000"/>
                    <a:lumOff val="50000"/>
                  </a:schemeClr>
                </a:solidFill>
              </a:rPr>
              <a:t>Copyright © Pnyx Hill Group. All rights reserved – Confidential </a:t>
            </a:r>
          </a:p>
        </p:txBody>
      </p:sp>
    </p:spTree>
    <p:extLst>
      <p:ext uri="{BB962C8B-B14F-4D97-AF65-F5344CB8AC3E}">
        <p14:creationId xmlns:p14="http://schemas.microsoft.com/office/powerpoint/2010/main" val="3492164167"/>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71" r:id="rId3"/>
    <p:sldLayoutId id="2147483650" r:id="rId4"/>
    <p:sldLayoutId id="2147483668" r:id="rId5"/>
    <p:sldLayoutId id="2147483673" r:id="rId6"/>
    <p:sldLayoutId id="2147483675" r:id="rId7"/>
    <p:sldLayoutId id="2147483683" r:id="rId8"/>
    <p:sldLayoutId id="2147483684" r:id="rId9"/>
    <p:sldLayoutId id="2147483685" r:id="rId10"/>
    <p:sldLayoutId id="2147483686" r:id="rId11"/>
    <p:sldLayoutId id="2147483674" r:id="rId12"/>
    <p:sldLayoutId id="2147483661" r:id="rId13"/>
    <p:sldLayoutId id="2147483667" r:id="rId14"/>
    <p:sldLayoutId id="2147483676" r:id="rId15"/>
    <p:sldLayoutId id="2147483677" r:id="rId16"/>
    <p:sldLayoutId id="2147483688" r:id="rId17"/>
    <p:sldLayoutId id="2147483666" r:id="rId18"/>
    <p:sldLayoutId id="2147483653" r:id="rId19"/>
    <p:sldLayoutId id="2147483687" r:id="rId20"/>
    <p:sldLayoutId id="2147483679" r:id="rId21"/>
    <p:sldLayoutId id="2147483680" r:id="rId22"/>
    <p:sldLayoutId id="2147483678" r:id="rId23"/>
    <p:sldLayoutId id="2147483669" r:id="rId24"/>
    <p:sldLayoutId id="2147483660" r:id="rId25"/>
    <p:sldLayoutId id="2147483681" r:id="rId26"/>
    <p:sldLayoutId id="2147483682" r:id="rId27"/>
    <p:sldLayoutId id="2147483665" r:id="rId28"/>
    <p:sldLayoutId id="2147483662" r:id="rId29"/>
    <p:sldLayoutId id="2147483654" r:id="rId30"/>
    <p:sldLayoutId id="2147483672" r:id="rId31"/>
    <p:sldLayoutId id="2147483670" r:id="rId32"/>
    <p:sldLayoutId id="2147483663" r:id="rId33"/>
  </p:sldLayoutIdLst>
  <p:hf hdr="0" ftr="0" dt="0"/>
  <p:txStyles>
    <p:title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microsoft.com/office/2018/10/relationships/comments" Target="../comments/modernComment_11A_A187FA2C.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4_844B3DA2.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5_C4FCC28.xml"/><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38.png"/><Relationship Id="rId4" Type="http://schemas.microsoft.com/office/2007/relationships/hdphoto" Target="../media/hdphoto2.wdp"/><Relationship Id="rId5" Type="http://schemas.openxmlformats.org/officeDocument/2006/relationships/image" Target="../media/image39.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BAEFF-18C6-2C57-F6D8-DA60A617955B}"/>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p>
            <a:r>
              <a:t>Strategic Growth Proposal for [Client Name]</a:t>
            </a:r>
            <a:endParaRPr dirty="0"/>
          </a:p>
        </p:txBody>
      </p:sp>
      <p:sp>
        <p:nvSpPr>
          <p:cNvPr id="3" name="Subtitle 2">
            <a:extLst>
              <a:ext uri="{FF2B5EF4-FFF2-40B4-BE49-F238E27FC236}">
                <a16:creationId xmlns:a16="http://schemas.microsoft.com/office/drawing/2014/main" id="{15512898-28DC-4FA8-3D8D-BE9CA956A398}"/>
              </a:ext>
            </a:extLst>
          </p:cNvPr>
          <p:cNvSpPr>
            <a:spLocks noGrp="1"/>
          </p:cNvSpPr>
          <p:nvPr>
            <p:ph type="subTitle" idx="1"/>
          </p:nvPr>
        </p:nvSpPr>
        <p:spPr>
          <a:xfrm>
            <a:off x="908954" y="3603975"/>
            <a:ext cx="6657149" cy="309264"/>
          </a:xfrm>
        </p:spPr>
        <p:txBody>
          <a:bodyPr>
            <a:noAutofit/>
          </a:bodyPr>
          <a:lstStyle/>
          <a:p>
            <a:r>
              <a:t>October 26, 2023</a:t>
            </a:r>
            <a:endParaRPr sz="1000" dirty="0"/>
          </a:p>
        </p:txBody>
      </p:sp>
      <p:sp>
        <p:nvSpPr>
          <p:cNvPr id="8" name="Slide Number Placeholder 7">
            <a:extLst>
              <a:ext uri="{FF2B5EF4-FFF2-40B4-BE49-F238E27FC236}">
                <a16:creationId xmlns:a16="http://schemas.microsoft.com/office/drawing/2014/main" id="{482CC506-10D0-A6E5-801A-5DEE0097752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nchor="ctr">
            <a:normAutofit fontScale="47500" lnSpcReduction="20000"/>
          </a:bodyPr>
          <a:lstStyle/>
          <a:p>
            <a:pPr>
              <a:spcAft>
                <a:spcPts val="600"/>
              </a:spcAft>
            </a:pPr>
            <a:r>
              <a:t>Strategic Growth Proposal for [Client Name]</a:t>
            </a:r>
            <a:endParaRPr lang="en-AE"/>
          </a:p>
        </p:txBody>
      </p:sp>
      <p:sp>
        <p:nvSpPr>
          <p:cNvPr id="4" name="TextBox 3">
            <a:extLst>
              <a:ext uri="{FF2B5EF4-FFF2-40B4-BE49-F238E27FC236}">
                <a16:creationId xmlns:a16="http://schemas.microsoft.com/office/drawing/2014/main" id="{54D84B09-EA48-A07A-61BE-CC46E8F2A0C4}"/>
              </a:ext>
            </a:extLst>
          </p:cNvPr>
          <p:cNvSpPr txBox="1"/>
          <p:nvPr/>
        </p:nvSpPr>
        <p:spPr>
          <a:xfrm>
            <a:off x="6096000" y="985382"/>
            <a:ext cx="1358686" cy="646331"/>
          </a:xfrm>
          <a:prstGeom prst="rect">
            <a:avLst/>
          </a:prstGeom>
          <a:noFill/>
        </p:spPr>
        <p:txBody>
          <a:bodyPr wrap="square" rtlCol="0">
            <a:spAutoFit/>
          </a:bodyPr>
          <a:lstStyle/>
          <a:p>
            <a:endParaRPr lang="en-AE" sz="1200" dirty="0"/>
          </a:p>
          <a:p>
            <a:r>
              <a:rPr sz="1200" dirty="0"/>
              <a:t>{{</a:t>
            </a:r>
            <a:r>
              <a:rPr lang="en-US" sz="1200" dirty="0"/>
              <a:t>CLIENT LOGO</a:t>
            </a:r>
            <a:r>
              <a:rPr sz="1200" dirty="0"/>
              <a:t>}}</a:t>
            </a:r>
            <a:br>
              <a:rPr sz="1200" dirty="0"/>
            </a:br>
            <a:endParaRPr sz="1200" dirty="0"/>
          </a:p>
        </p:txBody>
      </p:sp>
    </p:spTree>
    <p:extLst>
      <p:ext uri="{BB962C8B-B14F-4D97-AF65-F5344CB8AC3E}">
        <p14:creationId xmlns:p14="http://schemas.microsoft.com/office/powerpoint/2010/main" val="1773422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335B335-9496-5AD8-46B0-D3A7D1D73B7D}"/>
              </a:ext>
            </a:extLst>
          </p:cNvPr>
          <p:cNvSpPr txBox="1">
            <a:spLocks noGrp="1"/>
          </p:cNvSpPr>
          <p:nvPr>
            <p:ph idx="1"/>
          </p:nvPr>
        </p:nvSpPr>
        <p:spPr>
          <a:xfrm>
            <a:off x="946298" y="879543"/>
            <a:ext cx="10407502" cy="4822456"/>
          </a:xfrm>
          <a:prstGeom prst="rect">
            <a:avLst/>
          </a:prstGeom>
          <a:noFill/>
        </p:spPr>
        <p:txBody>
          <a:bodyPr wrap="square" lIns="0" tIns="0" rIns="0" bIns="45720" rtlCol="0">
            <a:noAutofit/>
          </a:bodyPr>
          <a:lstStyle/>
          <a:p>
            <a:pPr marL="7938" indent="-7938">
              <a:lnSpc>
                <a:spcPct val="100000"/>
              </a:lnSpc>
              <a:spcBef>
                <a:spcPts val="200"/>
              </a:spcBef>
              <a:spcAft>
                <a:spcPts val="200"/>
              </a:spcAft>
              <a:buNone/>
            </a:pPr>
            <a:r>
              <a:t>Dear [Client Name] Leadership Team,</a:t>
            </a:r>
            <a:br/>
            <a:br/>
            <a:r>
              <a:t>It is with great enthusiasm that Pnyx Hill presents this strategic growth proposal, outlining our unwavering commitment to partnering with you on your journey towards market leadership and sustained value creation. We sincerely appreciate the opportunity to have engaged in a comprehensive discovery process, which has allowed us to deeply understand your strategic ambitions, operational nuances, and the unique challenges prevalent within your dynamic operating landscape.</a:t>
            </a:r>
            <a:br/>
            <a:br/>
            <a:r>
              <a:t>This proposal meticulously reflects our shared vision for fostering innovation, enhancing operational efficiency, and driving impactful, sustainable transformation across your organization. At Pnyx Hill, we firmly believe in crafting bespoke strategies that not only adeptly address immediate imperatives but also lay robust, adaptable foundations for future resilience, competitive advantage, and long-term shareholder value. We are supremely confident that our proven expertise, coupled with your organization's inherent strengths and forward-thinking leadership, will collaboratively unlock significant new growth avenues and drive superior, measurable performance. We eagerly look forward to embarking on this transformative partnership with you.</a:t>
            </a:r>
            <a:br/>
            <a:br/>
            <a:r>
              <a:t>Sincerely,</a:t>
            </a:r>
            <a:br/>
            <a:r>
              <a:t>Pnyx Hill Leadership Team</a:t>
            </a:r>
            <a:endParaRPr sz="1200" dirty="0"/>
          </a:p>
        </p:txBody>
      </p:sp>
      <p:sp>
        <p:nvSpPr>
          <p:cNvPr id="2" name="Slide Number Placeholder 10">
            <a:extLst>
              <a:ext uri="{FF2B5EF4-FFF2-40B4-BE49-F238E27FC236}">
                <a16:creationId xmlns:a16="http://schemas.microsoft.com/office/drawing/2014/main" id="{1180B436-073C-1FE1-74B5-603168612A49}"/>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76852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B8C3-1CFE-D663-4089-4F28CD2A8FA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CE3A302-71F3-A505-7068-C326BC33BADD}"/>
              </a:ext>
            </a:extLst>
          </p:cNvPr>
          <p:cNvSpPr txBox="1"/>
          <p:nvPr/>
        </p:nvSpPr>
        <p:spPr>
          <a:xfrm>
            <a:off x="967563" y="867938"/>
            <a:ext cx="10596252" cy="600164"/>
          </a:xfrm>
          <a:prstGeom prst="rect">
            <a:avLst/>
          </a:prstGeom>
          <a:noFill/>
        </p:spPr>
        <p:txBody>
          <a:bodyPr wrap="square" lIns="0" tIns="0" rIns="0" bIns="45720" rtlCol="0">
            <a:spAutoFit/>
          </a:bodyPr>
          <a:lstStyle/>
          <a:p>
            <a:pPr>
              <a:buNone/>
            </a:pPr>
            <a:r>
              <a:t>**1. Growth Ambition**</a:t>
            </a:r>
            <a:br/>
            <a:r>
              <a:t>[Client Name] stands at a pivotal juncture, poised to capitalize on emerging market shifts and solidify its competitive position. The ambition is clear: to accelerate growth, enhance operational agility, and establish new benchmarks for innovation and customer value within its sector. Pnyx Hill is committed to translating this ambition into tangible results through a focused, insight-driven approach.</a:t>
            </a:r>
            <a:br/>
            <a:br/>
            <a:r>
              <a:t>**2. Our Value Proposition**</a:t>
            </a:r>
            <a:br/>
            <a:r>
              <a:t>•  **Strategic Clarity**: Translating complex market dynamics into actionable growth strategies.</a:t>
            </a:r>
            <a:br/>
            <a:r>
              <a:t>•  **Operational Excellence**: Streamlining processes and enhancing capabilities for improved efficiency and effectiveness.</a:t>
            </a:r>
            <a:br/>
            <a:r>
              <a:t>•  **Sustainable Impact**: Designing solutions that deliver both immediate returns and long-term organizational resilience.</a:t>
            </a:r>
            <a:br/>
            <a:r>
              <a:t>•  **Partnership &amp; Empowerment**: Collaborating closely with your teams to foster internal capabilities and drive ownership.</a:t>
            </a:r>
            <a:br/>
            <a:br/>
            <a:r>
              <a:t>**3. Key Project Highlights**</a:t>
            </a:r>
            <a:br/>
            <a:r>
              <a:t>•  Market Opportunity Assessment &amp; Prioritization</a:t>
            </a:r>
            <a:br/>
            <a:r>
              <a:t>•  Growth Strategy Formulation &amp; Roadmap Development</a:t>
            </a:r>
            <a:br/>
            <a:r>
              <a:t>•  Organizational Design &amp; Capability Building</a:t>
            </a:r>
            <a:br/>
            <a:r>
              <a:t>•  Digital Transformation &amp; Technology Integration</a:t>
            </a:r>
            <a:br/>
            <a:r>
              <a:t>•  Operational Efficiency &amp; Cost Optimization</a:t>
            </a:r>
            <a:br/>
            <a:r>
              <a:t>•  Performance Management &amp; KPI Frameworks</a:t>
            </a:r>
            <a:br/>
            <a:r>
              <a:t>•  Change Management &amp; Stakeholder Alignment</a:t>
            </a:r>
            <a:br/>
            <a:r>
              <a:t>•  Innovation &amp; New Business Model Incubation</a:t>
            </a:r>
            <a:br/>
            <a:br/>
            <a:r>
              <a:t>**4. Strategic Outlook**</a:t>
            </a:r>
            <a:br/>
            <a:r>
              <a:t>This partnership will enable [Client Name] to navigate complexity with confidence, unlock significant value, and secure a resilient, growth-oriented future.</a:t>
            </a:r>
            <a:endParaRPr sz="1200" dirty="0"/>
          </a:p>
        </p:txBody>
      </p:sp>
      <p:sp>
        <p:nvSpPr>
          <p:cNvPr id="2" name="Slide Number Placeholder 10">
            <a:extLst>
              <a:ext uri="{FF2B5EF4-FFF2-40B4-BE49-F238E27FC236}">
                <a16:creationId xmlns:a16="http://schemas.microsoft.com/office/drawing/2014/main" id="{510509ED-FDFA-9AF0-64A5-B641CF67DE64}"/>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36992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a:extLst>
              <a:ext uri="{FF2B5EF4-FFF2-40B4-BE49-F238E27FC236}">
                <a16:creationId xmlns:a16="http://schemas.microsoft.com/office/drawing/2014/main" id="{B56FACEC-1F21-FF8A-3914-0B65A0CCF8AA}"/>
              </a:ext>
            </a:extLst>
          </p:cNvPr>
          <p:cNvGraphicFramePr>
            <a:graphicFrameLocks/>
          </p:cNvGraphicFramePr>
          <p:nvPr>
            <p:extLst>
              <p:ext uri="{D42A27DB-BD31-4B8C-83A1-F6EECF244321}">
                <p14:modId xmlns:p14="http://schemas.microsoft.com/office/powerpoint/2010/main" val="1494379163"/>
              </p:ext>
            </p:extLst>
          </p:nvPr>
        </p:nvGraphicFramePr>
        <p:xfrm>
          <a:off x="1763233" y="1610242"/>
          <a:ext cx="5384470" cy="3972960"/>
        </p:xfrm>
        <a:graphic>
          <a:graphicData uri="http://schemas.openxmlformats.org/drawingml/2006/table">
            <a:tbl>
              <a:tblPr firstRow="1" bandRow="1">
                <a:tableStyleId>{5C22544A-7EE6-4342-B048-85BDC9FD1C3A}</a:tableStyleId>
              </a:tblPr>
              <a:tblGrid>
                <a:gridCol w="4207404">
                  <a:extLst>
                    <a:ext uri="{9D8B030D-6E8A-4147-A177-3AD203B41FA5}">
                      <a16:colId xmlns:a16="http://schemas.microsoft.com/office/drawing/2014/main" val="1361501591"/>
                    </a:ext>
                  </a:extLst>
                </a:gridCol>
                <a:gridCol w="1177066">
                  <a:extLst>
                    <a:ext uri="{9D8B030D-6E8A-4147-A177-3AD203B41FA5}">
                      <a16:colId xmlns:a16="http://schemas.microsoft.com/office/drawing/2014/main" val="1247309486"/>
                    </a:ext>
                  </a:extLst>
                </a:gridCol>
              </a:tblGrid>
              <a:tr h="496620">
                <a:tc>
                  <a:txBody>
                    <a:bodyPr/>
                    <a:lstStyle/>
                    <a:p>
                      <a:r>
                        <a:rPr lang="en-AE" sz="1200" b="1" i="0" dirty="0">
                          <a:solidFill>
                            <a:srgbClr val="0B2339"/>
                          </a:solidFill>
                          <a:latin typeface="+mn-lt"/>
                        </a:rPr>
                        <a:t>About Pnyx Hill</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5</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10240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Our Understanding &amp; POV</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322147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0B2339"/>
                          </a:solidFill>
                          <a:latin typeface="+mn-lt"/>
                        </a:rPr>
                        <a:t>Our Approach</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964475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Scope of Services</a:t>
                      </a:r>
                      <a:r>
                        <a:rPr lang="en-US" sz="1200" b="1" i="0" dirty="0">
                          <a:solidFill>
                            <a:srgbClr val="0B2339"/>
                          </a:solidFill>
                          <a:latin typeface="+mn-lt"/>
                        </a:rPr>
                        <a:t> and Service Deliverables</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1</a:t>
                      </a:r>
                      <a:r>
                        <a:rPr lang="en-US" sz="1200" b="1" i="0" dirty="0">
                          <a:solidFill>
                            <a:srgbClr val="0B2339"/>
                          </a:solidFill>
                          <a:latin typeface="+mn-lt"/>
                        </a:rPr>
                        <a:t>6</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25512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B2339"/>
                          </a:solidFill>
                          <a:latin typeface="+mn-lt"/>
                        </a:rPr>
                        <a:t>Optional After Service Support</a:t>
                      </a:r>
                      <a:endParaRPr lang="en-AE" sz="1200" b="1"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a:solidFill>
                            <a:srgbClr val="0B2339"/>
                          </a:solidFill>
                          <a:latin typeface="+mn-lt"/>
                        </a:rPr>
                        <a:t>21</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2479450"/>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Engagement Leaders</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600085"/>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Commercial Proposal</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709201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Let’s Talk</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25</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821195"/>
                  </a:ext>
                </a:extLst>
              </a:tr>
            </a:tbl>
          </a:graphicData>
        </a:graphic>
      </p:graphicFrame>
      <p:sp>
        <p:nvSpPr>
          <p:cNvPr id="2" name="Slide Number Placeholder 10">
            <a:extLst>
              <a:ext uri="{FF2B5EF4-FFF2-40B4-BE49-F238E27FC236}">
                <a16:creationId xmlns:a16="http://schemas.microsoft.com/office/drawing/2014/main" id="{70F94601-D300-9A60-36F3-043D3C2A197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854924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0">
            <a:extLst>
              <a:ext uri="{FF2B5EF4-FFF2-40B4-BE49-F238E27FC236}">
                <a16:creationId xmlns:a16="http://schemas.microsoft.com/office/drawing/2014/main" id="{0304D152-BA33-F0F1-48FF-801A9B032E6B}"/>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740471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A82FBC88-82DB-42DA-D37F-0FCFBA8AD103}"/>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816921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B8E8124F-0E3B-E031-2C5D-7265461893A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886452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CBDD09F1-AC85-E6BB-E077-FB0F9A53AC1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318657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29A68F79-5343-74A9-9547-123447F2F2D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21937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F4361917-790E-8E8D-E566-3BF588980ECA}"/>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446093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E1ADB767-4E35-0D94-8A50-F35437C2FEE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0874802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7E01-6FEC-86FE-AB37-613C15352DAD}"/>
            </a:ext>
          </a:extLst>
        </p:cNvPr>
        <p:cNvGrpSpPr/>
        <p:nvPr/>
      </p:nvGrpSpPr>
      <p:grpSpPr>
        <a:xfrm>
          <a:off x="0" y="0"/>
          <a:ext cx="0" cy="0"/>
          <a:chOff x="0" y="0"/>
          <a:chExt cx="0" cy="0"/>
        </a:xfrm>
      </p:grpSpPr>
    </p:spTree>
    <p:extLst>
      <p:ext uri="{BB962C8B-B14F-4D97-AF65-F5344CB8AC3E}">
        <p14:creationId xmlns:p14="http://schemas.microsoft.com/office/powerpoint/2010/main" val="1695090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B5F4F5-A561-A2BF-50AD-2135E2BD4A6A}"/>
              </a:ext>
            </a:extLst>
          </p:cNvPr>
          <p:cNvSpPr>
            <a:spLocks noGrp="1" noRot="1" noMove="1" noResize="1" noEditPoints="1" noAdjustHandles="1" noChangeArrowheads="1" noChangeShapeType="1"/>
          </p:cNvSpPr>
          <p:nvPr>
            <p:ph sz="half" idx="2"/>
          </p:nvPr>
        </p:nvSpPr>
        <p:spPr/>
        <p:txBody>
          <a:bodyPr>
            <a:normAutofit/>
          </a:bodyPr>
          <a:lstStyle/>
          <a:p>
            <a:pPr marL="0" indent="0">
              <a:buNone/>
            </a:pPr>
            <a:r>
              <a:t>The market landscape for [Client Name] is characterized by rapid technological advancements, evolving customer expectations, and increasing competitive intensity. While certain segments demonstrate robust growth potential, others are facing margin pressures and commoditization. There is a clear imperative to pivot towards higher-value offerings and digital-first engagement models. Unmet needs include agile decision-making frameworks, integrated data analytics for strategic insights, and a more adaptive organizational structure to respond to market shifts swiftly.</a:t>
            </a:r>
            <a:endParaRPr dirty="0"/>
          </a:p>
        </p:txBody>
      </p:sp>
      <p:sp>
        <p:nvSpPr>
          <p:cNvPr id="3" name="Content Placeholder 2">
            <a:extLst>
              <a:ext uri="{FF2B5EF4-FFF2-40B4-BE49-F238E27FC236}">
                <a16:creationId xmlns:a16="http://schemas.microsoft.com/office/drawing/2014/main" id="{79C84FDE-81DE-1361-1FBF-9AB8614A6D28}"/>
              </a:ext>
            </a:extLst>
          </p:cNvPr>
          <p:cNvSpPr>
            <a:spLocks noGrp="1"/>
          </p:cNvSpPr>
          <p:nvPr>
            <p:ph sz="quarter" idx="4"/>
          </p:nvPr>
        </p:nvSpPr>
        <p:spPr/>
        <p:txBody>
          <a:bodyPr>
            <a:normAutofit/>
          </a:bodyPr>
          <a:lstStyle/>
          <a:p>
            <a:pPr>
              <a:lnSpc>
                <a:spcPct val="110000"/>
              </a:lnSpc>
              <a:buFont typeface="Wingdings" panose="05000000000000000000" pitchFamily="2" charset="2"/>
              <a:buChar char="§"/>
            </a:pPr>
            <a:r>
              <a:t>•  **Market Fragmentation**: Difficulty in identifying and prioritizing high-potential growth segments amid diverse market demands.</a:t>
            </a:r>
            <a:br/>
            <a:r>
              <a:t>•  **Operational Inefficiencies**: Legacy systems and processes hindering agility and increasing cost-to-serve.</a:t>
            </a:r>
            <a:br/>
            <a:r>
              <a:t>•  **Talent &amp; Capability Gaps**: Insufficient in-house expertise in emerging digital and analytical domains.</a:t>
            </a:r>
            <a:br/>
            <a:r>
              <a:t>•  **Innovation Stagnation**: Slow pace in developing and scaling new products or services to meet evolving customer needs.</a:t>
            </a:r>
            <a:br/>
            <a:r>
              <a:t>•  **Data Underutilization**: Wealth of data not effectively leveraged for strategic insights and personalized customer experiences.</a:t>
            </a:r>
            <a:endParaRPr dirty="0"/>
          </a:p>
        </p:txBody>
      </p:sp>
      <p:sp>
        <p:nvSpPr>
          <p:cNvPr id="4" name="Content Placeholder 3">
            <a:extLst>
              <a:ext uri="{FF2B5EF4-FFF2-40B4-BE49-F238E27FC236}">
                <a16:creationId xmlns:a16="http://schemas.microsoft.com/office/drawing/2014/main" id="{A88DB71A-D56C-4634-2BEE-CCCF3CB0F3E7}"/>
              </a:ext>
            </a:extLst>
          </p:cNvPr>
          <p:cNvSpPr>
            <a:spLocks noGrp="1" noRot="1" noMove="1" noResize="1" noEditPoints="1" noAdjustHandles="1" noChangeArrowheads="1" noChangeShapeType="1"/>
          </p:cNvSpPr>
          <p:nvPr>
            <p:ph sz="quarter" idx="13"/>
          </p:nvPr>
        </p:nvSpPr>
        <p:spPr/>
        <p:txBody>
          <a:bodyPr>
            <a:noAutofit/>
          </a:bodyPr>
          <a:lstStyle/>
          <a:p>
            <a:pPr algn="l"/>
            <a:r>
              <a:t>•  Achieve sustainable top-line growth exceeding industry average.</a:t>
            </a:r>
            <a:br/>
            <a:r>
              <a:t>•  Significantly improve operational efficiency and cost-effectiveness.</a:t>
            </a:r>
            <a:br/>
            <a:r>
              <a:t>•  Cultivate a culture of continuous innovation and digital adoption.</a:t>
            </a:r>
            <a:br/>
            <a:r>
              <a:t>•  Enhance market responsiveness and customer satisfaction.</a:t>
            </a:r>
            <a:br/>
            <a:r>
              <a:t>•  Build a future-ready organization with robust capabilities and agile structures.</a:t>
            </a:r>
            <a:endParaRPr dirty="0"/>
          </a:p>
        </p:txBody>
      </p:sp>
      <p:sp>
        <p:nvSpPr>
          <p:cNvPr id="6" name="Slide Number Placeholder 10">
            <a:extLst>
              <a:ext uri="{FF2B5EF4-FFF2-40B4-BE49-F238E27FC236}">
                <a16:creationId xmlns:a16="http://schemas.microsoft.com/office/drawing/2014/main" id="{2D0E21F0-A1CC-72EB-D88E-A42FCE0E424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396447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F4BD2E-E227-A41F-33BD-EF5E3E53F344}"/>
              </a:ext>
            </a:extLst>
          </p:cNvPr>
          <p:cNvSpPr>
            <a:spLocks noGrp="1" noRot="1" noMove="1" noResize="1" noEditPoints="1" noAdjustHandles="1" noChangeArrowheads="1" noChangeShapeType="1"/>
          </p:cNvSpPr>
          <p:nvPr>
            <p:ph type="title"/>
          </p:nvPr>
        </p:nvSpPr>
        <p:spPr/>
        <p:txBody>
          <a:bodyPr>
            <a:normAutofit fontScale="90000"/>
          </a:bodyPr>
          <a:lstStyle/>
          <a:p>
            <a:endParaRPr lang="en-GB" dirty="0"/>
          </a:p>
          <a:p>
            <a:r>
              <a:rPr lang="en-US" dirty="0"/>
              <a:t>OUR PROPOSED APPROACH</a:t>
            </a:r>
            <a:endParaRPr dirty="0"/>
          </a:p>
        </p:txBody>
      </p:sp>
      <p:sp>
        <p:nvSpPr>
          <p:cNvPr id="9" name="Text Placeholder 3">
            <a:extLst>
              <a:ext uri="{FF2B5EF4-FFF2-40B4-BE49-F238E27FC236}">
                <a16:creationId xmlns:a16="http://schemas.microsoft.com/office/drawing/2014/main" id="{DFBC7929-B570-8AB1-9208-301A6F237D7F}"/>
              </a:ext>
            </a:extLst>
          </p:cNvPr>
          <p:cNvSpPr>
            <a:spLocks noGrp="1"/>
          </p:cNvSpPr>
          <p:nvPr>
            <p:ph type="body" idx="13"/>
          </p:nvPr>
        </p:nvSpPr>
        <p:spPr>
          <a:xfrm>
            <a:off x="839788" y="1632155"/>
            <a:ext cx="7243011" cy="316538"/>
          </a:xfrm>
        </p:spPr>
        <p:txBody>
          <a:bodyPr>
            <a:noAutofit/>
          </a:bodyPr>
          <a:lstStyle/>
          <a:p>
            <a:r>
              <a:t>Discover &amp; Define</a:t>
            </a:r>
            <a:endParaRPr lang="en-GB" dirty="0"/>
          </a:p>
        </p:txBody>
      </p:sp>
      <p:sp>
        <p:nvSpPr>
          <p:cNvPr id="14" name="Text Placeholder 3">
            <a:extLst>
              <a:ext uri="{FF2B5EF4-FFF2-40B4-BE49-F238E27FC236}">
                <a16:creationId xmlns:a16="http://schemas.microsoft.com/office/drawing/2014/main" id="{F68783C2-B190-F13A-AE22-9AFA09E4C25B}"/>
              </a:ext>
            </a:extLst>
          </p:cNvPr>
          <p:cNvSpPr txBox="1">
            <a:spLocks/>
          </p:cNvSpPr>
          <p:nvPr/>
        </p:nvSpPr>
        <p:spPr>
          <a:xfrm>
            <a:off x="852711" y="3014691"/>
            <a:ext cx="6481944"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dirty="0"/>
          </a:p>
          <a:p>
            <a:r>
              <a:rPr dirty="0"/>
              <a:t>{{Phase 2</a:t>
            </a:r>
            <a:r>
              <a:rPr lang="en-US" dirty="0"/>
              <a:t>:  Name</a:t>
            </a:r>
            <a:r>
              <a:rPr dirty="0"/>
              <a:t>}}</a:t>
            </a:r>
          </a:p>
        </p:txBody>
      </p:sp>
      <p:sp>
        <p:nvSpPr>
          <p:cNvPr id="15" name="Text Placeholder 3">
            <a:extLst>
              <a:ext uri="{FF2B5EF4-FFF2-40B4-BE49-F238E27FC236}">
                <a16:creationId xmlns:a16="http://schemas.microsoft.com/office/drawing/2014/main" id="{9CAA5706-E44C-CB8B-FD39-98E004E80F83}"/>
              </a:ext>
            </a:extLst>
          </p:cNvPr>
          <p:cNvSpPr txBox="1">
            <a:spLocks/>
          </p:cNvSpPr>
          <p:nvPr/>
        </p:nvSpPr>
        <p:spPr>
          <a:xfrm>
            <a:off x="852711" y="4336961"/>
            <a:ext cx="6481943"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t>Implement &amp; Optimize</a:t>
            </a:r>
            <a:endParaRPr dirty="0"/>
          </a:p>
        </p:txBody>
      </p:sp>
      <p:sp>
        <p:nvSpPr>
          <p:cNvPr id="2" name="Slide Number Placeholder 10">
            <a:extLst>
              <a:ext uri="{FF2B5EF4-FFF2-40B4-BE49-F238E27FC236}">
                <a16:creationId xmlns:a16="http://schemas.microsoft.com/office/drawing/2014/main" id="{3BAF4667-BBC8-FCF0-9CCF-304ECC450F66}"/>
              </a:ext>
            </a:extLst>
          </p:cNvPr>
          <p:cNvSpPr>
            <a:spLocks noGrp="1"/>
          </p:cNvSpPr>
          <p:nvPr>
            <p:ph type="sldNum" sz="quarter" idx="12"/>
          </p:nvPr>
        </p:nvSpPr>
        <p:spPr>
          <a:xfrm>
            <a:off x="8610600" y="6356350"/>
            <a:ext cx="2743200" cy="365125"/>
          </a:xfrm>
        </p:spPr>
        <p:txBody>
          <a:bodyPr/>
          <a:lstStyle/>
          <a:p>
            <a:endParaRPr dirty="0"/>
          </a:p>
        </p:txBody>
      </p:sp>
      <p:sp>
        <p:nvSpPr>
          <p:cNvPr id="4" name="TextBox 3">
            <a:extLst>
              <a:ext uri="{FF2B5EF4-FFF2-40B4-BE49-F238E27FC236}">
                <a16:creationId xmlns:a16="http://schemas.microsoft.com/office/drawing/2014/main" id="{29329F9D-0AF1-17BD-69B7-6FAD2BDB5041}"/>
              </a:ext>
            </a:extLst>
          </p:cNvPr>
          <p:cNvSpPr txBox="1"/>
          <p:nvPr/>
        </p:nvSpPr>
        <p:spPr>
          <a:xfrm>
            <a:off x="839781" y="1025598"/>
            <a:ext cx="7146628" cy="615553"/>
          </a:xfrm>
          <a:prstGeom prst="rect">
            <a:avLst/>
          </a:prstGeom>
          <a:noFill/>
        </p:spPr>
        <p:txBody>
          <a:bodyPr wrap="square">
            <a:spAutoFit/>
          </a:bodyPr>
          <a:lstStyle/>
          <a:p>
            <a:r>
              <a:t>Pnyx Hill proposes a phased, insight-led approach designed to ensure comprehensive analysis, strategic clarity, and effective implementation. This iterative methodology will enable dynamic adaptation and continuous value realization throughout the engagement.</a:t>
            </a:r>
            <a:endParaRPr lang="en-AE" sz="1200" i="1" dirty="0"/>
          </a:p>
        </p:txBody>
      </p:sp>
      <p:sp>
        <p:nvSpPr>
          <p:cNvPr id="5" name="TextBox 4">
            <a:extLst>
              <a:ext uri="{FF2B5EF4-FFF2-40B4-BE49-F238E27FC236}">
                <a16:creationId xmlns:a16="http://schemas.microsoft.com/office/drawing/2014/main" id="{CDAE5125-04B1-01B0-4C67-6FA85EDFA467}"/>
              </a:ext>
            </a:extLst>
          </p:cNvPr>
          <p:cNvSpPr txBox="1"/>
          <p:nvPr/>
        </p:nvSpPr>
        <p:spPr>
          <a:xfrm>
            <a:off x="992181" y="2248042"/>
            <a:ext cx="7146628" cy="646331"/>
          </a:xfrm>
          <a:prstGeom prst="rect">
            <a:avLst/>
          </a:prstGeom>
          <a:noFill/>
        </p:spPr>
        <p:txBody>
          <a:bodyPr wrap="square">
            <a:spAutoFit/>
          </a:bodyPr>
          <a:lstStyle/>
          <a:p>
            <a:r>
              <a:t>•  Conduct comprehensive market and competitive analysis.</a:t>
            </a:r>
            <a:br/>
            <a:r>
              <a:t>•  Assess current state capabilities, processes, and technology infrastructure.</a:t>
            </a:r>
            <a:br/>
            <a:r>
              <a:t>•  Engage key stakeholders to align on strategic objectives and pain points.</a:t>
            </a:r>
            <a:br/>
            <a:r>
              <a:t>•  Identify key opportunities and develop a robust problem definition.</a:t>
            </a:r>
            <a:endParaRPr lang="en-AE" sz="1200" i="1" dirty="0"/>
          </a:p>
        </p:txBody>
      </p:sp>
      <p:sp>
        <p:nvSpPr>
          <p:cNvPr id="6" name="TextBox 5">
            <a:extLst>
              <a:ext uri="{FF2B5EF4-FFF2-40B4-BE49-F238E27FC236}">
                <a16:creationId xmlns:a16="http://schemas.microsoft.com/office/drawing/2014/main" id="{27F7C101-EA36-10D2-4D7E-7A99FFA4C026}"/>
              </a:ext>
            </a:extLst>
          </p:cNvPr>
          <p:cNvSpPr txBox="1"/>
          <p:nvPr/>
        </p:nvSpPr>
        <p:spPr>
          <a:xfrm>
            <a:off x="998665" y="3645583"/>
            <a:ext cx="7146628" cy="615553"/>
          </a:xfrm>
          <a:prstGeom prst="rect">
            <a:avLst/>
          </a:prstGeom>
          <a:noFill/>
        </p:spPr>
        <p:txBody>
          <a:bodyPr wrap="square">
            <a:spAutoFit/>
          </a:bodyPr>
          <a:lstStyle/>
          <a:p>
            <a:r>
              <a:t>•  Develop tailored growth strategies and actionable roadmaps.</a:t>
            </a:r>
            <a:br/>
            <a:r>
              <a:t>•  Design new operating models, organizational structures, and governance frameworks.</a:t>
            </a:r>
            <a:br/>
            <a:r>
              <a:t>•  Formulate detailed implementation plans and resource requirements.</a:t>
            </a:r>
            <a:br/>
            <a:r>
              <a:t>•  Validate strategic choices with pilot programs or feasibility studies.</a:t>
            </a:r>
            <a:endParaRPr lang="en-AE" sz="1200" i="1" dirty="0"/>
          </a:p>
        </p:txBody>
      </p:sp>
      <p:sp>
        <p:nvSpPr>
          <p:cNvPr id="7" name="TextBox 6">
            <a:extLst>
              <a:ext uri="{FF2B5EF4-FFF2-40B4-BE49-F238E27FC236}">
                <a16:creationId xmlns:a16="http://schemas.microsoft.com/office/drawing/2014/main" id="{4E479D7B-18FE-0D1F-CF1E-8BF85800C5C2}"/>
              </a:ext>
            </a:extLst>
          </p:cNvPr>
          <p:cNvSpPr txBox="1"/>
          <p:nvPr/>
        </p:nvSpPr>
        <p:spPr>
          <a:xfrm>
            <a:off x="998665" y="4975916"/>
            <a:ext cx="7146628" cy="615553"/>
          </a:xfrm>
          <a:prstGeom prst="rect">
            <a:avLst/>
          </a:prstGeom>
          <a:noFill/>
        </p:spPr>
        <p:txBody>
          <a:bodyPr wrap="square">
            <a:spAutoFit/>
          </a:bodyPr>
          <a:lstStyle/>
          <a:p>
            <a:r>
              <a:t>•  Support execution of strategic initiatives and digital transformation.</a:t>
            </a:r>
            <a:br/>
            <a:r>
              <a:t>•  Establish performance monitoring frameworks and KPIs.</a:t>
            </a:r>
            <a:br/>
            <a:r>
              <a:t>•  Facilitate change management and capability transfer to internal teams.</a:t>
            </a:r>
            <a:br/>
            <a:r>
              <a:t>•  Provide ongoing advisory to optimize performance and refine strategies.</a:t>
            </a:r>
            <a:endParaRPr lang="en-AE" sz="1200" i="1" dirty="0"/>
          </a:p>
        </p:txBody>
      </p:sp>
    </p:spTree>
    <p:extLst>
      <p:ext uri="{BB962C8B-B14F-4D97-AF65-F5344CB8AC3E}">
        <p14:creationId xmlns:p14="http://schemas.microsoft.com/office/powerpoint/2010/main" val="2710043180"/>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0815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13913-5321-D93D-18DC-679B11DCBA48}"/>
              </a:ext>
            </a:extLst>
          </p:cNvPr>
          <p:cNvSpPr>
            <a:spLocks noGrp="1" noRot="1" noMove="1" noResize="1" noEditPoints="1" noAdjustHandles="1" noChangeArrowheads="1" noChangeShapeType="1"/>
          </p:cNvSpPr>
          <p:nvPr>
            <p:ph type="title"/>
          </p:nvPr>
        </p:nvSpPr>
        <p:spPr/>
        <p:txBody>
          <a:bodyPr>
            <a:normAutofit/>
          </a:bodyPr>
          <a:lstStyle/>
          <a:p>
            <a:r>
              <a:rPr lang="en-US" sz="2200" dirty="0"/>
              <a:t>Pnyx Hill’s SCOPE OF SERVICES</a:t>
            </a:r>
            <a:endParaRPr sz="1800" dirty="0"/>
          </a:p>
        </p:txBody>
      </p:sp>
      <p:sp>
        <p:nvSpPr>
          <p:cNvPr id="4" name="Content Placeholder 3">
            <a:extLst>
              <a:ext uri="{FF2B5EF4-FFF2-40B4-BE49-F238E27FC236}">
                <a16:creationId xmlns:a16="http://schemas.microsoft.com/office/drawing/2014/main" id="{92680D53-D430-E573-E195-D777B3715BA9}"/>
              </a:ext>
            </a:extLst>
          </p:cNvPr>
          <p:cNvSpPr>
            <a:spLocks noGrp="1"/>
          </p:cNvSpPr>
          <p:nvPr>
            <p:ph sz="half" idx="16"/>
          </p:nvPr>
        </p:nvSpPr>
        <p:spPr>
          <a:xfrm>
            <a:off x="838200" y="1243937"/>
            <a:ext cx="1275996" cy="1706030"/>
          </a:xfrm>
        </p:spPr>
        <p:txBody>
          <a:bodyPr/>
          <a:lstStyle/>
          <a:p>
            <a:r>
              <a:rPr lang="en-US" dirty="0"/>
              <a:t>STRATEGIC SUPPORT</a:t>
            </a:r>
            <a:br>
              <a:rPr dirty="0"/>
            </a:br>
            <a:endParaRPr dirty="0"/>
          </a:p>
        </p:txBody>
      </p:sp>
      <p:sp>
        <p:nvSpPr>
          <p:cNvPr id="6" name="Content Placeholder 5">
            <a:extLst>
              <a:ext uri="{FF2B5EF4-FFF2-40B4-BE49-F238E27FC236}">
                <a16:creationId xmlns:a16="http://schemas.microsoft.com/office/drawing/2014/main" id="{CCA89EA0-E269-44B2-36DE-06A5BBD705F9}"/>
              </a:ext>
            </a:extLst>
          </p:cNvPr>
          <p:cNvSpPr>
            <a:spLocks noGrp="1"/>
          </p:cNvSpPr>
          <p:nvPr>
            <p:ph sz="half" idx="18"/>
          </p:nvPr>
        </p:nvSpPr>
        <p:spPr>
          <a:xfrm>
            <a:off x="838200" y="3125547"/>
            <a:ext cx="1275996" cy="1751835"/>
          </a:xfrm>
        </p:spPr>
        <p:txBody>
          <a:bodyPr/>
          <a:lstStyle/>
          <a:p>
            <a:endParaRPr dirty="0"/>
          </a:p>
          <a:p>
            <a:r>
              <a:rPr lang="en-US" dirty="0"/>
              <a:t>STRUCTURING &amp; ENABLERS</a:t>
            </a:r>
            <a:endParaRPr dirty="0"/>
          </a:p>
        </p:txBody>
      </p:sp>
      <p:sp>
        <p:nvSpPr>
          <p:cNvPr id="8" name="Content Placeholder 7">
            <a:extLst>
              <a:ext uri="{FF2B5EF4-FFF2-40B4-BE49-F238E27FC236}">
                <a16:creationId xmlns:a16="http://schemas.microsoft.com/office/drawing/2014/main" id="{2103AB6B-A72F-150F-7BC6-3358D22431D9}"/>
              </a:ext>
            </a:extLst>
          </p:cNvPr>
          <p:cNvSpPr>
            <a:spLocks noGrp="1"/>
          </p:cNvSpPr>
          <p:nvPr>
            <p:ph sz="half" idx="20"/>
          </p:nvPr>
        </p:nvSpPr>
        <p:spPr>
          <a:xfrm>
            <a:off x="838200" y="5052962"/>
            <a:ext cx="1275996" cy="1043038"/>
          </a:xfrm>
        </p:spPr>
        <p:txBody>
          <a:bodyPr>
            <a:normAutofit/>
          </a:bodyPr>
          <a:lstStyle/>
          <a:p>
            <a:endParaRPr lang="en-AE" sz="1100" dirty="0"/>
          </a:p>
          <a:p>
            <a:r>
              <a:rPr lang="en-US" sz="1300" dirty="0"/>
              <a:t>ONGOING SUPPORT</a:t>
            </a:r>
            <a:br>
              <a:rPr sz="1300" dirty="0"/>
            </a:br>
            <a:endParaRPr dirty="0"/>
          </a:p>
        </p:txBody>
      </p:sp>
      <p:sp>
        <p:nvSpPr>
          <p:cNvPr id="16" name="Content Placeholder 2">
            <a:extLst>
              <a:ext uri="{FF2B5EF4-FFF2-40B4-BE49-F238E27FC236}">
                <a16:creationId xmlns:a16="http://schemas.microsoft.com/office/drawing/2014/main" id="{46C6D46A-7965-B435-7C14-57F22175C380}"/>
              </a:ext>
            </a:extLst>
          </p:cNvPr>
          <p:cNvSpPr>
            <a:spLocks noGrp="1"/>
          </p:cNvSpPr>
          <p:nvPr>
            <p:ph sz="half" idx="2"/>
          </p:nvPr>
        </p:nvSpPr>
        <p:spPr>
          <a:xfrm>
            <a:off x="2428565" y="1243937"/>
            <a:ext cx="9224914" cy="1706030"/>
          </a:xfrm>
        </p:spPr>
        <p:txBody>
          <a:bodyPr>
            <a:normAutofit/>
          </a:bodyPr>
          <a:lstStyle/>
          <a:p>
            <a:pPr>
              <a:lnSpc>
                <a:spcPct val="120000"/>
              </a:lnSpc>
              <a:spcBef>
                <a:spcPts val="0"/>
              </a:spcBef>
              <a:spcAft>
                <a:spcPts val="600"/>
              </a:spcAft>
              <a:buFont typeface="Wingdings" panose="05000000000000000000" pitchFamily="2" charset="2"/>
              <a:buChar char="§"/>
            </a:pPr>
            <a:r>
              <a:t>•  **Growth Strategy Formulation**: Defining clear market entry, expansion, and product innovation strategies.</a:t>
            </a:r>
            <a:br/>
            <a:r>
              <a:t>•  **Market Opportunity Analysis**: Identifying untapped segments, competitive positioning, and sustainable differentiation.</a:t>
            </a:r>
            <a:br/>
            <a:r>
              <a:t>•  **Business Model Transformation**: Redesigning core value propositions and revenue streams for future resilience.</a:t>
            </a:r>
            <a:br/>
            <a:r>
              <a:t>•  **M&amp;A Advisory**: Strategic assessment and due diligence support for inorganic growth initiatives.</a:t>
            </a:r>
            <a:endParaRPr dirty="0"/>
          </a:p>
        </p:txBody>
      </p:sp>
      <p:sp>
        <p:nvSpPr>
          <p:cNvPr id="12" name="Content Placeholder 2">
            <a:extLst>
              <a:ext uri="{FF2B5EF4-FFF2-40B4-BE49-F238E27FC236}">
                <a16:creationId xmlns:a16="http://schemas.microsoft.com/office/drawing/2014/main" id="{2DF705CC-6974-7258-485D-3EB82444ABBD}"/>
              </a:ext>
            </a:extLst>
          </p:cNvPr>
          <p:cNvSpPr txBox="1">
            <a:spLocks/>
          </p:cNvSpPr>
          <p:nvPr/>
        </p:nvSpPr>
        <p:spPr>
          <a:xfrm>
            <a:off x="2428565" y="3334642"/>
            <a:ext cx="9224914" cy="17060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r>
              <a:t>•  **Operating Model Design**: Optimizing organizational structures, roles, and responsibilities for efficiency and agility.</a:t>
            </a:r>
            <a:br/>
            <a:r>
              <a:t>•  **Process Re-engineering**: Streamlining core business processes using Lean and Six Sigma principles.</a:t>
            </a:r>
            <a:br/>
            <a:r>
              <a:t>•  **Technology Architecture Assessment**: Evaluating and recommending future-proof technology stacks and digital platforms.</a:t>
            </a:r>
            <a:br/>
            <a:r>
              <a:t>•  **Performance Management Frameworks**: Developing robust KPI systems and reporting mechanisms to track progress.</a:t>
            </a:r>
            <a:endParaRPr dirty="0"/>
          </a:p>
        </p:txBody>
      </p:sp>
      <p:sp>
        <p:nvSpPr>
          <p:cNvPr id="13" name="Content Placeholder 2">
            <a:extLst>
              <a:ext uri="{FF2B5EF4-FFF2-40B4-BE49-F238E27FC236}">
                <a16:creationId xmlns:a16="http://schemas.microsoft.com/office/drawing/2014/main" id="{53187A2B-B3C3-BD47-812E-C9AF78225BCD}"/>
              </a:ext>
            </a:extLst>
          </p:cNvPr>
          <p:cNvSpPr txBox="1">
            <a:spLocks/>
          </p:cNvSpPr>
          <p:nvPr/>
        </p:nvSpPr>
        <p:spPr>
          <a:xfrm>
            <a:off x="2428565" y="5040672"/>
            <a:ext cx="9224914" cy="5733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r>
              <a:t>•  **Implementation Guidance**: Providing expert support during strategy execution and project rollout.</a:t>
            </a:r>
            <a:br/>
            <a:r>
              <a:t>•  **Capability Building**: Training and workshops to upskill internal teams in new methodologies and tools.</a:t>
            </a:r>
            <a:br/>
            <a:r>
              <a:t>•  **Strategic Reviews**: Regular check-ins to assess performance, adapt strategies, and ensure sustained impact.</a:t>
            </a:r>
            <a:br/>
            <a:r>
              <a:t>•  **Advisory Retainer**: Access to Pnyx Hill experts for ongoing strategic counsel and problem-solving.</a:t>
            </a:r>
            <a:endParaRPr dirty="0"/>
          </a:p>
        </p:txBody>
      </p:sp>
      <p:sp>
        <p:nvSpPr>
          <p:cNvPr id="3" name="Slide Number Placeholder 10">
            <a:extLst>
              <a:ext uri="{FF2B5EF4-FFF2-40B4-BE49-F238E27FC236}">
                <a16:creationId xmlns:a16="http://schemas.microsoft.com/office/drawing/2014/main" id="{71D706F6-78B4-8187-8249-53FE450C24F8}"/>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632127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23AF8-0042-0AA0-134B-D6408C3F268F}"/>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91E528CC-1DEC-1EC7-A1A6-A2DB81B728AA}"/>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pic>
        <p:nvPicPr>
          <p:cNvPr id="34" name="Picture 33">
            <a:extLst>
              <a:ext uri="{FF2B5EF4-FFF2-40B4-BE49-F238E27FC236}">
                <a16:creationId xmlns:a16="http://schemas.microsoft.com/office/drawing/2014/main" id="{88859C87-E646-C027-C9BA-64255063915F}"/>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4D001741-0E13-D437-6CD9-AB97C8214DB1}"/>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72E93958-AA01-4050-4D6F-A87196AD7D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1869EE52-9D7E-2FC5-04E9-B113EA08C4B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B6C4BDD-A4ED-1302-9F17-1E25FCDD7D6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84E59DC3-2527-4E6C-FFFE-13D74BCA0E9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5DE1FAB0-FDB8-7077-6D2B-E0645262816D}"/>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1" name="Text Placeholder 1">
            <a:extLst>
              <a:ext uri="{FF2B5EF4-FFF2-40B4-BE49-F238E27FC236}">
                <a16:creationId xmlns:a16="http://schemas.microsoft.com/office/drawing/2014/main" id="{2374A811-6337-EEA3-6CA1-983BD6A9DA32}"/>
              </a:ext>
            </a:extLst>
          </p:cNvPr>
          <p:cNvSpPr txBox="1">
            <a:spLocks/>
          </p:cNvSpPr>
          <p:nvPr/>
        </p:nvSpPr>
        <p:spPr>
          <a:xfrm>
            <a:off x="829954" y="1171341"/>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AutoNum type="arabicPeriod"/>
            </a:pPr>
            <a:r>
              <a:t>Strategic Roadmaps &amp; Blueprints</a:t>
            </a:r>
            <a:endParaRPr lang="en-GB" sz="1500" b="1" dirty="0">
              <a:solidFill>
                <a:srgbClr val="7D4E1D"/>
              </a:solidFill>
            </a:endParaRPr>
          </a:p>
        </p:txBody>
      </p:sp>
      <p:sp>
        <p:nvSpPr>
          <p:cNvPr id="2" name="Text Placeholder 1">
            <a:extLst>
              <a:ext uri="{FF2B5EF4-FFF2-40B4-BE49-F238E27FC236}">
                <a16:creationId xmlns:a16="http://schemas.microsoft.com/office/drawing/2014/main" id="{2CA04B7F-0889-575D-C56A-F0A2DAA5BED3}"/>
              </a:ext>
            </a:extLst>
          </p:cNvPr>
          <p:cNvSpPr txBox="1">
            <a:spLocks/>
          </p:cNvSpPr>
          <p:nvPr/>
        </p:nvSpPr>
        <p:spPr>
          <a:xfrm>
            <a:off x="4627374" y="1169972"/>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Organizational &amp; Operational Enhancements</a:t>
            </a:r>
            <a:endParaRPr lang="en-GB" sz="1500" b="1" dirty="0">
              <a:solidFill>
                <a:srgbClr val="7D4E1D"/>
              </a:solidFill>
            </a:endParaRPr>
          </a:p>
        </p:txBody>
      </p:sp>
      <p:sp>
        <p:nvSpPr>
          <p:cNvPr id="4" name="TextBox 3">
            <a:extLst>
              <a:ext uri="{FF2B5EF4-FFF2-40B4-BE49-F238E27FC236}">
                <a16:creationId xmlns:a16="http://schemas.microsoft.com/office/drawing/2014/main" id="{F41ACD24-4209-A5D8-1097-891D1D5DA49C}"/>
              </a:ext>
            </a:extLst>
          </p:cNvPr>
          <p:cNvSpPr txBox="1"/>
          <p:nvPr/>
        </p:nvSpPr>
        <p:spPr>
          <a:xfrm>
            <a:off x="977104" y="2075145"/>
            <a:ext cx="3254477" cy="646331"/>
          </a:xfrm>
          <a:prstGeom prst="rect">
            <a:avLst/>
          </a:prstGeom>
          <a:noFill/>
        </p:spPr>
        <p:txBody>
          <a:bodyPr wrap="square">
            <a:spAutoFit/>
          </a:bodyPr>
          <a:lstStyle/>
          <a:p>
            <a:r>
              <a:t>•  Comprehensive 5-Year Growth Strategy Roadmap.</a:t>
            </a:r>
            <a:br/>
            <a:r>
              <a:t>•  Detailed Operating Model Design Blueprint.</a:t>
            </a:r>
            <a:br/>
            <a:r>
              <a:t>•  Market Opportunity Assessment Report with Prioritized Segments.</a:t>
            </a:r>
            <a:br/>
            <a:r>
              <a:t>•  Digital Transformation Master Plan.</a:t>
            </a:r>
            <a:endParaRPr lang="en-AE" sz="1200" i="1" dirty="0"/>
          </a:p>
        </p:txBody>
      </p:sp>
      <p:sp>
        <p:nvSpPr>
          <p:cNvPr id="5" name="TextBox 4">
            <a:extLst>
              <a:ext uri="{FF2B5EF4-FFF2-40B4-BE49-F238E27FC236}">
                <a16:creationId xmlns:a16="http://schemas.microsoft.com/office/drawing/2014/main" id="{0129D5FA-8B59-B1A8-3B87-F2F778D1E6E5}"/>
              </a:ext>
            </a:extLst>
          </p:cNvPr>
          <p:cNvSpPr txBox="1"/>
          <p:nvPr/>
        </p:nvSpPr>
        <p:spPr>
          <a:xfrm>
            <a:off x="4715282" y="2075144"/>
            <a:ext cx="3254477" cy="646331"/>
          </a:xfrm>
          <a:prstGeom prst="rect">
            <a:avLst/>
          </a:prstGeom>
          <a:noFill/>
        </p:spPr>
        <p:txBody>
          <a:bodyPr wrap="square">
            <a:spAutoFit/>
          </a:bodyPr>
          <a:lstStyle/>
          <a:p>
            <a:r>
              <a:t>•  Future-State Organizational Structure and Talent Matrix.</a:t>
            </a:r>
            <a:br/>
            <a:r>
              <a:t>•  Process Optimization Recommendations and Implementation Plan.</a:t>
            </a:r>
            <a:br/>
            <a:r>
              <a:t>•  Technology Gap Analysis and Recommendation Report.</a:t>
            </a:r>
            <a:br/>
            <a:r>
              <a:t>•  Performance Measurement Framework with Custom KPIs.</a:t>
            </a:r>
            <a:endParaRPr lang="en-AE" sz="1200" i="1" dirty="0"/>
          </a:p>
        </p:txBody>
      </p:sp>
      <p:sp>
        <p:nvSpPr>
          <p:cNvPr id="3" name="Slide Number Placeholder 10">
            <a:extLst>
              <a:ext uri="{FF2B5EF4-FFF2-40B4-BE49-F238E27FC236}">
                <a16:creationId xmlns:a16="http://schemas.microsoft.com/office/drawing/2014/main" id="{23DDFFE6-02F5-2FD5-A8F3-82A624B5B06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219523490"/>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3142F-4A41-3D4E-BE21-65EFC2E2F9A2}"/>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4378B34E-EAB7-F8D1-AD02-1CBCD552E977}"/>
              </a:ext>
            </a:extLst>
          </p:cNvPr>
          <p:cNvSpPr>
            <a:spLocks noGrp="1" noRot="1" noMove="1" noResize="1" noEditPoints="1" noAdjustHandles="1" noChangeArrowheads="1" noChangeShapeType="1"/>
          </p:cNvSpPr>
          <p:nvPr>
            <p:ph type="sldNum" sz="quarter" idx="12"/>
          </p:nvPr>
        </p:nvSpPr>
        <p:spPr/>
        <p:txBody>
          <a:bodyPr/>
          <a:lstStyle/>
          <a:p>
            <a:endParaRPr dirty="0"/>
          </a:p>
        </p:txBody>
      </p:sp>
      <p:pic>
        <p:nvPicPr>
          <p:cNvPr id="34" name="Picture 33">
            <a:extLst>
              <a:ext uri="{FF2B5EF4-FFF2-40B4-BE49-F238E27FC236}">
                <a16:creationId xmlns:a16="http://schemas.microsoft.com/office/drawing/2014/main" id="{C71C5D2C-C8ED-CFA1-684E-0CD12675CF77}"/>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9373A9C4-32B2-B0A9-BEC8-730358AB11F7}"/>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4CC3FF8C-4F21-3616-97A9-145CDFB103FB}"/>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5DF781A6-D7A4-EF12-3034-22E9D3E364E9}"/>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0CF6BD07-223A-9FD0-0E6A-43CBF93285F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90FC3E5C-7A3E-2CA7-BCBE-820BEB035615}"/>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0F47EEBB-67D4-6422-6568-152ADA8832D9}"/>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 name="Text Placeholder 1">
            <a:extLst>
              <a:ext uri="{FF2B5EF4-FFF2-40B4-BE49-F238E27FC236}">
                <a16:creationId xmlns:a16="http://schemas.microsoft.com/office/drawing/2014/main" id="{F61DCCE8-571B-4F7C-77CA-391BAE27EF69}"/>
              </a:ext>
            </a:extLst>
          </p:cNvPr>
          <p:cNvSpPr txBox="1">
            <a:spLocks/>
          </p:cNvSpPr>
          <p:nvPr/>
        </p:nvSpPr>
        <p:spPr>
          <a:xfrm>
            <a:off x="4681701" y="1229646"/>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Financial Impact &amp; Risk Mitigation</a:t>
            </a:r>
            <a:endParaRPr lang="en-GB" sz="1500" b="1" dirty="0">
              <a:solidFill>
                <a:srgbClr val="7D4E1D"/>
              </a:solidFill>
            </a:endParaRPr>
          </a:p>
        </p:txBody>
      </p:sp>
      <p:sp>
        <p:nvSpPr>
          <p:cNvPr id="5" name="Text Placeholder 1">
            <a:extLst>
              <a:ext uri="{FF2B5EF4-FFF2-40B4-BE49-F238E27FC236}">
                <a16:creationId xmlns:a16="http://schemas.microsoft.com/office/drawing/2014/main" id="{1BC761C1-D21A-DAE3-F71A-97F5A50D23FF}"/>
              </a:ext>
            </a:extLst>
          </p:cNvPr>
          <p:cNvSpPr txBox="1">
            <a:spLocks/>
          </p:cNvSpPr>
          <p:nvPr/>
        </p:nvSpPr>
        <p:spPr>
          <a:xfrm>
            <a:off x="877701" y="1241420"/>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Change &amp; Capability Building</a:t>
            </a:r>
            <a:endParaRPr lang="en-GB" sz="1500" b="1" dirty="0">
              <a:solidFill>
                <a:srgbClr val="7D4E1D"/>
              </a:solidFill>
            </a:endParaRPr>
          </a:p>
        </p:txBody>
      </p:sp>
      <p:sp>
        <p:nvSpPr>
          <p:cNvPr id="12" name="Title 1">
            <a:extLst>
              <a:ext uri="{FF2B5EF4-FFF2-40B4-BE49-F238E27FC236}">
                <a16:creationId xmlns:a16="http://schemas.microsoft.com/office/drawing/2014/main" id="{69386124-EC2C-4293-F431-CD6463A69F95}"/>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sp>
        <p:nvSpPr>
          <p:cNvPr id="13" name="TextBox 12">
            <a:extLst>
              <a:ext uri="{FF2B5EF4-FFF2-40B4-BE49-F238E27FC236}">
                <a16:creationId xmlns:a16="http://schemas.microsoft.com/office/drawing/2014/main" id="{72139180-8083-B418-4FEC-002D4F85DDDB}"/>
              </a:ext>
            </a:extLst>
          </p:cNvPr>
          <p:cNvSpPr txBox="1"/>
          <p:nvPr/>
        </p:nvSpPr>
        <p:spPr>
          <a:xfrm>
            <a:off x="977104" y="2075145"/>
            <a:ext cx="3254477" cy="461665"/>
          </a:xfrm>
          <a:prstGeom prst="rect">
            <a:avLst/>
          </a:prstGeom>
          <a:noFill/>
        </p:spPr>
        <p:txBody>
          <a:bodyPr wrap="square">
            <a:spAutoFit/>
          </a:bodyPr>
          <a:lstStyle/>
          <a:p>
            <a:r>
              <a:t>•  Customized Change Management Strategy and Communication Plan.</a:t>
            </a:r>
            <a:br/>
            <a:r>
              <a:t>•  Leadership Workshops on Strategic Implementation.</a:t>
            </a:r>
            <a:br/>
            <a:r>
              <a:t>•  Skill-Building Programs for Key Functional Teams.</a:t>
            </a:r>
            <a:br/>
            <a:r>
              <a:t>•  Post-Implementation Review and Lessons Learned Report.</a:t>
            </a:r>
            <a:endParaRPr lang="en-US" sz="1200" i="1" dirty="0"/>
          </a:p>
        </p:txBody>
      </p:sp>
      <p:sp>
        <p:nvSpPr>
          <p:cNvPr id="14" name="TextBox 13">
            <a:extLst>
              <a:ext uri="{FF2B5EF4-FFF2-40B4-BE49-F238E27FC236}">
                <a16:creationId xmlns:a16="http://schemas.microsoft.com/office/drawing/2014/main" id="{FA44F50F-174E-BDE9-23CB-65A44E70D000}"/>
              </a:ext>
            </a:extLst>
          </p:cNvPr>
          <p:cNvSpPr txBox="1"/>
          <p:nvPr/>
        </p:nvSpPr>
        <p:spPr>
          <a:xfrm>
            <a:off x="4715282" y="2075144"/>
            <a:ext cx="3254477" cy="461665"/>
          </a:xfrm>
          <a:prstGeom prst="rect">
            <a:avLst/>
          </a:prstGeom>
          <a:noFill/>
        </p:spPr>
        <p:txBody>
          <a:bodyPr wrap="square">
            <a:spAutoFit/>
          </a:bodyPr>
          <a:lstStyle/>
          <a:p>
            <a:r>
              <a:t>•  Detailed Financial Projections and Business Case for Proposed Initiatives.</a:t>
            </a:r>
            <a:br/>
            <a:r>
              <a:t>•  Risk Assessment Matrix with Mitigation Strategies.</a:t>
            </a:r>
            <a:br/>
            <a:r>
              <a:t>•  ROI Analysis for Key Investments.</a:t>
            </a:r>
            <a:br/>
            <a:r>
              <a:t>•  Post-Project Value Realization Report.</a:t>
            </a:r>
            <a:endParaRPr lang="en-AE" sz="1200" i="1" dirty="0"/>
          </a:p>
        </p:txBody>
      </p:sp>
    </p:spTree>
    <p:extLst>
      <p:ext uri="{BB962C8B-B14F-4D97-AF65-F5344CB8AC3E}">
        <p14:creationId xmlns:p14="http://schemas.microsoft.com/office/powerpoint/2010/main" val="206556200"/>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8D830-DE7A-1950-0ABE-3643403EB0B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4D8A6CE-3187-9226-930C-4F60EC626DE0}"/>
              </a:ext>
            </a:extLst>
          </p:cNvPr>
          <p:cNvSpPr/>
          <p:nvPr/>
        </p:nvSpPr>
        <p:spPr>
          <a:xfrm>
            <a:off x="836610" y="1278194"/>
            <a:ext cx="7245506" cy="4945982"/>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3" name="Title 2">
            <a:extLst>
              <a:ext uri="{FF2B5EF4-FFF2-40B4-BE49-F238E27FC236}">
                <a16:creationId xmlns:a16="http://schemas.microsoft.com/office/drawing/2014/main" id="{F2B985C6-58F0-C5C3-7EC3-8ED1EF1656BF}"/>
              </a:ext>
            </a:extLst>
          </p:cNvPr>
          <p:cNvSpPr>
            <a:spLocks noGrp="1"/>
          </p:cNvSpPr>
          <p:nvPr>
            <p:ph type="title"/>
          </p:nvPr>
        </p:nvSpPr>
        <p:spPr>
          <a:xfrm>
            <a:off x="839788" y="365126"/>
            <a:ext cx="7243012" cy="502722"/>
          </a:xfrm>
        </p:spPr>
        <p:txBody>
          <a:bodyPr/>
          <a:lstStyle/>
          <a:p>
            <a:r>
              <a:rPr lang="en-US" dirty="0"/>
              <a:t>Engagement Partners</a:t>
            </a:r>
            <a:endParaRPr lang="en-AE" dirty="0"/>
          </a:p>
        </p:txBody>
      </p:sp>
      <p:sp>
        <p:nvSpPr>
          <p:cNvPr id="8" name="Content Placeholder 5">
            <a:extLst>
              <a:ext uri="{FF2B5EF4-FFF2-40B4-BE49-F238E27FC236}">
                <a16:creationId xmlns:a16="http://schemas.microsoft.com/office/drawing/2014/main" id="{7C33B09B-7059-DB7F-94DB-26EAA331BEC5}"/>
              </a:ext>
            </a:extLst>
          </p:cNvPr>
          <p:cNvSpPr txBox="1">
            <a:spLocks/>
          </p:cNvSpPr>
          <p:nvPr/>
        </p:nvSpPr>
        <p:spPr>
          <a:xfrm>
            <a:off x="836610" y="3367850"/>
            <a:ext cx="1912175" cy="559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Andreas Kourouklaris</a:t>
            </a:r>
          </a:p>
          <a:p>
            <a:pPr marL="0" indent="0" algn="ctr">
              <a:buNone/>
            </a:pPr>
            <a:r>
              <a:rPr lang="en-US" dirty="0">
                <a:solidFill>
                  <a:srgbClr val="0B2339"/>
                </a:solidFill>
                <a:latin typeface="Aptos Light" panose="020B0004020202020204" pitchFamily="34" charset="0"/>
              </a:rPr>
              <a:t>Co-founder and Group CEO</a:t>
            </a:r>
            <a:endParaRPr lang="en-AE" dirty="0">
              <a:solidFill>
                <a:srgbClr val="0B2339"/>
              </a:solidFill>
              <a:latin typeface="Aptos Light" panose="020B0004020202020204" pitchFamily="34" charset="0"/>
            </a:endParaRPr>
          </a:p>
        </p:txBody>
      </p:sp>
      <p:sp>
        <p:nvSpPr>
          <p:cNvPr id="9" name="Content Placeholder 10">
            <a:extLst>
              <a:ext uri="{FF2B5EF4-FFF2-40B4-BE49-F238E27FC236}">
                <a16:creationId xmlns:a16="http://schemas.microsoft.com/office/drawing/2014/main" id="{16FBFFEF-406D-D3FA-6C4C-44BE980BB2C4}"/>
              </a:ext>
            </a:extLst>
          </p:cNvPr>
          <p:cNvSpPr txBox="1">
            <a:spLocks/>
          </p:cNvSpPr>
          <p:nvPr/>
        </p:nvSpPr>
        <p:spPr>
          <a:xfrm>
            <a:off x="2886516" y="1742349"/>
            <a:ext cx="5057868"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is a senior executive, serial entrepreneur, and expert strategist specializing in hyper-growth sustainable strategy, operations, and business development. He has led global regulatory initiatives, commercial operations, investor relations, and fundraising efforts.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held C-level positions and served as an executive director in several international licensed entities. He has launched local and international operations, achieving significant transaction volumes and revenue in multiple countries across MEA, SEA, CA, and EU, including the UAE, Bahrain, Kenya, Mozambique, Uganda, Philippines, Bangladesh, Kazakhstan, Singapore, Cyprus, and others.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managed under operational structures over 300 employees and directly/indirectly secured over USD 50 million in equity investments. He holds a BSc and MSc in engineering from AUTH University of Thessaloniki, Greece.</a:t>
            </a:r>
          </a:p>
        </p:txBody>
      </p:sp>
      <p:pic>
        <p:nvPicPr>
          <p:cNvPr id="10" name="Picture 9">
            <a:extLst>
              <a:ext uri="{FF2B5EF4-FFF2-40B4-BE49-F238E27FC236}">
                <a16:creationId xmlns:a16="http://schemas.microsoft.com/office/drawing/2014/main" id="{33390038-1182-B041-399A-73C4093421C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6000" contrast="-19000"/>
                    </a14:imgEffect>
                  </a14:imgLayer>
                </a14:imgProps>
              </a:ext>
            </a:extLst>
          </a:blip>
          <a:srcRect l="4825" r="4825"/>
          <a:stretch/>
        </p:blipFill>
        <p:spPr bwMode="auto">
          <a:xfrm>
            <a:off x="995254" y="1746457"/>
            <a:ext cx="1594886" cy="1594886"/>
          </a:xfrm>
          <a:prstGeom prst="ellipse">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0F5ED5D-5AB0-7524-6A2C-92C5F2CA5B8C}"/>
              </a:ext>
            </a:extLst>
          </p:cNvPr>
          <p:cNvCxnSpPr>
            <a:cxnSpLocks/>
          </p:cNvCxnSpPr>
          <p:nvPr/>
        </p:nvCxnSpPr>
        <p:spPr>
          <a:xfrm>
            <a:off x="839787" y="1661654"/>
            <a:ext cx="7242329" cy="0"/>
          </a:xfrm>
          <a:prstGeom prst="line">
            <a:avLst/>
          </a:prstGeom>
          <a:ln w="9525"/>
        </p:spPr>
        <p:style>
          <a:lnRef idx="2">
            <a:schemeClr val="dk1"/>
          </a:lnRef>
          <a:fillRef idx="0">
            <a:schemeClr val="dk1"/>
          </a:fillRef>
          <a:effectRef idx="1">
            <a:schemeClr val="dk1"/>
          </a:effectRef>
          <a:fontRef idx="minor">
            <a:schemeClr val="tx1"/>
          </a:fontRef>
        </p:style>
      </p:cxnSp>
      <p:sp>
        <p:nvSpPr>
          <p:cNvPr id="16" name="Text Placeholder 1">
            <a:extLst>
              <a:ext uri="{FF2B5EF4-FFF2-40B4-BE49-F238E27FC236}">
                <a16:creationId xmlns:a16="http://schemas.microsoft.com/office/drawing/2014/main" id="{896E69A8-7132-3897-EEB0-7324EA71D385}"/>
              </a:ext>
            </a:extLst>
          </p:cNvPr>
          <p:cNvSpPr txBox="1">
            <a:spLocks/>
          </p:cNvSpPr>
          <p:nvPr/>
        </p:nvSpPr>
        <p:spPr>
          <a:xfrm>
            <a:off x="839787" y="1358889"/>
            <a:ext cx="3548779" cy="3027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rgbClr val="7D4E1D"/>
                </a:solidFill>
              </a:rPr>
              <a:t>Client Excellence </a:t>
            </a:r>
            <a:endParaRPr lang="en-GB" sz="1700" b="1" dirty="0">
              <a:solidFill>
                <a:srgbClr val="7D4E1D"/>
              </a:solidFill>
            </a:endParaRPr>
          </a:p>
        </p:txBody>
      </p:sp>
      <p:sp>
        <p:nvSpPr>
          <p:cNvPr id="19" name="TextBox 18">
            <a:extLst>
              <a:ext uri="{FF2B5EF4-FFF2-40B4-BE49-F238E27FC236}">
                <a16:creationId xmlns:a16="http://schemas.microsoft.com/office/drawing/2014/main" id="{8EB3B24F-5900-545B-30C0-6A1F793945E6}"/>
              </a:ext>
            </a:extLst>
          </p:cNvPr>
          <p:cNvSpPr txBox="1"/>
          <p:nvPr/>
        </p:nvSpPr>
        <p:spPr>
          <a:xfrm>
            <a:off x="8701549" y="683182"/>
            <a:ext cx="2340077" cy="369332"/>
          </a:xfrm>
          <a:prstGeom prst="rect">
            <a:avLst/>
          </a:prstGeom>
          <a:solidFill>
            <a:srgbClr val="0B2339"/>
          </a:solidFill>
        </p:spPr>
        <p:txBody>
          <a:bodyPr wrap="square" rtlCol="0">
            <a:spAutoFit/>
          </a:bodyPr>
          <a:lstStyle/>
          <a:p>
            <a:endParaRPr lang="en-AE" dirty="0"/>
          </a:p>
        </p:txBody>
      </p:sp>
      <p:sp>
        <p:nvSpPr>
          <p:cNvPr id="21" name="Text Placeholder 1">
            <a:extLst>
              <a:ext uri="{FF2B5EF4-FFF2-40B4-BE49-F238E27FC236}">
                <a16:creationId xmlns:a16="http://schemas.microsoft.com/office/drawing/2014/main" id="{B2792EF3-DD65-5864-063C-C9AB1A5C9CCD}"/>
              </a:ext>
            </a:extLst>
          </p:cNvPr>
          <p:cNvSpPr txBox="1">
            <a:spLocks/>
          </p:cNvSpPr>
          <p:nvPr/>
        </p:nvSpPr>
        <p:spPr>
          <a:xfrm>
            <a:off x="8258226" y="1332173"/>
            <a:ext cx="2743199" cy="3651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chemeClr val="bg1"/>
                </a:solidFill>
              </a:rPr>
              <a:t>Expertise Driving Impact</a:t>
            </a:r>
          </a:p>
        </p:txBody>
      </p:sp>
      <p:sp>
        <p:nvSpPr>
          <p:cNvPr id="22" name="Content Placeholder 10">
            <a:extLst>
              <a:ext uri="{FF2B5EF4-FFF2-40B4-BE49-F238E27FC236}">
                <a16:creationId xmlns:a16="http://schemas.microsoft.com/office/drawing/2014/main" id="{A19C0737-A013-DC33-ECBE-614F88A01040}"/>
              </a:ext>
            </a:extLst>
          </p:cNvPr>
          <p:cNvSpPr txBox="1">
            <a:spLocks/>
          </p:cNvSpPr>
          <p:nvPr/>
        </p:nvSpPr>
        <p:spPr>
          <a:xfrm>
            <a:off x="8258226" y="1742349"/>
            <a:ext cx="3019374"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At Pnyx Hill, our strength lies in our people.</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We are a powerhouse of seasoned experts, bringing together deep knowledge across:</a:t>
            </a:r>
          </a:p>
          <a:p>
            <a:pPr marL="0" indent="0" algn="just">
              <a:lnSpc>
                <a:spcPct val="100000"/>
              </a:lnSpc>
              <a:spcBef>
                <a:spcPts val="400"/>
              </a:spcBef>
              <a:spcAft>
                <a:spcPts val="400"/>
              </a:spcAft>
              <a:buFont typeface="Arial" panose="020B0604020202020204" pitchFamily="34" charset="0"/>
              <a:buNone/>
            </a:pPr>
            <a:br>
              <a:rPr lang="en-US" dirty="0">
                <a:solidFill>
                  <a:schemeClr val="bg1"/>
                </a:solidFill>
              </a:rPr>
            </a:br>
            <a:r>
              <a:rPr lang="en-US" dirty="0">
                <a:solidFill>
                  <a:schemeClr val="bg1"/>
                </a:solidFill>
              </a:rPr>
              <a:t>🧠 Business Development</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Fundraising &amp; Market Entry</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Go-to-Market Design</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Strategic Planning &amp; Commercial Modelling</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Growth &amp; Expansion Advisory</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Licensing &amp; Compliance</a:t>
            </a:r>
          </a:p>
          <a:p>
            <a:pPr marL="0" indent="0" algn="just">
              <a:lnSpc>
                <a:spcPct val="100000"/>
              </a:lnSpc>
              <a:spcBef>
                <a:spcPts val="400"/>
              </a:spcBef>
              <a:spcAft>
                <a:spcPts val="400"/>
              </a:spcAft>
              <a:buFont typeface="Arial" panose="020B0604020202020204" pitchFamily="34" charset="0"/>
              <a:buNone/>
            </a:pPr>
            <a:r>
              <a:rPr lang="en-US" dirty="0"/>
              <a:t>⚖️ </a:t>
            </a:r>
            <a:r>
              <a:rPr lang="en-US" dirty="0">
                <a:solidFill>
                  <a:schemeClr val="bg1"/>
                </a:solidFill>
              </a:rPr>
              <a:t>Risk &amp; Governance</a:t>
            </a:r>
          </a:p>
          <a:p>
            <a:pPr marL="0" indent="0" algn="just">
              <a:lnSpc>
                <a:spcPct val="100000"/>
              </a:lnSpc>
              <a:spcBef>
                <a:spcPts val="400"/>
              </a:spcBef>
              <a:spcAft>
                <a:spcPts val="400"/>
              </a:spcAft>
              <a:buFont typeface="Arial" panose="020B0604020202020204" pitchFamily="34" charset="0"/>
              <a:buNone/>
            </a:pPr>
            <a:endParaRPr lang="en-US" dirty="0">
              <a:solidFill>
                <a:schemeClr val="bg1"/>
              </a:solidFill>
            </a:endParaRP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Driven by continuous learning and collaboration, we stay ahead of industry shifts, delivering sharp, forward-thinking solutions. Our commitments to innovation we lead, adapt and set the pace in a rapidly evolving landscape.</a:t>
            </a:r>
          </a:p>
        </p:txBody>
      </p:sp>
      <p:sp>
        <p:nvSpPr>
          <p:cNvPr id="7" name="Content Placeholder 5">
            <a:extLst>
              <a:ext uri="{FF2B5EF4-FFF2-40B4-BE49-F238E27FC236}">
                <a16:creationId xmlns:a16="http://schemas.microsoft.com/office/drawing/2014/main" id="{7C68B99D-AD39-D64F-12C3-AA2805841879}"/>
              </a:ext>
            </a:extLst>
          </p:cNvPr>
          <p:cNvSpPr txBox="1">
            <a:spLocks/>
          </p:cNvSpPr>
          <p:nvPr/>
        </p:nvSpPr>
        <p:spPr>
          <a:xfrm>
            <a:off x="775885" y="5494978"/>
            <a:ext cx="2033623" cy="5591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Pallavi Khajuria</a:t>
            </a:r>
          </a:p>
          <a:p>
            <a:pPr marL="0" indent="0" algn="ctr">
              <a:buNone/>
            </a:pPr>
            <a:r>
              <a:rPr lang="en-US" dirty="0">
                <a:solidFill>
                  <a:srgbClr val="0B2339"/>
                </a:solidFill>
                <a:latin typeface="Aptos Light" panose="020B0004020202020204" pitchFamily="34" charset="0"/>
              </a:rPr>
              <a:t>Strategy Engagement Manager</a:t>
            </a:r>
            <a:endParaRPr lang="en-AE" dirty="0">
              <a:solidFill>
                <a:srgbClr val="0B2339"/>
              </a:solidFill>
              <a:latin typeface="Aptos Light" panose="020B0004020202020204" pitchFamily="34" charset="0"/>
            </a:endParaRPr>
          </a:p>
        </p:txBody>
      </p:sp>
      <p:pic>
        <p:nvPicPr>
          <p:cNvPr id="20" name="Picture 19" descr="A person and person standing together&#10;&#10;AI-generated content may be incorrect.">
            <a:extLst>
              <a:ext uri="{FF2B5EF4-FFF2-40B4-BE49-F238E27FC236}">
                <a16:creationId xmlns:a16="http://schemas.microsoft.com/office/drawing/2014/main" id="{40436E7F-B926-0DA1-5B77-3780292D1652}"/>
              </a:ext>
            </a:extLst>
          </p:cNvPr>
          <p:cNvPicPr>
            <a:picLocks noChangeAspect="1"/>
          </p:cNvPicPr>
          <p:nvPr/>
        </p:nvPicPr>
        <p:blipFill>
          <a:blip r:embed="rId5"/>
          <a:srcRect l="10394" t="19018" r="49585" b="53270"/>
          <a:stretch/>
        </p:blipFill>
        <p:spPr>
          <a:xfrm>
            <a:off x="995254" y="3922842"/>
            <a:ext cx="1517038" cy="1576269"/>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5" name="Content Placeholder 10">
            <a:extLst>
              <a:ext uri="{FF2B5EF4-FFF2-40B4-BE49-F238E27FC236}">
                <a16:creationId xmlns:a16="http://schemas.microsoft.com/office/drawing/2014/main" id="{39E2A46A-E1A9-BFC0-35A0-3BA0C81E47F2}"/>
              </a:ext>
            </a:extLst>
          </p:cNvPr>
          <p:cNvSpPr txBox="1">
            <a:spLocks/>
          </p:cNvSpPr>
          <p:nvPr/>
        </p:nvSpPr>
        <p:spPr>
          <a:xfrm>
            <a:off x="2886516" y="4108402"/>
            <a:ext cx="5057868" cy="13865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is a strategy and execution advisor, enabling C-suite executives to drive market expansion, revenue acceleration, and operational excellence across high-growth sectors.</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has delivered large-scale, cross-functional projects across multiple industries - translating executive vision into measurable outcomes through data-led strategy. Her work spans the GCC, where she has led high-impact initiatives in growth, transformation, and operational scale-up.</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holds a BTech in Computer Science Engineering and a postgraduate specialization in Software Systems from BITS Pilani, Dubai.</a:t>
            </a:r>
          </a:p>
        </p:txBody>
      </p:sp>
      <p:sp>
        <p:nvSpPr>
          <p:cNvPr id="2" name="Slide Number Placeholder 10">
            <a:extLst>
              <a:ext uri="{FF2B5EF4-FFF2-40B4-BE49-F238E27FC236}">
                <a16:creationId xmlns:a16="http://schemas.microsoft.com/office/drawing/2014/main" id="{17313117-93F2-00BB-CA48-6E2DE839590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60998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3388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2" id="{32B648E2-58BB-A243-8B18-25920F3ADED8}" vid="{E1A385E8-7CB9-5E4E-BFF7-112469D758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595e4f0-9d1f-4608-89ed-881210b0bb57" xsi:nil="true"/>
    <lcf76f155ced4ddcb4097134ff3c332f xmlns="d43c6782-26e2-4abe-801e-f1cb2385751a">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FA8D36AB86D8C4BB58183D55C094C1D" ma:contentTypeVersion="13" ma:contentTypeDescription="Create a new document." ma:contentTypeScope="" ma:versionID="a867ca6b4bf85018f78c7a13482190bb">
  <xsd:schema xmlns:xsd="http://www.w3.org/2001/XMLSchema" xmlns:xs="http://www.w3.org/2001/XMLSchema" xmlns:p="http://schemas.microsoft.com/office/2006/metadata/properties" xmlns:ns2="d43c6782-26e2-4abe-801e-f1cb2385751a" xmlns:ns3="8595e4f0-9d1f-4608-89ed-881210b0bb57" targetNamespace="http://schemas.microsoft.com/office/2006/metadata/properties" ma:root="true" ma:fieldsID="5411884e7fe3e1a06e23351a04c43061" ns2:_="" ns3:_="">
    <xsd:import namespace="d43c6782-26e2-4abe-801e-f1cb2385751a"/>
    <xsd:import namespace="8595e4f0-9d1f-4608-89ed-881210b0bb5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c6782-26e2-4abe-801e-f1cb238575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f50e1a3f-7a1b-4ba8-8545-a9e8f23430e4"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95e4f0-9d1f-4608-89ed-881210b0bb5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0f434b97-4ab7-4b98-87f7-9f67d7cb0300}" ma:internalName="TaxCatchAll" ma:showField="CatchAllData" ma:web="8595e4f0-9d1f-4608-89ed-881210b0bb57">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D630DA8-F7E3-4203-B4C7-4D4CA876A9CF}">
  <ds:schemaRefs>
    <ds:schemaRef ds:uri="http://schemas.microsoft.com/office/2006/metadata/properties"/>
    <ds:schemaRef ds:uri="http://purl.org/dc/elements/1.1/"/>
    <ds:schemaRef ds:uri="http://www.w3.org/XML/1998/namespace"/>
    <ds:schemaRef ds:uri="8595e4f0-9d1f-4608-89ed-881210b0bb57"/>
    <ds:schemaRef ds:uri="d43c6782-26e2-4abe-801e-f1cb2385751a"/>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http://purl.org/dc/terms/"/>
  </ds:schemaRefs>
</ds:datastoreItem>
</file>

<file path=customXml/itemProps2.xml><?xml version="1.0" encoding="utf-8"?>
<ds:datastoreItem xmlns:ds="http://schemas.openxmlformats.org/officeDocument/2006/customXml" ds:itemID="{6D973E15-8E14-4BE4-9B21-86205533BA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3c6782-26e2-4abe-801e-f1cb2385751a"/>
    <ds:schemaRef ds:uri="8595e4f0-9d1f-4608-89ed-881210b0bb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93C7658-BDAA-4AE2-AB2D-F9763CAF658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10678</TotalTime>
  <Words>609</Words>
  <Application>Microsoft Office PowerPoint</Application>
  <PresentationFormat>Widescreen</PresentationFormat>
  <Paragraphs>108</Paragraphs>
  <Slides>20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Aptos ExtraBold</vt:lpstr>
      <vt:lpstr>Aptos Light</vt:lpstr>
      <vt:lpstr>Aptos SemiBold</vt:lpstr>
      <vt:lpstr>Arial</vt:lpstr>
      <vt:lpstr>Wingdings</vt:lpstr>
      <vt:lpstr>YACkoA9eHeY 0</vt:lpstr>
      <vt:lpstr>Office Theme</vt:lpstr>
      <vt:lpstr>{{COVER TITLE}}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OUR PROPOSED APPROACH</vt:lpstr>
      <vt:lpstr>PowerPoint Presentation</vt:lpstr>
      <vt:lpstr>Pnyx Hill’s SCOPE OF SERVICES</vt:lpstr>
      <vt:lpstr> SERVICES DELIVERABLES </vt:lpstr>
      <vt:lpstr> SERVICES DELIVERABLES </vt:lpstr>
      <vt:lpstr>Engagement Partners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NIINA WESTERHOLM</dc:creator>
  <cp:lastModifiedBy>Raghavendra Gavuji</cp:lastModifiedBy>
  <cp:revision>34</cp:revision>
  <dcterms:created xsi:type="dcterms:W3CDTF">2025-03-19T09:34:50Z</dcterms:created>
  <dcterms:modified xsi:type="dcterms:W3CDTF">2025-11-19T15:43:23Z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0x010100CFA8D36AB86D8C4BB58183D55C094C1D</vt:lpwstr>
  </property>
  <property fmtid="{D5CDD505-2E9C-101B-9397-08002B2CF9AE}" pid="3" name="MediaServiceImageTags">
    <vt:lpwstr/>
  </property>
</Properties>
</file>