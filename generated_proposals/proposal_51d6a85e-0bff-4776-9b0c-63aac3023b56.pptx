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omments/modernComment_11A_A187FA2C.xml" ContentType="application/vnd.ms-powerpoint.comments+xml"/>
  <Override PartName="/ppt/comments/modernComment_134_844B3DA2.xml" ContentType="application/vnd.ms-powerpoint.comments+xml"/>
  <Override PartName="/ppt/comments/modernComment_135_C4FCC28.xml" ContentType="application/vnd.ms-powerpoint.comments+xml"/>
  <Override PartName="/ppt/media/image29.svg" ContentType="image/svg+xml"/>
  <Override PartName="/ppt/media/image3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5"/>
  </p:notesMasterIdLst>
  <p:sldIdLst>
    <p:sldId id="261" r:id="rId5"/>
    <p:sldId id="273" r:id="rId6"/>
    <p:sldId id="305" r:id="rId7"/>
    <p:sldId id="271" r:id="rId8"/>
    <p:sldId id="268" r:id="rId9"/>
    <p:sldId id="275" r:id="rId10"/>
    <p:sldId id="278" r:id="rId11"/>
    <p:sldId id="295" r:id="rId12"/>
    <p:sldId id="296" r:id="rId13"/>
    <p:sldId id="297" r:id="rId14"/>
    <p:sldId id="298" r:id="rId15"/>
    <p:sldId id="303" r:id="rId16"/>
    <p:sldId id="277" r:id="rId17"/>
    <p:sldId id="282" r:id="rId18"/>
    <p:sldId id="304" r:id="rId19"/>
    <p:sldId id="306" r:id="rId20"/>
    <p:sldId id="308" r:id="rId21"/>
    <p:sldId id="309" r:id="rId22"/>
    <p:sldId id="312" r:id="rId23"/>
    <p:sldId id="294" r:id="rId24"/>
  </p:sldIdLst>
  <p:sldSz cx="12192000" cy="6858000"/>
  <p:notesSz cx="6858000" cy="9144000"/>
  <p:defaultText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E16A83C-777C-0DF7-390D-AA7C1A28FF00}" name="Pallavi Khajuria" initials="PK" userId="S::pallavi.khajuria@pnyxhill.co::a9b717a9-a6a4-430c-9673-0d3d9754a83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2339"/>
    <a:srgbClr val="ECE6DF"/>
    <a:srgbClr val="7D4E1D"/>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05A0C8-346C-4198-AF97-7528E23831A4}" v="26" dt="2025-11-10T12:01:22.10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532" autoAdjust="0"/>
    <p:restoredTop sz="94596"/>
  </p:normalViewPr>
  <p:slideViewPr>
    <p:cSldViewPr snapToGrid="0">
      <p:cViewPr varScale="1">
        <p:scale>
          <a:sx n="80" d="100"/>
          <a:sy n="80" d="100"/>
        </p:scale>
        <p:origin x="85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microsoft.com/office/2016/11/relationships/changesInfo" Target="changesInfos/changesInfo1.xml"/><Relationship Id="rId31" Type="http://schemas.microsoft.com/office/2015/10/relationships/revisionInfo" Target="revisionInfo.xml"/><Relationship Id="rId3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llavi Khajuria" userId="a9b717a9-a6a4-430c-9673-0d3d9754a838" providerId="ADAL" clId="{251A7961-4882-4F9E-81E1-00826DDD5DBC}"/>
    <pc:docChg chg="undo redo custSel addSld delSld modSld">
      <pc:chgData name="Pallavi Khajuria" userId="a9b717a9-a6a4-430c-9673-0d3d9754a838" providerId="ADAL" clId="{251A7961-4882-4F9E-81E1-00826DDD5DBC}" dt="2025-11-10T12:01:22.105" v="441"/>
      <pc:docMkLst>
        <pc:docMk/>
      </pc:docMkLst>
      <pc:sldChg chg="modSp mod">
        <pc:chgData name="Pallavi Khajuria" userId="a9b717a9-a6a4-430c-9673-0d3d9754a838" providerId="ADAL" clId="{251A7961-4882-4F9E-81E1-00826DDD5DBC}" dt="2025-11-10T11:11:11.684" v="64" actId="20577"/>
        <pc:sldMkLst>
          <pc:docMk/>
          <pc:sldMk cId="1773422724" sldId="261"/>
        </pc:sldMkLst>
        <pc:spChg chg="mod">
          <ac:chgData name="Pallavi Khajuria" userId="a9b717a9-a6a4-430c-9673-0d3d9754a838" providerId="ADAL" clId="{251A7961-4882-4F9E-81E1-00826DDD5DBC}" dt="2025-11-10T11:11:11.684" v="64" actId="20577"/>
          <ac:spMkLst>
            <pc:docMk/>
            <pc:sldMk cId="1773422724" sldId="261"/>
            <ac:spMk id="2" creationId="{6C7BAEFF-18C6-2C57-F6D8-DA60A617955B}"/>
          </ac:spMkLst>
        </pc:spChg>
        <pc:spChg chg="mod">
          <ac:chgData name="Pallavi Khajuria" userId="a9b717a9-a6a4-430c-9673-0d3d9754a838" providerId="ADAL" clId="{251A7961-4882-4F9E-81E1-00826DDD5DBC}" dt="2025-11-10T11:09:54.509" v="59" actId="1076"/>
          <ac:spMkLst>
            <pc:docMk/>
            <pc:sldMk cId="1773422724" sldId="261"/>
            <ac:spMk id="3" creationId="{15512898-28DC-4FA8-3D8D-BE9CA956A398}"/>
          </ac:spMkLst>
        </pc:spChg>
        <pc:spChg chg="mod">
          <ac:chgData name="Pallavi Khajuria" userId="a9b717a9-a6a4-430c-9673-0d3d9754a838" providerId="ADAL" clId="{251A7961-4882-4F9E-81E1-00826DDD5DBC}" dt="2025-11-10T11:05:39.608" v="29" actId="1076"/>
          <ac:spMkLst>
            <pc:docMk/>
            <pc:sldMk cId="1773422724" sldId="261"/>
            <ac:spMk id="4" creationId="{54D84B09-EA48-A07A-61BE-CC46E8F2A0C4}"/>
          </ac:spMkLst>
        </pc:spChg>
      </pc:sldChg>
      <pc:sldChg chg="addSp delSp modSp mod">
        <pc:chgData name="Pallavi Khajuria" userId="a9b717a9-a6a4-430c-9673-0d3d9754a838" providerId="ADAL" clId="{251A7961-4882-4F9E-81E1-00826DDD5DBC}" dt="2025-11-10T12:00:48.665" v="428"/>
        <pc:sldMkLst>
          <pc:docMk/>
          <pc:sldMk cId="1740471602" sldId="268"/>
        </pc:sldMkLst>
        <pc:spChg chg="add mod">
          <ac:chgData name="Pallavi Khajuria" userId="a9b717a9-a6a4-430c-9673-0d3d9754a838" providerId="ADAL" clId="{251A7961-4882-4F9E-81E1-00826DDD5DBC}" dt="2025-11-10T12:00:48.665" v="428"/>
          <ac:spMkLst>
            <pc:docMk/>
            <pc:sldMk cId="1740471602" sldId="268"/>
            <ac:spMk id="2" creationId="{0304D152-BA33-F0F1-48FF-801A9B032E6B}"/>
          </ac:spMkLst>
        </pc:spChg>
        <pc:spChg chg="del mod">
          <ac:chgData name="Pallavi Khajuria" userId="a9b717a9-a6a4-430c-9673-0d3d9754a838" providerId="ADAL" clId="{251A7961-4882-4F9E-81E1-00826DDD5DBC}" dt="2025-11-10T11:19:10.821" v="71" actId="478"/>
          <ac:spMkLst>
            <pc:docMk/>
            <pc:sldMk cId="1740471602" sldId="268"/>
            <ac:spMk id="3" creationId="{11961488-95D6-B698-8721-89C4CBA1C5A0}"/>
          </ac:spMkLst>
        </pc:spChg>
      </pc:sldChg>
      <pc:sldChg chg="addSp delSp modSp mod">
        <pc:chgData name="Pallavi Khajuria" userId="a9b717a9-a6a4-430c-9673-0d3d9754a838" providerId="ADAL" clId="{251A7961-4882-4F9E-81E1-00826DDD5DBC}" dt="2025-11-10T12:00:46.636" v="427"/>
        <pc:sldMkLst>
          <pc:docMk/>
          <pc:sldMk cId="3854924663" sldId="271"/>
        </pc:sldMkLst>
        <pc:spChg chg="add mod">
          <ac:chgData name="Pallavi Khajuria" userId="a9b717a9-a6a4-430c-9673-0d3d9754a838" providerId="ADAL" clId="{251A7961-4882-4F9E-81E1-00826DDD5DBC}" dt="2025-11-10T12:00:46.636" v="427"/>
          <ac:spMkLst>
            <pc:docMk/>
            <pc:sldMk cId="3854924663" sldId="271"/>
            <ac:spMk id="2" creationId="{70F94601-D300-9A60-36F3-043D3C2A1970}"/>
          </ac:spMkLst>
        </pc:spChg>
        <pc:spChg chg="del mod">
          <ac:chgData name="Pallavi Khajuria" userId="a9b717a9-a6a4-430c-9673-0d3d9754a838" providerId="ADAL" clId="{251A7961-4882-4F9E-81E1-00826DDD5DBC}" dt="2025-11-10T11:19:15.453" v="72" actId="478"/>
          <ac:spMkLst>
            <pc:docMk/>
            <pc:sldMk cId="3854924663" sldId="271"/>
            <ac:spMk id="6" creationId="{B6156875-049A-B4D3-53F7-305BD0E7E387}"/>
          </ac:spMkLst>
        </pc:spChg>
      </pc:sldChg>
      <pc:sldChg chg="addSp delSp modSp mod">
        <pc:chgData name="Pallavi Khajuria" userId="a9b717a9-a6a4-430c-9673-0d3d9754a838" providerId="ADAL" clId="{251A7961-4882-4F9E-81E1-00826DDD5DBC}" dt="2025-11-10T12:00:41.607" v="425"/>
        <pc:sldMkLst>
          <pc:docMk/>
          <pc:sldMk cId="276852904" sldId="273"/>
        </pc:sldMkLst>
        <pc:spChg chg="add mod">
          <ac:chgData name="Pallavi Khajuria" userId="a9b717a9-a6a4-430c-9673-0d3d9754a838" providerId="ADAL" clId="{251A7961-4882-4F9E-81E1-00826DDD5DBC}" dt="2025-11-10T12:00:41.607" v="425"/>
          <ac:spMkLst>
            <pc:docMk/>
            <pc:sldMk cId="276852904" sldId="273"/>
            <ac:spMk id="2" creationId="{1180B436-073C-1FE1-74B5-603168612A49}"/>
          </ac:spMkLst>
        </pc:spChg>
        <pc:spChg chg="add del mod">
          <ac:chgData name="Pallavi Khajuria" userId="a9b717a9-a6a4-430c-9673-0d3d9754a838" providerId="ADAL" clId="{251A7961-4882-4F9E-81E1-00826DDD5DBC}" dt="2025-11-10T11:11:05.011" v="63" actId="478"/>
          <ac:spMkLst>
            <pc:docMk/>
            <pc:sldMk cId="276852904" sldId="273"/>
            <ac:spMk id="7" creationId="{57C87B2F-DF80-D661-A17F-88481402E049}"/>
          </ac:spMkLst>
        </pc:spChg>
        <pc:spChg chg="mod">
          <ac:chgData name="Pallavi Khajuria" userId="a9b717a9-a6a4-430c-9673-0d3d9754a838" providerId="ADAL" clId="{251A7961-4882-4F9E-81E1-00826DDD5DBC}" dt="2025-11-10T11:10:30.032" v="61" actId="21"/>
          <ac:spMkLst>
            <pc:docMk/>
            <pc:sldMk cId="276852904" sldId="273"/>
            <ac:spMk id="10" creationId="{6335B335-9496-5AD8-46B0-D3A7D1D73B7D}"/>
          </ac:spMkLst>
        </pc:spChg>
      </pc:sldChg>
      <pc:sldChg chg="addSp delSp modSp mod">
        <pc:chgData name="Pallavi Khajuria" userId="a9b717a9-a6a4-430c-9673-0d3d9754a838" providerId="ADAL" clId="{251A7961-4882-4F9E-81E1-00826DDD5DBC}" dt="2025-11-10T12:00:50.314" v="429"/>
        <pc:sldMkLst>
          <pc:docMk/>
          <pc:sldMk cId="1816921805" sldId="275"/>
        </pc:sldMkLst>
        <pc:spChg chg="del mod">
          <ac:chgData name="Pallavi Khajuria" userId="a9b717a9-a6a4-430c-9673-0d3d9754a838" providerId="ADAL" clId="{251A7961-4882-4F9E-81E1-00826DDD5DBC}" dt="2025-11-10T11:19:22.714" v="74" actId="478"/>
          <ac:spMkLst>
            <pc:docMk/>
            <pc:sldMk cId="1816921805" sldId="275"/>
            <ac:spMk id="2" creationId="{757D5BDF-F6F0-C14D-C9F7-07646F16A25C}"/>
          </ac:spMkLst>
        </pc:spChg>
        <pc:spChg chg="add mod">
          <ac:chgData name="Pallavi Khajuria" userId="a9b717a9-a6a4-430c-9673-0d3d9754a838" providerId="ADAL" clId="{251A7961-4882-4F9E-81E1-00826DDD5DBC}" dt="2025-11-10T12:00:50.314" v="429"/>
          <ac:spMkLst>
            <pc:docMk/>
            <pc:sldMk cId="1816921805" sldId="275"/>
            <ac:spMk id="3" creationId="{A82FBC88-82DB-42DA-D37F-0FCFBA8AD103}"/>
          </ac:spMkLst>
        </pc:spChg>
      </pc:sldChg>
      <pc:sldChg chg="addSp delSp modSp mod">
        <pc:chgData name="Pallavi Khajuria" userId="a9b717a9-a6a4-430c-9673-0d3d9754a838" providerId="ADAL" clId="{251A7961-4882-4F9E-81E1-00826DDD5DBC}" dt="2025-11-10T12:01:03.662" v="436"/>
        <pc:sldMkLst>
          <pc:docMk/>
          <pc:sldMk cId="1396447582" sldId="277"/>
        </pc:sldMkLst>
        <pc:spChg chg="mod">
          <ac:chgData name="Pallavi Khajuria" userId="a9b717a9-a6a4-430c-9673-0d3d9754a838" providerId="ADAL" clId="{251A7961-4882-4F9E-81E1-00826DDD5DBC}" dt="2025-11-10T11:28:00.721" v="93" actId="20577"/>
          <ac:spMkLst>
            <pc:docMk/>
            <pc:sldMk cId="1396447582" sldId="277"/>
            <ac:spMk id="2" creationId="{7BB5F4F5-A561-A2BF-50AD-2135E2BD4A6A}"/>
          </ac:spMkLst>
        </pc:spChg>
        <pc:spChg chg="mod">
          <ac:chgData name="Pallavi Khajuria" userId="a9b717a9-a6a4-430c-9673-0d3d9754a838" providerId="ADAL" clId="{251A7961-4882-4F9E-81E1-00826DDD5DBC}" dt="2025-11-10T11:28:03.840" v="94" actId="20577"/>
          <ac:spMkLst>
            <pc:docMk/>
            <pc:sldMk cId="1396447582" sldId="277"/>
            <ac:spMk id="3" creationId="{79C84FDE-81DE-1361-1FBF-9AB8614A6D28}"/>
          </ac:spMkLst>
        </pc:spChg>
        <pc:spChg chg="mod">
          <ac:chgData name="Pallavi Khajuria" userId="a9b717a9-a6a4-430c-9673-0d3d9754a838" providerId="ADAL" clId="{251A7961-4882-4F9E-81E1-00826DDD5DBC}" dt="2025-11-10T11:28:10.155" v="96" actId="20577"/>
          <ac:spMkLst>
            <pc:docMk/>
            <pc:sldMk cId="1396447582" sldId="277"/>
            <ac:spMk id="4" creationId="{A88DB71A-D56C-4634-2BEE-CCCF3CB0F3E7}"/>
          </ac:spMkLst>
        </pc:spChg>
        <pc:spChg chg="del">
          <ac:chgData name="Pallavi Khajuria" userId="a9b717a9-a6a4-430c-9673-0d3d9754a838" providerId="ADAL" clId="{251A7961-4882-4F9E-81E1-00826DDD5DBC}" dt="2025-11-10T11:25:46.654" v="90" actId="478"/>
          <ac:spMkLst>
            <pc:docMk/>
            <pc:sldMk cId="1396447582" sldId="277"/>
            <ac:spMk id="5" creationId="{8FA2B29A-4432-0D3E-44A7-E337C2CE6A10}"/>
          </ac:spMkLst>
        </pc:spChg>
        <pc:spChg chg="add mod">
          <ac:chgData name="Pallavi Khajuria" userId="a9b717a9-a6a4-430c-9673-0d3d9754a838" providerId="ADAL" clId="{251A7961-4882-4F9E-81E1-00826DDD5DBC}" dt="2025-11-10T12:01:03.662" v="436"/>
          <ac:spMkLst>
            <pc:docMk/>
            <pc:sldMk cId="1396447582" sldId="277"/>
            <ac:spMk id="6" creationId="{2D0E21F0-A1CC-72EB-D88E-A42FCE0E424D}"/>
          </ac:spMkLst>
        </pc:spChg>
      </pc:sldChg>
      <pc:sldChg chg="addSp delSp modSp mod">
        <pc:chgData name="Pallavi Khajuria" userId="a9b717a9-a6a4-430c-9673-0d3d9754a838" providerId="ADAL" clId="{251A7961-4882-4F9E-81E1-00826DDD5DBC}" dt="2025-11-10T12:00:52" v="430"/>
        <pc:sldMkLst>
          <pc:docMk/>
          <pc:sldMk cId="2886452166" sldId="278"/>
        </pc:sldMkLst>
        <pc:spChg chg="del mod">
          <ac:chgData name="Pallavi Khajuria" userId="a9b717a9-a6a4-430c-9673-0d3d9754a838" providerId="ADAL" clId="{251A7961-4882-4F9E-81E1-00826DDD5DBC}" dt="2025-11-10T11:19:29.878" v="76" actId="478"/>
          <ac:spMkLst>
            <pc:docMk/>
            <pc:sldMk cId="2886452166" sldId="278"/>
            <ac:spMk id="2" creationId="{556A9468-BC48-6B97-9AEA-37BEA1C7D98B}"/>
          </ac:spMkLst>
        </pc:spChg>
        <pc:spChg chg="add mod">
          <ac:chgData name="Pallavi Khajuria" userId="a9b717a9-a6a4-430c-9673-0d3d9754a838" providerId="ADAL" clId="{251A7961-4882-4F9E-81E1-00826DDD5DBC}" dt="2025-11-10T12:00:52" v="430"/>
          <ac:spMkLst>
            <pc:docMk/>
            <pc:sldMk cId="2886452166" sldId="278"/>
            <ac:spMk id="3" creationId="{B8E8124F-0E3B-E031-2C5D-7265461893A0}"/>
          </ac:spMkLst>
        </pc:spChg>
      </pc:sldChg>
      <pc:sldChg chg="addSp delSp modSp mod">
        <pc:chgData name="Pallavi Khajuria" userId="a9b717a9-a6a4-430c-9673-0d3d9754a838" providerId="ADAL" clId="{251A7961-4882-4F9E-81E1-00826DDD5DBC}" dt="2025-11-10T12:01:05.221" v="437"/>
        <pc:sldMkLst>
          <pc:docMk/>
          <pc:sldMk cId="2710043180" sldId="282"/>
        </pc:sldMkLst>
        <pc:spChg chg="add mod">
          <ac:chgData name="Pallavi Khajuria" userId="a9b717a9-a6a4-430c-9673-0d3d9754a838" providerId="ADAL" clId="{251A7961-4882-4F9E-81E1-00826DDD5DBC}" dt="2025-11-10T12:01:05.221" v="437"/>
          <ac:spMkLst>
            <pc:docMk/>
            <pc:sldMk cId="2710043180" sldId="282"/>
            <ac:spMk id="2" creationId="{3BAF4667-BBC8-FCF0-9CCF-304ECC450F66}"/>
          </ac:spMkLst>
        </pc:spChg>
        <pc:spChg chg="mod">
          <ac:chgData name="Pallavi Khajuria" userId="a9b717a9-a6a4-430c-9673-0d3d9754a838" providerId="ADAL" clId="{251A7961-4882-4F9E-81E1-00826DDD5DBC}" dt="2025-11-10T11:28:42.343" v="115" actId="20577"/>
          <ac:spMkLst>
            <pc:docMk/>
            <pc:sldMk cId="2710043180" sldId="282"/>
            <ac:spMk id="3" creationId="{A3F4BD2E-E227-A41F-33BD-EF5E3E53F344}"/>
          </ac:spMkLst>
        </pc:spChg>
        <pc:spChg chg="mod">
          <ac:chgData name="Pallavi Khajuria" userId="a9b717a9-a6a4-430c-9673-0d3d9754a838" providerId="ADAL" clId="{251A7961-4882-4F9E-81E1-00826DDD5DBC}" dt="2025-11-10T11:29:46.428" v="151" actId="20577"/>
          <ac:spMkLst>
            <pc:docMk/>
            <pc:sldMk cId="2710043180" sldId="282"/>
            <ac:spMk id="9" creationId="{DFBC7929-B570-8AB1-9208-301A6F237D7F}"/>
          </ac:spMkLst>
        </pc:spChg>
        <pc:spChg chg="mod">
          <ac:chgData name="Pallavi Khajuria" userId="a9b717a9-a6a4-430c-9673-0d3d9754a838" providerId="ADAL" clId="{251A7961-4882-4F9E-81E1-00826DDD5DBC}" dt="2025-11-10T11:31:39.504" v="198" actId="33524"/>
          <ac:spMkLst>
            <pc:docMk/>
            <pc:sldMk cId="2710043180" sldId="282"/>
            <ac:spMk id="10" creationId="{FEF43109-D1B4-7C50-7776-0FFB5C5664F9}"/>
          </ac:spMkLst>
        </pc:spChg>
        <pc:spChg chg="mod">
          <ac:chgData name="Pallavi Khajuria" userId="a9b717a9-a6a4-430c-9673-0d3d9754a838" providerId="ADAL" clId="{251A7961-4882-4F9E-81E1-00826DDD5DBC}" dt="2025-11-10T11:29:49.401" v="152" actId="20577"/>
          <ac:spMkLst>
            <pc:docMk/>
            <pc:sldMk cId="2710043180" sldId="282"/>
            <ac:spMk id="14" creationId="{F68783C2-B190-F13A-AE22-9AFA09E4C25B}"/>
          </ac:spMkLst>
        </pc:spChg>
        <pc:spChg chg="mod">
          <ac:chgData name="Pallavi Khajuria" userId="a9b717a9-a6a4-430c-9673-0d3d9754a838" providerId="ADAL" clId="{251A7961-4882-4F9E-81E1-00826DDD5DBC}" dt="2025-11-10T11:29:51.544" v="153" actId="20577"/>
          <ac:spMkLst>
            <pc:docMk/>
            <pc:sldMk cId="2710043180" sldId="282"/>
            <ac:spMk id="15" creationId="{9CAA5706-E44C-CB8B-FD39-98E004E80F83}"/>
          </ac:spMkLst>
        </pc:spChg>
        <pc:spChg chg="del mod">
          <ac:chgData name="Pallavi Khajuria" userId="a9b717a9-a6a4-430c-9673-0d3d9754a838" providerId="ADAL" clId="{251A7961-4882-4F9E-81E1-00826DDD5DBC}" dt="2025-11-10T11:31:06.892" v="159"/>
          <ac:spMkLst>
            <pc:docMk/>
            <pc:sldMk cId="2710043180" sldId="282"/>
            <ac:spMk id="16" creationId="{57F66B3A-6E85-76E5-969C-2EB0FBBE06DF}"/>
          </ac:spMkLst>
        </pc:spChg>
        <pc:spChg chg="mod">
          <ac:chgData name="Pallavi Khajuria" userId="a9b717a9-a6a4-430c-9673-0d3d9754a838" providerId="ADAL" clId="{251A7961-4882-4F9E-81E1-00826DDD5DBC}" dt="2025-11-10T11:31:03.368" v="156" actId="20577"/>
          <ac:spMkLst>
            <pc:docMk/>
            <pc:sldMk cId="2710043180" sldId="282"/>
            <ac:spMk id="17" creationId="{5F3959F4-1E64-2DBA-2783-E5ABDE1E2D02}"/>
          </ac:spMkLst>
        </pc:spChg>
        <pc:spChg chg="del mod">
          <ac:chgData name="Pallavi Khajuria" userId="a9b717a9-a6a4-430c-9673-0d3d9754a838" providerId="ADAL" clId="{251A7961-4882-4F9E-81E1-00826DDD5DBC}" dt="2025-11-10T11:31:06.896" v="161"/>
          <ac:spMkLst>
            <pc:docMk/>
            <pc:sldMk cId="2710043180" sldId="282"/>
            <ac:spMk id="19" creationId="{70D0FDED-8B28-54FA-D25D-743954B40474}"/>
          </ac:spMkLst>
        </pc:spChg>
      </pc:sldChg>
      <pc:sldChg chg="delSp del mod">
        <pc:chgData name="Pallavi Khajuria" userId="a9b717a9-a6a4-430c-9673-0d3d9754a838" providerId="ADAL" clId="{251A7961-4882-4F9E-81E1-00826DDD5DBC}" dt="2025-11-10T12:00:08.708" v="420" actId="47"/>
        <pc:sldMkLst>
          <pc:docMk/>
          <pc:sldMk cId="1822323106" sldId="290"/>
        </pc:sldMkLst>
        <pc:spChg chg="del">
          <ac:chgData name="Pallavi Khajuria" userId="a9b717a9-a6a4-430c-9673-0d3d9754a838" providerId="ADAL" clId="{251A7961-4882-4F9E-81E1-00826DDD5DBC}" dt="2025-11-10T11:59:45.300" v="419" actId="478"/>
          <ac:spMkLst>
            <pc:docMk/>
            <pc:sldMk cId="1822323106" sldId="290"/>
            <ac:spMk id="3" creationId="{D9801C6B-5D80-8825-00C9-842D9B85733C}"/>
          </ac:spMkLst>
        </pc:spChg>
      </pc:sldChg>
      <pc:sldChg chg="del">
        <pc:chgData name="Pallavi Khajuria" userId="a9b717a9-a6a4-430c-9673-0d3d9754a838" providerId="ADAL" clId="{251A7961-4882-4F9E-81E1-00826DDD5DBC}" dt="2025-11-10T12:00:10.180" v="421" actId="47"/>
        <pc:sldMkLst>
          <pc:docMk/>
          <pc:sldMk cId="2596717233" sldId="291"/>
        </pc:sldMkLst>
      </pc:sldChg>
      <pc:sldChg chg="delSp mod">
        <pc:chgData name="Pallavi Khajuria" userId="a9b717a9-a6a4-430c-9673-0d3d9754a838" providerId="ADAL" clId="{251A7961-4882-4F9E-81E1-00826DDD5DBC}" dt="2025-11-10T12:00:26.466" v="424" actId="478"/>
        <pc:sldMkLst>
          <pc:docMk/>
          <pc:sldMk cId="1873388134" sldId="294"/>
        </pc:sldMkLst>
        <pc:spChg chg="del">
          <ac:chgData name="Pallavi Khajuria" userId="a9b717a9-a6a4-430c-9673-0d3d9754a838" providerId="ADAL" clId="{251A7961-4882-4F9E-81E1-00826DDD5DBC}" dt="2025-11-10T12:00:26.466" v="424" actId="478"/>
          <ac:spMkLst>
            <pc:docMk/>
            <pc:sldMk cId="1873388134" sldId="294"/>
            <ac:spMk id="2" creationId="{60262BF2-59AF-D0FD-90D8-D2416546406F}"/>
          </ac:spMkLst>
        </pc:spChg>
      </pc:sldChg>
      <pc:sldChg chg="addSp delSp modSp mod">
        <pc:chgData name="Pallavi Khajuria" userId="a9b717a9-a6a4-430c-9673-0d3d9754a838" providerId="ADAL" clId="{251A7961-4882-4F9E-81E1-00826DDD5DBC}" dt="2025-11-10T12:00:53.556" v="431"/>
        <pc:sldMkLst>
          <pc:docMk/>
          <pc:sldMk cId="3318657826" sldId="295"/>
        </pc:sldMkLst>
        <pc:spChg chg="del mod">
          <ac:chgData name="Pallavi Khajuria" userId="a9b717a9-a6a4-430c-9673-0d3d9754a838" providerId="ADAL" clId="{251A7961-4882-4F9E-81E1-00826DDD5DBC}" dt="2025-11-10T11:19:35.925" v="78" actId="478"/>
          <ac:spMkLst>
            <pc:docMk/>
            <pc:sldMk cId="3318657826" sldId="295"/>
            <ac:spMk id="2" creationId="{07B4D0D4-5EF5-1633-486D-6FE06F75ED70}"/>
          </ac:spMkLst>
        </pc:spChg>
        <pc:spChg chg="add mod">
          <ac:chgData name="Pallavi Khajuria" userId="a9b717a9-a6a4-430c-9673-0d3d9754a838" providerId="ADAL" clId="{251A7961-4882-4F9E-81E1-00826DDD5DBC}" dt="2025-11-10T12:00:53.556" v="431"/>
          <ac:spMkLst>
            <pc:docMk/>
            <pc:sldMk cId="3318657826" sldId="295"/>
            <ac:spMk id="3" creationId="{CBDD09F1-AC85-E6BB-E077-FB0F9A53AC1D}"/>
          </ac:spMkLst>
        </pc:spChg>
      </pc:sldChg>
      <pc:sldChg chg="addSp delSp modSp mod">
        <pc:chgData name="Pallavi Khajuria" userId="a9b717a9-a6a4-430c-9673-0d3d9754a838" providerId="ADAL" clId="{251A7961-4882-4F9E-81E1-00826DDD5DBC}" dt="2025-11-10T12:00:55.081" v="432"/>
        <pc:sldMkLst>
          <pc:docMk/>
          <pc:sldMk cId="321937985" sldId="296"/>
        </pc:sldMkLst>
        <pc:spChg chg="del mod">
          <ac:chgData name="Pallavi Khajuria" userId="a9b717a9-a6a4-430c-9673-0d3d9754a838" providerId="ADAL" clId="{251A7961-4882-4F9E-81E1-00826DDD5DBC}" dt="2025-11-10T11:19:42.817" v="80" actId="478"/>
          <ac:spMkLst>
            <pc:docMk/>
            <pc:sldMk cId="321937985" sldId="296"/>
            <ac:spMk id="2" creationId="{528764CB-3FAB-DDE7-F4BD-5276B3C0B783}"/>
          </ac:spMkLst>
        </pc:spChg>
        <pc:spChg chg="add mod">
          <ac:chgData name="Pallavi Khajuria" userId="a9b717a9-a6a4-430c-9673-0d3d9754a838" providerId="ADAL" clId="{251A7961-4882-4F9E-81E1-00826DDD5DBC}" dt="2025-11-10T12:00:55.081" v="432"/>
          <ac:spMkLst>
            <pc:docMk/>
            <pc:sldMk cId="321937985" sldId="296"/>
            <ac:spMk id="3" creationId="{29A68F79-5343-74A9-9547-123447F2F2DF}"/>
          </ac:spMkLst>
        </pc:spChg>
      </pc:sldChg>
      <pc:sldChg chg="addSp delSp modSp mod">
        <pc:chgData name="Pallavi Khajuria" userId="a9b717a9-a6a4-430c-9673-0d3d9754a838" providerId="ADAL" clId="{251A7961-4882-4F9E-81E1-00826DDD5DBC}" dt="2025-11-10T12:00:56.757" v="433"/>
        <pc:sldMkLst>
          <pc:docMk/>
          <pc:sldMk cId="1446093289" sldId="297"/>
        </pc:sldMkLst>
        <pc:spChg chg="del mod">
          <ac:chgData name="Pallavi Khajuria" userId="a9b717a9-a6a4-430c-9673-0d3d9754a838" providerId="ADAL" clId="{251A7961-4882-4F9E-81E1-00826DDD5DBC}" dt="2025-11-10T11:19:49.542" v="82" actId="478"/>
          <ac:spMkLst>
            <pc:docMk/>
            <pc:sldMk cId="1446093289" sldId="297"/>
            <ac:spMk id="2" creationId="{F2DE84B8-9DF3-0FA1-93A5-C74847F7693C}"/>
          </ac:spMkLst>
        </pc:spChg>
        <pc:spChg chg="add mod">
          <ac:chgData name="Pallavi Khajuria" userId="a9b717a9-a6a4-430c-9673-0d3d9754a838" providerId="ADAL" clId="{251A7961-4882-4F9E-81E1-00826DDD5DBC}" dt="2025-11-10T12:00:56.757" v="433"/>
          <ac:spMkLst>
            <pc:docMk/>
            <pc:sldMk cId="1446093289" sldId="297"/>
            <ac:spMk id="3" creationId="{F4361917-790E-8E8D-E566-3BF588980ECA}"/>
          </ac:spMkLst>
        </pc:spChg>
      </pc:sldChg>
      <pc:sldChg chg="addSp delSp modSp mod">
        <pc:chgData name="Pallavi Khajuria" userId="a9b717a9-a6a4-430c-9673-0d3d9754a838" providerId="ADAL" clId="{251A7961-4882-4F9E-81E1-00826DDD5DBC}" dt="2025-11-10T12:00:58.372" v="434"/>
        <pc:sldMkLst>
          <pc:docMk/>
          <pc:sldMk cId="2087480208" sldId="298"/>
        </pc:sldMkLst>
        <pc:spChg chg="del mod">
          <ac:chgData name="Pallavi Khajuria" userId="a9b717a9-a6a4-430c-9673-0d3d9754a838" providerId="ADAL" clId="{251A7961-4882-4F9E-81E1-00826DDD5DBC}" dt="2025-11-10T11:19:55.107" v="84" actId="478"/>
          <ac:spMkLst>
            <pc:docMk/>
            <pc:sldMk cId="2087480208" sldId="298"/>
            <ac:spMk id="2" creationId="{6086E012-5544-1D8E-F347-278E6F99643A}"/>
          </ac:spMkLst>
        </pc:spChg>
        <pc:spChg chg="add mod">
          <ac:chgData name="Pallavi Khajuria" userId="a9b717a9-a6a4-430c-9673-0d3d9754a838" providerId="ADAL" clId="{251A7961-4882-4F9E-81E1-00826DDD5DBC}" dt="2025-11-10T12:00:58.372" v="434"/>
          <ac:spMkLst>
            <pc:docMk/>
            <pc:sldMk cId="2087480208" sldId="298"/>
            <ac:spMk id="3" creationId="{E1ADB767-4E35-0D94-8A50-F35437C2FEED}"/>
          </ac:spMkLst>
        </pc:spChg>
      </pc:sldChg>
      <pc:sldChg chg="addSp delSp modSp mod">
        <pc:chgData name="Pallavi Khajuria" userId="a9b717a9-a6a4-430c-9673-0d3d9754a838" providerId="ADAL" clId="{251A7961-4882-4F9E-81E1-00826DDD5DBC}" dt="2025-11-10T12:01:00.044" v="435"/>
        <pc:sldMkLst>
          <pc:docMk/>
          <pc:sldMk cId="1695090093" sldId="303"/>
        </pc:sldMkLst>
        <pc:spChg chg="del mod">
          <ac:chgData name="Pallavi Khajuria" userId="a9b717a9-a6a4-430c-9673-0d3d9754a838" providerId="ADAL" clId="{251A7961-4882-4F9E-81E1-00826DDD5DBC}" dt="2025-11-10T11:25:29.785" v="89" actId="478"/>
          <ac:spMkLst>
            <pc:docMk/>
            <pc:sldMk cId="1695090093" sldId="303"/>
            <ac:spMk id="2" creationId="{5A663ABD-6D5A-88C2-B2BC-599F77E1AC0D}"/>
          </ac:spMkLst>
        </pc:spChg>
        <pc:spChg chg="del mod">
          <ac:chgData name="Pallavi Khajuria" userId="a9b717a9-a6a4-430c-9673-0d3d9754a838" providerId="ADAL" clId="{251A7961-4882-4F9E-81E1-00826DDD5DBC}" dt="2025-11-10T11:20:02" v="86" actId="478"/>
          <ac:spMkLst>
            <pc:docMk/>
            <pc:sldMk cId="1695090093" sldId="303"/>
            <ac:spMk id="3" creationId="{E41D6D49-DDE3-4475-AAF2-71334F274938}"/>
          </ac:spMkLst>
        </pc:spChg>
        <pc:spChg chg="add mod">
          <ac:chgData name="Pallavi Khajuria" userId="a9b717a9-a6a4-430c-9673-0d3d9754a838" providerId="ADAL" clId="{251A7961-4882-4F9E-81E1-00826DDD5DBC}" dt="2025-11-10T12:01:00.044" v="435"/>
          <ac:spMkLst>
            <pc:docMk/>
            <pc:sldMk cId="1695090093" sldId="303"/>
            <ac:spMk id="4" creationId="{C63F173C-EEBE-AD79-E348-0C4117172AE8}"/>
          </ac:spMkLst>
        </pc:spChg>
      </pc:sldChg>
      <pc:sldChg chg="delSp modSp mod">
        <pc:chgData name="Pallavi Khajuria" userId="a9b717a9-a6a4-430c-9673-0d3d9754a838" providerId="ADAL" clId="{251A7961-4882-4F9E-81E1-00826DDD5DBC}" dt="2025-11-10T11:44:11.411" v="200" actId="478"/>
        <pc:sldMkLst>
          <pc:docMk/>
          <pc:sldMk cId="3090815000" sldId="304"/>
        </pc:sldMkLst>
        <pc:spChg chg="del mod">
          <ac:chgData name="Pallavi Khajuria" userId="a9b717a9-a6a4-430c-9673-0d3d9754a838" providerId="ADAL" clId="{251A7961-4882-4F9E-81E1-00826DDD5DBC}" dt="2025-11-10T11:44:11.411" v="200" actId="478"/>
          <ac:spMkLst>
            <pc:docMk/>
            <pc:sldMk cId="3090815000" sldId="304"/>
            <ac:spMk id="2" creationId="{31AC730E-E441-31F4-69F3-05FCB50A7532}"/>
          </ac:spMkLst>
        </pc:spChg>
      </pc:sldChg>
      <pc:sldChg chg="addSp delSp modSp mod">
        <pc:chgData name="Pallavi Khajuria" userId="a9b717a9-a6a4-430c-9673-0d3d9754a838" providerId="ADAL" clId="{251A7961-4882-4F9E-81E1-00826DDD5DBC}" dt="2025-11-10T12:00:44.497" v="426"/>
        <pc:sldMkLst>
          <pc:docMk/>
          <pc:sldMk cId="2336992914" sldId="305"/>
        </pc:sldMkLst>
        <pc:spChg chg="add mod">
          <ac:chgData name="Pallavi Khajuria" userId="a9b717a9-a6a4-430c-9673-0d3d9754a838" providerId="ADAL" clId="{251A7961-4882-4F9E-81E1-00826DDD5DBC}" dt="2025-11-10T12:00:44.497" v="426"/>
          <ac:spMkLst>
            <pc:docMk/>
            <pc:sldMk cId="2336992914" sldId="305"/>
            <ac:spMk id="2" creationId="{510509ED-FDFA-9AF0-64A5-B641CF67DE64}"/>
          </ac:spMkLst>
        </pc:spChg>
        <pc:spChg chg="del mod">
          <ac:chgData name="Pallavi Khajuria" userId="a9b717a9-a6a4-430c-9673-0d3d9754a838" providerId="ADAL" clId="{251A7961-4882-4F9E-81E1-00826DDD5DBC}" dt="2025-11-10T11:12:23.894" v="67" actId="478"/>
          <ac:spMkLst>
            <pc:docMk/>
            <pc:sldMk cId="2336992914" sldId="305"/>
            <ac:spMk id="6" creationId="{A8EF223A-D3FC-4344-AC72-3C316D77D9A3}"/>
          </ac:spMkLst>
        </pc:spChg>
        <pc:spChg chg="mod">
          <ac:chgData name="Pallavi Khajuria" userId="a9b717a9-a6a4-430c-9673-0d3d9754a838" providerId="ADAL" clId="{251A7961-4882-4F9E-81E1-00826DDD5DBC}" dt="2025-11-10T11:12:28.167" v="68" actId="20577"/>
          <ac:spMkLst>
            <pc:docMk/>
            <pc:sldMk cId="2336992914" sldId="305"/>
            <ac:spMk id="9" creationId="{4CE3A302-71F3-A505-7068-C326BC33BADD}"/>
          </ac:spMkLst>
        </pc:spChg>
      </pc:sldChg>
      <pc:sldChg chg="addSp modSp mod">
        <pc:chgData name="Pallavi Khajuria" userId="a9b717a9-a6a4-430c-9673-0d3d9754a838" providerId="ADAL" clId="{251A7961-4882-4F9E-81E1-00826DDD5DBC}" dt="2025-11-10T12:01:09.895" v="438"/>
        <pc:sldMkLst>
          <pc:docMk/>
          <pc:sldMk cId="1632127899" sldId="306"/>
        </pc:sldMkLst>
        <pc:spChg chg="mod">
          <ac:chgData name="Pallavi Khajuria" userId="a9b717a9-a6a4-430c-9673-0d3d9754a838" providerId="ADAL" clId="{251A7961-4882-4F9E-81E1-00826DDD5DBC}" dt="2025-11-10T11:48:32.448" v="243" actId="20577"/>
          <ac:spMkLst>
            <pc:docMk/>
            <pc:sldMk cId="1632127899" sldId="306"/>
            <ac:spMk id="2" creationId="{26013913-5321-D93D-18DC-679B11DCBA48}"/>
          </ac:spMkLst>
        </pc:spChg>
        <pc:spChg chg="add mod">
          <ac:chgData name="Pallavi Khajuria" userId="a9b717a9-a6a4-430c-9673-0d3d9754a838" providerId="ADAL" clId="{251A7961-4882-4F9E-81E1-00826DDD5DBC}" dt="2025-11-10T12:01:09.895" v="438"/>
          <ac:spMkLst>
            <pc:docMk/>
            <pc:sldMk cId="1632127899" sldId="306"/>
            <ac:spMk id="3" creationId="{71D706F6-78B4-8187-8249-53FE450C24F8}"/>
          </ac:spMkLst>
        </pc:spChg>
        <pc:spChg chg="mod">
          <ac:chgData name="Pallavi Khajuria" userId="a9b717a9-a6a4-430c-9673-0d3d9754a838" providerId="ADAL" clId="{251A7961-4882-4F9E-81E1-00826DDD5DBC}" dt="2025-11-10T11:47:54.800" v="220" actId="20577"/>
          <ac:spMkLst>
            <pc:docMk/>
            <pc:sldMk cId="1632127899" sldId="306"/>
            <ac:spMk id="4" creationId="{92680D53-D430-E573-E195-D777B3715BA9}"/>
          </ac:spMkLst>
        </pc:spChg>
        <pc:spChg chg="mod">
          <ac:chgData name="Pallavi Khajuria" userId="a9b717a9-a6a4-430c-9673-0d3d9754a838" providerId="ADAL" clId="{251A7961-4882-4F9E-81E1-00826DDD5DBC}" dt="2025-11-10T11:47:40.536" v="214" actId="20577"/>
          <ac:spMkLst>
            <pc:docMk/>
            <pc:sldMk cId="1632127899" sldId="306"/>
            <ac:spMk id="6" creationId="{CCA89EA0-E269-44B2-36DE-06A5BBD705F9}"/>
          </ac:spMkLst>
        </pc:spChg>
        <pc:spChg chg="mod">
          <ac:chgData name="Pallavi Khajuria" userId="a9b717a9-a6a4-430c-9673-0d3d9754a838" providerId="ADAL" clId="{251A7961-4882-4F9E-81E1-00826DDD5DBC}" dt="2025-11-10T11:47:59.001" v="222" actId="27636"/>
          <ac:spMkLst>
            <pc:docMk/>
            <pc:sldMk cId="1632127899" sldId="306"/>
            <ac:spMk id="8" creationId="{2103AB6B-A72F-150F-7BC6-3358D22431D9}"/>
          </ac:spMkLst>
        </pc:spChg>
        <pc:spChg chg="mod">
          <ac:chgData name="Pallavi Khajuria" userId="a9b717a9-a6a4-430c-9673-0d3d9754a838" providerId="ADAL" clId="{251A7961-4882-4F9E-81E1-00826DDD5DBC}" dt="2025-11-10T11:50:48.500" v="348" actId="20577"/>
          <ac:spMkLst>
            <pc:docMk/>
            <pc:sldMk cId="1632127899" sldId="306"/>
            <ac:spMk id="12" creationId="{2DF705CC-6974-7258-485D-3EB82444ABBD}"/>
          </ac:spMkLst>
        </pc:spChg>
        <pc:spChg chg="mod">
          <ac:chgData name="Pallavi Khajuria" userId="a9b717a9-a6a4-430c-9673-0d3d9754a838" providerId="ADAL" clId="{251A7961-4882-4F9E-81E1-00826DDD5DBC}" dt="2025-11-10T11:51:39.042" v="389" actId="20577"/>
          <ac:spMkLst>
            <pc:docMk/>
            <pc:sldMk cId="1632127899" sldId="306"/>
            <ac:spMk id="13" creationId="{53187A2B-B3C3-BD47-812E-C9AF78225BCD}"/>
          </ac:spMkLst>
        </pc:spChg>
        <pc:spChg chg="mod">
          <ac:chgData name="Pallavi Khajuria" userId="a9b717a9-a6a4-430c-9673-0d3d9754a838" providerId="ADAL" clId="{251A7961-4882-4F9E-81E1-00826DDD5DBC}" dt="2025-11-10T11:50:34.973" v="314" actId="20577"/>
          <ac:spMkLst>
            <pc:docMk/>
            <pc:sldMk cId="1632127899" sldId="306"/>
            <ac:spMk id="16" creationId="{46C6D46A-7965-B435-7C14-57F22175C380}"/>
          </ac:spMkLst>
        </pc:spChg>
      </pc:sldChg>
      <pc:sldChg chg="addSp modSp mod">
        <pc:chgData name="Pallavi Khajuria" userId="a9b717a9-a6a4-430c-9673-0d3d9754a838" providerId="ADAL" clId="{251A7961-4882-4F9E-81E1-00826DDD5DBC}" dt="2025-11-10T12:01:12.415" v="439"/>
        <pc:sldMkLst>
          <pc:docMk/>
          <pc:sldMk cId="2219523490" sldId="308"/>
        </pc:sldMkLst>
        <pc:spChg chg="mod">
          <ac:chgData name="Pallavi Khajuria" userId="a9b717a9-a6a4-430c-9673-0d3d9754a838" providerId="ADAL" clId="{251A7961-4882-4F9E-81E1-00826DDD5DBC}" dt="2025-11-10T11:51:57.008" v="392" actId="20577"/>
          <ac:spMkLst>
            <pc:docMk/>
            <pc:sldMk cId="2219523490" sldId="308"/>
            <ac:spMk id="2" creationId="{2CA04B7F-0889-575D-C56A-F0A2DAA5BED3}"/>
          </ac:spMkLst>
        </pc:spChg>
        <pc:spChg chg="add mod">
          <ac:chgData name="Pallavi Khajuria" userId="a9b717a9-a6a4-430c-9673-0d3d9754a838" providerId="ADAL" clId="{251A7961-4882-4F9E-81E1-00826DDD5DBC}" dt="2025-11-10T12:01:12.415" v="439"/>
          <ac:spMkLst>
            <pc:docMk/>
            <pc:sldMk cId="2219523490" sldId="308"/>
            <ac:spMk id="3" creationId="{23DDFFE6-02F5-2FD5-A8F3-82A624B5B06F}"/>
          </ac:spMkLst>
        </pc:spChg>
        <pc:spChg chg="mod">
          <ac:chgData name="Pallavi Khajuria" userId="a9b717a9-a6a4-430c-9673-0d3d9754a838" providerId="ADAL" clId="{251A7961-4882-4F9E-81E1-00826DDD5DBC}" dt="2025-11-10T11:58:59.936" v="404"/>
          <ac:spMkLst>
            <pc:docMk/>
            <pc:sldMk cId="2219523490" sldId="308"/>
            <ac:spMk id="4" creationId="{F41ACD24-4209-A5D8-1097-891D1D5DA49C}"/>
          </ac:spMkLst>
        </pc:spChg>
        <pc:spChg chg="mod">
          <ac:chgData name="Pallavi Khajuria" userId="a9b717a9-a6a4-430c-9673-0d3d9754a838" providerId="ADAL" clId="{251A7961-4882-4F9E-81E1-00826DDD5DBC}" dt="2025-11-10T11:59:06.338" v="409"/>
          <ac:spMkLst>
            <pc:docMk/>
            <pc:sldMk cId="2219523490" sldId="308"/>
            <ac:spMk id="5" creationId="{0129D5FA-8B59-B1A8-3B87-F2F778D1E6E5}"/>
          </ac:spMkLst>
        </pc:spChg>
        <pc:spChg chg="mod">
          <ac:chgData name="Pallavi Khajuria" userId="a9b717a9-a6a4-430c-9673-0d3d9754a838" providerId="ADAL" clId="{251A7961-4882-4F9E-81E1-00826DDD5DBC}" dt="2025-11-10T11:51:47.879" v="390" actId="20577"/>
          <ac:spMkLst>
            <pc:docMk/>
            <pc:sldMk cId="2219523490" sldId="308"/>
            <ac:spMk id="29" creationId="{91E528CC-1DEC-1EC7-A1A6-A2DB81B728AA}"/>
          </ac:spMkLst>
        </pc:spChg>
        <pc:spChg chg="mod">
          <ac:chgData name="Pallavi Khajuria" userId="a9b717a9-a6a4-430c-9673-0d3d9754a838" providerId="ADAL" clId="{251A7961-4882-4F9E-81E1-00826DDD5DBC}" dt="2025-11-10T11:51:52.897" v="391" actId="20577"/>
          <ac:spMkLst>
            <pc:docMk/>
            <pc:sldMk cId="2219523490" sldId="308"/>
            <ac:spMk id="41" creationId="{2374A811-6337-EEA3-6CA1-983BD6A9DA32}"/>
          </ac:spMkLst>
        </pc:spChg>
      </pc:sldChg>
      <pc:sldChg chg="addSp delSp modSp mod">
        <pc:chgData name="Pallavi Khajuria" userId="a9b717a9-a6a4-430c-9673-0d3d9754a838" providerId="ADAL" clId="{251A7961-4882-4F9E-81E1-00826DDD5DBC}" dt="2025-11-10T11:59:21.501" v="417" actId="20577"/>
        <pc:sldMkLst>
          <pc:docMk/>
          <pc:sldMk cId="206556200" sldId="309"/>
        </pc:sldMkLst>
        <pc:spChg chg="mod">
          <ac:chgData name="Pallavi Khajuria" userId="a9b717a9-a6a4-430c-9673-0d3d9754a838" providerId="ADAL" clId="{251A7961-4882-4F9E-81E1-00826DDD5DBC}" dt="2025-11-10T11:58:12.954" v="393" actId="6549"/>
          <ac:spMkLst>
            <pc:docMk/>
            <pc:sldMk cId="206556200" sldId="309"/>
            <ac:spMk id="11" creationId="{4378B34E-EAB7-F8D1-AD02-1CBCD552E977}"/>
          </ac:spMkLst>
        </pc:spChg>
        <pc:spChg chg="mod">
          <ac:chgData name="Pallavi Khajuria" userId="a9b717a9-a6a4-430c-9673-0d3d9754a838" providerId="ADAL" clId="{251A7961-4882-4F9E-81E1-00826DDD5DBC}" dt="2025-11-10T11:58:22.232" v="396" actId="20577"/>
          <ac:spMkLst>
            <pc:docMk/>
            <pc:sldMk cId="206556200" sldId="309"/>
            <ac:spMk id="12" creationId="{69386124-EC2C-4293-F431-CD6463A69F95}"/>
          </ac:spMkLst>
        </pc:spChg>
        <pc:spChg chg="add del mod">
          <ac:chgData name="Pallavi Khajuria" userId="a9b717a9-a6a4-430c-9673-0d3d9754a838" providerId="ADAL" clId="{251A7961-4882-4F9E-81E1-00826DDD5DBC}" dt="2025-11-10T11:59:16.578" v="413" actId="20577"/>
          <ac:spMkLst>
            <pc:docMk/>
            <pc:sldMk cId="206556200" sldId="309"/>
            <ac:spMk id="13" creationId="{72139180-8083-B418-4FEC-002D4F85DDDB}"/>
          </ac:spMkLst>
        </pc:spChg>
        <pc:spChg chg="mod">
          <ac:chgData name="Pallavi Khajuria" userId="a9b717a9-a6a4-430c-9673-0d3d9754a838" providerId="ADAL" clId="{251A7961-4882-4F9E-81E1-00826DDD5DBC}" dt="2025-11-10T11:59:21.501" v="417" actId="20577"/>
          <ac:spMkLst>
            <pc:docMk/>
            <pc:sldMk cId="206556200" sldId="309"/>
            <ac:spMk id="14" creationId="{FA44F50F-174E-BDE9-23CB-65A44E70D000}"/>
          </ac:spMkLst>
        </pc:spChg>
      </pc:sldChg>
      <pc:sldChg chg="del">
        <pc:chgData name="Pallavi Khajuria" userId="a9b717a9-a6a4-430c-9673-0d3d9754a838" providerId="ADAL" clId="{251A7961-4882-4F9E-81E1-00826DDD5DBC}" dt="2025-11-10T11:59:26.360" v="418" actId="47"/>
        <pc:sldMkLst>
          <pc:docMk/>
          <pc:sldMk cId="3370430484" sldId="310"/>
        </pc:sldMkLst>
      </pc:sldChg>
      <pc:sldChg chg="del">
        <pc:chgData name="Pallavi Khajuria" userId="a9b717a9-a6a4-430c-9673-0d3d9754a838" providerId="ADAL" clId="{251A7961-4882-4F9E-81E1-00826DDD5DBC}" dt="2025-11-10T12:00:21.483" v="423" actId="47"/>
        <pc:sldMkLst>
          <pc:docMk/>
          <pc:sldMk cId="3413612536" sldId="311"/>
        </pc:sldMkLst>
      </pc:sldChg>
      <pc:sldChg chg="addSp delSp modSp add mod">
        <pc:chgData name="Pallavi Khajuria" userId="a9b717a9-a6a4-430c-9673-0d3d9754a838" providerId="ADAL" clId="{251A7961-4882-4F9E-81E1-00826DDD5DBC}" dt="2025-11-10T12:01:22.105" v="441"/>
        <pc:sldMkLst>
          <pc:docMk/>
          <pc:sldMk cId="2360998798" sldId="312"/>
        </pc:sldMkLst>
        <pc:spChg chg="add mod">
          <ac:chgData name="Pallavi Khajuria" userId="a9b717a9-a6a4-430c-9673-0d3d9754a838" providerId="ADAL" clId="{251A7961-4882-4F9E-81E1-00826DDD5DBC}" dt="2025-11-10T12:01:22.105" v="441"/>
          <ac:spMkLst>
            <pc:docMk/>
            <pc:sldMk cId="2360998798" sldId="312"/>
            <ac:spMk id="2" creationId="{17313117-93F2-00BB-CA48-6E2DE8395900}"/>
          </ac:spMkLst>
        </pc:spChg>
        <pc:spChg chg="del">
          <ac:chgData name="Pallavi Khajuria" userId="a9b717a9-a6a4-430c-9673-0d3d9754a838" providerId="ADAL" clId="{251A7961-4882-4F9E-81E1-00826DDD5DBC}" dt="2025-11-10T12:01:21.249" v="440" actId="478"/>
          <ac:spMkLst>
            <pc:docMk/>
            <pc:sldMk cId="2360998798" sldId="312"/>
            <ac:spMk id="5" creationId="{BEA8B6C2-4306-939F-8A04-A302AF87C90A}"/>
          </ac:spMkLst>
        </pc:spChg>
      </pc:sldChg>
    </pc:docChg>
  </pc:docChgLst>
</pc:chgInfo>
</file>

<file path=ppt/comments/modernComment_11A_A187FA2C.xml><?xml version="1.0" encoding="utf-8"?>
<p188:cmLst xmlns:a="http://schemas.openxmlformats.org/drawingml/2006/main" xmlns:r="http://schemas.openxmlformats.org/officeDocument/2006/relationships" xmlns:p188="http://schemas.microsoft.com/office/powerpoint/2018/8/main">
  <p188:cm id="{4AB5D70A-4F0A-43D6-9739-1435A5FF7B8A}" authorId="{6E16A83C-777C-0DF7-390D-AA7C1A28FF00}" created="2025-06-09T12:43:39.606">
    <pc:sldMkLst xmlns:pc="http://schemas.microsoft.com/office/powerpoint/2013/main/command">
      <pc:docMk/>
      <pc:sldMk cId="2710043180" sldId="282"/>
    </pc:sldMkLst>
    <p188:txBody>
      <a:bodyPr/>
      <a:lstStyle/>
      <a:p>
        <a:r>
          <a:rPr lang="en-AE"/>
          <a:t>In this slide we recommend the client on approach we can take on their requirements - subject to change as per client</a:t>
        </a:r>
      </a:p>
    </p188:txBody>
  </p188:cm>
</p188:cmLst>
</file>

<file path=ppt/comments/modernComment_134_844B3DA2.xml><?xml version="1.0" encoding="utf-8"?>
<p188:cmLst xmlns:a="http://schemas.openxmlformats.org/drawingml/2006/main" xmlns:r="http://schemas.openxmlformats.org/officeDocument/2006/relationships" xmlns:p188="http://schemas.microsoft.com/office/powerpoint/2018/8/main">
  <p188:cm id="{BF58C93D-189C-4939-BB3F-1D83BD5D6174}" authorId="{6E16A83C-777C-0DF7-390D-AA7C1A28FF00}" created="2025-06-09T12:48:28.534">
    <pc:sldMkLst xmlns:pc="http://schemas.microsoft.com/office/powerpoint/2013/main/command">
      <pc:docMk/>
      <pc:sldMk cId="2219523490" sldId="308"/>
    </pc:sldMkLst>
    <p188:txBody>
      <a:bodyPr/>
      <a:lstStyle/>
      <a:p>
        <a:r>
          <a:rPr lang="en-AE"/>
          <a:t>This cover the services we would provide them - made as per scope and proposed approach we recommended 
subject to change as per client</a:t>
        </a:r>
      </a:p>
    </p188:txBody>
  </p188:cm>
</p188:cmLst>
</file>

<file path=ppt/comments/modernComment_135_C4FCC28.xml><?xml version="1.0" encoding="utf-8"?>
<p188:cmLst xmlns:a="http://schemas.openxmlformats.org/drawingml/2006/main" xmlns:r="http://schemas.openxmlformats.org/officeDocument/2006/relationships" xmlns:p188="http://schemas.microsoft.com/office/powerpoint/2018/8/main">
  <p188:cm id="{F643BEB7-A671-432E-A8CD-82624081C770}" authorId="{6E16A83C-777C-0DF7-390D-AA7C1A28FF00}" created="2025-06-09T12:48:41.597">
    <pc:sldMkLst xmlns:pc="http://schemas.microsoft.com/office/powerpoint/2013/main/command">
      <pc:docMk/>
      <pc:sldMk cId="206556200" sldId="309"/>
    </pc:sldMkLst>
    <p188:txBody>
      <a:bodyPr/>
      <a:lstStyle/>
      <a:p>
        <a:r>
          <a:rPr lang="en-AE"/>
          <a:t>This cover the services we would provide them - made as per scope and proposed approach we recommended 
subject to change as per client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88C639-19C7-AD4F-A6FB-73F7F2290F30}" type="datetimeFigureOut">
              <a:rPr lang="en-AE" smtClean="0"/>
              <a:t>19/11/2025</a:t>
            </a:fld>
            <a:endParaRPr lang="en-A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F9947E-FF1B-3543-8415-544E22499918}" type="slidenum">
              <a:rPr lang="en-AE" smtClean="0"/>
              <a:t>‹#›</a:t>
            </a:fld>
            <a:endParaRPr lang="en-AE"/>
          </a:p>
        </p:txBody>
      </p:sp>
    </p:spTree>
    <p:extLst>
      <p:ext uri="{BB962C8B-B14F-4D97-AF65-F5344CB8AC3E}">
        <p14:creationId xmlns:p14="http://schemas.microsoft.com/office/powerpoint/2010/main" val="42239115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a:t>
            </a:fld>
            <a:endParaRPr lang="en-AE"/>
          </a:p>
        </p:txBody>
      </p:sp>
    </p:spTree>
    <p:extLst>
      <p:ext uri="{BB962C8B-B14F-4D97-AF65-F5344CB8AC3E}">
        <p14:creationId xmlns:p14="http://schemas.microsoft.com/office/powerpoint/2010/main" val="10679405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14</a:t>
            </a:fld>
            <a:endParaRPr lang="en-AE"/>
          </a:p>
        </p:txBody>
      </p:sp>
    </p:spTree>
    <p:extLst>
      <p:ext uri="{BB962C8B-B14F-4D97-AF65-F5344CB8AC3E}">
        <p14:creationId xmlns:p14="http://schemas.microsoft.com/office/powerpoint/2010/main" val="25501717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19</a:t>
            </a:fld>
            <a:endParaRPr lang="en-AE"/>
          </a:p>
        </p:txBody>
      </p:sp>
    </p:spTree>
    <p:extLst>
      <p:ext uri="{BB962C8B-B14F-4D97-AF65-F5344CB8AC3E}">
        <p14:creationId xmlns:p14="http://schemas.microsoft.com/office/powerpoint/2010/main" val="26226742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6.png"/><Relationship Id="rId4" Type="http://schemas.microsoft.com/office/2007/relationships/hdphoto" Target="../media/hdphoto1.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7.jpe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1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5.jpe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image" Target="../media/image2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2.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4.jpe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5.jpe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6.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6.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7.jpe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8.png"/><Relationship Id="rId4" Type="http://schemas.openxmlformats.org/officeDocument/2006/relationships/image" Target="../media/image29.svg"/><Relationship Id="rId5" Type="http://schemas.openxmlformats.org/officeDocument/2006/relationships/image" Target="../media/image30.png"/><Relationship Id="rId6" Type="http://schemas.openxmlformats.org/officeDocument/2006/relationships/image" Target="../media/image31.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jpeg"/><Relationship Id="rId3" Type="http://schemas.openxmlformats.org/officeDocument/2006/relationships/image" Target="../media/image2.png"/><Relationship Id="rId4" Type="http://schemas.openxmlformats.org/officeDocument/2006/relationships/image" Target="../media/image33.jpe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jpe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7" name="Picture 16" descr="A close-up of a building&#10;&#10;Description automatically generated">
            <a:extLst>
              <a:ext uri="{FF2B5EF4-FFF2-40B4-BE49-F238E27FC236}">
                <a16:creationId xmlns:a16="http://schemas.microsoft.com/office/drawing/2014/main" id="{BD7EA1F2-4501-6403-8679-46430526DE74}"/>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7743173" y="0"/>
            <a:ext cx="4448827" cy="6858000"/>
          </a:xfrm>
          <a:prstGeom prst="rect">
            <a:avLst/>
          </a:prstGeom>
        </p:spPr>
      </p:pic>
      <p:sp>
        <p:nvSpPr>
          <p:cNvPr id="2" name="Title 1">
            <a:extLst>
              <a:ext uri="{FF2B5EF4-FFF2-40B4-BE49-F238E27FC236}">
                <a16:creationId xmlns:a16="http://schemas.microsoft.com/office/drawing/2014/main" id="{F1DD9230-29CE-E570-6578-CBE89DC66284}"/>
              </a:ext>
            </a:extLst>
          </p:cNvPr>
          <p:cNvSpPr>
            <a:spLocks noGrp="1" noRot="1" noMove="1" noResize="1" noEditPoints="1" noAdjustHandles="1" noChangeArrowheads="1" noChangeShapeType="1"/>
          </p:cNvSpPr>
          <p:nvPr>
            <p:ph type="ctrTitle"/>
          </p:nvPr>
        </p:nvSpPr>
        <p:spPr>
          <a:xfrm>
            <a:off x="908953" y="2638511"/>
            <a:ext cx="6657150" cy="1476289"/>
          </a:xfrm>
        </p:spPr>
        <p:txBody>
          <a:bodyPr anchor="t">
            <a:normAutofit/>
          </a:bodyPr>
          <a:lstStyle>
            <a:lvl1pPr algn="l">
              <a:defRPr sz="3200" b="1" i="0">
                <a:solidFill>
                  <a:srgbClr val="0B2339"/>
                </a:solidFill>
                <a:latin typeface="Aptos" panose="020B0004020202020204" pitchFamily="34" charset="0"/>
              </a:defRPr>
            </a:lvl1pPr>
          </a:lstStyle>
          <a:p>
            <a:endParaRPr lang="en-AE" dirty="0"/>
          </a:p>
        </p:txBody>
      </p:sp>
      <p:sp>
        <p:nvSpPr>
          <p:cNvPr id="3" name="Subtitle 2">
            <a:extLst>
              <a:ext uri="{FF2B5EF4-FFF2-40B4-BE49-F238E27FC236}">
                <a16:creationId xmlns:a16="http://schemas.microsoft.com/office/drawing/2014/main" id="{012F38A9-B777-2DF5-09D6-EF2BA5970FA9}"/>
              </a:ext>
            </a:extLst>
          </p:cNvPr>
          <p:cNvSpPr>
            <a:spLocks noGrp="1" noRot="1" noMove="1" noResize="1" noEditPoints="1" noAdjustHandles="1" noChangeArrowheads="1" noChangeShapeType="1"/>
          </p:cNvSpPr>
          <p:nvPr>
            <p:ph type="subTitle" idx="1"/>
          </p:nvPr>
        </p:nvSpPr>
        <p:spPr>
          <a:xfrm>
            <a:off x="908954" y="4219488"/>
            <a:ext cx="6657149" cy="309264"/>
          </a:xfrm>
        </p:spPr>
        <p:txBody>
          <a:bodyPr>
            <a:normAutofit/>
          </a:bodyPr>
          <a:lstStyle>
            <a:lvl1pPr marL="0" indent="0" algn="l">
              <a:buNone/>
              <a:defRPr sz="1400" b="1" i="0">
                <a:solidFill>
                  <a:srgbClr val="7D4E1D"/>
                </a:solidFill>
                <a:latin typeface="Aptos SemiBold"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E" dirty="0"/>
          </a:p>
        </p:txBody>
      </p:sp>
      <p:sp>
        <p:nvSpPr>
          <p:cNvPr id="6" name="Slide Number Placeholder 5">
            <a:extLst>
              <a:ext uri="{FF2B5EF4-FFF2-40B4-BE49-F238E27FC236}">
                <a16:creationId xmlns:a16="http://schemas.microsoft.com/office/drawing/2014/main" id="{230CE271-72F2-688B-3011-83FB7EA0EF45}"/>
              </a:ext>
            </a:extLst>
          </p:cNvPr>
          <p:cNvSpPr>
            <a:spLocks noGrp="1"/>
          </p:cNvSpPr>
          <p:nvPr>
            <p:ph type="sldNum" sz="quarter" idx="12"/>
          </p:nvPr>
        </p:nvSpPr>
        <p:spPr/>
        <p:txBody>
          <a:bodyPr/>
          <a:lstStyle>
            <a:lvl1pPr>
              <a:defRPr sz="1000"/>
            </a:lvl1pPr>
          </a:lstStyle>
          <a:p>
            <a:fld id="{FEBB2247-6CF9-174D-B1BD-16046E6DC6C6}" type="slidenum">
              <a:rPr lang="en-AE" smtClean="0"/>
              <a:pPr/>
              <a:t>‹#›</a:t>
            </a:fld>
            <a:endParaRPr lang="en-AE"/>
          </a:p>
        </p:txBody>
      </p:sp>
      <p:pic>
        <p:nvPicPr>
          <p:cNvPr id="8" name="Picture 7">
            <a:extLst>
              <a:ext uri="{FF2B5EF4-FFF2-40B4-BE49-F238E27FC236}">
                <a16:creationId xmlns:a16="http://schemas.microsoft.com/office/drawing/2014/main" id="{7C7FE1E5-CA74-1AC3-3235-3992D640428E}"/>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908953" y="783246"/>
            <a:ext cx="3127484" cy="967495"/>
          </a:xfrm>
          <a:prstGeom prst="rect">
            <a:avLst/>
          </a:prstGeom>
        </p:spPr>
      </p:pic>
      <p:sp>
        <p:nvSpPr>
          <p:cNvPr id="9" name="Title 1">
            <a:extLst>
              <a:ext uri="{FF2B5EF4-FFF2-40B4-BE49-F238E27FC236}">
                <a16:creationId xmlns:a16="http://schemas.microsoft.com/office/drawing/2014/main" id="{F0217AC1-1926-2D75-17C8-A8814A07513B}"/>
              </a:ext>
            </a:extLst>
          </p:cNvPr>
          <p:cNvSpPr txBox="1">
            <a:spLocks/>
          </p:cNvSpPr>
          <p:nvPr userDrawn="1"/>
        </p:nvSpPr>
        <p:spPr>
          <a:xfrm>
            <a:off x="908953" y="2283092"/>
            <a:ext cx="3441954" cy="355419"/>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r>
              <a:rPr lang="en-AE" b="0" i="0" dirty="0">
                <a:latin typeface="Aptos" panose="020B0004020202020204" pitchFamily="34" charset="0"/>
              </a:rPr>
              <a:t>Proposal for</a:t>
            </a:r>
          </a:p>
        </p:txBody>
      </p:sp>
      <p:sp>
        <p:nvSpPr>
          <p:cNvPr id="11" name="Subtitle 2">
            <a:extLst>
              <a:ext uri="{FF2B5EF4-FFF2-40B4-BE49-F238E27FC236}">
                <a16:creationId xmlns:a16="http://schemas.microsoft.com/office/drawing/2014/main" id="{385D335E-5026-260B-D55D-4871DF991A70}"/>
              </a:ext>
            </a:extLst>
          </p:cNvPr>
          <p:cNvSpPr txBox="1">
            <a:spLocks/>
          </p:cNvSpPr>
          <p:nvPr userDrawn="1"/>
        </p:nvSpPr>
        <p:spPr>
          <a:xfrm>
            <a:off x="908953" y="5638542"/>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000" b="1" i="0" dirty="0">
                <a:solidFill>
                  <a:srgbClr val="0B2339"/>
                </a:solidFill>
                <a:latin typeface="Aptos Light" panose="020B0004020202020204" pitchFamily="34" charset="0"/>
              </a:rPr>
              <a:t>Headquartered in</a:t>
            </a:r>
            <a:endParaRPr lang="en-AE" sz="1000" b="1" i="0" dirty="0">
              <a:solidFill>
                <a:srgbClr val="0B2339"/>
              </a:solidFill>
              <a:latin typeface="Aptos Light" panose="020B0004020202020204" pitchFamily="34" charset="0"/>
            </a:endParaRPr>
          </a:p>
        </p:txBody>
      </p:sp>
      <p:sp>
        <p:nvSpPr>
          <p:cNvPr id="19" name="Subtitle 2">
            <a:extLst>
              <a:ext uri="{FF2B5EF4-FFF2-40B4-BE49-F238E27FC236}">
                <a16:creationId xmlns:a16="http://schemas.microsoft.com/office/drawing/2014/main" id="{470A0FF0-4B19-ECEE-B126-8CD833B78BD0}"/>
              </a:ext>
            </a:extLst>
          </p:cNvPr>
          <p:cNvSpPr txBox="1">
            <a:spLocks/>
          </p:cNvSpPr>
          <p:nvPr userDrawn="1"/>
        </p:nvSpPr>
        <p:spPr>
          <a:xfrm>
            <a:off x="5617029" y="5652937"/>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000" b="1" i="0" dirty="0">
                <a:solidFill>
                  <a:srgbClr val="0B2339"/>
                </a:solidFill>
                <a:latin typeface="Aptos Light" panose="020B0004020202020204" pitchFamily="34" charset="0"/>
              </a:rPr>
              <a:t>Offices in</a:t>
            </a:r>
            <a:endParaRPr lang="en-AE" sz="1000" b="1" i="0" dirty="0">
              <a:solidFill>
                <a:srgbClr val="0B2339"/>
              </a:solidFill>
              <a:latin typeface="Aptos Light" panose="020B0004020202020204" pitchFamily="34" charset="0"/>
            </a:endParaRPr>
          </a:p>
        </p:txBody>
      </p:sp>
      <p:cxnSp>
        <p:nvCxnSpPr>
          <p:cNvPr id="20" name="Straight Connector 19">
            <a:extLst>
              <a:ext uri="{FF2B5EF4-FFF2-40B4-BE49-F238E27FC236}">
                <a16:creationId xmlns:a16="http://schemas.microsoft.com/office/drawing/2014/main" id="{79BB2E00-A5D4-81D6-B7A2-8288920FDEFF}"/>
              </a:ext>
            </a:extLst>
          </p:cNvPr>
          <p:cNvCxnSpPr>
            <a:cxnSpLocks/>
          </p:cNvCxnSpPr>
          <p:nvPr userDrawn="1"/>
        </p:nvCxnSpPr>
        <p:spPr>
          <a:xfrm>
            <a:off x="908953" y="5917492"/>
            <a:ext cx="6657150"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2" name="Subtitle 2">
            <a:extLst>
              <a:ext uri="{FF2B5EF4-FFF2-40B4-BE49-F238E27FC236}">
                <a16:creationId xmlns:a16="http://schemas.microsoft.com/office/drawing/2014/main" id="{CD0DB896-FD47-791D-BE48-74F6E86A227F}"/>
              </a:ext>
            </a:extLst>
          </p:cNvPr>
          <p:cNvSpPr txBox="1">
            <a:spLocks/>
          </p:cNvSpPr>
          <p:nvPr userDrawn="1"/>
        </p:nvSpPr>
        <p:spPr>
          <a:xfrm>
            <a:off x="5617029" y="6088080"/>
            <a:ext cx="1949074" cy="199228"/>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sz="1200" b="1" i="0" dirty="0">
                <a:solidFill>
                  <a:srgbClr val="7D4E1D"/>
                </a:solidFill>
                <a:latin typeface="Aptos SemiBold" panose="020B0004020202020204" pitchFamily="34" charset="0"/>
              </a:rPr>
              <a:t>UAE  |  CYPRUS  |  GREECE</a:t>
            </a:r>
            <a:endParaRPr lang="en-AE" sz="1200" b="1" i="0" dirty="0">
              <a:solidFill>
                <a:srgbClr val="7D4E1D"/>
              </a:solidFill>
              <a:latin typeface="Aptos SemiBold" panose="020B0004020202020204" pitchFamily="34" charset="0"/>
            </a:endParaRPr>
          </a:p>
        </p:txBody>
      </p:sp>
      <p:sp>
        <p:nvSpPr>
          <p:cNvPr id="23" name="Content Placeholder 5">
            <a:extLst>
              <a:ext uri="{FF2B5EF4-FFF2-40B4-BE49-F238E27FC236}">
                <a16:creationId xmlns:a16="http://schemas.microsoft.com/office/drawing/2014/main" id="{95421D69-0294-05AE-9BFB-63E663BB61D5}"/>
              </a:ext>
            </a:extLst>
          </p:cNvPr>
          <p:cNvSpPr>
            <a:spLocks noGrp="1" noRot="1" noMove="1" noResize="1" noEditPoints="1" noAdjustHandles="1" noChangeArrowheads="1" noChangeShapeType="1"/>
          </p:cNvSpPr>
          <p:nvPr>
            <p:ph sz="quarter" idx="13"/>
          </p:nvPr>
        </p:nvSpPr>
        <p:spPr>
          <a:xfrm>
            <a:off x="4438619" y="769920"/>
            <a:ext cx="3127484" cy="1070032"/>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pic>
        <p:nvPicPr>
          <p:cNvPr id="4" name="Picture 3" descr="A black background with a black square&#10;&#10;AI-generated content may be incorrect.">
            <a:extLst>
              <a:ext uri="{FF2B5EF4-FFF2-40B4-BE49-F238E27FC236}">
                <a16:creationId xmlns:a16="http://schemas.microsoft.com/office/drawing/2014/main" id="{316D3003-2BB7-5766-CFEF-ABE5364819F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35347" y="5988379"/>
            <a:ext cx="1570905" cy="504260"/>
          </a:xfrm>
          <a:prstGeom prst="rect">
            <a:avLst/>
          </a:prstGeom>
        </p:spPr>
      </p:pic>
    </p:spTree>
    <p:extLst>
      <p:ext uri="{BB962C8B-B14F-4D97-AF65-F5344CB8AC3E}">
        <p14:creationId xmlns:p14="http://schemas.microsoft.com/office/powerpoint/2010/main" val="143923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01680959-D86E-634F-AFCF-10BE2FCFBD18}"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Content Placeholder 2">
            <a:extLst>
              <a:ext uri="{FF2B5EF4-FFF2-40B4-BE49-F238E27FC236}">
                <a16:creationId xmlns:a16="http://schemas.microsoft.com/office/drawing/2014/main" id="{7B2F871A-671A-E3C4-5E42-68642B529B32}"/>
              </a:ext>
            </a:extLst>
          </p:cNvPr>
          <p:cNvSpPr>
            <a:spLocks noGrp="1" noRot="1" noMove="1" noResize="1" noEditPoints="1" noAdjustHandles="1" noChangeArrowheads="1" noChangeShapeType="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4" name="Title 1">
            <a:extLst>
              <a:ext uri="{FF2B5EF4-FFF2-40B4-BE49-F238E27FC236}">
                <a16:creationId xmlns:a16="http://schemas.microsoft.com/office/drawing/2014/main" id="{470D15FC-F893-0B31-A1AB-36DB5B8C7625}"/>
              </a:ext>
            </a:extLst>
          </p:cNvPr>
          <p:cNvSpPr txBox="1">
            <a:spLocks noGrp="1" noRot="1" noMove="1" noResize="1" noEditPoints="1" noAdjustHandles="1" noChangeArrowheads="1" noChangeShapeType="1"/>
          </p:cNvSpPr>
          <p:nvPr userDrawn="1"/>
        </p:nvSpPr>
        <p:spPr>
          <a:xfrm>
            <a:off x="838200" y="395948"/>
            <a:ext cx="10514012" cy="823912"/>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Welcome</a:t>
            </a:r>
            <a:br>
              <a:rPr lang="en-US" dirty="0"/>
            </a:br>
            <a:endParaRPr lang="en-AE" dirty="0"/>
          </a:p>
        </p:txBody>
      </p:sp>
    </p:spTree>
    <p:extLst>
      <p:ext uri="{BB962C8B-B14F-4D97-AF65-F5344CB8AC3E}">
        <p14:creationId xmlns:p14="http://schemas.microsoft.com/office/powerpoint/2010/main" val="21024811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8C2E388-400E-361C-C9E2-8DE6C22BAF65}"/>
              </a:ext>
            </a:extLst>
          </p:cNvPr>
          <p:cNvSpPr txBox="1">
            <a:spLocks noGrp="1" noRot="1" noMove="1" noResize="1" noEditPoints="1" noAdjustHandles="1" noChangeArrowheads="1" noChangeShapeType="1"/>
          </p:cNvSpPr>
          <p:nvPr userDrawn="1"/>
        </p:nvSpPr>
        <p:spPr>
          <a:xfrm>
            <a:off x="838200" y="365126"/>
            <a:ext cx="10514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AE" dirty="0"/>
              <a:t>Executive Summary</a:t>
            </a:r>
          </a:p>
        </p:txBody>
      </p:sp>
      <p:sp>
        <p:nvSpPr>
          <p:cNvPr id="6" name="Date Placeholder 3">
            <a:extLst>
              <a:ext uri="{FF2B5EF4-FFF2-40B4-BE49-F238E27FC236}">
                <a16:creationId xmlns:a16="http://schemas.microsoft.com/office/drawing/2014/main" id="{BA9497B1-F259-A2AC-9117-F75F53E22C38}"/>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1828D0B-93F7-2C4D-8282-CE55141786B7}"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Content Placeholder 2">
            <a:extLst>
              <a:ext uri="{FF2B5EF4-FFF2-40B4-BE49-F238E27FC236}">
                <a16:creationId xmlns:a16="http://schemas.microsoft.com/office/drawing/2014/main" id="{7B2F871A-671A-E3C4-5E42-68642B529B32}"/>
              </a:ext>
            </a:extLst>
          </p:cNvPr>
          <p:cNvSpPr>
            <a:spLocks noGrp="1" noRot="1" noMove="1" noResize="1" noEditPoints="1" noAdjustHandles="1" noChangeArrowheads="1" noChangeShapeType="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3013656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093FA0B-F7D2-8CB8-33E2-F809A01A6850}"/>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290A9F28-CE55-2248-B612-2ED53EF2A467}"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1" name="Picture 10" descr="A person writing on a piece of paper&#10;&#10;Description automatically generated">
            <a:extLst>
              <a:ext uri="{FF2B5EF4-FFF2-40B4-BE49-F238E27FC236}">
                <a16:creationId xmlns:a16="http://schemas.microsoft.com/office/drawing/2014/main" id="{EF3D545D-1E2F-F0FC-7040-33F645D267DC}"/>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3060" y="498764"/>
            <a:ext cx="2847246" cy="5602144"/>
          </a:xfrm>
          <a:prstGeom prst="rect">
            <a:avLst/>
          </a:prstGeom>
        </p:spPr>
      </p:pic>
      <p:sp>
        <p:nvSpPr>
          <p:cNvPr id="13" name="Title 1">
            <a:extLst>
              <a:ext uri="{FF2B5EF4-FFF2-40B4-BE49-F238E27FC236}">
                <a16:creationId xmlns:a16="http://schemas.microsoft.com/office/drawing/2014/main" id="{EDD1680E-3F37-FF36-6565-B06792B37132}"/>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Content</a:t>
            </a:r>
            <a:br>
              <a:rPr lang="en-US" dirty="0"/>
            </a:br>
            <a:endParaRPr lang="en-AE" dirty="0"/>
          </a:p>
        </p:txBody>
      </p:sp>
    </p:spTree>
    <p:extLst>
      <p:ext uri="{BB962C8B-B14F-4D97-AF65-F5344CB8AC3E}">
        <p14:creationId xmlns:p14="http://schemas.microsoft.com/office/powerpoint/2010/main" val="1537563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3A735DC1-8B32-A943-BF13-CE33177114F0}"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5BF1B2A8-6EC6-775E-FE2C-529D94717540}"/>
              </a:ext>
            </a:extLst>
          </p:cNvPr>
          <p:cNvCxnSpPr>
            <a:cxnSpLocks noGrp="1" noRot="1" noMove="1" noResize="1" noEditPoints="1" noAdjustHandles="1" noChangeArrowheads="1" noChangeShapeType="1"/>
          </p:cNvCxnSpPr>
          <p:nvPr userDrawn="1"/>
        </p:nvCxnSpPr>
        <p:spPr>
          <a:xfrm>
            <a:off x="836612" y="164593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72546CC-9507-1E53-0FE6-D0F68CCD63B2}"/>
              </a:ext>
            </a:extLst>
          </p:cNvPr>
          <p:cNvSpPr txBox="1">
            <a:spLocks/>
          </p:cNvSpPr>
          <p:nvPr userDrawn="1"/>
        </p:nvSpPr>
        <p:spPr>
          <a:xfrm>
            <a:off x="911010" y="1738627"/>
            <a:ext cx="6250258" cy="1892826"/>
          </a:xfrm>
          <a:prstGeom prst="rect">
            <a:avLst/>
          </a:prstGeom>
          <a:noFill/>
        </p:spPr>
        <p:txBody>
          <a:bodyPr wrap="square">
            <a:spAutoFit/>
          </a:bodyPr>
          <a:lstStyle/>
          <a:p>
            <a:pPr algn="just"/>
            <a:r>
              <a:rPr lang="en-US" sz="900" b="0" i="0" u="none" strike="noStrike" dirty="0">
                <a:solidFill>
                  <a:srgbClr val="0B2339"/>
                </a:solidFill>
                <a:effectLst/>
                <a:latin typeface="Aptos" panose="020B0004020202020204" pitchFamily="34" charset="0"/>
              </a:rPr>
              <a:t>At Pnyx Hill, we bridge the gap between </a:t>
            </a:r>
            <a:r>
              <a:rPr lang="en-US" sz="900" b="1" i="0" u="none" strike="noStrike" dirty="0">
                <a:solidFill>
                  <a:srgbClr val="0B2339"/>
                </a:solidFill>
                <a:effectLst/>
                <a:latin typeface="Aptos" panose="020B0004020202020204" pitchFamily="34" charset="0"/>
              </a:rPr>
              <a:t>strategy, governance, risk,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compliance</a:t>
            </a:r>
            <a:r>
              <a:rPr lang="en-US" sz="900" b="0" i="0" u="none" strike="noStrike" dirty="0">
                <a:solidFill>
                  <a:srgbClr val="0B2339"/>
                </a:solidFill>
                <a:effectLst/>
                <a:latin typeface="Aptos" panose="020B0004020202020204" pitchFamily="34" charset="0"/>
              </a:rPr>
              <a:t> (SGRC); helping businesses </a:t>
            </a:r>
            <a:r>
              <a:rPr lang="en-US" sz="900" b="1" i="0" u="none" strike="noStrike" dirty="0">
                <a:solidFill>
                  <a:srgbClr val="0B2339"/>
                </a:solidFill>
                <a:effectLst/>
                <a:latin typeface="Aptos" panose="020B0004020202020204" pitchFamily="34" charset="0"/>
              </a:rPr>
              <a:t>scale wisely, navigate complex regulations,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achieve sustainable growth</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As a </a:t>
            </a:r>
            <a:r>
              <a:rPr lang="en-US" sz="900" b="1" i="0" u="none" strike="noStrike" dirty="0">
                <a:solidFill>
                  <a:srgbClr val="0B2339"/>
                </a:solidFill>
                <a:effectLst/>
                <a:latin typeface="Aptos" panose="020B0004020202020204" pitchFamily="34" charset="0"/>
              </a:rPr>
              <a:t>highly specialized boutique advisory firm</a:t>
            </a:r>
            <a:r>
              <a:rPr lang="en-US" sz="900" b="0" i="0" u="none" strike="noStrike" dirty="0">
                <a:solidFill>
                  <a:srgbClr val="0B2339"/>
                </a:solidFill>
                <a:effectLst/>
                <a:latin typeface="Aptos" panose="020B0004020202020204" pitchFamily="34" charset="0"/>
              </a:rPr>
              <a:t>, we partner with enterprises to </a:t>
            </a:r>
            <a:r>
              <a:rPr lang="en-US" sz="900" b="1" i="0" u="none" strike="noStrike" dirty="0">
                <a:solidFill>
                  <a:srgbClr val="0B2339"/>
                </a:solidFill>
                <a:effectLst/>
                <a:latin typeface="Aptos" panose="020B0004020202020204" pitchFamily="34" charset="0"/>
              </a:rPr>
              <a:t>safeguard</a:t>
            </a:r>
            <a:r>
              <a:rPr lang="en-US" sz="900" b="0" i="0" u="none" strike="noStrike" dirty="0">
                <a:solidFill>
                  <a:srgbClr val="0B2339"/>
                </a:solidFill>
                <a:effectLst/>
                <a:latin typeface="Aptos" panose="020B0004020202020204" pitchFamily="34" charset="0"/>
              </a:rPr>
              <a:t> their </a:t>
            </a:r>
            <a:r>
              <a:rPr lang="en-US" sz="900" b="1" i="0" u="none" strike="noStrike" dirty="0">
                <a:solidFill>
                  <a:srgbClr val="0B2339"/>
                </a:solidFill>
                <a:effectLst/>
                <a:latin typeface="Aptos" panose="020B0004020202020204" pitchFamily="34" charset="0"/>
              </a:rPr>
              <a:t>reputational </a:t>
            </a:r>
            <a:r>
              <a:rPr lang="en-US" sz="900" b="0" i="0" u="none" strike="noStrike" dirty="0">
                <a:solidFill>
                  <a:srgbClr val="0B2339"/>
                </a:solidFill>
                <a:effectLst/>
                <a:latin typeface="Aptos" panose="020B0004020202020204" pitchFamily="34" charset="0"/>
              </a:rPr>
              <a:t>and </a:t>
            </a:r>
            <a:r>
              <a:rPr lang="en-US" sz="900" b="1" i="0" u="none" strike="noStrike" dirty="0">
                <a:solidFill>
                  <a:srgbClr val="0B2339"/>
                </a:solidFill>
                <a:effectLst/>
                <a:latin typeface="Aptos" panose="020B0004020202020204" pitchFamily="34" charset="0"/>
              </a:rPr>
              <a:t>financial capital</a:t>
            </a:r>
            <a:r>
              <a:rPr lang="en-US" sz="900" b="0" i="0" u="none" strike="noStrike" dirty="0">
                <a:solidFill>
                  <a:srgbClr val="0B2339"/>
                </a:solidFill>
                <a:effectLst/>
                <a:latin typeface="Aptos" panose="020B0004020202020204" pitchFamily="34" charset="0"/>
              </a:rPr>
              <a:t> while </a:t>
            </a:r>
            <a:r>
              <a:rPr lang="en-US" sz="900" b="1" i="0" u="none" strike="noStrike" dirty="0">
                <a:solidFill>
                  <a:srgbClr val="0B2339"/>
                </a:solidFill>
                <a:effectLst/>
                <a:latin typeface="Aptos" panose="020B0004020202020204" pitchFamily="34" charset="0"/>
              </a:rPr>
              <a:t>ensuring </a:t>
            </a:r>
            <a:r>
              <a:rPr lang="en-US" sz="900" b="0" i="0" u="none" strike="noStrike" dirty="0">
                <a:solidFill>
                  <a:srgbClr val="0B2339"/>
                </a:solidFill>
                <a:effectLst/>
                <a:latin typeface="Aptos" panose="020B0004020202020204" pitchFamily="34" charset="0"/>
              </a:rPr>
              <a:t>their</a:t>
            </a:r>
            <a:r>
              <a:rPr lang="en-US" sz="900" b="1" i="0" u="none" strike="noStrike" dirty="0">
                <a:solidFill>
                  <a:srgbClr val="0B2339"/>
                </a:solidFill>
                <a:effectLst/>
                <a:latin typeface="Aptos" panose="020B0004020202020204" pitchFamily="34" charset="0"/>
              </a:rPr>
              <a:t> commercial strategies align with regulatory requirements</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With </a:t>
            </a:r>
            <a:r>
              <a:rPr lang="en-US" sz="900" b="1" i="0" u="none" strike="noStrike" dirty="0">
                <a:solidFill>
                  <a:srgbClr val="0B2339"/>
                </a:solidFill>
                <a:effectLst/>
                <a:latin typeface="Aptos" panose="020B0004020202020204" pitchFamily="34" charset="0"/>
              </a:rPr>
              <a:t>50+ years of executive experience</a:t>
            </a:r>
            <a:r>
              <a:rPr lang="en-US" sz="900" b="0" i="0" u="none" strike="noStrike" dirty="0">
                <a:solidFill>
                  <a:srgbClr val="0B2339"/>
                </a:solidFill>
                <a:effectLst/>
                <a:latin typeface="Aptos" panose="020B0004020202020204" pitchFamily="34" charset="0"/>
              </a:rPr>
              <a:t> and </a:t>
            </a:r>
            <a:r>
              <a:rPr lang="en-US" sz="900" b="1" i="0" u="none" strike="noStrike" dirty="0">
                <a:solidFill>
                  <a:srgbClr val="0B2339"/>
                </a:solidFill>
                <a:effectLst/>
                <a:latin typeface="Aptos" panose="020B0004020202020204" pitchFamily="34" charset="0"/>
              </a:rPr>
              <a:t>400+ successful projects</a:t>
            </a:r>
            <a:r>
              <a:rPr lang="en-US" sz="900" b="0" i="0" u="none" strike="noStrike" dirty="0">
                <a:solidFill>
                  <a:srgbClr val="0B2339"/>
                </a:solidFill>
                <a:effectLst/>
                <a:latin typeface="Aptos" panose="020B0004020202020204" pitchFamily="34" charset="0"/>
              </a:rPr>
              <a:t>, we embed ourselves in our clients' journeys - </a:t>
            </a:r>
            <a:r>
              <a:rPr lang="en-US" sz="900" b="1" i="0" u="none" strike="noStrike" dirty="0">
                <a:solidFill>
                  <a:srgbClr val="0B2339"/>
                </a:solidFill>
                <a:effectLst/>
                <a:latin typeface="Aptos" panose="020B0004020202020204" pitchFamily="34" charset="0"/>
              </a:rPr>
              <a:t>from market entry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licensing </a:t>
            </a:r>
            <a:r>
              <a:rPr lang="en-US" sz="900" b="0" i="0" u="none" strike="noStrike" dirty="0">
                <a:solidFill>
                  <a:srgbClr val="0B2339"/>
                </a:solidFill>
                <a:effectLst/>
                <a:latin typeface="Aptos" panose="020B0004020202020204" pitchFamily="34" charset="0"/>
              </a:rPr>
              <a:t>to</a:t>
            </a:r>
            <a:r>
              <a:rPr lang="en-US" sz="900" b="1" i="0" u="none" strike="noStrike" dirty="0">
                <a:solidFill>
                  <a:srgbClr val="0B2339"/>
                </a:solidFill>
                <a:effectLst/>
                <a:latin typeface="Aptos" panose="020B0004020202020204" pitchFamily="34" charset="0"/>
              </a:rPr>
              <a:t> ongoing compliance and strategic growth advisory</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Backed by renowned industry leaders and top-tier specialists, </a:t>
            </a:r>
            <a:r>
              <a:rPr lang="en-US" sz="900" b="1" i="0" u="none" strike="noStrike" dirty="0">
                <a:solidFill>
                  <a:srgbClr val="0B2339"/>
                </a:solidFill>
                <a:effectLst/>
                <a:latin typeface="Aptos" panose="020B0004020202020204" pitchFamily="34" charset="0"/>
              </a:rPr>
              <a:t>we support financial services, Web3 &amp; digital assets, technology startups, healthcare, gaming,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energy &amp; infrastructure</a:t>
            </a:r>
            <a:r>
              <a:rPr lang="en-US" sz="900" b="0" i="0" u="none" strike="noStrike" dirty="0">
                <a:solidFill>
                  <a:srgbClr val="0B2339"/>
                </a:solidFill>
                <a:effectLst/>
                <a:latin typeface="Aptos" panose="020B0004020202020204" pitchFamily="34" charset="0"/>
              </a:rPr>
              <a:t>.</a:t>
            </a:r>
          </a:p>
          <a:p>
            <a:pPr algn="just"/>
            <a:r>
              <a:rPr lang="en-US" sz="900" b="0" i="0" u="none" strike="noStrike" dirty="0">
                <a:solidFill>
                  <a:srgbClr val="0B2339"/>
                </a:solidFill>
                <a:effectLst/>
                <a:latin typeface="Aptos" panose="020B0004020202020204" pitchFamily="34" charset="0"/>
              </a:rPr>
              <a:t>At Pnyx Hill, we go beyond consulting; we are </a:t>
            </a:r>
            <a:r>
              <a:rPr lang="en-US" sz="900" b="1" i="0" u="none" strike="noStrike" dirty="0">
                <a:solidFill>
                  <a:srgbClr val="0B2339"/>
                </a:solidFill>
                <a:effectLst/>
                <a:latin typeface="Aptos" panose="020B0004020202020204" pitchFamily="34" charset="0"/>
              </a:rPr>
              <a:t>trusted partners, delivering real impact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enabling businesses to lead </a:t>
            </a:r>
            <a:r>
              <a:rPr lang="en-US" sz="900" b="0" i="0" u="none" strike="noStrike" dirty="0">
                <a:solidFill>
                  <a:srgbClr val="0B2339"/>
                </a:solidFill>
                <a:effectLst/>
                <a:latin typeface="Aptos" panose="020B0004020202020204" pitchFamily="34" charset="0"/>
              </a:rPr>
              <a:t>in their industries and markets.</a:t>
            </a:r>
          </a:p>
        </p:txBody>
      </p:sp>
      <p:pic>
        <p:nvPicPr>
          <p:cNvPr id="5" name="Picture 4" descr="Columns outside supreme court building">
            <a:extLst>
              <a:ext uri="{FF2B5EF4-FFF2-40B4-BE49-F238E27FC236}">
                <a16:creationId xmlns:a16="http://schemas.microsoft.com/office/drawing/2014/main" id="{EBFB5F65-AEB2-53E5-A23D-548959DC82AB}"/>
              </a:ext>
            </a:extLst>
          </p:cNvPr>
          <p:cNvPicPr>
            <a:picLocks noGrp="1" noRot="1" noChangeAspect="1" noMove="1" noResize="1" noEditPoints="1" noAdjustHandles="1" noChangeArrowheads="1" noChangeShapeType="1" noCrop="1"/>
          </p:cNvPicPr>
          <p:nvPr userDrawn="1"/>
        </p:nvPicPr>
        <p:blipFill rotWithShape="1">
          <a:blip r:embed="rId3" cstate="print">
            <a:extLst>
              <a:ext uri="{BEBA8EAE-BF5A-486C-A8C5-ECC9F3942E4B}">
                <a14:imgProps xmlns:a14="http://schemas.microsoft.com/office/drawing/2010/main">
                  <a14:imgLayer r:embed="rId4">
                    <a14:imgEffect>
                      <a14:saturation sat="0"/>
                    </a14:imgEffect>
                    <a14:imgEffect>
                      <a14:brightnessContrast bright="20000"/>
                    </a14:imgEffect>
                  </a14:imgLayer>
                </a14:imgProps>
              </a:ext>
              <a:ext uri="{28A0092B-C50C-407E-A947-70E740481C1C}">
                <a14:useLocalDpi xmlns:a14="http://schemas.microsoft.com/office/drawing/2010/main"/>
              </a:ext>
            </a:extLst>
          </a:blip>
          <a:srcRect/>
          <a:stretch/>
        </p:blipFill>
        <p:spPr>
          <a:xfrm>
            <a:off x="8365523" y="494270"/>
            <a:ext cx="2849263" cy="5585253"/>
          </a:xfrm>
          <a:prstGeom prst="rect">
            <a:avLst/>
          </a:prstGeom>
        </p:spPr>
      </p:pic>
      <p:cxnSp>
        <p:nvCxnSpPr>
          <p:cNvPr id="17" name="Straight Connector 16">
            <a:extLst>
              <a:ext uri="{FF2B5EF4-FFF2-40B4-BE49-F238E27FC236}">
                <a16:creationId xmlns:a16="http://schemas.microsoft.com/office/drawing/2014/main" id="{377080EE-9C33-8477-E380-E30D1B53ACC7}"/>
              </a:ext>
            </a:extLst>
          </p:cNvPr>
          <p:cNvCxnSpPr>
            <a:cxnSpLocks noGrp="1" noRot="1" noMove="1" noResize="1" noEditPoints="1" noAdjustHandles="1" noChangeArrowheads="1" noChangeShapeType="1"/>
          </p:cNvCxnSpPr>
          <p:nvPr userDrawn="1"/>
        </p:nvCxnSpPr>
        <p:spPr>
          <a:xfrm>
            <a:off x="836612" y="4159422"/>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BAA4DE1F-6398-6A01-EDBF-A8C81F195625}"/>
              </a:ext>
            </a:extLst>
          </p:cNvPr>
          <p:cNvGrpSpPr>
            <a:grpSpLocks noGrp="1" noUngrp="1" noRot="1" noMove="1" noResize="1"/>
          </p:cNvGrpSpPr>
          <p:nvPr userDrawn="1"/>
        </p:nvGrpSpPr>
        <p:grpSpPr>
          <a:xfrm>
            <a:off x="977213" y="4675089"/>
            <a:ext cx="6982534" cy="1531190"/>
            <a:chOff x="977214" y="4557993"/>
            <a:chExt cx="6395021" cy="1531190"/>
          </a:xfrm>
        </p:grpSpPr>
        <p:sp>
          <p:nvSpPr>
            <p:cNvPr id="20" name="TextBox 19">
              <a:extLst>
                <a:ext uri="{FF2B5EF4-FFF2-40B4-BE49-F238E27FC236}">
                  <a16:creationId xmlns:a16="http://schemas.microsoft.com/office/drawing/2014/main" id="{EED56594-4551-C1F8-EBC0-9045A425FD32}"/>
                </a:ext>
              </a:extLst>
            </p:cNvPr>
            <p:cNvSpPr txBox="1">
              <a:spLocks/>
            </p:cNvSpPr>
            <p:nvPr userDrawn="1"/>
          </p:nvSpPr>
          <p:spPr>
            <a:xfrm>
              <a:off x="977214" y="4579977"/>
              <a:ext cx="1601593" cy="1269578"/>
            </a:xfrm>
            <a:prstGeom prst="rect">
              <a:avLst/>
            </a:prstGeom>
            <a:noFill/>
          </p:spPr>
          <p:txBody>
            <a:bodyPr wrap="square">
              <a:spAutoFit/>
            </a:bodyPr>
            <a:lstStyle/>
            <a:p>
              <a:pPr algn="just"/>
              <a:r>
                <a:rPr lang="en-US" sz="850" b="0" i="0" u="none" strike="noStrike" dirty="0">
                  <a:solidFill>
                    <a:srgbClr val="0B2339"/>
                  </a:solidFill>
                  <a:effectLst/>
                  <a:latin typeface="Aptos" panose="020B0004020202020204" pitchFamily="34" charset="0"/>
                </a:rPr>
                <a:t>We ensure businesses enter and operate in regulated markets with confidence by securing the necessary licenses, permits, and legal frameworks. From financial services and payments to crypto and gaming, we navigate complex global regulatory landscapes with precision and expertise.</a:t>
              </a:r>
              <a:endParaRPr lang="en-AE" sz="850" dirty="0">
                <a:solidFill>
                  <a:srgbClr val="0B2339"/>
                </a:solidFill>
                <a:latin typeface="Aptos" panose="020B0004020202020204" pitchFamily="34" charset="0"/>
              </a:endParaRPr>
            </a:p>
          </p:txBody>
        </p:sp>
        <p:sp>
          <p:nvSpPr>
            <p:cNvPr id="21" name="TextBox 20">
              <a:extLst>
                <a:ext uri="{FF2B5EF4-FFF2-40B4-BE49-F238E27FC236}">
                  <a16:creationId xmlns:a16="http://schemas.microsoft.com/office/drawing/2014/main" id="{88978758-FCDE-C142-2E65-26410B26C23E}"/>
                </a:ext>
              </a:extLst>
            </p:cNvPr>
            <p:cNvSpPr txBox="1">
              <a:spLocks/>
            </p:cNvSpPr>
            <p:nvPr userDrawn="1"/>
          </p:nvSpPr>
          <p:spPr>
            <a:xfrm>
              <a:off x="2573131" y="4557995"/>
              <a:ext cx="1601593" cy="1531188"/>
            </a:xfrm>
            <a:prstGeom prst="rect">
              <a:avLst/>
            </a:prstGeom>
            <a:noFill/>
          </p:spPr>
          <p:txBody>
            <a:bodyPr wrap="square">
              <a:spAutoFit/>
            </a:bodyPr>
            <a:lstStyle/>
            <a:p>
              <a:pPr algn="just"/>
              <a:r>
                <a:rPr lang="en-US" sz="850" b="0" i="0" u="none" strike="noStrike" dirty="0">
                  <a:solidFill>
                    <a:srgbClr val="0B2339"/>
                  </a:solidFill>
                  <a:effectLst/>
                  <a:latin typeface="Aptos" panose="020B0004020202020204" pitchFamily="34" charset="0"/>
                </a:rPr>
                <a:t>We integrate governance, risk, and compliance (GRC) as a strategic advantage, ensuring companies remain compliant, resilient, and ahead of regulatory shifts. Through outsourced GRC services, risk mitigation strategies, and board-level compliance support, we help businesses build long-term sustainability and trust.</a:t>
              </a:r>
              <a:endParaRPr lang="en-AE" sz="850" dirty="0">
                <a:solidFill>
                  <a:srgbClr val="0B2339"/>
                </a:solidFill>
                <a:latin typeface="Aptos" panose="020B0004020202020204" pitchFamily="34" charset="0"/>
              </a:endParaRPr>
            </a:p>
          </p:txBody>
        </p:sp>
        <p:sp>
          <p:nvSpPr>
            <p:cNvPr id="22" name="TextBox 21">
              <a:extLst>
                <a:ext uri="{FF2B5EF4-FFF2-40B4-BE49-F238E27FC236}">
                  <a16:creationId xmlns:a16="http://schemas.microsoft.com/office/drawing/2014/main" id="{3E5B5C29-1A3D-2BC6-8E62-74D215636140}"/>
                </a:ext>
              </a:extLst>
            </p:cNvPr>
            <p:cNvSpPr txBox="1">
              <a:spLocks/>
            </p:cNvSpPr>
            <p:nvPr userDrawn="1"/>
          </p:nvSpPr>
          <p:spPr>
            <a:xfrm>
              <a:off x="4174724" y="4557994"/>
              <a:ext cx="1601593" cy="1400383"/>
            </a:xfrm>
            <a:prstGeom prst="rect">
              <a:avLst/>
            </a:prstGeom>
            <a:noFill/>
          </p:spPr>
          <p:txBody>
            <a:bodyPr wrap="square">
              <a:spAutoFit/>
            </a:bodyPr>
            <a:lstStyle/>
            <a:p>
              <a:pPr algn="just"/>
              <a:r>
                <a:rPr lang="en-US" sz="850" b="0" i="0" u="none" strike="noStrike" dirty="0">
                  <a:solidFill>
                    <a:srgbClr val="0B2339"/>
                  </a:solidFill>
                  <a:effectLst/>
                </a:rPr>
                <a:t>We don’t just advise- we enable businesses to scale, secure funding, and drive market expansion. From multimillion-dollar fundraising to deal structuring, M&amp;A, and global market entry, we bring deep expertise in shaping successful commercial strategies while ensuring regulatory alignment.</a:t>
              </a:r>
              <a:endParaRPr lang="en-AE" sz="850" dirty="0">
                <a:solidFill>
                  <a:srgbClr val="0B2339"/>
                </a:solidFill>
                <a:latin typeface="Aptos" panose="020B0004020202020204" pitchFamily="34" charset="0"/>
              </a:endParaRPr>
            </a:p>
          </p:txBody>
        </p:sp>
        <p:sp>
          <p:nvSpPr>
            <p:cNvPr id="23" name="TextBox 22">
              <a:extLst>
                <a:ext uri="{FF2B5EF4-FFF2-40B4-BE49-F238E27FC236}">
                  <a16:creationId xmlns:a16="http://schemas.microsoft.com/office/drawing/2014/main" id="{15AFE8EB-D156-1545-A703-B13FD7AF57F2}"/>
                </a:ext>
              </a:extLst>
            </p:cNvPr>
            <p:cNvSpPr txBox="1">
              <a:spLocks/>
            </p:cNvSpPr>
            <p:nvPr userDrawn="1"/>
          </p:nvSpPr>
          <p:spPr>
            <a:xfrm>
              <a:off x="5770642" y="4557993"/>
              <a:ext cx="1601593" cy="1400383"/>
            </a:xfrm>
            <a:prstGeom prst="rect">
              <a:avLst/>
            </a:prstGeom>
            <a:noFill/>
          </p:spPr>
          <p:txBody>
            <a:bodyPr wrap="square">
              <a:spAutoFit/>
            </a:bodyPr>
            <a:lstStyle/>
            <a:p>
              <a:pPr algn="just"/>
              <a:r>
                <a:rPr lang="en-US" sz="850" b="0" i="0" u="none" strike="noStrike" dirty="0">
                  <a:solidFill>
                    <a:srgbClr val="0B2339"/>
                  </a:solidFill>
                  <a:effectLst/>
                </a:rPr>
                <a:t>Sustainable growth starts with strong leadership. Through executive coaching, board training, and corporate education programs, we equip leaders, boards, and compliance teams with the knowledge and skills needed to navigate the evolving regulatory and business landscape.</a:t>
              </a:r>
              <a:endParaRPr lang="en-AE" sz="850" dirty="0">
                <a:solidFill>
                  <a:srgbClr val="0B2339"/>
                </a:solidFill>
                <a:latin typeface="Aptos" panose="020B0004020202020204" pitchFamily="34" charset="0"/>
              </a:endParaRPr>
            </a:p>
          </p:txBody>
        </p:sp>
      </p:grpSp>
      <p:sp>
        <p:nvSpPr>
          <p:cNvPr id="26" name="TextBox 25">
            <a:extLst>
              <a:ext uri="{FF2B5EF4-FFF2-40B4-BE49-F238E27FC236}">
                <a16:creationId xmlns:a16="http://schemas.microsoft.com/office/drawing/2014/main" id="{C2027C7D-DD44-3D5E-403A-271E97E78FDA}"/>
              </a:ext>
            </a:extLst>
          </p:cNvPr>
          <p:cNvSpPr txBox="1">
            <a:spLocks/>
          </p:cNvSpPr>
          <p:nvPr userDrawn="1"/>
        </p:nvSpPr>
        <p:spPr>
          <a:xfrm>
            <a:off x="977213" y="4252373"/>
            <a:ext cx="1748732"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Regulatory Excellence</a:t>
            </a:r>
          </a:p>
          <a:p>
            <a:pPr algn="ctr"/>
            <a:r>
              <a:rPr lang="en-US" sz="1100" b="1" i="0" u="none" strike="noStrike" dirty="0">
                <a:solidFill>
                  <a:srgbClr val="0B2339"/>
                </a:solidFill>
                <a:effectLst/>
                <a:latin typeface="Aptos ExtraBold" panose="020B0004020202020204" pitchFamily="34" charset="0"/>
              </a:rPr>
              <a:t>&amp; Market Readiness</a:t>
            </a:r>
          </a:p>
        </p:txBody>
      </p:sp>
      <p:sp>
        <p:nvSpPr>
          <p:cNvPr id="27" name="TextBox 26">
            <a:extLst>
              <a:ext uri="{FF2B5EF4-FFF2-40B4-BE49-F238E27FC236}">
                <a16:creationId xmlns:a16="http://schemas.microsoft.com/office/drawing/2014/main" id="{B3801AF3-0BE5-2F03-F1A3-72CA432731FA}"/>
              </a:ext>
            </a:extLst>
          </p:cNvPr>
          <p:cNvSpPr txBox="1">
            <a:spLocks/>
          </p:cNvSpPr>
          <p:nvPr userDrawn="1"/>
        </p:nvSpPr>
        <p:spPr>
          <a:xfrm>
            <a:off x="2728505" y="4342242"/>
            <a:ext cx="1748732" cy="261610"/>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GRC as a Growth Driver</a:t>
            </a:r>
          </a:p>
        </p:txBody>
      </p:sp>
      <p:sp>
        <p:nvSpPr>
          <p:cNvPr id="28" name="TextBox 27">
            <a:extLst>
              <a:ext uri="{FF2B5EF4-FFF2-40B4-BE49-F238E27FC236}">
                <a16:creationId xmlns:a16="http://schemas.microsoft.com/office/drawing/2014/main" id="{CD4977F3-41B4-1DD0-E38F-45378F9F1F78}"/>
              </a:ext>
            </a:extLst>
          </p:cNvPr>
          <p:cNvSpPr txBox="1">
            <a:spLocks noGrp="1" noRot="1" noMove="1" noResize="1" noEditPoints="1" noAdjustHandles="1" noChangeArrowheads="1" noChangeShapeType="1"/>
          </p:cNvSpPr>
          <p:nvPr userDrawn="1"/>
        </p:nvSpPr>
        <p:spPr>
          <a:xfrm>
            <a:off x="4458509" y="4261173"/>
            <a:ext cx="1808475"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Strategic Growth, Expansion &amp; Fundraising</a:t>
            </a:r>
          </a:p>
        </p:txBody>
      </p:sp>
      <p:sp>
        <p:nvSpPr>
          <p:cNvPr id="29" name="TextBox 28">
            <a:extLst>
              <a:ext uri="{FF2B5EF4-FFF2-40B4-BE49-F238E27FC236}">
                <a16:creationId xmlns:a16="http://schemas.microsoft.com/office/drawing/2014/main" id="{7C569A4A-D84B-98B0-3B8B-61017CEE441B}"/>
              </a:ext>
            </a:extLst>
          </p:cNvPr>
          <p:cNvSpPr txBox="1">
            <a:spLocks noGrp="1" noRot="1" noMove="1" noResize="1" noEditPoints="1" noAdjustHandles="1" noChangeArrowheads="1" noChangeShapeType="1"/>
          </p:cNvSpPr>
          <p:nvPr userDrawn="1"/>
        </p:nvSpPr>
        <p:spPr>
          <a:xfrm>
            <a:off x="6220984" y="4252099"/>
            <a:ext cx="1748732"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Regulatory Excellence</a:t>
            </a:r>
          </a:p>
          <a:p>
            <a:pPr algn="ctr"/>
            <a:r>
              <a:rPr lang="en-US" sz="1100" b="1" i="0" u="none" strike="noStrike" dirty="0">
                <a:solidFill>
                  <a:srgbClr val="0B2339"/>
                </a:solidFill>
                <a:effectLst/>
                <a:latin typeface="Aptos ExtraBold" panose="020B0004020202020204" pitchFamily="34" charset="0"/>
              </a:rPr>
              <a:t>&amp; Market Readiness</a:t>
            </a:r>
          </a:p>
        </p:txBody>
      </p:sp>
      <p:sp>
        <p:nvSpPr>
          <p:cNvPr id="30" name="TextBox 29">
            <a:extLst>
              <a:ext uri="{FF2B5EF4-FFF2-40B4-BE49-F238E27FC236}">
                <a16:creationId xmlns:a16="http://schemas.microsoft.com/office/drawing/2014/main" id="{8877296E-7DAF-1A00-0CE7-690C712D8C01}"/>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About Pnyx Hill</a:t>
            </a:r>
          </a:p>
        </p:txBody>
      </p:sp>
      <p:sp>
        <p:nvSpPr>
          <p:cNvPr id="33" name="TextBox 32">
            <a:extLst>
              <a:ext uri="{FF2B5EF4-FFF2-40B4-BE49-F238E27FC236}">
                <a16:creationId xmlns:a16="http://schemas.microsoft.com/office/drawing/2014/main" id="{3B7B35E5-1BE6-D91F-3B7B-6F905EBCF4E4}"/>
              </a:ext>
            </a:extLst>
          </p:cNvPr>
          <p:cNvSpPr txBox="1">
            <a:spLocks/>
          </p:cNvSpPr>
          <p:nvPr userDrawn="1"/>
        </p:nvSpPr>
        <p:spPr>
          <a:xfrm>
            <a:off x="911010" y="1335236"/>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Unlocking Growth &amp; Securing the Future</a:t>
            </a:r>
          </a:p>
        </p:txBody>
      </p:sp>
      <p:sp>
        <p:nvSpPr>
          <p:cNvPr id="34" name="TextBox 33">
            <a:extLst>
              <a:ext uri="{FF2B5EF4-FFF2-40B4-BE49-F238E27FC236}">
                <a16:creationId xmlns:a16="http://schemas.microsoft.com/office/drawing/2014/main" id="{40FF0A8A-08C3-C250-7325-940347FB3F25}"/>
              </a:ext>
            </a:extLst>
          </p:cNvPr>
          <p:cNvSpPr txBox="1">
            <a:spLocks noGrp="1" noRot="1" noMove="1" noResize="1" noEditPoints="1" noAdjustHandles="1" noChangeArrowheads="1" noChangeShapeType="1"/>
          </p:cNvSpPr>
          <p:nvPr userDrawn="1"/>
        </p:nvSpPr>
        <p:spPr>
          <a:xfrm>
            <a:off x="964590" y="3828468"/>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Our Core Pillars</a:t>
            </a:r>
          </a:p>
        </p:txBody>
      </p:sp>
      <p:sp>
        <p:nvSpPr>
          <p:cNvPr id="35" name="Content Placeholder 2">
            <a:extLst>
              <a:ext uri="{FF2B5EF4-FFF2-40B4-BE49-F238E27FC236}">
                <a16:creationId xmlns:a16="http://schemas.microsoft.com/office/drawing/2014/main" id="{3BB9292C-2007-4844-52AF-353AE9FD52DC}"/>
              </a:ext>
            </a:extLst>
          </p:cNvPr>
          <p:cNvSpPr txBox="1">
            <a:spLocks noGrp="1" noRot="1" noMove="1" noResize="1" noEditPoints="1" noAdjustHandles="1" noChangeArrowheads="1" noChangeShapeType="1"/>
          </p:cNvSpPr>
          <p:nvPr userDrawn="1"/>
        </p:nvSpPr>
        <p:spPr>
          <a:xfrm>
            <a:off x="836611" y="989991"/>
            <a:ext cx="7246186"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i="0" u="none" strike="noStrike" dirty="0">
                <a:solidFill>
                  <a:srgbClr val="0B2339"/>
                </a:solidFill>
                <a:effectLst/>
                <a:latin typeface="+mn-lt"/>
              </a:rPr>
              <a:t>We prioritize needs over wants, helping clients scale wisely for lasting success.</a:t>
            </a:r>
            <a:endParaRPr lang="en-AE" sz="1000" b="1" dirty="0">
              <a:solidFill>
                <a:srgbClr val="0B2339"/>
              </a:solidFill>
              <a:latin typeface="+mn-lt"/>
            </a:endParaRPr>
          </a:p>
        </p:txBody>
      </p:sp>
    </p:spTree>
    <p:extLst>
      <p:ext uri="{BB962C8B-B14F-4D97-AF65-F5344CB8AC3E}">
        <p14:creationId xmlns:p14="http://schemas.microsoft.com/office/powerpoint/2010/main" val="4230852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wo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E561E68-0154-A380-5242-F61A83C2AA10}"/>
              </a:ext>
            </a:extLst>
          </p:cNvPr>
          <p:cNvSpPr/>
          <p:nvPr userDrawn="1"/>
        </p:nvSpPr>
        <p:spPr>
          <a:xfrm>
            <a:off x="854138" y="2839994"/>
            <a:ext cx="2532303" cy="261377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CE79090C-3EA2-A1EC-0945-F0C3145BB963}"/>
              </a:ext>
            </a:extLst>
          </p:cNvPr>
          <p:cNvSpPr/>
          <p:nvPr userDrawn="1"/>
        </p:nvSpPr>
        <p:spPr>
          <a:xfrm>
            <a:off x="3482782" y="2863944"/>
            <a:ext cx="2532303" cy="2579642"/>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C450C5F2-77C4-D750-B010-4AD8EB63485C}"/>
              </a:ext>
            </a:extLst>
          </p:cNvPr>
          <p:cNvSpPr/>
          <p:nvPr userDrawn="1"/>
        </p:nvSpPr>
        <p:spPr>
          <a:xfrm>
            <a:off x="6123995" y="2844853"/>
            <a:ext cx="2532303" cy="261377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C810D565-4918-1087-BE56-417999055DDA}"/>
              </a:ext>
            </a:extLst>
          </p:cNvPr>
          <p:cNvSpPr/>
          <p:nvPr userDrawn="1"/>
        </p:nvSpPr>
        <p:spPr>
          <a:xfrm>
            <a:off x="8752660" y="2856320"/>
            <a:ext cx="2532303" cy="258726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43380103-1B04-074F-9C91-FD3C857BC5DF}"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0" name="Content Placeholder 2">
            <a:extLst>
              <a:ext uri="{FF2B5EF4-FFF2-40B4-BE49-F238E27FC236}">
                <a16:creationId xmlns:a16="http://schemas.microsoft.com/office/drawing/2014/main" id="{66EEBBC3-E27F-6506-343F-E7A02906C8D7}"/>
              </a:ext>
            </a:extLst>
          </p:cNvPr>
          <p:cNvSpPr txBox="1">
            <a:spLocks noGrp="1" noRot="1" noMove="1" noResize="1" noEditPoints="1" noAdjustHandles="1" noChangeArrowheads="1" noChangeShapeType="1"/>
          </p:cNvSpPr>
          <p:nvPr userDrawn="1"/>
        </p:nvSpPr>
        <p:spPr>
          <a:xfrm>
            <a:off x="838200" y="1270196"/>
            <a:ext cx="10515600"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dirty="0">
                <a:solidFill>
                  <a:srgbClr val="0B2339"/>
                </a:solidFill>
                <a:effectLst/>
              </a:rPr>
              <a:t>Our senior partners bring a wealth of experience in pioneering high-growth initiatives worldwide. Their commitment to excellence is supported by a legacy of trust and innovation.</a:t>
            </a:r>
            <a:br>
              <a:rPr lang="en-US" sz="1000" b="1" dirty="0">
                <a:solidFill>
                  <a:srgbClr val="0B2339"/>
                </a:solidFill>
                <a:effectLst/>
              </a:rPr>
            </a:br>
            <a:br>
              <a:rPr lang="en-US" sz="1000" b="1" dirty="0">
                <a:solidFill>
                  <a:srgbClr val="0B2339"/>
                </a:solidFill>
                <a:effectLst/>
              </a:rPr>
            </a:br>
            <a:br>
              <a:rPr lang="en-US" sz="1000" b="1" i="0" dirty="0">
                <a:solidFill>
                  <a:srgbClr val="0B2339"/>
                </a:solidFill>
                <a:effectLst/>
                <a:highlight>
                  <a:srgbClr val="FFFFFF"/>
                </a:highlight>
              </a:rPr>
            </a:br>
            <a:endParaRPr lang="en-AE" sz="1000" b="1" dirty="0">
              <a:solidFill>
                <a:srgbClr val="0B2339"/>
              </a:solidFill>
            </a:endParaRPr>
          </a:p>
        </p:txBody>
      </p:sp>
      <p:grpSp>
        <p:nvGrpSpPr>
          <p:cNvPr id="58" name="Group 57">
            <a:extLst>
              <a:ext uri="{FF2B5EF4-FFF2-40B4-BE49-F238E27FC236}">
                <a16:creationId xmlns:a16="http://schemas.microsoft.com/office/drawing/2014/main" id="{250EE892-D649-D6E5-38BF-DC13CEE1F488}"/>
              </a:ext>
            </a:extLst>
          </p:cNvPr>
          <p:cNvGrpSpPr>
            <a:grpSpLocks/>
          </p:cNvGrpSpPr>
          <p:nvPr userDrawn="1"/>
        </p:nvGrpSpPr>
        <p:grpSpPr>
          <a:xfrm>
            <a:off x="919614" y="5679676"/>
            <a:ext cx="10291971" cy="478919"/>
            <a:chOff x="919614" y="5601020"/>
            <a:chExt cx="10291971" cy="478919"/>
          </a:xfrm>
        </p:grpSpPr>
        <p:pic>
          <p:nvPicPr>
            <p:cNvPr id="1026" name="Picture 2" descr="Talos Expands EU and US Teams with Key Hires in Sales ...">
              <a:extLst>
                <a:ext uri="{FF2B5EF4-FFF2-40B4-BE49-F238E27FC236}">
                  <a16:creationId xmlns:a16="http://schemas.microsoft.com/office/drawing/2014/main" id="{43E16896-AA75-8657-7915-297E5CC4A3E7}"/>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bwMode="auto">
            <a:xfrm>
              <a:off x="8503970" y="5707735"/>
              <a:ext cx="1321128" cy="321951"/>
            </a:xfrm>
            <a:prstGeom prst="rect">
              <a:avLst/>
            </a:prstGeom>
            <a:noFill/>
            <a:extLst>
              <a:ext uri="{909E8E84-426E-40DD-AFC4-6F175D3DCCD1}">
                <a14:hiddenFill xmlns:a14="http://schemas.microsoft.com/office/drawing/2010/main">
                  <a:solidFill>
                    <a:srgbClr val="FFFFFF"/>
                  </a:solidFill>
                </a14:hiddenFill>
              </a:ext>
            </a:extLst>
          </p:spPr>
        </p:pic>
        <p:grpSp>
          <p:nvGrpSpPr>
            <p:cNvPr id="31" name="Group 30">
              <a:extLst>
                <a:ext uri="{FF2B5EF4-FFF2-40B4-BE49-F238E27FC236}">
                  <a16:creationId xmlns:a16="http://schemas.microsoft.com/office/drawing/2014/main" id="{6A78DC78-CDB5-522B-BAAE-F9CECE42BE35}"/>
                </a:ext>
              </a:extLst>
            </p:cNvPr>
            <p:cNvGrpSpPr>
              <a:grpSpLocks noChangeAspect="1"/>
            </p:cNvGrpSpPr>
            <p:nvPr userDrawn="1"/>
          </p:nvGrpSpPr>
          <p:grpSpPr>
            <a:xfrm>
              <a:off x="919614" y="5601020"/>
              <a:ext cx="10291971" cy="478919"/>
              <a:chOff x="975405" y="5601431"/>
              <a:chExt cx="11599595" cy="539767"/>
            </a:xfrm>
          </p:grpSpPr>
          <p:pic>
            <p:nvPicPr>
              <p:cNvPr id="32" name="Picture 31">
                <a:extLst>
                  <a:ext uri="{FF2B5EF4-FFF2-40B4-BE49-F238E27FC236}">
                    <a16:creationId xmlns:a16="http://schemas.microsoft.com/office/drawing/2014/main" id="{EBCBD949-44EF-D316-FC4A-3BA64BE00940}"/>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975405" y="5652314"/>
                <a:ext cx="482043" cy="450920"/>
              </a:xfrm>
              <a:prstGeom prst="rect">
                <a:avLst/>
              </a:prstGeom>
            </p:spPr>
          </p:pic>
          <p:pic>
            <p:nvPicPr>
              <p:cNvPr id="33" name="Picture 32">
                <a:extLst>
                  <a:ext uri="{FF2B5EF4-FFF2-40B4-BE49-F238E27FC236}">
                    <a16:creationId xmlns:a16="http://schemas.microsoft.com/office/drawing/2014/main" id="{A3D0997B-AF2F-20E0-27F2-67EE475D2159}"/>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3587584" y="5652314"/>
                <a:ext cx="531253" cy="473839"/>
              </a:xfrm>
              <a:prstGeom prst="rect">
                <a:avLst/>
              </a:prstGeom>
            </p:spPr>
          </p:pic>
          <p:pic>
            <p:nvPicPr>
              <p:cNvPr id="34" name="Picture 33">
                <a:extLst>
                  <a:ext uri="{FF2B5EF4-FFF2-40B4-BE49-F238E27FC236}">
                    <a16:creationId xmlns:a16="http://schemas.microsoft.com/office/drawing/2014/main" id="{91B0DFB0-7999-26F4-79CF-1EADCB8BA31A}"/>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a:stretch/>
            </p:blipFill>
            <p:spPr>
              <a:xfrm>
                <a:off x="1938808" y="5705077"/>
                <a:ext cx="1018944" cy="347416"/>
              </a:xfrm>
              <a:prstGeom prst="rect">
                <a:avLst/>
              </a:prstGeom>
            </p:spPr>
          </p:pic>
          <p:pic>
            <p:nvPicPr>
              <p:cNvPr id="35" name="Picture 34">
                <a:extLst>
                  <a:ext uri="{FF2B5EF4-FFF2-40B4-BE49-F238E27FC236}">
                    <a16:creationId xmlns:a16="http://schemas.microsoft.com/office/drawing/2014/main" id="{7F34053F-57AF-0B12-4A42-419FA149CDB0}"/>
                  </a:ext>
                </a:extLst>
              </p:cNvPr>
              <p:cNvPicPr>
                <a:picLocks noChangeAspect="1"/>
              </p:cNvPicPr>
              <p:nvPr/>
            </p:nvPicPr>
            <p:blipFill rotWithShape="1">
              <a:blip r:embed="rId7" cstate="print">
                <a:extLst>
                  <a:ext uri="{28A0092B-C50C-407E-A947-70E740481C1C}">
                    <a14:useLocalDpi xmlns:a14="http://schemas.microsoft.com/office/drawing/2010/main"/>
                  </a:ext>
                </a:extLst>
              </a:blip>
              <a:srcRect/>
              <a:stretch/>
            </p:blipFill>
            <p:spPr>
              <a:xfrm>
                <a:off x="6529046" y="5729824"/>
                <a:ext cx="1054973" cy="346616"/>
              </a:xfrm>
              <a:prstGeom prst="rect">
                <a:avLst/>
              </a:prstGeom>
            </p:spPr>
          </p:pic>
          <p:pic>
            <p:nvPicPr>
              <p:cNvPr id="37" name="Picture 36">
                <a:extLst>
                  <a:ext uri="{FF2B5EF4-FFF2-40B4-BE49-F238E27FC236}">
                    <a16:creationId xmlns:a16="http://schemas.microsoft.com/office/drawing/2014/main" id="{F4FC0216-25CE-A100-6F0D-8D502E08FCA4}"/>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4885566" y="5744163"/>
                <a:ext cx="921297" cy="273225"/>
              </a:xfrm>
              <a:prstGeom prst="rect">
                <a:avLst/>
              </a:prstGeom>
            </p:spPr>
          </p:pic>
          <p:pic>
            <p:nvPicPr>
              <p:cNvPr id="38" name="Picture 37" descr="A blue hexagon with white logo&#10;&#10;Description automatically generated">
                <a:extLst>
                  <a:ext uri="{FF2B5EF4-FFF2-40B4-BE49-F238E27FC236}">
                    <a16:creationId xmlns:a16="http://schemas.microsoft.com/office/drawing/2014/main" id="{801D374C-28F6-B8AD-1CE3-1B23D0ACBEC5}"/>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8133765" y="5601431"/>
                <a:ext cx="743158" cy="539767"/>
              </a:xfrm>
              <a:prstGeom prst="rect">
                <a:avLst/>
              </a:prstGeom>
            </p:spPr>
          </p:pic>
          <p:pic>
            <p:nvPicPr>
              <p:cNvPr id="39" name="Picture 38" descr="A blue letter on a black background&#10;&#10;Description automatically generated">
                <a:extLst>
                  <a:ext uri="{FF2B5EF4-FFF2-40B4-BE49-F238E27FC236}">
                    <a16:creationId xmlns:a16="http://schemas.microsoft.com/office/drawing/2014/main" id="{01DCD7AA-855F-5B8B-28F8-926E1E9A4C2F}"/>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11562102" y="5780779"/>
                <a:ext cx="1012898" cy="181072"/>
              </a:xfrm>
              <a:prstGeom prst="rect">
                <a:avLst/>
              </a:prstGeom>
            </p:spPr>
          </p:pic>
        </p:grpSp>
      </p:grpSp>
      <p:sp>
        <p:nvSpPr>
          <p:cNvPr id="40" name="Content Placeholder 2">
            <a:extLst>
              <a:ext uri="{FF2B5EF4-FFF2-40B4-BE49-F238E27FC236}">
                <a16:creationId xmlns:a16="http://schemas.microsoft.com/office/drawing/2014/main" id="{DFB453AD-13AB-87A4-3F36-EB0F50FB24F8}"/>
              </a:ext>
            </a:extLst>
          </p:cNvPr>
          <p:cNvSpPr txBox="1">
            <a:spLocks/>
          </p:cNvSpPr>
          <p:nvPr userDrawn="1"/>
        </p:nvSpPr>
        <p:spPr>
          <a:xfrm>
            <a:off x="839672" y="5522243"/>
            <a:ext cx="10503416" cy="2103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900" b="1" dirty="0">
                <a:solidFill>
                  <a:srgbClr val="7D4E1D"/>
                </a:solidFill>
                <a:effectLst/>
              </a:rPr>
              <a:t>Select Clients &amp; Partners:</a:t>
            </a:r>
            <a:endParaRPr lang="en-AE" sz="900" b="1" dirty="0">
              <a:solidFill>
                <a:srgbClr val="7D4E1D"/>
              </a:solidFill>
            </a:endParaRPr>
          </a:p>
        </p:txBody>
      </p:sp>
      <p:sp>
        <p:nvSpPr>
          <p:cNvPr id="45" name="Title 1">
            <a:extLst>
              <a:ext uri="{FF2B5EF4-FFF2-40B4-BE49-F238E27FC236}">
                <a16:creationId xmlns:a16="http://schemas.microsoft.com/office/drawing/2014/main" id="{73663B80-1797-F36B-E28B-9925F1825AD3}"/>
              </a:ext>
            </a:extLst>
          </p:cNvPr>
          <p:cNvSpPr txBox="1">
            <a:spLocks noGrp="1" noRot="1" noMove="1" noResize="1" noEditPoints="1" noAdjustHandles="1" noChangeArrowheads="1" noChangeShapeType="1"/>
          </p:cNvSpPr>
          <p:nvPr userDrawn="1"/>
        </p:nvSpPr>
        <p:spPr>
          <a:xfrm>
            <a:off x="838200" y="1662483"/>
            <a:ext cx="2532303" cy="113587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Licensing, Expansion &amp; Regulatory Affairs</a:t>
            </a:r>
          </a:p>
          <a:p>
            <a:pPr algn="l"/>
            <a:endParaRPr lang="en-US" sz="1400" dirty="0">
              <a:solidFill>
                <a:schemeClr val="bg1"/>
              </a:solidFill>
            </a:endParaRPr>
          </a:p>
          <a:p>
            <a:pPr algn="l"/>
            <a:r>
              <a:rPr lang="en-US" sz="1000" dirty="0">
                <a:solidFill>
                  <a:schemeClr val="bg1"/>
                </a:solidFill>
              </a:rPr>
              <a:t>Legal and Regulatory strategy and foundations </a:t>
            </a:r>
          </a:p>
        </p:txBody>
      </p:sp>
      <p:sp>
        <p:nvSpPr>
          <p:cNvPr id="46" name="Title 1">
            <a:extLst>
              <a:ext uri="{FF2B5EF4-FFF2-40B4-BE49-F238E27FC236}">
                <a16:creationId xmlns:a16="http://schemas.microsoft.com/office/drawing/2014/main" id="{24A390A4-E1AB-A5FD-DE94-9F8C9C3C7312}"/>
              </a:ext>
            </a:extLst>
          </p:cNvPr>
          <p:cNvSpPr txBox="1">
            <a:spLocks/>
          </p:cNvSpPr>
          <p:nvPr userDrawn="1"/>
        </p:nvSpPr>
        <p:spPr>
          <a:xfrm>
            <a:off x="3477072" y="1655965"/>
            <a:ext cx="2532303" cy="113587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Aft>
                <a:spcPts val="600"/>
              </a:spcAft>
            </a:pPr>
            <a:r>
              <a:rPr lang="en-GB" sz="1400" b="1" dirty="0">
                <a:solidFill>
                  <a:schemeClr val="bg1"/>
                </a:solidFill>
              </a:rPr>
              <a:t>Strategies, Business Growth &amp; Fundraising</a:t>
            </a:r>
          </a:p>
          <a:p>
            <a:pPr algn="l">
              <a:spcBef>
                <a:spcPts val="600"/>
              </a:spcBef>
              <a:spcAft>
                <a:spcPts val="600"/>
              </a:spcAft>
            </a:pPr>
            <a:r>
              <a:rPr lang="en-GB" sz="1000" dirty="0">
                <a:solidFill>
                  <a:schemeClr val="bg1"/>
                </a:solidFill>
              </a:rPr>
              <a:t>Corporate Growth Strategy &amp; Fundraising</a:t>
            </a:r>
          </a:p>
        </p:txBody>
      </p:sp>
      <p:sp>
        <p:nvSpPr>
          <p:cNvPr id="47" name="Title 1">
            <a:extLst>
              <a:ext uri="{FF2B5EF4-FFF2-40B4-BE49-F238E27FC236}">
                <a16:creationId xmlns:a16="http://schemas.microsoft.com/office/drawing/2014/main" id="{AEE1DCA3-253A-F3C1-B2B0-2A164D7B7BBA}"/>
              </a:ext>
            </a:extLst>
          </p:cNvPr>
          <p:cNvSpPr txBox="1">
            <a:spLocks/>
          </p:cNvSpPr>
          <p:nvPr userDrawn="1"/>
        </p:nvSpPr>
        <p:spPr>
          <a:xfrm>
            <a:off x="6115944" y="1629569"/>
            <a:ext cx="2532303" cy="1168783"/>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Governance, Risk &amp; Compliance</a:t>
            </a:r>
          </a:p>
          <a:p>
            <a:pPr algn="l">
              <a:spcBef>
                <a:spcPts val="1600"/>
              </a:spcBef>
            </a:pPr>
            <a:r>
              <a:rPr lang="en-US" sz="1000" dirty="0">
                <a:solidFill>
                  <a:schemeClr val="bg1"/>
                </a:solidFill>
              </a:rPr>
              <a:t>Regulatory Compliance Services</a:t>
            </a:r>
          </a:p>
        </p:txBody>
      </p:sp>
      <p:sp>
        <p:nvSpPr>
          <p:cNvPr id="48" name="Title 1">
            <a:extLst>
              <a:ext uri="{FF2B5EF4-FFF2-40B4-BE49-F238E27FC236}">
                <a16:creationId xmlns:a16="http://schemas.microsoft.com/office/drawing/2014/main" id="{8A44F17D-576A-AB3D-ED4A-2D0FA6FF38B1}"/>
              </a:ext>
            </a:extLst>
          </p:cNvPr>
          <p:cNvSpPr txBox="1">
            <a:spLocks/>
          </p:cNvSpPr>
          <p:nvPr userDrawn="1"/>
        </p:nvSpPr>
        <p:spPr>
          <a:xfrm>
            <a:off x="8752661" y="1624452"/>
            <a:ext cx="2532303" cy="117390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Executive Coaching, Mentoring &amp; Board Training</a:t>
            </a:r>
          </a:p>
          <a:p>
            <a:pPr algn="l">
              <a:spcBef>
                <a:spcPts val="1600"/>
              </a:spcBef>
            </a:pPr>
            <a:r>
              <a:rPr lang="en-US" sz="1000" dirty="0">
                <a:solidFill>
                  <a:schemeClr val="bg1"/>
                </a:solidFill>
              </a:rPr>
              <a:t>Governance, Risk and Compliance Training</a:t>
            </a:r>
          </a:p>
        </p:txBody>
      </p:sp>
      <p:sp>
        <p:nvSpPr>
          <p:cNvPr id="49" name="Title 1">
            <a:extLst>
              <a:ext uri="{FF2B5EF4-FFF2-40B4-BE49-F238E27FC236}">
                <a16:creationId xmlns:a16="http://schemas.microsoft.com/office/drawing/2014/main" id="{B1D3C72D-E0BD-5BFA-0715-4428FBF8A177}"/>
              </a:ext>
            </a:extLst>
          </p:cNvPr>
          <p:cNvSpPr txBox="1">
            <a:spLocks noGrp="1" noRot="1" noMove="1" noResize="1" noEditPoints="1" noAdjustHandles="1" noChangeArrowheads="1" noChangeShapeType="1"/>
          </p:cNvSpPr>
          <p:nvPr userDrawn="1"/>
        </p:nvSpPr>
        <p:spPr>
          <a:xfrm>
            <a:off x="838200" y="2856692"/>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guide financial, investment, payment, and crypto businesses in acquiring and managing the necessary licenses and permits, ensuring operational legality and efficiency.</a:t>
            </a:r>
          </a:p>
        </p:txBody>
      </p:sp>
      <p:sp>
        <p:nvSpPr>
          <p:cNvPr id="50" name="Title 1">
            <a:extLst>
              <a:ext uri="{FF2B5EF4-FFF2-40B4-BE49-F238E27FC236}">
                <a16:creationId xmlns:a16="http://schemas.microsoft.com/office/drawing/2014/main" id="{CFB37D74-57B1-C2DF-D7A8-9C51372E2408}"/>
              </a:ext>
            </a:extLst>
          </p:cNvPr>
          <p:cNvSpPr txBox="1">
            <a:spLocks noGrp="1" noRot="1" noMove="1" noResize="1" noEditPoints="1" noAdjustHandles="1" noChangeArrowheads="1" noChangeShapeType="1"/>
          </p:cNvSpPr>
          <p:nvPr userDrawn="1"/>
        </p:nvSpPr>
        <p:spPr>
          <a:xfrm>
            <a:off x="3477072" y="2850174"/>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GB" sz="900" b="0" i="0" dirty="0">
                <a:solidFill>
                  <a:srgbClr val="0B2339"/>
                </a:solidFill>
                <a:latin typeface="Aptos" panose="020B0004020202020204" pitchFamily="34" charset="0"/>
              </a:rPr>
              <a:t>We possess deep knowledge of international markets and hands-on experience in designing, driving, and implementing fundraising, corporate, and commercial strategies worldwide.</a:t>
            </a:r>
          </a:p>
        </p:txBody>
      </p:sp>
      <p:sp>
        <p:nvSpPr>
          <p:cNvPr id="51" name="Title 1">
            <a:extLst>
              <a:ext uri="{FF2B5EF4-FFF2-40B4-BE49-F238E27FC236}">
                <a16:creationId xmlns:a16="http://schemas.microsoft.com/office/drawing/2014/main" id="{5D751F98-7AA9-E57A-5C58-81C5207D7AF0}"/>
              </a:ext>
            </a:extLst>
          </p:cNvPr>
          <p:cNvSpPr txBox="1">
            <a:spLocks/>
          </p:cNvSpPr>
          <p:nvPr userDrawn="1"/>
        </p:nvSpPr>
        <p:spPr>
          <a:xfrm>
            <a:off x="6140011" y="2844857"/>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have directly and indirectly supported clients from various industries and jurisdictions in overcoming GRC challenges, setting the foundation for sustainable growth.</a:t>
            </a:r>
          </a:p>
        </p:txBody>
      </p:sp>
      <p:sp>
        <p:nvSpPr>
          <p:cNvPr id="52" name="Title 1">
            <a:extLst>
              <a:ext uri="{FF2B5EF4-FFF2-40B4-BE49-F238E27FC236}">
                <a16:creationId xmlns:a16="http://schemas.microsoft.com/office/drawing/2014/main" id="{6BB300DD-6635-334D-D58D-FC9FFEE567CB}"/>
              </a:ext>
            </a:extLst>
          </p:cNvPr>
          <p:cNvSpPr txBox="1">
            <a:spLocks/>
          </p:cNvSpPr>
          <p:nvPr userDrawn="1"/>
        </p:nvSpPr>
        <p:spPr>
          <a:xfrm>
            <a:off x="8742834" y="2865102"/>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have trained employees and executives of various institutions, ensuring organizations are staffed with highly trained and specialized professionals who follow the highest standards in GRC topics.</a:t>
            </a:r>
          </a:p>
        </p:txBody>
      </p:sp>
      <p:sp>
        <p:nvSpPr>
          <p:cNvPr id="54" name="Title 1">
            <a:extLst>
              <a:ext uri="{FF2B5EF4-FFF2-40B4-BE49-F238E27FC236}">
                <a16:creationId xmlns:a16="http://schemas.microsoft.com/office/drawing/2014/main" id="{0E0166C8-83CC-B52C-91F0-54BB7E9185F0}"/>
              </a:ext>
            </a:extLst>
          </p:cNvPr>
          <p:cNvSpPr txBox="1">
            <a:spLocks/>
          </p:cNvSpPr>
          <p:nvPr userDrawn="1"/>
        </p:nvSpPr>
        <p:spPr>
          <a:xfrm>
            <a:off x="838568" y="3944761"/>
            <a:ext cx="2532303" cy="1297220"/>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marL="0" indent="0" algn="just">
              <a:lnSpc>
                <a:spcPct val="100000"/>
              </a:lnSpc>
              <a:spcBef>
                <a:spcPts val="600"/>
              </a:spcBef>
              <a:spcAft>
                <a:spcPts val="600"/>
              </a:spcAft>
              <a:buNone/>
            </a:pPr>
            <a:r>
              <a:rPr lang="en-US" sz="900" b="0" i="0" dirty="0">
                <a:solidFill>
                  <a:srgbClr val="0B2339"/>
                </a:solidFill>
                <a:effectLst/>
                <a:latin typeface="Aptos" panose="020B0004020202020204" pitchFamily="34" charset="0"/>
              </a:rPr>
              <a:t>Our team has collectively delivered more than 100 regulatory licenses over the past 10 years across the EU, MEA, Central Asia, and South America. This includes licenses for investment firms, funds, payment and e-money institutions, banks, crypto exchanges, and crypto asset service providers. </a:t>
            </a:r>
            <a:endParaRPr lang="en-AE" sz="900" b="0" i="0" dirty="0">
              <a:solidFill>
                <a:srgbClr val="0B2339"/>
              </a:solidFill>
              <a:latin typeface="Aptos" panose="020B0004020202020204" pitchFamily="34" charset="0"/>
            </a:endParaRPr>
          </a:p>
        </p:txBody>
      </p:sp>
      <p:sp>
        <p:nvSpPr>
          <p:cNvPr id="55" name="Title 1">
            <a:extLst>
              <a:ext uri="{FF2B5EF4-FFF2-40B4-BE49-F238E27FC236}">
                <a16:creationId xmlns:a16="http://schemas.microsoft.com/office/drawing/2014/main" id="{8CC52D1D-1082-3542-F60C-B8BED3FF66E8}"/>
              </a:ext>
            </a:extLst>
          </p:cNvPr>
          <p:cNvSpPr txBox="1">
            <a:spLocks/>
          </p:cNvSpPr>
          <p:nvPr userDrawn="1"/>
        </p:nvSpPr>
        <p:spPr>
          <a:xfrm>
            <a:off x="3464078" y="3939507"/>
            <a:ext cx="2532303" cy="1031364"/>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algn="just">
              <a:lnSpc>
                <a:spcPct val="100000"/>
              </a:lnSpc>
              <a:spcBef>
                <a:spcPts val="600"/>
              </a:spcBef>
              <a:spcAft>
                <a:spcPts val="600"/>
              </a:spcAft>
            </a:pPr>
            <a:r>
              <a:rPr lang="en-US" sz="900" b="0" i="0" dirty="0">
                <a:solidFill>
                  <a:srgbClr val="0B2339"/>
                </a:solidFill>
                <a:latin typeface="Aptos" panose="020B0004020202020204" pitchFamily="34" charset="0"/>
              </a:rPr>
              <a:t>Involved in fundraising operations exceeding USD 100 million. Designed and implemented expansion playbooks and operational PMOs, successfully driving several commercial and regulatory projects across multiple countries in EMEA and Asia, including CY, GR, UK, BH, UAE, KSA, KE, MZ, UG, KZ, SG, generating hundreds of millions in revenue.</a:t>
            </a:r>
          </a:p>
        </p:txBody>
      </p:sp>
      <p:sp>
        <p:nvSpPr>
          <p:cNvPr id="56" name="Title 1">
            <a:extLst>
              <a:ext uri="{FF2B5EF4-FFF2-40B4-BE49-F238E27FC236}">
                <a16:creationId xmlns:a16="http://schemas.microsoft.com/office/drawing/2014/main" id="{848582C9-7926-13A1-1ED6-1A547191D27A}"/>
              </a:ext>
            </a:extLst>
          </p:cNvPr>
          <p:cNvSpPr txBox="1">
            <a:spLocks/>
          </p:cNvSpPr>
          <p:nvPr userDrawn="1"/>
        </p:nvSpPr>
        <p:spPr>
          <a:xfrm>
            <a:off x="6123994" y="3944694"/>
            <a:ext cx="2532303" cy="1074977"/>
          </a:xfrm>
          <a:prstGeom prst="rect">
            <a:avLst/>
          </a:prstGeom>
          <a:noFill/>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marL="0" indent="0" algn="just">
              <a:lnSpc>
                <a:spcPct val="100000"/>
              </a:lnSpc>
              <a:spcBef>
                <a:spcPts val="600"/>
              </a:spcBef>
              <a:spcAft>
                <a:spcPts val="600"/>
              </a:spcAft>
              <a:buNone/>
            </a:pPr>
            <a:r>
              <a:rPr lang="en-US" sz="900" b="0" i="0" dirty="0">
                <a:solidFill>
                  <a:srgbClr val="0B2339"/>
                </a:solidFill>
                <a:latin typeface="Aptos" panose="020B0004020202020204" pitchFamily="34" charset="0"/>
              </a:rPr>
              <a:t>Offering a full range of corporate governance and regulatory compliance services, we bring over 50 years of collective executive experience to the industry. We have served more than 200 clients, primarily within the financial sectors.</a:t>
            </a:r>
            <a:endParaRPr lang="en-US" sz="900" b="0" i="0" dirty="0">
              <a:solidFill>
                <a:srgbClr val="0B2339"/>
              </a:solidFill>
              <a:latin typeface="Aptos" panose="020B0004020202020204" pitchFamily="34" charset="0"/>
              <a:cs typeface="Arial" panose="020B0604020202020204" pitchFamily="34" charset="0"/>
            </a:endParaRPr>
          </a:p>
        </p:txBody>
      </p:sp>
      <p:sp>
        <p:nvSpPr>
          <p:cNvPr id="57" name="Title 1">
            <a:extLst>
              <a:ext uri="{FF2B5EF4-FFF2-40B4-BE49-F238E27FC236}">
                <a16:creationId xmlns:a16="http://schemas.microsoft.com/office/drawing/2014/main" id="{B4A75A50-09A0-C93D-3491-6005782D0565}"/>
              </a:ext>
            </a:extLst>
          </p:cNvPr>
          <p:cNvSpPr txBox="1">
            <a:spLocks/>
          </p:cNvSpPr>
          <p:nvPr userDrawn="1"/>
        </p:nvSpPr>
        <p:spPr>
          <a:xfrm>
            <a:off x="8748401" y="3943202"/>
            <a:ext cx="2532303" cy="1411954"/>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300"/>
              </a:spcAft>
              <a:buNone/>
            </a:pPr>
            <a:r>
              <a:rPr lang="en-US" sz="1000" b="1" i="0" dirty="0">
                <a:solidFill>
                  <a:srgbClr val="7D4E1D"/>
                </a:solidFill>
                <a:latin typeface="Aptos" panose="020B0004020202020204" pitchFamily="34" charset="0"/>
                <a:sym typeface="Graphik Bold"/>
              </a:rPr>
              <a:t>Outcomes Delivered</a:t>
            </a:r>
          </a:p>
          <a:p>
            <a:pPr marL="0" indent="0" algn="just">
              <a:spcBef>
                <a:spcPts val="600"/>
              </a:spcBef>
              <a:spcAft>
                <a:spcPts val="600"/>
              </a:spcAft>
              <a:buNone/>
            </a:pPr>
            <a:r>
              <a:rPr lang="en-US" sz="900" b="0" i="0" dirty="0">
                <a:solidFill>
                  <a:srgbClr val="0B2339"/>
                </a:solidFill>
                <a:latin typeface="Aptos" panose="020B0004020202020204" pitchFamily="34" charset="0"/>
              </a:rPr>
              <a:t>We provide project-based training for professionals through international seminars on GRC, Finance, Strategy and Management topics. As subject matter experts, we have assisted in various engagements in both the private and governmental sectors, delivering over 100 executive programs to boards, central banks, and internal compliance and management teams.</a:t>
            </a:r>
            <a:endParaRPr lang="en-US" sz="900" b="0" i="0" dirty="0">
              <a:solidFill>
                <a:srgbClr val="0B2339"/>
              </a:solidFill>
              <a:latin typeface="Aptos" panose="020B0004020202020204" pitchFamily="34" charset="0"/>
              <a:cs typeface="Arial" panose="020B0604020202020204" pitchFamily="34" charset="0"/>
            </a:endParaRPr>
          </a:p>
        </p:txBody>
      </p:sp>
      <p:sp>
        <p:nvSpPr>
          <p:cNvPr id="1031" name="Title 1">
            <a:extLst>
              <a:ext uri="{FF2B5EF4-FFF2-40B4-BE49-F238E27FC236}">
                <a16:creationId xmlns:a16="http://schemas.microsoft.com/office/drawing/2014/main" id="{24414068-7974-AAB3-9CFA-B60431E17ED1}"/>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Pioneering Excellence &amp; Innovation</a:t>
            </a:r>
            <a:endParaRPr lang="en-AE" dirty="0"/>
          </a:p>
        </p:txBody>
      </p:sp>
    </p:spTree>
    <p:extLst>
      <p:ext uri="{BB962C8B-B14F-4D97-AF65-F5344CB8AC3E}">
        <p14:creationId xmlns:p14="http://schemas.microsoft.com/office/powerpoint/2010/main" val="51006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98D7B88-4484-C44B-B9A2-DF9ABFBEEEFF}"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5BF1B2A8-6EC6-775E-FE2C-529D94717540}"/>
              </a:ext>
            </a:extLst>
          </p:cNvPr>
          <p:cNvCxnSpPr>
            <a:cxnSpLocks noGrp="1" noRot="1" noMove="1" noResize="1" noEditPoints="1" noAdjustHandles="1" noChangeArrowheads="1" noChangeShapeType="1"/>
          </p:cNvCxnSpPr>
          <p:nvPr userDrawn="1"/>
        </p:nvCxnSpPr>
        <p:spPr>
          <a:xfrm>
            <a:off x="836612" y="164593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72546CC-9507-1E53-0FE6-D0F68CCD63B2}"/>
              </a:ext>
            </a:extLst>
          </p:cNvPr>
          <p:cNvSpPr txBox="1">
            <a:spLocks noGrp="1" noRot="1" noMove="1" noResize="1" noEditPoints="1" noAdjustHandles="1" noChangeArrowheads="1" noChangeShapeType="1"/>
          </p:cNvSpPr>
          <p:nvPr userDrawn="1"/>
        </p:nvSpPr>
        <p:spPr>
          <a:xfrm>
            <a:off x="911010" y="1738627"/>
            <a:ext cx="7087948" cy="1338828"/>
          </a:xfrm>
          <a:prstGeom prst="rect">
            <a:avLst/>
          </a:prstGeom>
          <a:noFill/>
        </p:spPr>
        <p:txBody>
          <a:bodyPr wrap="square">
            <a:spAutoFit/>
          </a:bodyPr>
          <a:lstStyle/>
          <a:p>
            <a:pPr algn="just"/>
            <a:r>
              <a:rPr lang="en-US" sz="900" b="0" i="0" u="none" strike="noStrike" dirty="0">
                <a:solidFill>
                  <a:srgbClr val="0B2339"/>
                </a:solidFill>
                <a:effectLst/>
                <a:latin typeface="YACkoA9eHeY 0"/>
              </a:rPr>
              <a:t>At Pnyx Hill, we don’t just offer advisory services; we </a:t>
            </a:r>
            <a:r>
              <a:rPr lang="en-US" sz="900" b="1" i="0" u="none" strike="noStrike" dirty="0">
                <a:solidFill>
                  <a:srgbClr val="0B2339"/>
                </a:solidFill>
                <a:effectLst/>
                <a:latin typeface="YACkoA9eHeY 0"/>
              </a:rPr>
              <a:t>reshape the way businesses navigate strategy, governance, risk,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compliance</a:t>
            </a:r>
            <a:r>
              <a:rPr lang="en-US" sz="900" b="0" i="0" u="none" strike="noStrike" dirty="0">
                <a:solidFill>
                  <a:srgbClr val="0B2339"/>
                </a:solidFill>
                <a:effectLst/>
                <a:latin typeface="YACkoA9eHeY 0"/>
              </a:rPr>
              <a:t> (SGRC). We believe </a:t>
            </a:r>
            <a:r>
              <a:rPr lang="en-US" sz="900" b="1" i="0" u="none" strike="noStrike" dirty="0">
                <a:solidFill>
                  <a:srgbClr val="0B2339"/>
                </a:solidFill>
                <a:effectLst/>
                <a:latin typeface="YACkoA9eHeY 0"/>
              </a:rPr>
              <a:t>GRC doesn’t function without strategic implementation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strategy doesn’t perform to its maximum without GRC</a:t>
            </a:r>
            <a:r>
              <a:rPr lang="en-US" sz="900" b="0" i="0" u="none" strike="noStrike" dirty="0">
                <a:solidFill>
                  <a:srgbClr val="0B2339"/>
                </a:solidFill>
                <a:effectLst/>
                <a:latin typeface="YACkoA9eHeY 0"/>
              </a:rPr>
              <a:t>.</a:t>
            </a:r>
          </a:p>
          <a:p>
            <a:pPr algn="just"/>
            <a:endParaRPr lang="en-US" sz="900" b="0" i="0" u="none" strike="noStrike" dirty="0">
              <a:solidFill>
                <a:srgbClr val="0B2339"/>
              </a:solidFill>
              <a:effectLst/>
              <a:latin typeface="YACkoA9eHeY 0"/>
            </a:endParaRPr>
          </a:p>
          <a:p>
            <a:pPr algn="just"/>
            <a:r>
              <a:rPr lang="en-US" sz="900" b="0" i="0" u="none" strike="noStrike" dirty="0">
                <a:solidFill>
                  <a:srgbClr val="0B2339"/>
                </a:solidFill>
                <a:effectLst/>
                <a:latin typeface="YACkoA9eHeY 0"/>
              </a:rPr>
              <a:t>Our </a:t>
            </a:r>
            <a:r>
              <a:rPr lang="en-US" sz="900" b="1" i="0" u="none" strike="noStrike" dirty="0">
                <a:solidFill>
                  <a:srgbClr val="0B2339"/>
                </a:solidFill>
                <a:effectLst/>
                <a:latin typeface="YACkoA9eHeY 0"/>
              </a:rPr>
              <a:t>boutique specialization, deep industry expertise,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partnership-driven approach</a:t>
            </a:r>
            <a:r>
              <a:rPr lang="en-US" sz="900" b="0" i="0" u="none" strike="noStrike" dirty="0">
                <a:solidFill>
                  <a:srgbClr val="0B2339"/>
                </a:solidFill>
                <a:effectLst/>
                <a:latin typeface="YACkoA9eHeY 0"/>
              </a:rPr>
              <a:t> ensure that </a:t>
            </a:r>
            <a:r>
              <a:rPr lang="en-US" sz="900" b="1" i="0" u="none" strike="noStrike" dirty="0">
                <a:solidFill>
                  <a:srgbClr val="0B2339"/>
                </a:solidFill>
                <a:effectLst/>
                <a:latin typeface="YACkoA9eHeY 0"/>
              </a:rPr>
              <a:t>clients receive tailored, high-impact solutions, </a:t>
            </a:r>
            <a:r>
              <a:rPr lang="en-US" sz="900" b="0" i="0" u="none" strike="noStrike" dirty="0">
                <a:solidFill>
                  <a:srgbClr val="0B2339"/>
                </a:solidFill>
                <a:effectLst/>
                <a:latin typeface="YACkoA9eHeY 0"/>
              </a:rPr>
              <a:t>not generic consulting.</a:t>
            </a:r>
          </a:p>
          <a:p>
            <a:pPr algn="just"/>
            <a:r>
              <a:rPr lang="en-US" sz="900" b="0" i="0" u="none" strike="noStrike" dirty="0">
                <a:solidFill>
                  <a:srgbClr val="0B2339"/>
                </a:solidFill>
                <a:effectLst/>
                <a:latin typeface="YACkoA9eHeY 0"/>
              </a:rPr>
              <a:t>We b</a:t>
            </a:r>
            <a:r>
              <a:rPr lang="en-US" sz="900" b="1" i="0" u="none" strike="noStrike" dirty="0">
                <a:solidFill>
                  <a:srgbClr val="0B2339"/>
                </a:solidFill>
                <a:effectLst/>
                <a:latin typeface="YACkoA9eHeY 0"/>
              </a:rPr>
              <a:t>elieve in vertical depth over shallow breadth</a:t>
            </a:r>
            <a:r>
              <a:rPr lang="en-US" sz="900" b="0" i="0" u="none" strike="noStrike" dirty="0">
                <a:solidFill>
                  <a:srgbClr val="0B2339"/>
                </a:solidFill>
                <a:effectLst/>
                <a:latin typeface="YACkoA9eHeY 0"/>
              </a:rPr>
              <a:t>, selecting clients where our values, vision, and commitment to excellence align.</a:t>
            </a:r>
          </a:p>
          <a:p>
            <a:pPr algn="just"/>
            <a:endParaRPr lang="en-US" sz="900" b="0" i="0" u="none" strike="noStrike" dirty="0">
              <a:solidFill>
                <a:srgbClr val="0B2339"/>
              </a:solidFill>
              <a:effectLst/>
              <a:latin typeface="YACkoA9eHeY 0"/>
            </a:endParaRPr>
          </a:p>
          <a:p>
            <a:pPr algn="just"/>
            <a:r>
              <a:rPr lang="en-US" sz="900" b="0" i="0" u="none" strike="noStrike" dirty="0">
                <a:solidFill>
                  <a:srgbClr val="0B2339"/>
                </a:solidFill>
                <a:effectLst/>
                <a:latin typeface="YACkoA9eHeY 0"/>
              </a:rPr>
              <a:t>With a proven track record of delivering results across regulated finance, digital assets, technology, healthcare, and more, </a:t>
            </a:r>
            <a:r>
              <a:rPr lang="en-US" sz="900" b="1" i="0" u="none" strike="noStrike" dirty="0">
                <a:solidFill>
                  <a:srgbClr val="0B2339"/>
                </a:solidFill>
                <a:effectLst/>
                <a:latin typeface="YACkoA9eHeY 0"/>
              </a:rPr>
              <a:t>we operate with precision, accountability,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a:t>
            </a:r>
            <a:r>
              <a:rPr lang="en-US" sz="900" b="0" i="0" u="none" strike="noStrike" dirty="0">
                <a:solidFill>
                  <a:srgbClr val="0B2339"/>
                </a:solidFill>
                <a:effectLst/>
                <a:latin typeface="YACkoA9eHeY 0"/>
              </a:rPr>
              <a:t>a</a:t>
            </a:r>
            <a:r>
              <a:rPr lang="en-US" sz="900" b="1" i="0" u="none" strike="noStrike" dirty="0">
                <a:solidFill>
                  <a:srgbClr val="0B2339"/>
                </a:solidFill>
                <a:effectLst/>
                <a:latin typeface="YACkoA9eHeY 0"/>
              </a:rPr>
              <a:t> relentless focus on value creation</a:t>
            </a:r>
            <a:r>
              <a:rPr lang="en-US" sz="900" b="0" i="0" u="none" strike="noStrike" dirty="0">
                <a:solidFill>
                  <a:srgbClr val="0B2339"/>
                </a:solidFill>
                <a:effectLst/>
                <a:latin typeface="YACkoA9eHeY 0"/>
              </a:rPr>
              <a:t>.</a:t>
            </a:r>
          </a:p>
        </p:txBody>
      </p:sp>
      <p:pic>
        <p:nvPicPr>
          <p:cNvPr id="5" name="Picture 4" descr="Chess pieces">
            <a:extLst>
              <a:ext uri="{FF2B5EF4-FFF2-40B4-BE49-F238E27FC236}">
                <a16:creationId xmlns:a16="http://schemas.microsoft.com/office/drawing/2014/main" id="{EBFB5F65-AEB2-53E5-A23D-548959DC82AB}"/>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sp>
        <p:nvSpPr>
          <p:cNvPr id="23" name="TextBox 22">
            <a:extLst>
              <a:ext uri="{FF2B5EF4-FFF2-40B4-BE49-F238E27FC236}">
                <a16:creationId xmlns:a16="http://schemas.microsoft.com/office/drawing/2014/main" id="{15AFE8EB-D156-1545-A703-B13FD7AF57F2}"/>
              </a:ext>
            </a:extLst>
          </p:cNvPr>
          <p:cNvSpPr txBox="1">
            <a:spLocks noGrp="1" noRot="1" noMove="1" noResize="1" noEditPoints="1" noAdjustHandles="1" noChangeArrowheads="1" noChangeShapeType="1"/>
          </p:cNvSpPr>
          <p:nvPr userDrawn="1"/>
        </p:nvSpPr>
        <p:spPr>
          <a:xfrm>
            <a:off x="2343660"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Corporate Governance</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Risk Management</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Compliance Advisory</a:t>
            </a:r>
            <a:endParaRPr lang="en-AE" sz="700" b="1" i="0" dirty="0">
              <a:solidFill>
                <a:srgbClr val="0B2339"/>
              </a:solidFill>
              <a:latin typeface="Aptos SemiBold" panose="020B0004020202020204" pitchFamily="34" charset="0"/>
            </a:endParaRPr>
          </a:p>
        </p:txBody>
      </p:sp>
      <p:sp>
        <p:nvSpPr>
          <p:cNvPr id="30" name="TextBox 29">
            <a:extLst>
              <a:ext uri="{FF2B5EF4-FFF2-40B4-BE49-F238E27FC236}">
                <a16:creationId xmlns:a16="http://schemas.microsoft.com/office/drawing/2014/main" id="{8877296E-7DAF-1A00-0CE7-690C712D8C01}"/>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What Sets Us Apart</a:t>
            </a:r>
          </a:p>
        </p:txBody>
      </p:sp>
      <p:sp>
        <p:nvSpPr>
          <p:cNvPr id="33" name="TextBox 32">
            <a:extLst>
              <a:ext uri="{FF2B5EF4-FFF2-40B4-BE49-F238E27FC236}">
                <a16:creationId xmlns:a16="http://schemas.microsoft.com/office/drawing/2014/main" id="{3B7B35E5-1BE6-D91F-3B7B-6F905EBCF4E4}"/>
              </a:ext>
            </a:extLst>
          </p:cNvPr>
          <p:cNvSpPr txBox="1">
            <a:spLocks noGrp="1" noRot="1" noMove="1" noResize="1" noEditPoints="1" noAdjustHandles="1" noChangeArrowheads="1" noChangeShapeType="1"/>
          </p:cNvSpPr>
          <p:nvPr userDrawn="1"/>
        </p:nvSpPr>
        <p:spPr>
          <a:xfrm>
            <a:off x="911010" y="1335236"/>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Unlocking Growth &amp; Securing the Future</a:t>
            </a:r>
          </a:p>
        </p:txBody>
      </p:sp>
      <p:sp>
        <p:nvSpPr>
          <p:cNvPr id="35" name="Content Placeholder 2">
            <a:extLst>
              <a:ext uri="{FF2B5EF4-FFF2-40B4-BE49-F238E27FC236}">
                <a16:creationId xmlns:a16="http://schemas.microsoft.com/office/drawing/2014/main" id="{3BB9292C-2007-4844-52AF-353AE9FD52DC}"/>
              </a:ext>
            </a:extLst>
          </p:cNvPr>
          <p:cNvSpPr txBox="1">
            <a:spLocks noGrp="1" noRot="1" noMove="1" noResize="1" noEditPoints="1" noAdjustHandles="1" noChangeArrowheads="1" noChangeShapeType="1"/>
          </p:cNvSpPr>
          <p:nvPr userDrawn="1"/>
        </p:nvSpPr>
        <p:spPr>
          <a:xfrm>
            <a:off x="836611" y="989991"/>
            <a:ext cx="7246186"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i="0" u="none" strike="noStrike" dirty="0">
                <a:solidFill>
                  <a:srgbClr val="0B2339"/>
                </a:solidFill>
                <a:effectLst/>
                <a:latin typeface="+mn-lt"/>
              </a:rPr>
              <a:t>We prioritize needs over wants, helping clients scale wisely for lasting success.</a:t>
            </a:r>
            <a:endParaRPr lang="en-AE" sz="1000" b="1" dirty="0">
              <a:solidFill>
                <a:srgbClr val="0B2339"/>
              </a:solidFill>
              <a:latin typeface="+mn-lt"/>
            </a:endParaRPr>
          </a:p>
        </p:txBody>
      </p:sp>
      <p:grpSp>
        <p:nvGrpSpPr>
          <p:cNvPr id="37" name="Group 36">
            <a:extLst>
              <a:ext uri="{FF2B5EF4-FFF2-40B4-BE49-F238E27FC236}">
                <a16:creationId xmlns:a16="http://schemas.microsoft.com/office/drawing/2014/main" id="{12523807-179A-8FB5-F60F-2F7961D59A95}"/>
              </a:ext>
            </a:extLst>
          </p:cNvPr>
          <p:cNvGrpSpPr>
            <a:grpSpLocks/>
          </p:cNvGrpSpPr>
          <p:nvPr userDrawn="1"/>
        </p:nvGrpSpPr>
        <p:grpSpPr>
          <a:xfrm>
            <a:off x="836612" y="3171247"/>
            <a:ext cx="7355255" cy="1012340"/>
            <a:chOff x="836612" y="3212015"/>
            <a:chExt cx="7355255" cy="1012340"/>
          </a:xfrm>
        </p:grpSpPr>
        <p:cxnSp>
          <p:nvCxnSpPr>
            <p:cNvPr id="17" name="Straight Connector 16">
              <a:extLst>
                <a:ext uri="{FF2B5EF4-FFF2-40B4-BE49-F238E27FC236}">
                  <a16:creationId xmlns:a16="http://schemas.microsoft.com/office/drawing/2014/main" id="{377080EE-9C33-8477-E380-E30D1B53ACC7}"/>
                </a:ext>
              </a:extLst>
            </p:cNvPr>
            <p:cNvCxnSpPr>
              <a:cxnSpLocks/>
            </p:cNvCxnSpPr>
            <p:nvPr userDrawn="1"/>
          </p:nvCxnSpPr>
          <p:spPr>
            <a:xfrm>
              <a:off x="836612" y="3479037"/>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40FF0A8A-08C3-C250-7325-940347FB3F25}"/>
                </a:ext>
              </a:extLst>
            </p:cNvPr>
            <p:cNvSpPr txBox="1">
              <a:spLocks/>
            </p:cNvSpPr>
            <p:nvPr userDrawn="1"/>
          </p:nvSpPr>
          <p:spPr>
            <a:xfrm>
              <a:off x="945681" y="3212015"/>
              <a:ext cx="7246186" cy="276999"/>
            </a:xfrm>
            <a:prstGeom prst="rect">
              <a:avLst/>
            </a:prstGeom>
            <a:noFill/>
          </p:spPr>
          <p:txBody>
            <a:bodyPr wrap="square">
              <a:spAutoFit/>
            </a:bodyPr>
            <a:lstStyle/>
            <a:p>
              <a:pPr algn="just"/>
              <a:r>
                <a:rPr lang="en-US" sz="1200" b="1" i="0" u="none" strike="noStrike" dirty="0">
                  <a:solidFill>
                    <a:srgbClr val="7D4E1D"/>
                  </a:solidFill>
                  <a:effectLst/>
                  <a:latin typeface="Aptos ExtraBold" panose="020B0004020202020204" pitchFamily="34" charset="0"/>
                </a:rPr>
                <a:t>Industry Focus</a:t>
              </a:r>
            </a:p>
          </p:txBody>
        </p:sp>
        <p:grpSp>
          <p:nvGrpSpPr>
            <p:cNvPr id="32" name="Group 31">
              <a:extLst>
                <a:ext uri="{FF2B5EF4-FFF2-40B4-BE49-F238E27FC236}">
                  <a16:creationId xmlns:a16="http://schemas.microsoft.com/office/drawing/2014/main" id="{D08922CB-B892-B55A-6D4E-5000C5876C73}"/>
                </a:ext>
              </a:extLst>
            </p:cNvPr>
            <p:cNvGrpSpPr>
              <a:grpSpLocks/>
            </p:cNvGrpSpPr>
            <p:nvPr userDrawn="1"/>
          </p:nvGrpSpPr>
          <p:grpSpPr>
            <a:xfrm>
              <a:off x="840598" y="3839852"/>
              <a:ext cx="7158360" cy="384503"/>
              <a:chOff x="979938" y="4226658"/>
              <a:chExt cx="6414597" cy="384503"/>
            </a:xfrm>
          </p:grpSpPr>
          <p:sp>
            <p:nvSpPr>
              <p:cNvPr id="26" name="TextBox 25">
                <a:extLst>
                  <a:ext uri="{FF2B5EF4-FFF2-40B4-BE49-F238E27FC236}">
                    <a16:creationId xmlns:a16="http://schemas.microsoft.com/office/drawing/2014/main" id="{C2027C7D-DD44-3D5E-403A-271E97E78FDA}"/>
                  </a:ext>
                </a:extLst>
              </p:cNvPr>
              <p:cNvSpPr txBox="1">
                <a:spLocks/>
              </p:cNvSpPr>
              <p:nvPr userDrawn="1"/>
            </p:nvSpPr>
            <p:spPr>
              <a:xfrm>
                <a:off x="979938" y="4232083"/>
                <a:ext cx="96258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Financial Services</a:t>
                </a:r>
              </a:p>
            </p:txBody>
          </p:sp>
          <p:sp>
            <p:nvSpPr>
              <p:cNvPr id="27" name="TextBox 26">
                <a:extLst>
                  <a:ext uri="{FF2B5EF4-FFF2-40B4-BE49-F238E27FC236}">
                    <a16:creationId xmlns:a16="http://schemas.microsoft.com/office/drawing/2014/main" id="{B3801AF3-0BE5-2F03-F1A3-72CA432731FA}"/>
                  </a:ext>
                </a:extLst>
              </p:cNvPr>
              <p:cNvSpPr txBox="1">
                <a:spLocks/>
              </p:cNvSpPr>
              <p:nvPr userDrawn="1"/>
            </p:nvSpPr>
            <p:spPr>
              <a:xfrm>
                <a:off x="2044836" y="4226658"/>
                <a:ext cx="92381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Web3 &amp; Digital Assets</a:t>
                </a:r>
              </a:p>
            </p:txBody>
          </p:sp>
          <p:sp>
            <p:nvSpPr>
              <p:cNvPr id="28" name="TextBox 27">
                <a:extLst>
                  <a:ext uri="{FF2B5EF4-FFF2-40B4-BE49-F238E27FC236}">
                    <a16:creationId xmlns:a16="http://schemas.microsoft.com/office/drawing/2014/main" id="{CD4977F3-41B4-1DD0-E38F-45378F9F1F78}"/>
                  </a:ext>
                </a:extLst>
              </p:cNvPr>
              <p:cNvSpPr txBox="1">
                <a:spLocks/>
              </p:cNvSpPr>
              <p:nvPr userDrawn="1"/>
            </p:nvSpPr>
            <p:spPr>
              <a:xfrm>
                <a:off x="3048378" y="4241829"/>
                <a:ext cx="113159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Technology Startups</a:t>
                </a:r>
              </a:p>
            </p:txBody>
          </p:sp>
          <p:sp>
            <p:nvSpPr>
              <p:cNvPr id="29" name="TextBox 28">
                <a:extLst>
                  <a:ext uri="{FF2B5EF4-FFF2-40B4-BE49-F238E27FC236}">
                    <a16:creationId xmlns:a16="http://schemas.microsoft.com/office/drawing/2014/main" id="{7C569A4A-D84B-98B0-3B8B-61017CEE441B}"/>
                  </a:ext>
                </a:extLst>
              </p:cNvPr>
              <p:cNvSpPr txBox="1">
                <a:spLocks/>
              </p:cNvSpPr>
              <p:nvPr userDrawn="1"/>
            </p:nvSpPr>
            <p:spPr>
              <a:xfrm>
                <a:off x="4124259" y="4248316"/>
                <a:ext cx="1094216" cy="2308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Healthcare</a:t>
                </a:r>
              </a:p>
            </p:txBody>
          </p:sp>
          <p:sp>
            <p:nvSpPr>
              <p:cNvPr id="6" name="TextBox 5">
                <a:extLst>
                  <a:ext uri="{FF2B5EF4-FFF2-40B4-BE49-F238E27FC236}">
                    <a16:creationId xmlns:a16="http://schemas.microsoft.com/office/drawing/2014/main" id="{4DD97115-DDEE-98FB-700F-8760A80A794A}"/>
                  </a:ext>
                </a:extLst>
              </p:cNvPr>
              <p:cNvSpPr txBox="1">
                <a:spLocks/>
              </p:cNvSpPr>
              <p:nvPr userDrawn="1"/>
            </p:nvSpPr>
            <p:spPr>
              <a:xfrm>
                <a:off x="5206103" y="4248584"/>
                <a:ext cx="1094216" cy="2308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Gaming</a:t>
                </a:r>
              </a:p>
            </p:txBody>
          </p:sp>
          <p:sp>
            <p:nvSpPr>
              <p:cNvPr id="10" name="TextBox 9">
                <a:extLst>
                  <a:ext uri="{FF2B5EF4-FFF2-40B4-BE49-F238E27FC236}">
                    <a16:creationId xmlns:a16="http://schemas.microsoft.com/office/drawing/2014/main" id="{EFEAE25B-33D5-93CE-BC06-52324D4C32E3}"/>
                  </a:ext>
                </a:extLst>
              </p:cNvPr>
              <p:cNvSpPr txBox="1">
                <a:spLocks/>
              </p:cNvSpPr>
              <p:nvPr userDrawn="1"/>
            </p:nvSpPr>
            <p:spPr>
              <a:xfrm>
                <a:off x="6300319" y="4241829"/>
                <a:ext cx="1094216"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Energy &amp; Infrastructure</a:t>
                </a:r>
              </a:p>
            </p:txBody>
          </p:sp>
        </p:grpSp>
        <p:grpSp>
          <p:nvGrpSpPr>
            <p:cNvPr id="36" name="Group 35">
              <a:extLst>
                <a:ext uri="{FF2B5EF4-FFF2-40B4-BE49-F238E27FC236}">
                  <a16:creationId xmlns:a16="http://schemas.microsoft.com/office/drawing/2014/main" id="{E50316BB-61B7-614F-0A6D-C1C62AAD721A}"/>
                </a:ext>
              </a:extLst>
            </p:cNvPr>
            <p:cNvGrpSpPr>
              <a:grpSpLocks/>
            </p:cNvGrpSpPr>
            <p:nvPr userDrawn="1"/>
          </p:nvGrpSpPr>
          <p:grpSpPr>
            <a:xfrm>
              <a:off x="1252072" y="3523789"/>
              <a:ext cx="6268675" cy="348615"/>
              <a:chOff x="1314819" y="3858179"/>
              <a:chExt cx="6268675" cy="348615"/>
            </a:xfrm>
          </p:grpSpPr>
          <p:pic>
            <p:nvPicPr>
              <p:cNvPr id="13" name="Picture 12" descr="A screen shot of a device&#10;&#10;Description automatically generated">
                <a:extLst>
                  <a:ext uri="{FF2B5EF4-FFF2-40B4-BE49-F238E27FC236}">
                    <a16:creationId xmlns:a16="http://schemas.microsoft.com/office/drawing/2014/main" id="{D48BD6AC-604A-B785-74D4-E5465BF0F68D}"/>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a:stretch/>
            </p:blipFill>
            <p:spPr>
              <a:xfrm>
                <a:off x="1314819" y="3938279"/>
                <a:ext cx="261531" cy="265961"/>
              </a:xfrm>
              <a:prstGeom prst="rect">
                <a:avLst/>
              </a:prstGeom>
            </p:spPr>
          </p:pic>
          <p:pic>
            <p:nvPicPr>
              <p:cNvPr id="16" name="Picture 15" descr="A screen shot of a device&#10;&#10;Description automatically generated">
                <a:extLst>
                  <a:ext uri="{FF2B5EF4-FFF2-40B4-BE49-F238E27FC236}">
                    <a16:creationId xmlns:a16="http://schemas.microsoft.com/office/drawing/2014/main" id="{A086DAA4-166D-D25E-5F6C-9A17F8D84CD0}"/>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a:off x="2463090" y="3894148"/>
                <a:ext cx="295652" cy="300660"/>
              </a:xfrm>
              <a:prstGeom prst="rect">
                <a:avLst/>
              </a:prstGeom>
            </p:spPr>
          </p:pic>
          <p:pic>
            <p:nvPicPr>
              <p:cNvPr id="18" name="Picture 17" descr="A screen shot of a device&#10;&#10;Description automatically generated">
                <a:extLst>
                  <a:ext uri="{FF2B5EF4-FFF2-40B4-BE49-F238E27FC236}">
                    <a16:creationId xmlns:a16="http://schemas.microsoft.com/office/drawing/2014/main" id="{B3274733-CD9E-D433-4E05-7D8EDF578EF9}"/>
                  </a:ext>
                </a:extLst>
              </p:cNvPr>
              <p:cNvPicPr>
                <a:picLocks noChangeAspect="1"/>
              </p:cNvPicPr>
              <p:nvPr userDrawn="1"/>
            </p:nvPicPr>
            <p:blipFill rotWithShape="1">
              <a:blip r:embed="rId6" cstate="print">
                <a:extLst>
                  <a:ext uri="{28A0092B-C50C-407E-A947-70E740481C1C}">
                    <a14:useLocalDpi xmlns:a14="http://schemas.microsoft.com/office/drawing/2010/main"/>
                  </a:ext>
                </a:extLst>
              </a:blip>
              <a:srcRect/>
              <a:stretch/>
            </p:blipFill>
            <p:spPr>
              <a:xfrm>
                <a:off x="3693175" y="3906134"/>
                <a:ext cx="295652" cy="300660"/>
              </a:xfrm>
              <a:prstGeom prst="rect">
                <a:avLst/>
              </a:prstGeom>
            </p:spPr>
          </p:pic>
          <p:pic>
            <p:nvPicPr>
              <p:cNvPr id="19" name="Picture 18" descr="A screen shot of a device&#10;&#10;Description automatically generated">
                <a:extLst>
                  <a:ext uri="{FF2B5EF4-FFF2-40B4-BE49-F238E27FC236}">
                    <a16:creationId xmlns:a16="http://schemas.microsoft.com/office/drawing/2014/main" id="{7042E444-8759-515E-99D9-7CB2F214E816}"/>
                  </a:ext>
                </a:extLst>
              </p:cNvPr>
              <p:cNvPicPr>
                <a:picLocks noChangeAspect="1"/>
              </p:cNvPicPr>
              <p:nvPr userDrawn="1"/>
            </p:nvPicPr>
            <p:blipFill rotWithShape="1">
              <a:blip r:embed="rId7" cstate="print">
                <a:extLst>
                  <a:ext uri="{28A0092B-C50C-407E-A947-70E740481C1C}">
                    <a14:useLocalDpi xmlns:a14="http://schemas.microsoft.com/office/drawing/2010/main"/>
                  </a:ext>
                </a:extLst>
              </a:blip>
              <a:srcRect/>
              <a:stretch/>
            </p:blipFill>
            <p:spPr>
              <a:xfrm>
                <a:off x="4875466" y="3885979"/>
                <a:ext cx="295652" cy="300660"/>
              </a:xfrm>
              <a:prstGeom prst="rect">
                <a:avLst/>
              </a:prstGeom>
            </p:spPr>
          </p:pic>
          <p:pic>
            <p:nvPicPr>
              <p:cNvPr id="25" name="Picture 24" descr="A screen shot of a device&#10;&#10;Description automatically generated">
                <a:extLst>
                  <a:ext uri="{FF2B5EF4-FFF2-40B4-BE49-F238E27FC236}">
                    <a16:creationId xmlns:a16="http://schemas.microsoft.com/office/drawing/2014/main" id="{EE3DE2C0-C26D-841D-128A-7B27AC33D281}"/>
                  </a:ext>
                </a:extLst>
              </p:cNvPr>
              <p:cNvPicPr>
                <a:picLocks noChangeAspect="1"/>
              </p:cNvPicPr>
              <p:nvPr userDrawn="1"/>
            </p:nvPicPr>
            <p:blipFill rotWithShape="1">
              <a:blip r:embed="rId8" cstate="print">
                <a:extLst>
                  <a:ext uri="{28A0092B-C50C-407E-A947-70E740481C1C}">
                    <a14:useLocalDpi xmlns:a14="http://schemas.microsoft.com/office/drawing/2010/main"/>
                  </a:ext>
                </a:extLst>
              </a:blip>
              <a:srcRect/>
              <a:stretch/>
            </p:blipFill>
            <p:spPr>
              <a:xfrm>
                <a:off x="6078283" y="3887425"/>
                <a:ext cx="295652" cy="300660"/>
              </a:xfrm>
              <a:prstGeom prst="rect">
                <a:avLst/>
              </a:prstGeom>
            </p:spPr>
          </p:pic>
          <p:pic>
            <p:nvPicPr>
              <p:cNvPr id="31" name="Picture 30" descr="A screen shot of a device&#10;&#10;Description automatically generated">
                <a:extLst>
                  <a:ext uri="{FF2B5EF4-FFF2-40B4-BE49-F238E27FC236}">
                    <a16:creationId xmlns:a16="http://schemas.microsoft.com/office/drawing/2014/main" id="{37EF5710-EEF5-112F-075B-811361C00CA5}"/>
                  </a:ext>
                </a:extLst>
              </p:cNvPr>
              <p:cNvPicPr>
                <a:picLocks noChangeAspect="1"/>
              </p:cNvPicPr>
              <p:nvPr userDrawn="1"/>
            </p:nvPicPr>
            <p:blipFill rotWithShape="1">
              <a:blip r:embed="rId9" cstate="print">
                <a:extLst>
                  <a:ext uri="{28A0092B-C50C-407E-A947-70E740481C1C}">
                    <a14:useLocalDpi xmlns:a14="http://schemas.microsoft.com/office/drawing/2010/main"/>
                  </a:ext>
                </a:extLst>
              </a:blip>
              <a:srcRect/>
              <a:stretch/>
            </p:blipFill>
            <p:spPr>
              <a:xfrm>
                <a:off x="7287842" y="3858179"/>
                <a:ext cx="295652" cy="300660"/>
              </a:xfrm>
              <a:prstGeom prst="rect">
                <a:avLst/>
              </a:prstGeom>
            </p:spPr>
          </p:pic>
        </p:grpSp>
      </p:grpSp>
      <p:sp>
        <p:nvSpPr>
          <p:cNvPr id="39" name="Title 1">
            <a:extLst>
              <a:ext uri="{FF2B5EF4-FFF2-40B4-BE49-F238E27FC236}">
                <a16:creationId xmlns:a16="http://schemas.microsoft.com/office/drawing/2014/main" id="{70481410-519F-3618-C311-948924932B4C}"/>
              </a:ext>
            </a:extLst>
          </p:cNvPr>
          <p:cNvSpPr txBox="1">
            <a:spLocks noGrp="1" noRot="1" noMove="1" noResize="1" noEditPoints="1" noAdjustHandles="1" noChangeArrowheads="1" noChangeShapeType="1"/>
          </p:cNvSpPr>
          <p:nvPr userDrawn="1"/>
        </p:nvSpPr>
        <p:spPr>
          <a:xfrm>
            <a:off x="977214" y="4544971"/>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Governance, Risk &amp; Compliance Advisory</a:t>
            </a:r>
          </a:p>
        </p:txBody>
      </p:sp>
      <p:sp>
        <p:nvSpPr>
          <p:cNvPr id="40" name="Title 1">
            <a:extLst>
              <a:ext uri="{FF2B5EF4-FFF2-40B4-BE49-F238E27FC236}">
                <a16:creationId xmlns:a16="http://schemas.microsoft.com/office/drawing/2014/main" id="{AD476ABA-F99F-0528-1504-6DF85EDD8A5F}"/>
              </a:ext>
            </a:extLst>
          </p:cNvPr>
          <p:cNvSpPr txBox="1">
            <a:spLocks noGrp="1" noRot="1" noMove="1" noResize="1" noEditPoints="1" noAdjustHandles="1" noChangeArrowheads="1" noChangeShapeType="1"/>
          </p:cNvSpPr>
          <p:nvPr userDrawn="1"/>
        </p:nvSpPr>
        <p:spPr>
          <a:xfrm>
            <a:off x="977213" y="5058859"/>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Corporate Growth &amp; Strategy Advisory</a:t>
            </a:r>
          </a:p>
        </p:txBody>
      </p:sp>
      <p:sp>
        <p:nvSpPr>
          <p:cNvPr id="41" name="Title 1">
            <a:extLst>
              <a:ext uri="{FF2B5EF4-FFF2-40B4-BE49-F238E27FC236}">
                <a16:creationId xmlns:a16="http://schemas.microsoft.com/office/drawing/2014/main" id="{961FA55F-7C04-E1E3-0DF3-566301091E9F}"/>
              </a:ext>
            </a:extLst>
          </p:cNvPr>
          <p:cNvSpPr txBox="1">
            <a:spLocks noGrp="1" noRot="1" noMove="1" noResize="1" noEditPoints="1" noAdjustHandles="1" noChangeArrowheads="1" noChangeShapeType="1"/>
          </p:cNvSpPr>
          <p:nvPr userDrawn="1"/>
        </p:nvSpPr>
        <p:spPr>
          <a:xfrm>
            <a:off x="977213" y="5578824"/>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Training &amp; Development Services</a:t>
            </a:r>
          </a:p>
        </p:txBody>
      </p:sp>
      <p:cxnSp>
        <p:nvCxnSpPr>
          <p:cNvPr id="42" name="Straight Connector 41">
            <a:extLst>
              <a:ext uri="{FF2B5EF4-FFF2-40B4-BE49-F238E27FC236}">
                <a16:creationId xmlns:a16="http://schemas.microsoft.com/office/drawing/2014/main" id="{8666CAFC-FEDF-008B-C79D-4BF4572FC442}"/>
              </a:ext>
            </a:extLst>
          </p:cNvPr>
          <p:cNvCxnSpPr>
            <a:cxnSpLocks noGrp="1" noRot="1" noMove="1" noResize="1" noEditPoints="1" noAdjustHandles="1" noChangeArrowheads="1" noChangeShapeType="1"/>
          </p:cNvCxnSpPr>
          <p:nvPr userDrawn="1"/>
        </p:nvCxnSpPr>
        <p:spPr>
          <a:xfrm>
            <a:off x="842433" y="4452154"/>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1AD910E2-B26F-869C-69AD-33355800AA21}"/>
              </a:ext>
            </a:extLst>
          </p:cNvPr>
          <p:cNvSpPr txBox="1">
            <a:spLocks noGrp="1" noRot="1" noMove="1" noResize="1" noEditPoints="1" noAdjustHandles="1" noChangeArrowheads="1" noChangeShapeType="1"/>
          </p:cNvSpPr>
          <p:nvPr userDrawn="1"/>
        </p:nvSpPr>
        <p:spPr>
          <a:xfrm>
            <a:off x="951502" y="4185132"/>
            <a:ext cx="7246186" cy="276999"/>
          </a:xfrm>
          <a:prstGeom prst="rect">
            <a:avLst/>
          </a:prstGeom>
          <a:noFill/>
        </p:spPr>
        <p:txBody>
          <a:bodyPr wrap="square">
            <a:spAutoFit/>
          </a:bodyPr>
          <a:lstStyle/>
          <a:p>
            <a:pPr algn="just"/>
            <a:r>
              <a:rPr lang="en-US" sz="1200" b="1" i="0" u="none" strike="noStrike" dirty="0">
                <a:solidFill>
                  <a:srgbClr val="7D4E1D"/>
                </a:solidFill>
                <a:effectLst/>
                <a:latin typeface="Aptos ExtraBold" panose="020B0004020202020204" pitchFamily="34" charset="0"/>
              </a:rPr>
              <a:t>Our Capability Pillars</a:t>
            </a:r>
          </a:p>
        </p:txBody>
      </p:sp>
      <p:sp>
        <p:nvSpPr>
          <p:cNvPr id="44" name="TextBox 43">
            <a:extLst>
              <a:ext uri="{FF2B5EF4-FFF2-40B4-BE49-F238E27FC236}">
                <a16:creationId xmlns:a16="http://schemas.microsoft.com/office/drawing/2014/main" id="{190F7862-1527-FC26-B5F3-9D2705C5973D}"/>
              </a:ext>
            </a:extLst>
          </p:cNvPr>
          <p:cNvSpPr txBox="1">
            <a:spLocks noGrp="1" noRot="1" noMove="1" noResize="1" noEditPoints="1" noAdjustHandles="1" noChangeArrowheads="1" noChangeShapeType="1"/>
          </p:cNvSpPr>
          <p:nvPr userDrawn="1"/>
        </p:nvSpPr>
        <p:spPr>
          <a:xfrm>
            <a:off x="2343659" y="5167805"/>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Business Strategy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Business Development &amp; targeted lobbying </a:t>
            </a:r>
          </a:p>
        </p:txBody>
      </p:sp>
      <p:sp>
        <p:nvSpPr>
          <p:cNvPr id="45" name="TextBox 44">
            <a:extLst>
              <a:ext uri="{FF2B5EF4-FFF2-40B4-BE49-F238E27FC236}">
                <a16:creationId xmlns:a16="http://schemas.microsoft.com/office/drawing/2014/main" id="{3D0E1F19-5979-3EF8-93E5-DE605B200438}"/>
              </a:ext>
            </a:extLst>
          </p:cNvPr>
          <p:cNvSpPr txBox="1">
            <a:spLocks/>
          </p:cNvSpPr>
          <p:nvPr userDrawn="1"/>
        </p:nvSpPr>
        <p:spPr>
          <a:xfrm>
            <a:off x="2343659" y="5593522"/>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Senior Executive Strategic  Alignment Workshops</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Continuous Learning</a:t>
            </a:r>
            <a:endParaRPr lang="en-AE" sz="700" b="1" i="0" dirty="0">
              <a:solidFill>
                <a:srgbClr val="0B2339"/>
              </a:solidFill>
              <a:latin typeface="Aptos SemiBold" panose="020B0004020202020204" pitchFamily="34" charset="0"/>
            </a:endParaRPr>
          </a:p>
        </p:txBody>
      </p:sp>
      <p:sp>
        <p:nvSpPr>
          <p:cNvPr id="46" name="TextBox 45">
            <a:extLst>
              <a:ext uri="{FF2B5EF4-FFF2-40B4-BE49-F238E27FC236}">
                <a16:creationId xmlns:a16="http://schemas.microsoft.com/office/drawing/2014/main" id="{53FFE4A2-0CC1-FCE6-3F81-D2056C8FA539}"/>
              </a:ext>
            </a:extLst>
          </p:cNvPr>
          <p:cNvSpPr txBox="1">
            <a:spLocks noGrp="1" noRot="1" noMove="1" noResize="1" noEditPoints="1" noAdjustHandles="1" noChangeArrowheads="1" noChangeShapeType="1"/>
          </p:cNvSpPr>
          <p:nvPr userDrawn="1"/>
        </p:nvSpPr>
        <p:spPr>
          <a:xfrm>
            <a:off x="3926081"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Blockchain Compliance</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AI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Regulatory Affairs &amp; Licensing</a:t>
            </a:r>
            <a:endParaRPr lang="en-AE" sz="700" b="1" i="0" dirty="0">
              <a:solidFill>
                <a:srgbClr val="0B2339"/>
              </a:solidFill>
              <a:latin typeface="Aptos SemiBold" panose="020B0004020202020204" pitchFamily="34" charset="0"/>
            </a:endParaRPr>
          </a:p>
        </p:txBody>
      </p:sp>
      <p:sp>
        <p:nvSpPr>
          <p:cNvPr id="47" name="TextBox 46">
            <a:extLst>
              <a:ext uri="{FF2B5EF4-FFF2-40B4-BE49-F238E27FC236}">
                <a16:creationId xmlns:a16="http://schemas.microsoft.com/office/drawing/2014/main" id="{8C60CDA4-2182-9556-2396-43DA621CEBF4}"/>
              </a:ext>
            </a:extLst>
          </p:cNvPr>
          <p:cNvSpPr txBox="1">
            <a:spLocks noGrp="1" noRot="1" noMove="1" noResize="1" noEditPoints="1" noAdjustHandles="1" noChangeArrowheads="1" noChangeShapeType="1"/>
          </p:cNvSpPr>
          <p:nvPr userDrawn="1"/>
        </p:nvSpPr>
        <p:spPr>
          <a:xfrm>
            <a:off x="3926080" y="5167805"/>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Mergers &amp; Acquisitions</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Private Equity – VC Advisory</a:t>
            </a:r>
            <a:endParaRPr lang="en-AE" sz="700" b="1" i="0" dirty="0">
              <a:solidFill>
                <a:srgbClr val="0B2339"/>
              </a:solidFill>
              <a:latin typeface="Aptos SemiBold" panose="020B0004020202020204" pitchFamily="34" charset="0"/>
            </a:endParaRPr>
          </a:p>
        </p:txBody>
      </p:sp>
      <p:sp>
        <p:nvSpPr>
          <p:cNvPr id="48" name="TextBox 47">
            <a:extLst>
              <a:ext uri="{FF2B5EF4-FFF2-40B4-BE49-F238E27FC236}">
                <a16:creationId xmlns:a16="http://schemas.microsoft.com/office/drawing/2014/main" id="{238CB73D-A595-456D-4923-86541EFBD511}"/>
              </a:ext>
            </a:extLst>
          </p:cNvPr>
          <p:cNvSpPr txBox="1">
            <a:spLocks/>
          </p:cNvSpPr>
          <p:nvPr userDrawn="1"/>
        </p:nvSpPr>
        <p:spPr>
          <a:xfrm>
            <a:off x="3926080" y="5601614"/>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Certifications &amp; Licenses</a:t>
            </a:r>
          </a:p>
          <a:p>
            <a:pPr marL="171450" indent="-171450" algn="l">
              <a:buFont typeface="Arial" panose="020B0604020202020204" pitchFamily="34" charset="0"/>
              <a:buChar char="•"/>
            </a:pPr>
            <a:endParaRPr lang="en-AE" sz="700" b="1" i="0" dirty="0">
              <a:solidFill>
                <a:srgbClr val="0B2339"/>
              </a:solidFill>
              <a:latin typeface="Aptos SemiBold" panose="020B0004020202020204" pitchFamily="34" charset="0"/>
            </a:endParaRPr>
          </a:p>
        </p:txBody>
      </p:sp>
      <p:sp>
        <p:nvSpPr>
          <p:cNvPr id="49" name="TextBox 48">
            <a:extLst>
              <a:ext uri="{FF2B5EF4-FFF2-40B4-BE49-F238E27FC236}">
                <a16:creationId xmlns:a16="http://schemas.microsoft.com/office/drawing/2014/main" id="{16C9244B-A74E-64F8-2047-8DFA6A0F16A3}"/>
              </a:ext>
            </a:extLst>
          </p:cNvPr>
          <p:cNvSpPr txBox="1">
            <a:spLocks noGrp="1" noRot="1" noMove="1" noResize="1" noEditPoints="1" noAdjustHandles="1" noChangeArrowheads="1" noChangeShapeType="1"/>
          </p:cNvSpPr>
          <p:nvPr userDrawn="1"/>
        </p:nvSpPr>
        <p:spPr>
          <a:xfrm>
            <a:off x="5674813"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AML &amp; Sanctions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ESG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Compliance as-a-Service (CaaS)</a:t>
            </a:r>
            <a:endParaRPr lang="en-AE" sz="700" b="1" i="0" dirty="0">
              <a:solidFill>
                <a:srgbClr val="0B2339"/>
              </a:solidFill>
              <a:latin typeface="Aptos SemiBold" panose="020B0004020202020204" pitchFamily="34" charset="0"/>
            </a:endParaRPr>
          </a:p>
        </p:txBody>
      </p:sp>
      <p:sp>
        <p:nvSpPr>
          <p:cNvPr id="50" name="TextBox 49">
            <a:extLst>
              <a:ext uri="{FF2B5EF4-FFF2-40B4-BE49-F238E27FC236}">
                <a16:creationId xmlns:a16="http://schemas.microsoft.com/office/drawing/2014/main" id="{E18CAB52-2032-0F6E-C709-4E6AACADD080}"/>
              </a:ext>
            </a:extLst>
          </p:cNvPr>
          <p:cNvSpPr txBox="1">
            <a:spLocks noGrp="1" noRot="1" noMove="1" noResize="1" noEditPoints="1" noAdjustHandles="1" noChangeArrowheads="1" noChangeShapeType="1"/>
          </p:cNvSpPr>
          <p:nvPr userDrawn="1"/>
        </p:nvSpPr>
        <p:spPr>
          <a:xfrm>
            <a:off x="5674812" y="5167805"/>
            <a:ext cx="1748732" cy="307777"/>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700" b="1" i="0" u="none" strike="noStrike" dirty="0">
                <a:solidFill>
                  <a:srgbClr val="0B2339"/>
                </a:solidFill>
                <a:effectLst/>
                <a:latin typeface="Aptos SemiBold" panose="020B0004020202020204" pitchFamily="34" charset="0"/>
              </a:rPr>
              <a:t>Startup Development</a:t>
            </a:r>
            <a:r>
              <a:rPr lang="en-AE" sz="700" b="1" i="0" u="none" strike="noStrike" dirty="0">
                <a:solidFill>
                  <a:srgbClr val="0B2339"/>
                </a:solidFill>
                <a:effectLst/>
                <a:latin typeface="Aptos SemiBold" panose="020B0004020202020204" pitchFamily="34" charset="0"/>
              </a:rPr>
              <a:t> Advisory</a:t>
            </a:r>
            <a:endParaRPr lang="en-US" sz="700" b="1" i="0" u="none" strike="noStrike" dirty="0">
              <a:solidFill>
                <a:srgbClr val="0B2339"/>
              </a:solidFill>
              <a:effectLst/>
              <a:latin typeface="Aptos SemiBold" panose="020B0004020202020204" pitchFamily="34" charset="0"/>
            </a:endParaRP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Fundraising Advisory </a:t>
            </a:r>
            <a:endParaRPr lang="en-AE" sz="700" b="1" i="0" dirty="0">
              <a:solidFill>
                <a:srgbClr val="0B2339"/>
              </a:solidFill>
              <a:latin typeface="Aptos SemiBold" panose="020B0004020202020204" pitchFamily="34" charset="0"/>
            </a:endParaRPr>
          </a:p>
        </p:txBody>
      </p:sp>
      <p:sp>
        <p:nvSpPr>
          <p:cNvPr id="51" name="TextBox 50">
            <a:extLst>
              <a:ext uri="{FF2B5EF4-FFF2-40B4-BE49-F238E27FC236}">
                <a16:creationId xmlns:a16="http://schemas.microsoft.com/office/drawing/2014/main" id="{3753DDA6-D882-73AC-D531-B7E084C48F7A}"/>
              </a:ext>
            </a:extLst>
          </p:cNvPr>
          <p:cNvSpPr txBox="1">
            <a:spLocks/>
          </p:cNvSpPr>
          <p:nvPr userDrawn="1"/>
        </p:nvSpPr>
        <p:spPr>
          <a:xfrm>
            <a:off x="5674812" y="5593522"/>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Board Guidance and direction</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Customized Employee Training</a:t>
            </a:r>
            <a:endParaRPr lang="en-AE" sz="700" b="1" i="0" dirty="0">
              <a:solidFill>
                <a:srgbClr val="0B2339"/>
              </a:solidFill>
              <a:latin typeface="Aptos SemiBold" panose="020B0004020202020204" pitchFamily="34" charset="0"/>
            </a:endParaRPr>
          </a:p>
        </p:txBody>
      </p:sp>
    </p:spTree>
    <p:extLst>
      <p:ext uri="{BB962C8B-B14F-4D97-AF65-F5344CB8AC3E}">
        <p14:creationId xmlns:p14="http://schemas.microsoft.com/office/powerpoint/2010/main" val="729286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4FBB8F99-871F-3A43-BB92-8679618DEB43}"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Regulatory &amp; Market Entry Services</a:t>
            </a:r>
          </a:p>
        </p:txBody>
      </p:sp>
      <p:pic>
        <p:nvPicPr>
          <p:cNvPr id="16" name="Picture 15" descr="Orange skies">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End-to-end support in acquiring financial, investment, and crypto licenses, ensuring businesses meet regulatory requirements.</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Licensing &amp; Regulatory Affairs</a:t>
              </a: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Helping companies enter new markets with regulatory, operational, and commercial strategies tailored to local and global compliance.</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Market Expansion &amp; Entry Strategy</a:t>
              </a: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Ensuring businesses stay ahead of evolving regulatory requirements, mitigating risks, and maintaining operational integrity.</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Regulatory Risk &amp; Compliance Advisory</a:t>
              </a:r>
            </a:p>
          </p:txBody>
        </p:sp>
      </p:grpSp>
    </p:spTree>
    <p:extLst>
      <p:ext uri="{BB962C8B-B14F-4D97-AF65-F5344CB8AC3E}">
        <p14:creationId xmlns:p14="http://schemas.microsoft.com/office/powerpoint/2010/main" val="25728184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337B26B-3337-1644-AFD8-8AA7ABA676A7}"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954107"/>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Governance, Risk &amp; Compliance (GRC) Services</a:t>
            </a:r>
          </a:p>
        </p:txBody>
      </p:sp>
      <p:pic>
        <p:nvPicPr>
          <p:cNvPr id="16" name="Picture 15">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Establishing strong governance frameworks that drive accountability, compliance, and long-term business sustainability.</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Corporate Governance &amp; Risk Management</a:t>
              </a: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Implementing anti-money laundering (AML) frameworks, sanctions compliance, and risk assessments to meet global regulatory standards.</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AML &amp; Sanctions Advisory</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04432"/>
              <a:ext cx="4089291" cy="646331"/>
            </a:xfrm>
            <a:prstGeom prst="rect">
              <a:avLst/>
            </a:prstGeom>
            <a:noFill/>
          </p:spPr>
          <p:txBody>
            <a:bodyPr wrap="square">
              <a:spAutoFit/>
            </a:bodyPr>
            <a:lstStyle/>
            <a:p>
              <a:pPr algn="just"/>
              <a:r>
                <a:rPr lang="en-US" sz="1200" b="0" i="0" u="none" strike="noStrike" dirty="0">
                  <a:solidFill>
                    <a:srgbClr val="0D2339"/>
                  </a:solidFill>
                  <a:effectLst/>
                </a:rPr>
                <a:t>Outsourced compliance solutions to streamline operations, reduce costs, and ensure businesses meet ongoing regulatory obligations.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Compliance-as-a-Service (CaaS)</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1478612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569BAFEF-4D20-0D4A-B8A7-FFC78EBAB936}"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Business Growth &amp; Strategic Advisory</a:t>
            </a:r>
          </a:p>
        </p:txBody>
      </p:sp>
      <p:pic>
        <p:nvPicPr>
          <p:cNvPr id="16" name="Picture 15">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Assisting companies in securing investment through structured capital-raising strategies, investor outreach, and financial modeling.</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Fundraising &amp; Investor Readiness</a:t>
              </a:r>
              <a:endParaRPr lang="en-US" sz="1400" b="1" i="0" u="none" strike="noStrike" dirty="0">
                <a:solidFill>
                  <a:schemeClr val="bg1"/>
                </a:solidFill>
                <a:effectLst/>
                <a:latin typeface="Aptos ExtraBold" panose="020B0004020202020204" pitchFamily="34" charset="0"/>
              </a:endParaRP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56512"/>
            <a:ext cx="6103171" cy="1015663"/>
            <a:chOff x="1202580" y="1635055"/>
            <a:chExt cx="6103171" cy="1015663"/>
          </a:xfrm>
        </p:grpSpPr>
        <p:sp>
          <p:nvSpPr>
            <p:cNvPr id="23" name="TextBox 22">
              <a:extLst>
                <a:ext uri="{FF2B5EF4-FFF2-40B4-BE49-F238E27FC236}">
                  <a16:creationId xmlns:a16="http://schemas.microsoft.com/office/drawing/2014/main" id="{11033E0E-049A-601C-854E-7E0D6A4FA94A}"/>
                </a:ext>
              </a:extLst>
            </p:cNvPr>
            <p:cNvSpPr txBox="1">
              <a:spLocks/>
            </p:cNvSpPr>
            <p:nvPr userDrawn="1"/>
          </p:nvSpPr>
          <p:spPr>
            <a:xfrm>
              <a:off x="3216460" y="1635055"/>
              <a:ext cx="4089291" cy="1015663"/>
            </a:xfrm>
            <a:prstGeom prst="rect">
              <a:avLst/>
            </a:prstGeom>
            <a:noFill/>
          </p:spPr>
          <p:txBody>
            <a:bodyPr wrap="square">
              <a:spAutoFit/>
            </a:bodyPr>
            <a:lstStyle/>
            <a:p>
              <a:pPr algn="just"/>
              <a:r>
                <a:rPr lang="en-US" sz="1200" b="0" i="0" u="none" strike="noStrike" dirty="0">
                  <a:solidFill>
                    <a:srgbClr val="0D2339"/>
                  </a:solidFill>
                  <a:effectLst/>
                </a:rPr>
                <a:t>We assess market viability, potential customer base, and competitive landscapes to develop customized expansion playbooks to ensure that expansion efforts are scalable, sustainable, and perfectly aligned with the overarching goals of your business.</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Business Strategy and Market Expansion</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p:cNvGrpSpPr>
          <p:nvPr userDrawn="1"/>
        </p:nvGrpSpPr>
        <p:grpSpPr>
          <a:xfrm>
            <a:off x="1202580" y="4635266"/>
            <a:ext cx="6104736" cy="1018694"/>
            <a:chOff x="1202580" y="1656655"/>
            <a:chExt cx="6104736" cy="1018694"/>
          </a:xfrm>
        </p:grpSpPr>
        <p:sp>
          <p:nvSpPr>
            <p:cNvPr id="26" name="TextBox 25">
              <a:extLst>
                <a:ext uri="{FF2B5EF4-FFF2-40B4-BE49-F238E27FC236}">
                  <a16:creationId xmlns:a16="http://schemas.microsoft.com/office/drawing/2014/main" id="{2146B07B-FFE5-0D70-C429-99784484C0FA}"/>
                </a:ext>
              </a:extLst>
            </p:cNvPr>
            <p:cNvSpPr txBox="1">
              <a:spLocks/>
            </p:cNvSpPr>
            <p:nvPr userDrawn="1"/>
          </p:nvSpPr>
          <p:spPr>
            <a:xfrm>
              <a:off x="3218025" y="1659686"/>
              <a:ext cx="4089291" cy="1015663"/>
            </a:xfrm>
            <a:prstGeom prst="rect">
              <a:avLst/>
            </a:prstGeom>
            <a:noFill/>
          </p:spPr>
          <p:txBody>
            <a:bodyPr wrap="square">
              <a:spAutoFit/>
            </a:bodyPr>
            <a:lstStyle/>
            <a:p>
              <a:pPr algn="just"/>
              <a:r>
                <a:rPr lang="en-US" sz="1200" b="0" i="0" u="none" strike="noStrike" dirty="0">
                  <a:solidFill>
                    <a:srgbClr val="0D2339"/>
                  </a:solidFill>
                  <a:effectLst/>
                </a:rPr>
                <a:t>We brings deep insights into negotiation tactics, strategic alignments, and acquisition strategies. We specialize in forging connections with key stakeholders and decision-makers, essential for facilitating partnerships that align with overarching business objectives.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Business Development and Dealmaking </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3741498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9909FB59-B6E3-274B-9BFF-FE4CD2811C57}"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Leadership &amp; Innovation Services</a:t>
            </a:r>
          </a:p>
        </p:txBody>
      </p:sp>
      <p:pic>
        <p:nvPicPr>
          <p:cNvPr id="16" name="Picture 15" descr="Person pointing at the stock market graph with virtual screen">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902091"/>
              <a:ext cx="4089291" cy="461665"/>
            </a:xfrm>
            <a:prstGeom prst="rect">
              <a:avLst/>
            </a:prstGeom>
            <a:noFill/>
          </p:spPr>
          <p:txBody>
            <a:bodyPr wrap="square">
              <a:spAutoFit/>
            </a:bodyPr>
            <a:lstStyle/>
            <a:p>
              <a:pPr algn="just"/>
              <a:r>
                <a:rPr lang="en-US" sz="1200" b="0" i="0" u="none" strike="noStrike" dirty="0">
                  <a:solidFill>
                    <a:srgbClr val="0D2339"/>
                  </a:solidFill>
                  <a:effectLst/>
                </a:rPr>
                <a:t>Strengthening leadership through governance training, compliance education, and board effectiveness programs.</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Executive Coaching &amp; Board Training</a:t>
              </a:r>
              <a:endParaRPr lang="en-US" sz="1400" b="1" i="0" u="none" strike="noStrike" dirty="0">
                <a:solidFill>
                  <a:schemeClr val="bg1"/>
                </a:solidFill>
                <a:effectLst/>
                <a:latin typeface="Aptos ExtraBold" panose="020B0004020202020204" pitchFamily="34" charset="0"/>
              </a:endParaRP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Helping businesses adopt emerging technologies while ensuring regulatory compliance in AI, blockchain, and Web3.</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Digital Transformation &amp; AI Compliance</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04432"/>
              <a:ext cx="4089291" cy="646331"/>
            </a:xfrm>
            <a:prstGeom prst="rect">
              <a:avLst/>
            </a:prstGeom>
            <a:noFill/>
          </p:spPr>
          <p:txBody>
            <a:bodyPr wrap="square">
              <a:spAutoFit/>
            </a:bodyPr>
            <a:lstStyle/>
            <a:p>
              <a:pPr algn="just"/>
              <a:r>
                <a:rPr lang="en-US" sz="1200" b="0" i="0" u="none" strike="noStrike" dirty="0">
                  <a:solidFill>
                    <a:srgbClr val="0D2339"/>
                  </a:solidFill>
                  <a:effectLst/>
                </a:rPr>
                <a:t>Developing and implementing environmental, social, and governance (ESG) strategies that align with corporate and regulatory requirements.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ESG &amp; Sustainability Advisory</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41240176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p:cNvSpPr>
          <p:nvPr userDrawn="1"/>
        </p:nvSpPr>
        <p:spPr>
          <a:xfrm>
            <a:off x="8161623"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107B9A59-7617-BE44-ACAB-9D6207951C13}"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9A30B434-D381-FDB9-A489-ACE661F181BD}"/>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Our understanding &amp; Point of View</a:t>
            </a:r>
            <a:endParaRPr lang="en-AE" dirty="0"/>
          </a:p>
        </p:txBody>
      </p:sp>
      <p:sp>
        <p:nvSpPr>
          <p:cNvPr id="11" name="TextBox 10">
            <a:extLst>
              <a:ext uri="{FF2B5EF4-FFF2-40B4-BE49-F238E27FC236}">
                <a16:creationId xmlns:a16="http://schemas.microsoft.com/office/drawing/2014/main" id="{2BA6B839-AD10-1512-07D7-8A734D759144}"/>
              </a:ext>
            </a:extLst>
          </p:cNvPr>
          <p:cNvSpPr txBox="1">
            <a:spLocks noGrp="1" noRot="1" noMove="1" noResize="1" noEditPoints="1" noAdjustHandles="1" noChangeArrowheads="1" noChangeShapeType="1"/>
          </p:cNvSpPr>
          <p:nvPr userDrawn="1"/>
        </p:nvSpPr>
        <p:spPr>
          <a:xfrm>
            <a:off x="900602" y="1305404"/>
            <a:ext cx="350543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Current Situation</a:t>
            </a:r>
          </a:p>
        </p:txBody>
      </p:sp>
      <p:sp>
        <p:nvSpPr>
          <p:cNvPr id="13" name="TextBox 12">
            <a:extLst>
              <a:ext uri="{FF2B5EF4-FFF2-40B4-BE49-F238E27FC236}">
                <a16:creationId xmlns:a16="http://schemas.microsoft.com/office/drawing/2014/main" id="{66953E5B-3CEC-9801-8111-3E6A768D4E50}"/>
              </a:ext>
            </a:extLst>
          </p:cNvPr>
          <p:cNvSpPr txBox="1">
            <a:spLocks noGrp="1" noRot="1" noMove="1" noResize="1" noEditPoints="1" noAdjustHandles="1" noChangeArrowheads="1" noChangeShapeType="1"/>
          </p:cNvSpPr>
          <p:nvPr userDrawn="1"/>
        </p:nvSpPr>
        <p:spPr>
          <a:xfrm>
            <a:off x="4516545" y="1302736"/>
            <a:ext cx="350543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Key Challenges</a:t>
            </a:r>
          </a:p>
        </p:txBody>
      </p:sp>
      <p:sp>
        <p:nvSpPr>
          <p:cNvPr id="16" name="TextBox 15">
            <a:extLst>
              <a:ext uri="{FF2B5EF4-FFF2-40B4-BE49-F238E27FC236}">
                <a16:creationId xmlns:a16="http://schemas.microsoft.com/office/drawing/2014/main" id="{13158977-2603-BB94-E63A-2EC4B8DB31A5}"/>
              </a:ext>
            </a:extLst>
          </p:cNvPr>
          <p:cNvSpPr txBox="1">
            <a:spLocks noGrp="1" noRot="1" noMove="1" noResize="1" noEditPoints="1" noAdjustHandles="1" noChangeArrowheads="1" noChangeShapeType="1"/>
          </p:cNvSpPr>
          <p:nvPr userDrawn="1"/>
        </p:nvSpPr>
        <p:spPr>
          <a:xfrm>
            <a:off x="8257297" y="1309784"/>
            <a:ext cx="2668910" cy="338554"/>
          </a:xfrm>
          <a:prstGeom prst="rect">
            <a:avLst/>
          </a:prstGeom>
          <a:noFill/>
        </p:spPr>
        <p:txBody>
          <a:bodyPr wrap="square">
            <a:spAutoFit/>
          </a:bodyPr>
          <a:lstStyle/>
          <a:p>
            <a:pPr algn="just"/>
            <a:r>
              <a:rPr lang="en-US" sz="1600" b="1" i="0" u="none" strike="noStrike" dirty="0">
                <a:solidFill>
                  <a:schemeClr val="bg1"/>
                </a:solidFill>
                <a:effectLst/>
                <a:latin typeface="Aptos ExtraBold" panose="020B0004020202020204" pitchFamily="34" charset="0"/>
              </a:rPr>
              <a:t>Outcomes Required</a:t>
            </a:r>
          </a:p>
        </p:txBody>
      </p:sp>
      <p:sp>
        <p:nvSpPr>
          <p:cNvPr id="25" name="Content Placeholder 5">
            <a:extLst>
              <a:ext uri="{FF2B5EF4-FFF2-40B4-BE49-F238E27FC236}">
                <a16:creationId xmlns:a16="http://schemas.microsoft.com/office/drawing/2014/main" id="{4D13BA1F-2BAE-3E55-F8CC-2F36526D1790}"/>
              </a:ext>
            </a:extLst>
          </p:cNvPr>
          <p:cNvSpPr>
            <a:spLocks noGrp="1"/>
          </p:cNvSpPr>
          <p:nvPr>
            <p:ph sz="quarter" idx="13"/>
          </p:nvPr>
        </p:nvSpPr>
        <p:spPr>
          <a:xfrm>
            <a:off x="8401152" y="1731681"/>
            <a:ext cx="2668910" cy="4423542"/>
          </a:xfrm>
        </p:spPr>
        <p:txBody>
          <a:bodyPr anchor="t">
            <a:normAutofit/>
          </a:bodyPr>
          <a:lstStyle>
            <a:lvl1pPr marL="0" indent="0" algn="just">
              <a:buNone/>
              <a:defRPr sz="900">
                <a:solidFill>
                  <a:schemeClr val="bg1"/>
                </a:solidFill>
              </a:defRPr>
            </a:lvl1pPr>
            <a:lvl2pPr marL="457200" indent="0" algn="just">
              <a:buNone/>
              <a:defRPr sz="900">
                <a:solidFill>
                  <a:schemeClr val="bg1"/>
                </a:solidFill>
              </a:defRPr>
            </a:lvl2pPr>
            <a:lvl3pPr marL="914400" indent="0" algn="just">
              <a:buNone/>
              <a:defRPr sz="900">
                <a:solidFill>
                  <a:schemeClr val="bg1"/>
                </a:solidFill>
              </a:defRPr>
            </a:lvl3pPr>
            <a:lvl4pPr algn="just">
              <a:defRPr sz="900">
                <a:solidFill>
                  <a:schemeClr val="bg1"/>
                </a:solidFill>
              </a:defRPr>
            </a:lvl4pPr>
            <a:lvl5pPr algn="just">
              <a:defRPr sz="900">
                <a:solidFill>
                  <a:schemeClr val="bg1"/>
                </a:solidFill>
              </a:defRPr>
            </a:lvl5pPr>
          </a:lstStyle>
          <a:p>
            <a:pPr lvl="0"/>
            <a:r>
              <a:rPr lang="en-US" dirty="0"/>
              <a:t>Click to edit Master text styles</a:t>
            </a:r>
          </a:p>
        </p:txBody>
      </p:sp>
    </p:spTree>
    <p:extLst>
      <p:ext uri="{BB962C8B-B14F-4D97-AF65-F5344CB8AC3E}">
        <p14:creationId xmlns:p14="http://schemas.microsoft.com/office/powerpoint/2010/main" val="10180874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29FCB497-7689-AC41-A08D-4D380992045E}"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Title 1">
            <a:extLst>
              <a:ext uri="{FF2B5EF4-FFF2-40B4-BE49-F238E27FC236}">
                <a16:creationId xmlns:a16="http://schemas.microsoft.com/office/drawing/2014/main" id="{BE6B8B1D-75D3-ED1F-3803-AA01D7297851}"/>
              </a:ext>
            </a:extLst>
          </p:cNvPr>
          <p:cNvSpPr>
            <a:spLocks noGrp="1" noRot="1" noMove="1" noResize="1" noEditPoints="1" noAdjustHandles="1" noChangeArrowheads="1" noChangeShapeType="1"/>
          </p:cNvSpPr>
          <p:nvPr>
            <p:ph type="title" hasCustomPrompt="1"/>
          </p:nvPr>
        </p:nvSpPr>
        <p:spPr>
          <a:xfrm>
            <a:off x="839788" y="365126"/>
            <a:ext cx="10506636"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13" name="Content Placeholder 3">
            <a:extLst>
              <a:ext uri="{FF2B5EF4-FFF2-40B4-BE49-F238E27FC236}">
                <a16:creationId xmlns:a16="http://schemas.microsoft.com/office/drawing/2014/main" id="{9797DC0D-3472-FD3C-79F0-593DF3C17365}"/>
              </a:ext>
            </a:extLst>
          </p:cNvPr>
          <p:cNvSpPr>
            <a:spLocks noGrp="1" noRot="1" noMove="1" noResize="1" noEditPoints="1" noAdjustHandles="1" noChangeArrowheads="1" noChangeShapeType="1"/>
          </p:cNvSpPr>
          <p:nvPr>
            <p:ph sz="half" idx="2"/>
          </p:nvPr>
        </p:nvSpPr>
        <p:spPr>
          <a:xfrm>
            <a:off x="2245862" y="1314933"/>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5" name="Content Placeholder 3">
            <a:extLst>
              <a:ext uri="{FF2B5EF4-FFF2-40B4-BE49-F238E27FC236}">
                <a16:creationId xmlns:a16="http://schemas.microsoft.com/office/drawing/2014/main" id="{EC2FD9A4-480B-AB0D-75A3-7FB333C41A48}"/>
              </a:ext>
            </a:extLst>
          </p:cNvPr>
          <p:cNvSpPr>
            <a:spLocks noGrp="1" noRot="1" noMove="1" noResize="1" noEditPoints="1" noAdjustHandles="1" noChangeArrowheads="1" noChangeShapeType="1"/>
          </p:cNvSpPr>
          <p:nvPr>
            <p:ph sz="half" idx="16"/>
          </p:nvPr>
        </p:nvSpPr>
        <p:spPr>
          <a:xfrm>
            <a:off x="841888" y="1318098"/>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4" name="Content Placeholder 3">
            <a:extLst>
              <a:ext uri="{FF2B5EF4-FFF2-40B4-BE49-F238E27FC236}">
                <a16:creationId xmlns:a16="http://schemas.microsoft.com/office/drawing/2014/main" id="{082306F3-2E64-0DAC-C240-6BDE921727ED}"/>
              </a:ext>
            </a:extLst>
          </p:cNvPr>
          <p:cNvSpPr>
            <a:spLocks noGrp="1" noRot="1" noMove="1" noResize="1" noEditPoints="1" noAdjustHandles="1" noChangeArrowheads="1" noChangeShapeType="1"/>
          </p:cNvSpPr>
          <p:nvPr>
            <p:ph sz="half" idx="17"/>
          </p:nvPr>
        </p:nvSpPr>
        <p:spPr>
          <a:xfrm>
            <a:off x="2242174" y="2521485"/>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7" name="Content Placeholder 3">
            <a:extLst>
              <a:ext uri="{FF2B5EF4-FFF2-40B4-BE49-F238E27FC236}">
                <a16:creationId xmlns:a16="http://schemas.microsoft.com/office/drawing/2014/main" id="{F28A40D3-4F78-F96D-4550-45563A648160}"/>
              </a:ext>
            </a:extLst>
          </p:cNvPr>
          <p:cNvSpPr>
            <a:spLocks noGrp="1" noRot="1" noMove="1" noResize="1" noEditPoints="1" noAdjustHandles="1" noChangeArrowheads="1" noChangeShapeType="1"/>
          </p:cNvSpPr>
          <p:nvPr>
            <p:ph sz="half" idx="18"/>
          </p:nvPr>
        </p:nvSpPr>
        <p:spPr>
          <a:xfrm>
            <a:off x="838200" y="2524650"/>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8" name="Content Placeholder 3">
            <a:extLst>
              <a:ext uri="{FF2B5EF4-FFF2-40B4-BE49-F238E27FC236}">
                <a16:creationId xmlns:a16="http://schemas.microsoft.com/office/drawing/2014/main" id="{57F674E6-5CEB-E440-EC2F-D931C9A74B40}"/>
              </a:ext>
            </a:extLst>
          </p:cNvPr>
          <p:cNvSpPr>
            <a:spLocks noGrp="1" noRot="1" noMove="1" noResize="1" noEditPoints="1" noAdjustHandles="1" noChangeArrowheads="1" noChangeShapeType="1"/>
          </p:cNvSpPr>
          <p:nvPr>
            <p:ph sz="half" idx="19"/>
          </p:nvPr>
        </p:nvSpPr>
        <p:spPr>
          <a:xfrm>
            <a:off x="2245862" y="3719778"/>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9" name="Content Placeholder 3">
            <a:extLst>
              <a:ext uri="{FF2B5EF4-FFF2-40B4-BE49-F238E27FC236}">
                <a16:creationId xmlns:a16="http://schemas.microsoft.com/office/drawing/2014/main" id="{573C10D7-03BF-1B66-0D37-B2655DCC924D}"/>
              </a:ext>
            </a:extLst>
          </p:cNvPr>
          <p:cNvSpPr>
            <a:spLocks noGrp="1" noRot="1" noMove="1" noResize="1" noEditPoints="1" noAdjustHandles="1" noChangeArrowheads="1" noChangeShapeType="1"/>
          </p:cNvSpPr>
          <p:nvPr>
            <p:ph sz="half" idx="20"/>
          </p:nvPr>
        </p:nvSpPr>
        <p:spPr>
          <a:xfrm>
            <a:off x="841888" y="3722943"/>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20" name="Content Placeholder 3">
            <a:extLst>
              <a:ext uri="{FF2B5EF4-FFF2-40B4-BE49-F238E27FC236}">
                <a16:creationId xmlns:a16="http://schemas.microsoft.com/office/drawing/2014/main" id="{8CCA28C2-0709-3B37-D743-E8E86AF0D049}"/>
              </a:ext>
            </a:extLst>
          </p:cNvPr>
          <p:cNvSpPr>
            <a:spLocks noGrp="1" noRot="1" noMove="1" noResize="1" noEditPoints="1" noAdjustHandles="1" noChangeArrowheads="1" noChangeShapeType="1"/>
          </p:cNvSpPr>
          <p:nvPr>
            <p:ph sz="half" idx="21"/>
          </p:nvPr>
        </p:nvSpPr>
        <p:spPr>
          <a:xfrm>
            <a:off x="2249550" y="4938339"/>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1" name="Content Placeholder 3">
            <a:extLst>
              <a:ext uri="{FF2B5EF4-FFF2-40B4-BE49-F238E27FC236}">
                <a16:creationId xmlns:a16="http://schemas.microsoft.com/office/drawing/2014/main" id="{BD17EE86-B0AE-F626-C19E-932347BF0E68}"/>
              </a:ext>
            </a:extLst>
          </p:cNvPr>
          <p:cNvSpPr>
            <a:spLocks noGrp="1" noRot="1" noMove="1" noResize="1" noEditPoints="1" noAdjustHandles="1" noChangeArrowheads="1" noChangeShapeType="1"/>
          </p:cNvSpPr>
          <p:nvPr>
            <p:ph sz="half" idx="22"/>
          </p:nvPr>
        </p:nvSpPr>
        <p:spPr>
          <a:xfrm>
            <a:off x="845576" y="4941504"/>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2758779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667894"/>
            <a:ext cx="7243012" cy="450906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475C9A68-7CF7-3F41-9DDA-510B87D5F9C1}"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endParaRPr lang="en-AE" dirty="0"/>
          </a:p>
        </p:txBody>
      </p:sp>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 name="Picture 1" descr="Black puzzle pieces">
            <a:extLst>
              <a:ext uri="{FF2B5EF4-FFF2-40B4-BE49-F238E27FC236}">
                <a16:creationId xmlns:a16="http://schemas.microsoft.com/office/drawing/2014/main" id="{8F735948-EBB0-9020-C40D-C510CD33D8C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flipH="1">
            <a:off x="8363060" y="498764"/>
            <a:ext cx="2847246" cy="5602144"/>
          </a:xfrm>
          <a:prstGeom prst="rect">
            <a:avLst/>
          </a:prstGeom>
        </p:spPr>
      </p:pic>
      <p:sp>
        <p:nvSpPr>
          <p:cNvPr id="4" name="Text Placeholder 2">
            <a:extLst>
              <a:ext uri="{FF2B5EF4-FFF2-40B4-BE49-F238E27FC236}">
                <a16:creationId xmlns:a16="http://schemas.microsoft.com/office/drawing/2014/main" id="{2C004C32-8033-D917-493E-7D43F178C1CA}"/>
              </a:ext>
            </a:extLst>
          </p:cNvPr>
          <p:cNvSpPr>
            <a:spLocks noGrp="1" noRot="1" noMove="1" noResize="1" noEditPoints="1" noAdjustHandles="1" noChangeArrowheads="1" noChangeShapeType="1"/>
          </p:cNvSpPr>
          <p:nvPr>
            <p:ph type="body" idx="13"/>
          </p:nvPr>
        </p:nvSpPr>
        <p:spPr>
          <a:xfrm>
            <a:off x="839787" y="1270197"/>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2679595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667894"/>
            <a:ext cx="7243012" cy="20231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F6F2DD7B-5336-EE43-8415-E88E844A49BB}"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endParaRPr lang="en-AE" dirty="0"/>
          </a:p>
        </p:txBody>
      </p:sp>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 name="Picture 1" descr="Black puzzle pieces">
            <a:extLst>
              <a:ext uri="{FF2B5EF4-FFF2-40B4-BE49-F238E27FC236}">
                <a16:creationId xmlns:a16="http://schemas.microsoft.com/office/drawing/2014/main" id="{8F735948-EBB0-9020-C40D-C510CD33D8C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flipH="1">
            <a:off x="8363060" y="498764"/>
            <a:ext cx="2847246" cy="5602144"/>
          </a:xfrm>
          <a:prstGeom prst="rect">
            <a:avLst/>
          </a:prstGeom>
        </p:spPr>
      </p:pic>
      <p:sp>
        <p:nvSpPr>
          <p:cNvPr id="4" name="Text Placeholder 2">
            <a:extLst>
              <a:ext uri="{FF2B5EF4-FFF2-40B4-BE49-F238E27FC236}">
                <a16:creationId xmlns:a16="http://schemas.microsoft.com/office/drawing/2014/main" id="{2C004C32-8033-D917-493E-7D43F178C1CA}"/>
              </a:ext>
            </a:extLst>
          </p:cNvPr>
          <p:cNvSpPr>
            <a:spLocks noGrp="1" noRot="1" noMove="1" noResize="1" noEditPoints="1" noAdjustHandles="1" noChangeArrowheads="1" noChangeShapeType="1"/>
          </p:cNvSpPr>
          <p:nvPr>
            <p:ph type="body" idx="13"/>
          </p:nvPr>
        </p:nvSpPr>
        <p:spPr>
          <a:xfrm>
            <a:off x="839787" y="1270197"/>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Content Placeholder 2">
            <a:extLst>
              <a:ext uri="{FF2B5EF4-FFF2-40B4-BE49-F238E27FC236}">
                <a16:creationId xmlns:a16="http://schemas.microsoft.com/office/drawing/2014/main" id="{370C6ECA-605D-3CD6-D729-E73E363E900B}"/>
              </a:ext>
            </a:extLst>
          </p:cNvPr>
          <p:cNvSpPr>
            <a:spLocks noGrp="1" noRot="1" noMove="1" noResize="1" noEditPoints="1" noAdjustHandles="1" noChangeArrowheads="1" noChangeShapeType="1"/>
          </p:cNvSpPr>
          <p:nvPr>
            <p:ph idx="14" hasCustomPrompt="1"/>
          </p:nvPr>
        </p:nvSpPr>
        <p:spPr>
          <a:xfrm>
            <a:off x="836614" y="4168025"/>
            <a:ext cx="7243012" cy="20231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0" name="Text Placeholder 2">
            <a:extLst>
              <a:ext uri="{FF2B5EF4-FFF2-40B4-BE49-F238E27FC236}">
                <a16:creationId xmlns:a16="http://schemas.microsoft.com/office/drawing/2014/main" id="{FA57057A-2A47-4200-9340-46BB26E64C88}"/>
              </a:ext>
            </a:extLst>
          </p:cNvPr>
          <p:cNvSpPr>
            <a:spLocks noGrp="1" noRot="1" noMove="1" noResize="1" noEditPoints="1" noAdjustHandles="1" noChangeArrowheads="1" noChangeShapeType="1"/>
          </p:cNvSpPr>
          <p:nvPr>
            <p:ph type="body" idx="15"/>
          </p:nvPr>
        </p:nvSpPr>
        <p:spPr>
          <a:xfrm>
            <a:off x="838201" y="3770328"/>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3387542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7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7B9EC6-85CB-8CBB-27C0-E33D824F3C2B}"/>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1450531-BE92-AA42-B97F-5C2B5010D981}"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Title 1">
            <a:extLst>
              <a:ext uri="{FF2B5EF4-FFF2-40B4-BE49-F238E27FC236}">
                <a16:creationId xmlns:a16="http://schemas.microsoft.com/office/drawing/2014/main" id="{19D7D4C2-2976-36E4-58D8-A3C2FF69441A}"/>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endParaRPr lang="en-CY" sz="3600" dirty="0">
              <a:solidFill>
                <a:schemeClr val="bg1"/>
              </a:solidFill>
            </a:endParaRPr>
          </a:p>
          <a:p>
            <a:pPr algn="ctr"/>
            <a:r>
              <a:rPr lang="en-US" sz="3600" dirty="0">
                <a:solidFill>
                  <a:schemeClr val="bg1"/>
                </a:solidFill>
              </a:rPr>
              <a:t>Your Project</a:t>
            </a:r>
          </a:p>
          <a:p>
            <a:pPr algn="ctr"/>
            <a:endParaRPr lang="en-CY" sz="2800" dirty="0">
              <a:solidFill>
                <a:schemeClr val="bg1"/>
              </a:solidFill>
            </a:endParaRPr>
          </a:p>
        </p:txBody>
      </p:sp>
    </p:spTree>
    <p:extLst>
      <p:ext uri="{BB962C8B-B14F-4D97-AF65-F5344CB8AC3E}">
        <p14:creationId xmlns:p14="http://schemas.microsoft.com/office/powerpoint/2010/main" val="36218664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0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7B9EC6-85CB-8CBB-27C0-E33D824F3C2B}"/>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1450531-BE92-AA42-B97F-5C2B5010D981}"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Title 1">
            <a:extLst>
              <a:ext uri="{FF2B5EF4-FFF2-40B4-BE49-F238E27FC236}">
                <a16:creationId xmlns:a16="http://schemas.microsoft.com/office/drawing/2014/main" id="{19D7D4C2-2976-36E4-58D8-A3C2FF69441A}"/>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endParaRPr lang="en-CY" sz="3600" dirty="0">
              <a:solidFill>
                <a:schemeClr val="bg1"/>
              </a:solidFill>
            </a:endParaRPr>
          </a:p>
          <a:p>
            <a:pPr algn="ctr"/>
            <a:r>
              <a:rPr lang="en-US" sz="3600" dirty="0">
                <a:solidFill>
                  <a:schemeClr val="bg1"/>
                </a:solidFill>
              </a:rPr>
              <a:t>Our Services</a:t>
            </a:r>
          </a:p>
          <a:p>
            <a:pPr algn="ctr"/>
            <a:endParaRPr lang="en-CY" sz="2800" dirty="0">
              <a:solidFill>
                <a:schemeClr val="bg1"/>
              </a:solidFill>
            </a:endParaRPr>
          </a:p>
        </p:txBody>
      </p:sp>
    </p:spTree>
    <p:extLst>
      <p:ext uri="{BB962C8B-B14F-4D97-AF65-F5344CB8AC3E}">
        <p14:creationId xmlns:p14="http://schemas.microsoft.com/office/powerpoint/2010/main" val="36972078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270196"/>
            <a:ext cx="7243012"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152533D1-B8A3-9647-AF6B-1E156F3ECC60}"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6" name="Rectangle 5">
            <a:extLst>
              <a:ext uri="{FF2B5EF4-FFF2-40B4-BE49-F238E27FC236}">
                <a16:creationId xmlns:a16="http://schemas.microsoft.com/office/drawing/2014/main" id="{D7B7134D-BF2A-1D45-242A-B535CF916725}"/>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9" name="Content Placeholder 5">
            <a:extLst>
              <a:ext uri="{FF2B5EF4-FFF2-40B4-BE49-F238E27FC236}">
                <a16:creationId xmlns:a16="http://schemas.microsoft.com/office/drawing/2014/main" id="{C481BFDF-A66E-67C3-410A-DD25EF257961}"/>
              </a:ext>
            </a:extLst>
          </p:cNvPr>
          <p:cNvSpPr>
            <a:spLocks noGrp="1" noRot="1" noMove="1" noResize="1" noEditPoints="1" noAdjustHandles="1" noChangeArrowheads="1" noChangeShapeType="1"/>
          </p:cNvSpPr>
          <p:nvPr>
            <p:ph sz="quarter" idx="13"/>
          </p:nvPr>
        </p:nvSpPr>
        <p:spPr>
          <a:xfrm>
            <a:off x="8210780" y="1766122"/>
            <a:ext cx="2668910" cy="4423541"/>
          </a:xfrm>
        </p:spPr>
        <p:txBody>
          <a:bodyPr anchor="t">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TextBox 1">
            <a:extLst>
              <a:ext uri="{FF2B5EF4-FFF2-40B4-BE49-F238E27FC236}">
                <a16:creationId xmlns:a16="http://schemas.microsoft.com/office/drawing/2014/main" id="{F55DA05D-D465-9429-E2D5-9F4693C3B407}"/>
              </a:ext>
            </a:extLst>
          </p:cNvPr>
          <p:cNvSpPr txBox="1">
            <a:spLocks noGrp="1" noRot="1" noMove="1" noResize="1" noEditPoints="1" noAdjustHandles="1" noChangeArrowheads="1" noChangeShapeType="1"/>
          </p:cNvSpPr>
          <p:nvPr userDrawn="1"/>
        </p:nvSpPr>
        <p:spPr>
          <a:xfrm>
            <a:off x="8257297" y="1309784"/>
            <a:ext cx="2668910" cy="338554"/>
          </a:xfrm>
          <a:prstGeom prst="rect">
            <a:avLst/>
          </a:prstGeom>
          <a:noFill/>
        </p:spPr>
        <p:txBody>
          <a:bodyPr wrap="square">
            <a:spAutoFit/>
          </a:bodyPr>
          <a:lstStyle/>
          <a:p>
            <a:pPr algn="just"/>
            <a:r>
              <a:rPr lang="en-US" sz="1600" b="1" i="0" u="none" strike="noStrike" dirty="0">
                <a:solidFill>
                  <a:schemeClr val="bg1"/>
                </a:solidFill>
                <a:effectLst/>
                <a:latin typeface="Aptos ExtraBold" panose="020B0004020202020204" pitchFamily="34" charset="0"/>
              </a:rPr>
              <a:t>Pnyx Hill Deliverable</a:t>
            </a:r>
          </a:p>
        </p:txBody>
      </p:sp>
    </p:spTree>
    <p:extLst>
      <p:ext uri="{BB962C8B-B14F-4D97-AF65-F5344CB8AC3E}">
        <p14:creationId xmlns:p14="http://schemas.microsoft.com/office/powerpoint/2010/main" val="13124732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p:cNvSpPr>
          <p:nvPr userDrawn="1"/>
        </p:nvSpPr>
        <p:spPr>
          <a:xfrm>
            <a:off x="836612" y="1270196"/>
            <a:ext cx="3555129"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52B49A12-4D4D-6444-9A26-C83905C0B53D}"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cxnSp>
        <p:nvCxnSpPr>
          <p:cNvPr id="10" name="Straight Connector 9">
            <a:extLst>
              <a:ext uri="{FF2B5EF4-FFF2-40B4-BE49-F238E27FC236}">
                <a16:creationId xmlns:a16="http://schemas.microsoft.com/office/drawing/2014/main" id="{AC33AA1F-000E-AFC0-B6D5-9731BB0695B7}"/>
              </a:ext>
            </a:extLst>
          </p:cNvPr>
          <p:cNvCxnSpPr>
            <a:cxnSpLocks/>
          </p:cNvCxnSpPr>
          <p:nvPr userDrawn="1"/>
        </p:nvCxnSpPr>
        <p:spPr>
          <a:xfrm>
            <a:off x="836612" y="1684963"/>
            <a:ext cx="3551954"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0" name="Title 1">
            <a:extLst>
              <a:ext uri="{FF2B5EF4-FFF2-40B4-BE49-F238E27FC236}">
                <a16:creationId xmlns:a16="http://schemas.microsoft.com/office/drawing/2014/main" id="{4D63ED73-538B-2E5D-B6AB-7E2DD7B22697}"/>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Service Deliverables</a:t>
            </a:r>
            <a:endParaRPr lang="en-AE" dirty="0"/>
          </a:p>
        </p:txBody>
      </p:sp>
      <p:pic>
        <p:nvPicPr>
          <p:cNvPr id="31" name="Picture 30" descr="Person standing on arrow">
            <a:extLst>
              <a:ext uri="{FF2B5EF4-FFF2-40B4-BE49-F238E27FC236}">
                <a16:creationId xmlns:a16="http://schemas.microsoft.com/office/drawing/2014/main" id="{A687B6B3-AC03-5ABD-577C-7C24667FF49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t="-335"/>
          <a:stretch/>
        </p:blipFill>
        <p:spPr>
          <a:xfrm flipH="1">
            <a:off x="8363060" y="498764"/>
            <a:ext cx="2847246" cy="5602144"/>
          </a:xfrm>
          <a:prstGeom prst="rect">
            <a:avLst/>
          </a:prstGeom>
        </p:spPr>
      </p:pic>
      <p:sp>
        <p:nvSpPr>
          <p:cNvPr id="5" name="Rectangle 4">
            <a:extLst>
              <a:ext uri="{FF2B5EF4-FFF2-40B4-BE49-F238E27FC236}">
                <a16:creationId xmlns:a16="http://schemas.microsoft.com/office/drawing/2014/main" id="{BF0F64AC-AD66-6EB6-042F-DA8645CD41E2}"/>
              </a:ext>
            </a:extLst>
          </p:cNvPr>
          <p:cNvSpPr>
            <a:spLocks/>
          </p:cNvSpPr>
          <p:nvPr userDrawn="1"/>
        </p:nvSpPr>
        <p:spPr>
          <a:xfrm>
            <a:off x="4565194" y="1270196"/>
            <a:ext cx="3555129"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 Placeholder 2">
            <a:extLst>
              <a:ext uri="{FF2B5EF4-FFF2-40B4-BE49-F238E27FC236}">
                <a16:creationId xmlns:a16="http://schemas.microsoft.com/office/drawing/2014/main" id="{8C6B9B1B-3508-9EFB-6E7B-0197ABF51F0F}"/>
              </a:ext>
            </a:extLst>
          </p:cNvPr>
          <p:cNvSpPr>
            <a:spLocks noGrp="1"/>
          </p:cNvSpPr>
          <p:nvPr>
            <p:ph type="body" idx="13"/>
          </p:nvPr>
        </p:nvSpPr>
        <p:spPr>
          <a:xfrm>
            <a:off x="4568369"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Content Placeholder 3">
            <a:extLst>
              <a:ext uri="{FF2B5EF4-FFF2-40B4-BE49-F238E27FC236}">
                <a16:creationId xmlns:a16="http://schemas.microsoft.com/office/drawing/2014/main" id="{CB248F2B-2A4C-B2D1-95B0-0EC53A3BA56B}"/>
              </a:ext>
            </a:extLst>
          </p:cNvPr>
          <p:cNvSpPr>
            <a:spLocks noGrp="1"/>
          </p:cNvSpPr>
          <p:nvPr>
            <p:ph sz="half" idx="14"/>
          </p:nvPr>
        </p:nvSpPr>
        <p:spPr>
          <a:xfrm>
            <a:off x="4568370"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cxnSp>
        <p:nvCxnSpPr>
          <p:cNvPr id="13" name="Straight Connector 12">
            <a:extLst>
              <a:ext uri="{FF2B5EF4-FFF2-40B4-BE49-F238E27FC236}">
                <a16:creationId xmlns:a16="http://schemas.microsoft.com/office/drawing/2014/main" id="{E29B5572-41D6-A313-12C5-597BBC92A8F8}"/>
              </a:ext>
            </a:extLst>
          </p:cNvPr>
          <p:cNvCxnSpPr>
            <a:cxnSpLocks/>
          </p:cNvCxnSpPr>
          <p:nvPr userDrawn="1"/>
        </p:nvCxnSpPr>
        <p:spPr>
          <a:xfrm>
            <a:off x="4565194" y="1684963"/>
            <a:ext cx="3551954"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76708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9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355AACDA-48EE-B14A-AAB7-B7DD76E73B3B}"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endParaRPr lang="en-AE" dirty="0"/>
          </a:p>
        </p:txBody>
      </p:sp>
      <p:sp>
        <p:nvSpPr>
          <p:cNvPr id="4" name="TextBox 3">
            <a:extLst>
              <a:ext uri="{FF2B5EF4-FFF2-40B4-BE49-F238E27FC236}">
                <a16:creationId xmlns:a16="http://schemas.microsoft.com/office/drawing/2014/main" id="{A17DE76F-57AC-2DA3-18E3-61E4F88F2D2C}"/>
              </a:ext>
            </a:extLst>
          </p:cNvPr>
          <p:cNvSpPr txBox="1"/>
          <p:nvPr userDrawn="1"/>
        </p:nvSpPr>
        <p:spPr>
          <a:xfrm>
            <a:off x="801414" y="5838409"/>
            <a:ext cx="10552386" cy="338554"/>
          </a:xfrm>
          <a:prstGeom prst="rect">
            <a:avLst/>
          </a:prstGeom>
          <a:noFill/>
        </p:spPr>
        <p:txBody>
          <a:bodyPr wrap="square">
            <a:spAutoFit/>
          </a:bodyPr>
          <a:lstStyle/>
          <a:p>
            <a:r>
              <a:rPr lang="en-GB" sz="800" dirty="0">
                <a:solidFill>
                  <a:schemeClr val="tx1">
                    <a:lumMod val="50000"/>
                    <a:lumOff val="50000"/>
                  </a:schemeClr>
                </a:solidFill>
              </a:rPr>
              <a:t>*Timelines are subject to change based on the response times of the client and the Regulator, but also due to unforeseen circumstances</a:t>
            </a:r>
          </a:p>
          <a:p>
            <a:r>
              <a:rPr lang="en-GB" sz="800" dirty="0">
                <a:solidFill>
                  <a:schemeClr val="tx1">
                    <a:lumMod val="50000"/>
                    <a:lumOff val="50000"/>
                  </a:schemeClr>
                </a:solidFill>
              </a:rPr>
              <a:t>*Please note that delays may occur in the opening of bank accounts and the registration of lease agreements</a:t>
            </a:r>
          </a:p>
        </p:txBody>
      </p:sp>
    </p:spTree>
    <p:extLst>
      <p:ext uri="{BB962C8B-B14F-4D97-AF65-F5344CB8AC3E}">
        <p14:creationId xmlns:p14="http://schemas.microsoft.com/office/powerpoint/2010/main" val="38454455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8_Title Only">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067EC84-BDD1-0889-B6E1-87802F8A87D8}"/>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593B6A94-915F-7D46-804B-C98F40B62CCF}"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8" name="Title 1">
            <a:extLst>
              <a:ext uri="{FF2B5EF4-FFF2-40B4-BE49-F238E27FC236}">
                <a16:creationId xmlns:a16="http://schemas.microsoft.com/office/drawing/2014/main" id="{BC5D2D8E-A775-207F-812C-3273AEABB07E}"/>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r>
              <a:rPr lang="en-US" sz="3600" dirty="0">
                <a:solidFill>
                  <a:schemeClr val="bg1"/>
                </a:solidFill>
              </a:rPr>
              <a:t>Optional After-Service Support</a:t>
            </a:r>
          </a:p>
          <a:p>
            <a:pPr algn="ctr"/>
            <a:endParaRPr lang="en-US" sz="3600" dirty="0">
              <a:solidFill>
                <a:schemeClr val="bg1"/>
              </a:solidFill>
            </a:endParaRPr>
          </a:p>
          <a:p>
            <a:pPr algn="ctr"/>
            <a:endParaRPr lang="en-CY" sz="2800" dirty="0">
              <a:solidFill>
                <a:schemeClr val="bg1"/>
              </a:solidFill>
            </a:endParaRPr>
          </a:p>
        </p:txBody>
      </p:sp>
      <p:sp>
        <p:nvSpPr>
          <p:cNvPr id="9" name="Title 1">
            <a:extLst>
              <a:ext uri="{FF2B5EF4-FFF2-40B4-BE49-F238E27FC236}">
                <a16:creationId xmlns:a16="http://schemas.microsoft.com/office/drawing/2014/main" id="{CC6603CA-9028-2902-FBDF-49159FC41191}"/>
              </a:ext>
            </a:extLst>
          </p:cNvPr>
          <p:cNvSpPr>
            <a:spLocks noGrp="1"/>
          </p:cNvSpPr>
          <p:nvPr>
            <p:ph type="title"/>
          </p:nvPr>
        </p:nvSpPr>
        <p:spPr>
          <a:xfrm>
            <a:off x="468923" y="3587950"/>
            <a:ext cx="11254154" cy="721032"/>
          </a:xfrm>
        </p:spPr>
        <p:txBody>
          <a:bodyPr anchor="t">
            <a:normAutofit/>
          </a:bodyPr>
          <a:lstStyle>
            <a:lvl1pPr algn="ctr">
              <a:defRPr sz="2800" b="1" i="0">
                <a:solidFill>
                  <a:schemeClr val="bg1"/>
                </a:solidFill>
                <a:latin typeface="Aptos ExtraBold" panose="020B0004020202020204" pitchFamily="34" charset="0"/>
              </a:defRPr>
            </a:lvl1pPr>
          </a:lstStyle>
          <a:p>
            <a:endParaRPr lang="en-AE" dirty="0"/>
          </a:p>
        </p:txBody>
      </p:sp>
    </p:spTree>
    <p:extLst>
      <p:ext uri="{BB962C8B-B14F-4D97-AF65-F5344CB8AC3E}">
        <p14:creationId xmlns:p14="http://schemas.microsoft.com/office/powerpoint/2010/main" val="17438361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270196"/>
            <a:ext cx="7243012"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429A3999-8562-C449-A41E-DA4EF819F873}"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6" name="Rectangle 5">
            <a:extLst>
              <a:ext uri="{FF2B5EF4-FFF2-40B4-BE49-F238E27FC236}">
                <a16:creationId xmlns:a16="http://schemas.microsoft.com/office/drawing/2014/main" id="{D7B7134D-BF2A-1D45-242A-B535CF916725}"/>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9" name="Content Placeholder 5">
            <a:extLst>
              <a:ext uri="{FF2B5EF4-FFF2-40B4-BE49-F238E27FC236}">
                <a16:creationId xmlns:a16="http://schemas.microsoft.com/office/drawing/2014/main" id="{C481BFDF-A66E-67C3-410A-DD25EF257961}"/>
              </a:ext>
            </a:extLst>
          </p:cNvPr>
          <p:cNvSpPr>
            <a:spLocks noGrp="1"/>
          </p:cNvSpPr>
          <p:nvPr>
            <p:ph sz="quarter" idx="13"/>
          </p:nvPr>
        </p:nvSpPr>
        <p:spPr>
          <a:xfrm>
            <a:off x="8447039" y="1328321"/>
            <a:ext cx="2668910" cy="4738182"/>
          </a:xfrm>
        </p:spPr>
        <p:txBody>
          <a:bodyPr anchor="t">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TextBox 1">
            <a:extLst>
              <a:ext uri="{FF2B5EF4-FFF2-40B4-BE49-F238E27FC236}">
                <a16:creationId xmlns:a16="http://schemas.microsoft.com/office/drawing/2014/main" id="{F55DA05D-D465-9429-E2D5-9F4693C3B407}"/>
              </a:ext>
            </a:extLst>
          </p:cNvPr>
          <p:cNvSpPr txBox="1">
            <a:spLocks/>
          </p:cNvSpPr>
          <p:nvPr userDrawn="1"/>
        </p:nvSpPr>
        <p:spPr>
          <a:xfrm>
            <a:off x="8210778" y="677447"/>
            <a:ext cx="3141432" cy="338554"/>
          </a:xfrm>
          <a:prstGeom prst="rect">
            <a:avLst/>
          </a:prstGeom>
          <a:noFill/>
        </p:spPr>
        <p:txBody>
          <a:bodyPr wrap="square">
            <a:spAutoFit/>
          </a:bodyPr>
          <a:lstStyle/>
          <a:p>
            <a:pPr algn="ctr"/>
            <a:r>
              <a:rPr lang="en-US" sz="1600" b="1" i="0" u="none" strike="noStrike" dirty="0">
                <a:solidFill>
                  <a:schemeClr val="bg1"/>
                </a:solidFill>
                <a:effectLst/>
                <a:latin typeface="Aptos ExtraBold" panose="020B0004020202020204" pitchFamily="34" charset="0"/>
              </a:rPr>
              <a:t>Continued Support</a:t>
            </a:r>
          </a:p>
        </p:txBody>
      </p:sp>
    </p:spTree>
    <p:extLst>
      <p:ext uri="{BB962C8B-B14F-4D97-AF65-F5344CB8AC3E}">
        <p14:creationId xmlns:p14="http://schemas.microsoft.com/office/powerpoint/2010/main" val="243533818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31ED15B-41D0-1292-2B32-55A9DED8E66E}"/>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F5A684B6-C2FA-1649-9400-6F606FE80817}"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Content Placeholder 5">
            <a:extLst>
              <a:ext uri="{FF2B5EF4-FFF2-40B4-BE49-F238E27FC236}">
                <a16:creationId xmlns:a16="http://schemas.microsoft.com/office/drawing/2014/main" id="{1664B932-4539-D0BE-5144-F077BE2F3D9E}"/>
              </a:ext>
            </a:extLst>
          </p:cNvPr>
          <p:cNvSpPr>
            <a:spLocks noGrp="1"/>
          </p:cNvSpPr>
          <p:nvPr>
            <p:ph sz="quarter" idx="13"/>
          </p:nvPr>
        </p:nvSpPr>
        <p:spPr>
          <a:xfrm>
            <a:off x="8276194" y="1766121"/>
            <a:ext cx="2783969" cy="4423542"/>
          </a:xfrm>
        </p:spPr>
        <p:txBody>
          <a:bodyPr anchor="t">
            <a:normAutofit/>
          </a:bodyPr>
          <a:lstStyle>
            <a:lvl1pPr marL="0" indent="0" algn="just">
              <a:buNone/>
              <a:defRPr sz="900">
                <a:solidFill>
                  <a:schemeClr val="bg1"/>
                </a:solidFill>
              </a:defRPr>
            </a:lvl1pPr>
            <a:lvl2pPr marL="457200" indent="0" algn="just">
              <a:buNone/>
              <a:defRPr sz="900">
                <a:solidFill>
                  <a:schemeClr val="bg1"/>
                </a:solidFill>
              </a:defRPr>
            </a:lvl2pPr>
            <a:lvl3pPr marL="914400" indent="0" algn="just">
              <a:buNone/>
              <a:defRPr sz="900">
                <a:solidFill>
                  <a:schemeClr val="bg1"/>
                </a:solidFill>
              </a:defRPr>
            </a:lvl3pPr>
            <a:lvl4pPr algn="just">
              <a:defRPr sz="900">
                <a:solidFill>
                  <a:schemeClr val="bg1"/>
                </a:solidFill>
              </a:defRPr>
            </a:lvl4pPr>
            <a:lvl5pPr algn="just">
              <a:defRPr sz="900">
                <a:solidFill>
                  <a:schemeClr val="bg1"/>
                </a:solidFill>
              </a:defRPr>
            </a:lvl5pPr>
          </a:lstStyle>
          <a:p>
            <a:pPr lvl="0"/>
            <a:r>
              <a:rPr lang="en-US" dirty="0"/>
              <a:t>Click to edit Master text styles</a:t>
            </a:r>
          </a:p>
        </p:txBody>
      </p:sp>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12" name="Text Placeholder 2">
            <a:extLst>
              <a:ext uri="{FF2B5EF4-FFF2-40B4-BE49-F238E27FC236}">
                <a16:creationId xmlns:a16="http://schemas.microsoft.com/office/drawing/2014/main" id="{15BC6520-FF31-EAB6-15C1-8A5ADD66F62F}"/>
              </a:ext>
            </a:extLst>
          </p:cNvPr>
          <p:cNvSpPr>
            <a:spLocks noGrp="1" noRot="1" noMove="1" noResize="1" noEditPoints="1" noAdjustHandles="1" noChangeArrowheads="1" noChangeShapeType="1"/>
          </p:cNvSpPr>
          <p:nvPr>
            <p:ph type="body" idx="14"/>
          </p:nvPr>
        </p:nvSpPr>
        <p:spPr>
          <a:xfrm>
            <a:off x="4534019" y="1270195"/>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9692033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31ED15B-41D0-1292-2B32-55A9DED8E66E}"/>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7243011" cy="414766"/>
          </a:xfrm>
        </p:spPr>
        <p:txBody>
          <a:bodyPr anchor="t">
            <a:normAutofit/>
          </a:bodyPr>
          <a:lstStyle>
            <a:lvl1pPr marL="0" indent="0">
              <a:buNone/>
              <a:defRPr sz="20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A0CE926-D45C-0849-876B-38F2BC536F1E}"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Content Placeholder 5">
            <a:extLst>
              <a:ext uri="{FF2B5EF4-FFF2-40B4-BE49-F238E27FC236}">
                <a16:creationId xmlns:a16="http://schemas.microsoft.com/office/drawing/2014/main" id="{1664B932-4539-D0BE-5144-F077BE2F3D9E}"/>
              </a:ext>
            </a:extLst>
          </p:cNvPr>
          <p:cNvSpPr>
            <a:spLocks noGrp="1" noRot="1" noMove="1" noResize="1" noEditPoints="1" noAdjustHandles="1" noChangeArrowheads="1" noChangeShapeType="1"/>
          </p:cNvSpPr>
          <p:nvPr>
            <p:ph sz="quarter" idx="13"/>
          </p:nvPr>
        </p:nvSpPr>
        <p:spPr>
          <a:xfrm>
            <a:off x="8210780" y="1270196"/>
            <a:ext cx="3141432" cy="4919467"/>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44197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2" name="TextBox 21">
            <a:extLst>
              <a:ext uri="{FF2B5EF4-FFF2-40B4-BE49-F238E27FC236}">
                <a16:creationId xmlns:a16="http://schemas.microsoft.com/office/drawing/2014/main" id="{DC47170E-6111-6225-9675-C0794B63278F}"/>
              </a:ext>
            </a:extLst>
          </p:cNvPr>
          <p:cNvSpPr txBox="1">
            <a:spLocks noGrp="1" noRot="1" noMove="1" noResize="1" noEditPoints="1" noAdjustHandles="1" noChangeArrowheads="1" noChangeShapeType="1"/>
          </p:cNvSpPr>
          <p:nvPr userDrawn="1"/>
        </p:nvSpPr>
        <p:spPr>
          <a:xfrm>
            <a:off x="8257296" y="1766121"/>
            <a:ext cx="2792995" cy="3647152"/>
          </a:xfrm>
          <a:prstGeom prst="rect">
            <a:avLst/>
          </a:prstGeom>
          <a:noFill/>
        </p:spPr>
        <p:txBody>
          <a:bodyPr wrap="square">
            <a:spAutoFit/>
          </a:bodyPr>
          <a:lstStyle/>
          <a:p>
            <a:pPr algn="just"/>
            <a:r>
              <a:rPr lang="en-US" sz="1100" b="0" i="0" u="none" strike="noStrike" dirty="0">
                <a:solidFill>
                  <a:schemeClr val="bg1"/>
                </a:solidFill>
                <a:effectLst/>
              </a:rPr>
              <a:t>At Pnyx Hill, our strength lies in our people. We are a powerhouse of seasoned experts, bringing together deep knowledge across:</a:t>
            </a:r>
          </a:p>
          <a:p>
            <a:pPr algn="just"/>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Regulated Finance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Licensing &amp; Compliance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Risk &amp; Governance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Digital Transformation</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Fundraising &amp; Market Entry</a:t>
            </a:r>
          </a:p>
          <a:p>
            <a:pPr algn="just">
              <a:buFont typeface="Arial" panose="020B0604020202020204" pitchFamily="34" charset="0"/>
              <a:buNone/>
            </a:pPr>
            <a:endParaRPr lang="en-US" sz="1100" b="0" i="0" u="none" strike="noStrike" dirty="0">
              <a:solidFill>
                <a:schemeClr val="bg1"/>
              </a:solidFill>
              <a:effectLst/>
            </a:endParaRPr>
          </a:p>
          <a:p>
            <a:pPr algn="just"/>
            <a:endParaRPr lang="en-US" sz="1100" b="0" i="0" u="none" strike="noStrike" dirty="0">
              <a:solidFill>
                <a:schemeClr val="bg1"/>
              </a:solidFill>
              <a:effectLst/>
            </a:endParaRPr>
          </a:p>
          <a:p>
            <a:pPr algn="just"/>
            <a:r>
              <a:rPr lang="en-US" sz="1100" b="0" i="0" u="none" strike="noStrike" dirty="0">
                <a:solidFill>
                  <a:schemeClr val="bg1"/>
                </a:solidFill>
                <a:effectLst/>
              </a:rPr>
              <a:t>Driven by continuous learning and collaboration, we stay ahead of industry shifts, delivering sharp, forward-thinking solutions. Our commitment to innovation ensures we lead, adapt, and set the pace in a rapidly evolving landscape.</a:t>
            </a:r>
          </a:p>
        </p:txBody>
      </p:sp>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1006E44-0A94-1F41-9E52-E1701CAF842A}"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Content Placeholder 3">
            <a:extLst>
              <a:ext uri="{FF2B5EF4-FFF2-40B4-BE49-F238E27FC236}">
                <a16:creationId xmlns:a16="http://schemas.microsoft.com/office/drawing/2014/main" id="{9797DC0D-3472-FD3C-79F0-593DF3C17365}"/>
              </a:ext>
            </a:extLst>
          </p:cNvPr>
          <p:cNvSpPr>
            <a:spLocks noGrp="1" noRot="1" noMove="1" noResize="1" noEditPoints="1" noAdjustHandles="1" noChangeArrowheads="1" noChangeShapeType="1"/>
          </p:cNvSpPr>
          <p:nvPr>
            <p:ph sz="half" idx="2"/>
          </p:nvPr>
        </p:nvSpPr>
        <p:spPr>
          <a:xfrm>
            <a:off x="2876764" y="1766121"/>
            <a:ext cx="4846298" cy="2160854"/>
          </a:xfrm>
        </p:spPr>
        <p:txBody>
          <a:bodyPr anchor="ctr">
            <a:normAutofit/>
          </a:bodyPr>
          <a:lstStyle>
            <a:lvl1pPr>
              <a:defRPr sz="700" b="0" i="0">
                <a:latin typeface="Aptos" panose="020B0004020202020204" pitchFamily="34" charset="0"/>
              </a:defRPr>
            </a:lvl1pPr>
            <a:lvl2pPr>
              <a:defRPr sz="700" b="0" i="0">
                <a:latin typeface="Aptos Light" panose="020B0004020202020204" pitchFamily="34" charset="0"/>
              </a:defRPr>
            </a:lvl2pPr>
            <a:lvl3pPr>
              <a:defRPr sz="700" b="0" i="0">
                <a:latin typeface="Aptos Light" panose="020B0004020202020204" pitchFamily="34" charset="0"/>
              </a:defRPr>
            </a:lvl3pPr>
            <a:lvl4pPr>
              <a:defRPr sz="700" b="0" i="0">
                <a:latin typeface="Aptos Light" panose="020B0004020202020204" pitchFamily="34" charset="0"/>
              </a:defRPr>
            </a:lvl4pPr>
            <a:lvl5pPr>
              <a:defRPr sz="7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Content Placeholder 3">
            <a:extLst>
              <a:ext uri="{FF2B5EF4-FFF2-40B4-BE49-F238E27FC236}">
                <a16:creationId xmlns:a16="http://schemas.microsoft.com/office/drawing/2014/main" id="{1B19B4BB-8A26-CD36-8825-5A3E641C2D2E}"/>
              </a:ext>
            </a:extLst>
          </p:cNvPr>
          <p:cNvSpPr>
            <a:spLocks noGrp="1" noRot="1" noMove="1" noResize="1" noEditPoints="1" noAdjustHandles="1" noChangeArrowheads="1" noChangeShapeType="1"/>
          </p:cNvSpPr>
          <p:nvPr>
            <p:ph sz="half" idx="14"/>
          </p:nvPr>
        </p:nvSpPr>
        <p:spPr>
          <a:xfrm>
            <a:off x="2876764" y="4068567"/>
            <a:ext cx="4846298" cy="2160854"/>
          </a:xfrm>
        </p:spPr>
        <p:txBody>
          <a:bodyPr anchor="ctr">
            <a:normAutofit/>
          </a:bodyPr>
          <a:lstStyle>
            <a:lvl1pPr>
              <a:defRPr sz="700" b="0" i="0">
                <a:latin typeface="Aptos" panose="020B0004020202020204" pitchFamily="34" charset="0"/>
              </a:defRPr>
            </a:lvl1pPr>
            <a:lvl2pPr>
              <a:defRPr sz="700" b="0" i="0">
                <a:latin typeface="Aptos Light" panose="020B0004020202020204" pitchFamily="34" charset="0"/>
              </a:defRPr>
            </a:lvl2pPr>
            <a:lvl3pPr>
              <a:defRPr sz="700" b="0" i="0">
                <a:latin typeface="Aptos Light" panose="020B0004020202020204" pitchFamily="34" charset="0"/>
              </a:defRPr>
            </a:lvl3pPr>
            <a:lvl4pPr>
              <a:defRPr sz="700" b="0" i="0">
                <a:latin typeface="Aptos Light" panose="020B0004020202020204" pitchFamily="34" charset="0"/>
              </a:defRPr>
            </a:lvl4pPr>
            <a:lvl5pPr>
              <a:defRPr sz="7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3" name="Content Placeholder 3">
            <a:extLst>
              <a:ext uri="{FF2B5EF4-FFF2-40B4-BE49-F238E27FC236}">
                <a16:creationId xmlns:a16="http://schemas.microsoft.com/office/drawing/2014/main" id="{CA1255E4-C5AD-7B2A-DA4A-0465AF140347}"/>
              </a:ext>
            </a:extLst>
          </p:cNvPr>
          <p:cNvSpPr>
            <a:spLocks noGrp="1" noRot="1" noMove="1" noResize="1" noEditPoints="1" noAdjustHandles="1" noChangeArrowheads="1" noChangeShapeType="1"/>
          </p:cNvSpPr>
          <p:nvPr>
            <p:ph sz="half" idx="15" hasCustomPrompt="1"/>
          </p:nvPr>
        </p:nvSpPr>
        <p:spPr>
          <a:xfrm>
            <a:off x="1012294" y="1766121"/>
            <a:ext cx="1548000" cy="1548000"/>
          </a:xfrm>
          <a:prstGeom prst="ellipse">
            <a:avLst/>
          </a:prstGeom>
          <a:solidFill>
            <a:schemeClr val="bg1"/>
          </a:solidFill>
          <a:effectLst>
            <a:outerShdw blurRad="63500" sx="102000" sy="102000" algn="ctr" rotWithShape="0">
              <a:prstClr val="black">
                <a:alpha val="40000"/>
              </a:prstClr>
            </a:outerShdw>
          </a:effectLst>
        </p:spPr>
        <p:txBody>
          <a:bodyPr>
            <a:normAutofit/>
          </a:bodyPr>
          <a:lstStyle>
            <a:lvl1pPr marL="0" indent="0">
              <a:buNone/>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Add image</a:t>
            </a:r>
          </a:p>
        </p:txBody>
      </p:sp>
      <p:sp>
        <p:nvSpPr>
          <p:cNvPr id="5" name="Content Placeholder 3">
            <a:extLst>
              <a:ext uri="{FF2B5EF4-FFF2-40B4-BE49-F238E27FC236}">
                <a16:creationId xmlns:a16="http://schemas.microsoft.com/office/drawing/2014/main" id="{EC2FD9A4-480B-AB0D-75A3-7FB333C41A48}"/>
              </a:ext>
            </a:extLst>
          </p:cNvPr>
          <p:cNvSpPr>
            <a:spLocks noGrp="1" noRot="1" noMove="1" noResize="1" noEditPoints="1" noAdjustHandles="1" noChangeArrowheads="1" noChangeShapeType="1"/>
          </p:cNvSpPr>
          <p:nvPr>
            <p:ph sz="half" idx="16"/>
          </p:nvPr>
        </p:nvSpPr>
        <p:spPr>
          <a:xfrm>
            <a:off x="836610" y="3367850"/>
            <a:ext cx="1912175" cy="559125"/>
          </a:xfrm>
        </p:spPr>
        <p:txBody>
          <a:bodyPr>
            <a:normAutofit/>
          </a:bodyPr>
          <a:lstStyle>
            <a:lvl1pPr marL="0" indent="0" algn="ctr">
              <a:buNone/>
              <a:defRPr sz="900" b="1" i="0">
                <a:solidFill>
                  <a:srgbClr val="7D4E1D"/>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6" name="Content Placeholder 3">
            <a:extLst>
              <a:ext uri="{FF2B5EF4-FFF2-40B4-BE49-F238E27FC236}">
                <a16:creationId xmlns:a16="http://schemas.microsoft.com/office/drawing/2014/main" id="{7F99F0FE-757B-C930-6550-E461D27B9693}"/>
              </a:ext>
            </a:extLst>
          </p:cNvPr>
          <p:cNvSpPr>
            <a:spLocks noGrp="1" noRot="1" noMove="1" noResize="1" noEditPoints="1" noAdjustHandles="1" noChangeArrowheads="1" noChangeShapeType="1"/>
          </p:cNvSpPr>
          <p:nvPr>
            <p:ph sz="half" idx="18"/>
          </p:nvPr>
        </p:nvSpPr>
        <p:spPr>
          <a:xfrm>
            <a:off x="830207" y="5665051"/>
            <a:ext cx="1912175" cy="559125"/>
          </a:xfrm>
        </p:spPr>
        <p:txBody>
          <a:bodyPr>
            <a:normAutofit/>
          </a:bodyPr>
          <a:lstStyle>
            <a:lvl1pPr marL="0" indent="0" algn="ctr">
              <a:buNone/>
              <a:defRPr sz="900" b="1" i="0">
                <a:solidFill>
                  <a:srgbClr val="7D4E1D"/>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cxnSp>
        <p:nvCxnSpPr>
          <p:cNvPr id="19" name="Straight Connector 18">
            <a:extLst>
              <a:ext uri="{FF2B5EF4-FFF2-40B4-BE49-F238E27FC236}">
                <a16:creationId xmlns:a16="http://schemas.microsoft.com/office/drawing/2014/main" id="{64DE4F4E-4617-C455-5026-18EBBA954482}"/>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0" name="Content Placeholder 3">
            <a:extLst>
              <a:ext uri="{FF2B5EF4-FFF2-40B4-BE49-F238E27FC236}">
                <a16:creationId xmlns:a16="http://schemas.microsoft.com/office/drawing/2014/main" id="{3F289E22-9108-13C7-B035-EDE87363A152}"/>
              </a:ext>
            </a:extLst>
          </p:cNvPr>
          <p:cNvSpPr>
            <a:spLocks noGrp="1" noRot="1" noMove="1" noResize="1" noEditPoints="1" noAdjustHandles="1" noChangeArrowheads="1" noChangeShapeType="1"/>
          </p:cNvSpPr>
          <p:nvPr>
            <p:ph sz="half" idx="19" hasCustomPrompt="1"/>
          </p:nvPr>
        </p:nvSpPr>
        <p:spPr>
          <a:xfrm>
            <a:off x="1012294" y="4017093"/>
            <a:ext cx="1548000" cy="1548000"/>
          </a:xfrm>
          <a:prstGeom prst="ellipse">
            <a:avLst/>
          </a:prstGeom>
          <a:solidFill>
            <a:schemeClr val="bg1"/>
          </a:solidFill>
          <a:effectLst>
            <a:outerShdw blurRad="63500" sx="102000" sy="102000" algn="ctr" rotWithShape="0">
              <a:prstClr val="black">
                <a:alpha val="40000"/>
              </a:prstClr>
            </a:outerShdw>
          </a:effectLst>
        </p:spPr>
        <p:txBody>
          <a:bodyPr>
            <a:normAutofit/>
          </a:bodyPr>
          <a:lstStyle>
            <a:lvl1pPr marL="0" indent="0">
              <a:buNone/>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Add image</a:t>
            </a:r>
          </a:p>
        </p:txBody>
      </p:sp>
      <p:sp>
        <p:nvSpPr>
          <p:cNvPr id="21" name="TextBox 20">
            <a:extLst>
              <a:ext uri="{FF2B5EF4-FFF2-40B4-BE49-F238E27FC236}">
                <a16:creationId xmlns:a16="http://schemas.microsoft.com/office/drawing/2014/main" id="{5FA334E4-EA9B-B702-92DA-7FABA658F8FD}"/>
              </a:ext>
            </a:extLst>
          </p:cNvPr>
          <p:cNvSpPr txBox="1">
            <a:spLocks noGrp="1" noRot="1" noMove="1" noResize="1" noEditPoints="1" noAdjustHandles="1" noChangeArrowheads="1" noChangeShapeType="1"/>
          </p:cNvSpPr>
          <p:nvPr userDrawn="1"/>
        </p:nvSpPr>
        <p:spPr>
          <a:xfrm>
            <a:off x="8257297" y="1309784"/>
            <a:ext cx="2792994" cy="338554"/>
          </a:xfrm>
          <a:prstGeom prst="rect">
            <a:avLst/>
          </a:prstGeom>
          <a:noFill/>
        </p:spPr>
        <p:txBody>
          <a:bodyPr wrap="square">
            <a:spAutoFit/>
          </a:bodyPr>
          <a:lstStyle/>
          <a:p>
            <a:pPr algn="l"/>
            <a:r>
              <a:rPr lang="en-US" sz="1600" b="1" i="0" u="none" strike="noStrike" dirty="0">
                <a:solidFill>
                  <a:schemeClr val="bg1"/>
                </a:solidFill>
                <a:effectLst/>
                <a:latin typeface="Aptos ExtraBold" panose="020B0004020202020204" pitchFamily="34" charset="0"/>
              </a:rPr>
              <a:t>Expertise Driving Impact</a:t>
            </a:r>
          </a:p>
        </p:txBody>
      </p:sp>
      <p:grpSp>
        <p:nvGrpSpPr>
          <p:cNvPr id="32" name="Group 185">
            <a:extLst>
              <a:ext uri="{FF2B5EF4-FFF2-40B4-BE49-F238E27FC236}">
                <a16:creationId xmlns:a16="http://schemas.microsoft.com/office/drawing/2014/main" id="{D9E67B71-4966-7913-9602-EE2AD5A59848}"/>
              </a:ext>
            </a:extLst>
          </p:cNvPr>
          <p:cNvGrpSpPr>
            <a:grpSpLocks noGrp="1" noUngrp="1" noRot="1" noChangeAspect="1" noMove="1" noResize="1"/>
          </p:cNvGrpSpPr>
          <p:nvPr userDrawn="1"/>
        </p:nvGrpSpPr>
        <p:grpSpPr bwMode="auto">
          <a:xfrm>
            <a:off x="8759269" y="2778049"/>
            <a:ext cx="253213" cy="252620"/>
            <a:chOff x="346" y="2998"/>
            <a:chExt cx="427" cy="426"/>
          </a:xfrm>
          <a:solidFill>
            <a:schemeClr val="bg1"/>
          </a:solidFill>
        </p:grpSpPr>
        <p:sp>
          <p:nvSpPr>
            <p:cNvPr id="33" name="Freeform 186">
              <a:extLst>
                <a:ext uri="{FF2B5EF4-FFF2-40B4-BE49-F238E27FC236}">
                  <a16:creationId xmlns:a16="http://schemas.microsoft.com/office/drawing/2014/main" id="{75A39533-FB38-1887-EDD8-0E315469B789}"/>
                </a:ext>
              </a:extLst>
            </p:cNvPr>
            <p:cNvSpPr>
              <a:spLocks noGrp="1" noRot="1" noMove="1" noResize="1" noEditPoints="1" noAdjustHandles="1" noChangeArrowheads="1" noChangeShapeType="1"/>
            </p:cNvSpPr>
            <p:nvPr/>
          </p:nvSpPr>
          <p:spPr bwMode="auto">
            <a:xfrm>
              <a:off x="346" y="3052"/>
              <a:ext cx="187" cy="337"/>
            </a:xfrm>
            <a:custGeom>
              <a:avLst/>
              <a:gdLst>
                <a:gd name="T0" fmla="*/ 120 w 126"/>
                <a:gd name="T1" fmla="*/ 228 h 228"/>
                <a:gd name="T2" fmla="*/ 30 w 126"/>
                <a:gd name="T3" fmla="*/ 228 h 228"/>
                <a:gd name="T4" fmla="*/ 0 w 126"/>
                <a:gd name="T5" fmla="*/ 198 h 228"/>
                <a:gd name="T6" fmla="*/ 0 w 126"/>
                <a:gd name="T7" fmla="*/ 6 h 228"/>
                <a:gd name="T8" fmla="*/ 6 w 126"/>
                <a:gd name="T9" fmla="*/ 0 h 228"/>
                <a:gd name="T10" fmla="*/ 54 w 126"/>
                <a:gd name="T11" fmla="*/ 0 h 228"/>
                <a:gd name="T12" fmla="*/ 60 w 126"/>
                <a:gd name="T13" fmla="*/ 6 h 228"/>
                <a:gd name="T14" fmla="*/ 54 w 126"/>
                <a:gd name="T15" fmla="*/ 12 h 228"/>
                <a:gd name="T16" fmla="*/ 12 w 126"/>
                <a:gd name="T17" fmla="*/ 12 h 228"/>
                <a:gd name="T18" fmla="*/ 12 w 126"/>
                <a:gd name="T19" fmla="*/ 198 h 228"/>
                <a:gd name="T20" fmla="*/ 30 w 126"/>
                <a:gd name="T21" fmla="*/ 216 h 228"/>
                <a:gd name="T22" fmla="*/ 120 w 126"/>
                <a:gd name="T23" fmla="*/ 216 h 228"/>
                <a:gd name="T24" fmla="*/ 126 w 126"/>
                <a:gd name="T25" fmla="*/ 222 h 228"/>
                <a:gd name="T26" fmla="*/ 120 w 126"/>
                <a:gd name="T27" fmla="*/ 228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6" h="228">
                  <a:moveTo>
                    <a:pt x="120" y="228"/>
                  </a:moveTo>
                  <a:cubicBezTo>
                    <a:pt x="30" y="228"/>
                    <a:pt x="30" y="228"/>
                    <a:pt x="30" y="228"/>
                  </a:cubicBezTo>
                  <a:cubicBezTo>
                    <a:pt x="13" y="228"/>
                    <a:pt x="0" y="215"/>
                    <a:pt x="0" y="198"/>
                  </a:cubicBezTo>
                  <a:cubicBezTo>
                    <a:pt x="0" y="6"/>
                    <a:pt x="0" y="6"/>
                    <a:pt x="0" y="6"/>
                  </a:cubicBezTo>
                  <a:cubicBezTo>
                    <a:pt x="0" y="3"/>
                    <a:pt x="3" y="0"/>
                    <a:pt x="6" y="0"/>
                  </a:cubicBezTo>
                  <a:cubicBezTo>
                    <a:pt x="54" y="0"/>
                    <a:pt x="54" y="0"/>
                    <a:pt x="54" y="0"/>
                  </a:cubicBezTo>
                  <a:cubicBezTo>
                    <a:pt x="57" y="0"/>
                    <a:pt x="60" y="3"/>
                    <a:pt x="60" y="6"/>
                  </a:cubicBezTo>
                  <a:cubicBezTo>
                    <a:pt x="60" y="10"/>
                    <a:pt x="57" y="12"/>
                    <a:pt x="54" y="12"/>
                  </a:cubicBezTo>
                  <a:cubicBezTo>
                    <a:pt x="12" y="12"/>
                    <a:pt x="12" y="12"/>
                    <a:pt x="12" y="12"/>
                  </a:cubicBezTo>
                  <a:cubicBezTo>
                    <a:pt x="12" y="198"/>
                    <a:pt x="12" y="198"/>
                    <a:pt x="12" y="198"/>
                  </a:cubicBezTo>
                  <a:cubicBezTo>
                    <a:pt x="12" y="208"/>
                    <a:pt x="20" y="216"/>
                    <a:pt x="30" y="216"/>
                  </a:cubicBezTo>
                  <a:cubicBezTo>
                    <a:pt x="120" y="216"/>
                    <a:pt x="120" y="216"/>
                    <a:pt x="120" y="216"/>
                  </a:cubicBezTo>
                  <a:cubicBezTo>
                    <a:pt x="123" y="216"/>
                    <a:pt x="126" y="219"/>
                    <a:pt x="126" y="222"/>
                  </a:cubicBezTo>
                  <a:cubicBezTo>
                    <a:pt x="126" y="226"/>
                    <a:pt x="123" y="228"/>
                    <a:pt x="120" y="22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4" name="Freeform 187">
              <a:extLst>
                <a:ext uri="{FF2B5EF4-FFF2-40B4-BE49-F238E27FC236}">
                  <a16:creationId xmlns:a16="http://schemas.microsoft.com/office/drawing/2014/main" id="{378C1339-5769-BFEB-7692-9F60F41B106B}"/>
                </a:ext>
              </a:extLst>
            </p:cNvPr>
            <p:cNvSpPr>
              <a:spLocks noGrp="1" noRot="1" noMove="1" noResize="1" noEditPoints="1" noAdjustHandles="1" noChangeArrowheads="1" noChangeShapeType="1"/>
            </p:cNvSpPr>
            <p:nvPr/>
          </p:nvSpPr>
          <p:spPr bwMode="auto">
            <a:xfrm>
              <a:off x="382" y="3087"/>
              <a:ext cx="169" cy="266"/>
            </a:xfrm>
            <a:custGeom>
              <a:avLst/>
              <a:gdLst>
                <a:gd name="T0" fmla="*/ 108 w 114"/>
                <a:gd name="T1" fmla="*/ 180 h 180"/>
                <a:gd name="T2" fmla="*/ 6 w 114"/>
                <a:gd name="T3" fmla="*/ 180 h 180"/>
                <a:gd name="T4" fmla="*/ 0 w 114"/>
                <a:gd name="T5" fmla="*/ 174 h 180"/>
                <a:gd name="T6" fmla="*/ 0 w 114"/>
                <a:gd name="T7" fmla="*/ 6 h 180"/>
                <a:gd name="T8" fmla="*/ 6 w 114"/>
                <a:gd name="T9" fmla="*/ 0 h 180"/>
                <a:gd name="T10" fmla="*/ 30 w 114"/>
                <a:gd name="T11" fmla="*/ 0 h 180"/>
                <a:gd name="T12" fmla="*/ 36 w 114"/>
                <a:gd name="T13" fmla="*/ 6 h 180"/>
                <a:gd name="T14" fmla="*/ 30 w 114"/>
                <a:gd name="T15" fmla="*/ 12 h 180"/>
                <a:gd name="T16" fmla="*/ 12 w 114"/>
                <a:gd name="T17" fmla="*/ 12 h 180"/>
                <a:gd name="T18" fmla="*/ 12 w 114"/>
                <a:gd name="T19" fmla="*/ 168 h 180"/>
                <a:gd name="T20" fmla="*/ 108 w 114"/>
                <a:gd name="T21" fmla="*/ 168 h 180"/>
                <a:gd name="T22" fmla="*/ 114 w 114"/>
                <a:gd name="T23" fmla="*/ 174 h 180"/>
                <a:gd name="T24" fmla="*/ 108 w 114"/>
                <a:gd name="T25" fmla="*/ 18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4" h="180">
                  <a:moveTo>
                    <a:pt x="108" y="180"/>
                  </a:moveTo>
                  <a:cubicBezTo>
                    <a:pt x="6" y="180"/>
                    <a:pt x="6" y="180"/>
                    <a:pt x="6" y="180"/>
                  </a:cubicBezTo>
                  <a:cubicBezTo>
                    <a:pt x="3" y="180"/>
                    <a:pt x="0" y="178"/>
                    <a:pt x="0" y="174"/>
                  </a:cubicBezTo>
                  <a:cubicBezTo>
                    <a:pt x="0" y="6"/>
                    <a:pt x="0" y="6"/>
                    <a:pt x="0" y="6"/>
                  </a:cubicBezTo>
                  <a:cubicBezTo>
                    <a:pt x="0" y="3"/>
                    <a:pt x="3" y="0"/>
                    <a:pt x="6" y="0"/>
                  </a:cubicBezTo>
                  <a:cubicBezTo>
                    <a:pt x="30" y="0"/>
                    <a:pt x="30" y="0"/>
                    <a:pt x="30" y="0"/>
                  </a:cubicBezTo>
                  <a:cubicBezTo>
                    <a:pt x="33" y="0"/>
                    <a:pt x="36" y="3"/>
                    <a:pt x="36" y="6"/>
                  </a:cubicBezTo>
                  <a:cubicBezTo>
                    <a:pt x="36" y="10"/>
                    <a:pt x="33" y="12"/>
                    <a:pt x="30" y="12"/>
                  </a:cubicBezTo>
                  <a:cubicBezTo>
                    <a:pt x="12" y="12"/>
                    <a:pt x="12" y="12"/>
                    <a:pt x="12" y="12"/>
                  </a:cubicBezTo>
                  <a:cubicBezTo>
                    <a:pt x="12" y="168"/>
                    <a:pt x="12" y="168"/>
                    <a:pt x="12" y="168"/>
                  </a:cubicBezTo>
                  <a:cubicBezTo>
                    <a:pt x="108" y="168"/>
                    <a:pt x="108" y="168"/>
                    <a:pt x="108" y="168"/>
                  </a:cubicBezTo>
                  <a:cubicBezTo>
                    <a:pt x="111" y="168"/>
                    <a:pt x="114" y="171"/>
                    <a:pt x="114" y="174"/>
                  </a:cubicBezTo>
                  <a:cubicBezTo>
                    <a:pt x="114" y="178"/>
                    <a:pt x="111" y="180"/>
                    <a:pt x="108" y="18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5" name="Freeform 188">
              <a:extLst>
                <a:ext uri="{FF2B5EF4-FFF2-40B4-BE49-F238E27FC236}">
                  <a16:creationId xmlns:a16="http://schemas.microsoft.com/office/drawing/2014/main" id="{43D577AC-2AE3-3814-77AE-3AC4822EAF50}"/>
                </a:ext>
              </a:extLst>
            </p:cNvPr>
            <p:cNvSpPr>
              <a:spLocks noGrp="1" noRot="1" noMove="1" noResize="1" noEditPoints="1" noAdjustHandles="1" noChangeArrowheads="1" noChangeShapeType="1"/>
            </p:cNvSpPr>
            <p:nvPr/>
          </p:nvSpPr>
          <p:spPr bwMode="auto">
            <a:xfrm>
              <a:off x="559" y="3052"/>
              <a:ext cx="89" cy="133"/>
            </a:xfrm>
            <a:custGeom>
              <a:avLst/>
              <a:gdLst>
                <a:gd name="T0" fmla="*/ 54 w 60"/>
                <a:gd name="T1" fmla="*/ 90 h 90"/>
                <a:gd name="T2" fmla="*/ 48 w 60"/>
                <a:gd name="T3" fmla="*/ 84 h 90"/>
                <a:gd name="T4" fmla="*/ 48 w 60"/>
                <a:gd name="T5" fmla="*/ 12 h 90"/>
                <a:gd name="T6" fmla="*/ 6 w 60"/>
                <a:gd name="T7" fmla="*/ 12 h 90"/>
                <a:gd name="T8" fmla="*/ 0 w 60"/>
                <a:gd name="T9" fmla="*/ 6 h 90"/>
                <a:gd name="T10" fmla="*/ 6 w 60"/>
                <a:gd name="T11" fmla="*/ 0 h 90"/>
                <a:gd name="T12" fmla="*/ 54 w 60"/>
                <a:gd name="T13" fmla="*/ 0 h 90"/>
                <a:gd name="T14" fmla="*/ 60 w 60"/>
                <a:gd name="T15" fmla="*/ 6 h 90"/>
                <a:gd name="T16" fmla="*/ 60 w 60"/>
                <a:gd name="T17" fmla="*/ 84 h 90"/>
                <a:gd name="T18" fmla="*/ 54 w 60"/>
                <a:gd name="T19"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90">
                  <a:moveTo>
                    <a:pt x="54" y="90"/>
                  </a:moveTo>
                  <a:cubicBezTo>
                    <a:pt x="51" y="90"/>
                    <a:pt x="48" y="88"/>
                    <a:pt x="48" y="84"/>
                  </a:cubicBezTo>
                  <a:cubicBezTo>
                    <a:pt x="48" y="12"/>
                    <a:pt x="48" y="12"/>
                    <a:pt x="48" y="12"/>
                  </a:cubicBezTo>
                  <a:cubicBezTo>
                    <a:pt x="6" y="12"/>
                    <a:pt x="6" y="12"/>
                    <a:pt x="6" y="12"/>
                  </a:cubicBezTo>
                  <a:cubicBezTo>
                    <a:pt x="3" y="12"/>
                    <a:pt x="0" y="10"/>
                    <a:pt x="0" y="6"/>
                  </a:cubicBezTo>
                  <a:cubicBezTo>
                    <a:pt x="0" y="3"/>
                    <a:pt x="3" y="0"/>
                    <a:pt x="6" y="0"/>
                  </a:cubicBezTo>
                  <a:cubicBezTo>
                    <a:pt x="54" y="0"/>
                    <a:pt x="54" y="0"/>
                    <a:pt x="54" y="0"/>
                  </a:cubicBezTo>
                  <a:cubicBezTo>
                    <a:pt x="57" y="0"/>
                    <a:pt x="60" y="3"/>
                    <a:pt x="60" y="6"/>
                  </a:cubicBezTo>
                  <a:cubicBezTo>
                    <a:pt x="60" y="84"/>
                    <a:pt x="60" y="84"/>
                    <a:pt x="60" y="84"/>
                  </a:cubicBezTo>
                  <a:cubicBezTo>
                    <a:pt x="60" y="88"/>
                    <a:pt x="57" y="90"/>
                    <a:pt x="54" y="9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6" name="Freeform 189">
              <a:extLst>
                <a:ext uri="{FF2B5EF4-FFF2-40B4-BE49-F238E27FC236}">
                  <a16:creationId xmlns:a16="http://schemas.microsoft.com/office/drawing/2014/main" id="{F3C43F43-4BFC-05AA-35C8-64E9D303A40B}"/>
                </a:ext>
              </a:extLst>
            </p:cNvPr>
            <p:cNvSpPr>
              <a:spLocks noGrp="1" noRot="1" noMove="1" noResize="1" noEditPoints="1" noAdjustHandles="1" noChangeArrowheads="1" noChangeShapeType="1"/>
            </p:cNvSpPr>
            <p:nvPr/>
          </p:nvSpPr>
          <p:spPr bwMode="auto">
            <a:xfrm>
              <a:off x="417" y="2998"/>
              <a:ext cx="160" cy="125"/>
            </a:xfrm>
            <a:custGeom>
              <a:avLst/>
              <a:gdLst>
                <a:gd name="T0" fmla="*/ 102 w 108"/>
                <a:gd name="T1" fmla="*/ 84 h 84"/>
                <a:gd name="T2" fmla="*/ 6 w 108"/>
                <a:gd name="T3" fmla="*/ 84 h 84"/>
                <a:gd name="T4" fmla="*/ 0 w 108"/>
                <a:gd name="T5" fmla="*/ 78 h 84"/>
                <a:gd name="T6" fmla="*/ 0 w 108"/>
                <a:gd name="T7" fmla="*/ 30 h 84"/>
                <a:gd name="T8" fmla="*/ 6 w 108"/>
                <a:gd name="T9" fmla="*/ 24 h 84"/>
                <a:gd name="T10" fmla="*/ 25 w 108"/>
                <a:gd name="T11" fmla="*/ 24 h 84"/>
                <a:gd name="T12" fmla="*/ 54 w 108"/>
                <a:gd name="T13" fmla="*/ 0 h 84"/>
                <a:gd name="T14" fmla="*/ 83 w 108"/>
                <a:gd name="T15" fmla="*/ 24 h 84"/>
                <a:gd name="T16" fmla="*/ 102 w 108"/>
                <a:gd name="T17" fmla="*/ 24 h 84"/>
                <a:gd name="T18" fmla="*/ 108 w 108"/>
                <a:gd name="T19" fmla="*/ 30 h 84"/>
                <a:gd name="T20" fmla="*/ 108 w 108"/>
                <a:gd name="T21" fmla="*/ 78 h 84"/>
                <a:gd name="T22" fmla="*/ 102 w 108"/>
                <a:gd name="T23" fmla="*/ 84 h 84"/>
                <a:gd name="T24" fmla="*/ 12 w 108"/>
                <a:gd name="T25" fmla="*/ 72 h 84"/>
                <a:gd name="T26" fmla="*/ 96 w 108"/>
                <a:gd name="T27" fmla="*/ 72 h 84"/>
                <a:gd name="T28" fmla="*/ 96 w 108"/>
                <a:gd name="T29" fmla="*/ 36 h 84"/>
                <a:gd name="T30" fmla="*/ 78 w 108"/>
                <a:gd name="T31" fmla="*/ 36 h 84"/>
                <a:gd name="T32" fmla="*/ 72 w 108"/>
                <a:gd name="T33" fmla="*/ 30 h 84"/>
                <a:gd name="T34" fmla="*/ 54 w 108"/>
                <a:gd name="T35" fmla="*/ 12 h 84"/>
                <a:gd name="T36" fmla="*/ 36 w 108"/>
                <a:gd name="T37" fmla="*/ 30 h 84"/>
                <a:gd name="T38" fmla="*/ 30 w 108"/>
                <a:gd name="T39" fmla="*/ 36 h 84"/>
                <a:gd name="T40" fmla="*/ 12 w 108"/>
                <a:gd name="T41" fmla="*/ 36 h 84"/>
                <a:gd name="T42" fmla="*/ 12 w 108"/>
                <a:gd name="T43" fmla="*/ 72 h 84"/>
                <a:gd name="T44" fmla="*/ 84 w 108"/>
                <a:gd name="T45" fmla="*/ 30 h 84"/>
                <a:gd name="T46" fmla="*/ 84 w 108"/>
                <a:gd name="T47" fmla="*/ 3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8" h="84">
                  <a:moveTo>
                    <a:pt x="102" y="84"/>
                  </a:moveTo>
                  <a:cubicBezTo>
                    <a:pt x="6" y="84"/>
                    <a:pt x="6" y="84"/>
                    <a:pt x="6" y="84"/>
                  </a:cubicBezTo>
                  <a:cubicBezTo>
                    <a:pt x="3" y="84"/>
                    <a:pt x="0" y="82"/>
                    <a:pt x="0" y="78"/>
                  </a:cubicBezTo>
                  <a:cubicBezTo>
                    <a:pt x="0" y="30"/>
                    <a:pt x="0" y="30"/>
                    <a:pt x="0" y="30"/>
                  </a:cubicBezTo>
                  <a:cubicBezTo>
                    <a:pt x="0" y="27"/>
                    <a:pt x="3" y="24"/>
                    <a:pt x="6" y="24"/>
                  </a:cubicBezTo>
                  <a:cubicBezTo>
                    <a:pt x="25" y="24"/>
                    <a:pt x="25" y="24"/>
                    <a:pt x="25" y="24"/>
                  </a:cubicBezTo>
                  <a:cubicBezTo>
                    <a:pt x="27" y="12"/>
                    <a:pt x="36" y="0"/>
                    <a:pt x="54" y="0"/>
                  </a:cubicBezTo>
                  <a:cubicBezTo>
                    <a:pt x="72" y="0"/>
                    <a:pt x="81" y="12"/>
                    <a:pt x="83" y="24"/>
                  </a:cubicBezTo>
                  <a:cubicBezTo>
                    <a:pt x="102" y="24"/>
                    <a:pt x="102" y="24"/>
                    <a:pt x="102" y="24"/>
                  </a:cubicBezTo>
                  <a:cubicBezTo>
                    <a:pt x="105" y="24"/>
                    <a:pt x="108" y="27"/>
                    <a:pt x="108" y="30"/>
                  </a:cubicBezTo>
                  <a:cubicBezTo>
                    <a:pt x="108" y="78"/>
                    <a:pt x="108" y="78"/>
                    <a:pt x="108" y="78"/>
                  </a:cubicBezTo>
                  <a:cubicBezTo>
                    <a:pt x="108" y="82"/>
                    <a:pt x="105" y="84"/>
                    <a:pt x="102" y="84"/>
                  </a:cubicBezTo>
                  <a:close/>
                  <a:moveTo>
                    <a:pt x="12" y="72"/>
                  </a:moveTo>
                  <a:cubicBezTo>
                    <a:pt x="96" y="72"/>
                    <a:pt x="96" y="72"/>
                    <a:pt x="96" y="72"/>
                  </a:cubicBezTo>
                  <a:cubicBezTo>
                    <a:pt x="96" y="36"/>
                    <a:pt x="96" y="36"/>
                    <a:pt x="96" y="36"/>
                  </a:cubicBezTo>
                  <a:cubicBezTo>
                    <a:pt x="78" y="36"/>
                    <a:pt x="78" y="36"/>
                    <a:pt x="78" y="36"/>
                  </a:cubicBezTo>
                  <a:cubicBezTo>
                    <a:pt x="75" y="36"/>
                    <a:pt x="72" y="34"/>
                    <a:pt x="72" y="30"/>
                  </a:cubicBezTo>
                  <a:cubicBezTo>
                    <a:pt x="72" y="29"/>
                    <a:pt x="72" y="12"/>
                    <a:pt x="54" y="12"/>
                  </a:cubicBezTo>
                  <a:cubicBezTo>
                    <a:pt x="37" y="12"/>
                    <a:pt x="36" y="29"/>
                    <a:pt x="36" y="30"/>
                  </a:cubicBezTo>
                  <a:cubicBezTo>
                    <a:pt x="36" y="34"/>
                    <a:pt x="33" y="36"/>
                    <a:pt x="30" y="36"/>
                  </a:cubicBezTo>
                  <a:cubicBezTo>
                    <a:pt x="12" y="36"/>
                    <a:pt x="12" y="36"/>
                    <a:pt x="12" y="36"/>
                  </a:cubicBezTo>
                  <a:lnTo>
                    <a:pt x="12" y="72"/>
                  </a:lnTo>
                  <a:close/>
                  <a:moveTo>
                    <a:pt x="84" y="30"/>
                  </a:moveTo>
                  <a:cubicBezTo>
                    <a:pt x="84" y="30"/>
                    <a:pt x="84" y="30"/>
                    <a:pt x="84" y="3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7" name="Freeform 190">
              <a:extLst>
                <a:ext uri="{FF2B5EF4-FFF2-40B4-BE49-F238E27FC236}">
                  <a16:creationId xmlns:a16="http://schemas.microsoft.com/office/drawing/2014/main" id="{6EA291D3-4C4D-813E-7592-D53C695AA5BC}"/>
                </a:ext>
              </a:extLst>
            </p:cNvPr>
            <p:cNvSpPr>
              <a:spLocks noGrp="1" noRot="1" noMove="1" noResize="1" noEditPoints="1" noAdjustHandles="1" noChangeArrowheads="1" noChangeShapeType="1"/>
            </p:cNvSpPr>
            <p:nvPr/>
          </p:nvSpPr>
          <p:spPr bwMode="auto">
            <a:xfrm>
              <a:off x="559" y="3087"/>
              <a:ext cx="54" cy="151"/>
            </a:xfrm>
            <a:custGeom>
              <a:avLst/>
              <a:gdLst>
                <a:gd name="T0" fmla="*/ 30 w 36"/>
                <a:gd name="T1" fmla="*/ 102 h 102"/>
                <a:gd name="T2" fmla="*/ 24 w 36"/>
                <a:gd name="T3" fmla="*/ 96 h 102"/>
                <a:gd name="T4" fmla="*/ 24 w 36"/>
                <a:gd name="T5" fmla="*/ 12 h 102"/>
                <a:gd name="T6" fmla="*/ 6 w 36"/>
                <a:gd name="T7" fmla="*/ 12 h 102"/>
                <a:gd name="T8" fmla="*/ 0 w 36"/>
                <a:gd name="T9" fmla="*/ 6 h 102"/>
                <a:gd name="T10" fmla="*/ 6 w 36"/>
                <a:gd name="T11" fmla="*/ 0 h 102"/>
                <a:gd name="T12" fmla="*/ 30 w 36"/>
                <a:gd name="T13" fmla="*/ 0 h 102"/>
                <a:gd name="T14" fmla="*/ 36 w 36"/>
                <a:gd name="T15" fmla="*/ 6 h 102"/>
                <a:gd name="T16" fmla="*/ 36 w 36"/>
                <a:gd name="T17" fmla="*/ 96 h 102"/>
                <a:gd name="T18" fmla="*/ 30 w 36"/>
                <a:gd name="T19" fmla="*/ 10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102">
                  <a:moveTo>
                    <a:pt x="30" y="102"/>
                  </a:moveTo>
                  <a:cubicBezTo>
                    <a:pt x="27" y="102"/>
                    <a:pt x="24" y="100"/>
                    <a:pt x="24" y="96"/>
                  </a:cubicBezTo>
                  <a:cubicBezTo>
                    <a:pt x="24" y="12"/>
                    <a:pt x="24" y="12"/>
                    <a:pt x="24" y="12"/>
                  </a:cubicBezTo>
                  <a:cubicBezTo>
                    <a:pt x="6" y="12"/>
                    <a:pt x="6" y="12"/>
                    <a:pt x="6" y="12"/>
                  </a:cubicBezTo>
                  <a:cubicBezTo>
                    <a:pt x="3" y="12"/>
                    <a:pt x="0" y="10"/>
                    <a:pt x="0" y="6"/>
                  </a:cubicBezTo>
                  <a:cubicBezTo>
                    <a:pt x="0" y="3"/>
                    <a:pt x="3" y="0"/>
                    <a:pt x="6" y="0"/>
                  </a:cubicBezTo>
                  <a:cubicBezTo>
                    <a:pt x="30" y="0"/>
                    <a:pt x="30" y="0"/>
                    <a:pt x="30" y="0"/>
                  </a:cubicBezTo>
                  <a:cubicBezTo>
                    <a:pt x="33" y="0"/>
                    <a:pt x="36" y="3"/>
                    <a:pt x="36" y="6"/>
                  </a:cubicBezTo>
                  <a:cubicBezTo>
                    <a:pt x="36" y="96"/>
                    <a:pt x="36" y="96"/>
                    <a:pt x="36" y="96"/>
                  </a:cubicBezTo>
                  <a:cubicBezTo>
                    <a:pt x="36" y="100"/>
                    <a:pt x="33" y="102"/>
                    <a:pt x="30" y="10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8" name="Freeform 191">
              <a:extLst>
                <a:ext uri="{FF2B5EF4-FFF2-40B4-BE49-F238E27FC236}">
                  <a16:creationId xmlns:a16="http://schemas.microsoft.com/office/drawing/2014/main" id="{55ECF1E1-AAA2-6F2A-7045-C6985E5698D5}"/>
                </a:ext>
              </a:extLst>
            </p:cNvPr>
            <p:cNvSpPr>
              <a:spLocks noGrp="1" noRot="1" noMove="1" noResize="1" noEditPoints="1" noAdjustHandles="1" noChangeArrowheads="1" noChangeShapeType="1"/>
            </p:cNvSpPr>
            <p:nvPr/>
          </p:nvSpPr>
          <p:spPr bwMode="auto">
            <a:xfrm>
              <a:off x="435" y="3158"/>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9" name="Freeform 192">
              <a:extLst>
                <a:ext uri="{FF2B5EF4-FFF2-40B4-BE49-F238E27FC236}">
                  <a16:creationId xmlns:a16="http://schemas.microsoft.com/office/drawing/2014/main" id="{E4535C48-B01E-694B-9929-93D93E413BD0}"/>
                </a:ext>
              </a:extLst>
            </p:cNvPr>
            <p:cNvSpPr>
              <a:spLocks noGrp="1" noRot="1" noMove="1" noResize="1" noEditPoints="1" noAdjustHandles="1" noChangeArrowheads="1" noChangeShapeType="1"/>
            </p:cNvSpPr>
            <p:nvPr/>
          </p:nvSpPr>
          <p:spPr bwMode="auto">
            <a:xfrm>
              <a:off x="435" y="3193"/>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0" name="Freeform 193">
              <a:extLst>
                <a:ext uri="{FF2B5EF4-FFF2-40B4-BE49-F238E27FC236}">
                  <a16:creationId xmlns:a16="http://schemas.microsoft.com/office/drawing/2014/main" id="{008AA57D-AC11-AB3C-AD3D-BA1AA5A5943F}"/>
                </a:ext>
              </a:extLst>
            </p:cNvPr>
            <p:cNvSpPr>
              <a:spLocks noGrp="1" noRot="1" noMove="1" noResize="1" noEditPoints="1" noAdjustHandles="1" noChangeArrowheads="1" noChangeShapeType="1"/>
            </p:cNvSpPr>
            <p:nvPr/>
          </p:nvSpPr>
          <p:spPr bwMode="auto">
            <a:xfrm>
              <a:off x="435" y="3229"/>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1" name="Freeform 194">
              <a:extLst>
                <a:ext uri="{FF2B5EF4-FFF2-40B4-BE49-F238E27FC236}">
                  <a16:creationId xmlns:a16="http://schemas.microsoft.com/office/drawing/2014/main" id="{8B0679F6-9F92-2056-163E-4B315CC6C8CC}"/>
                </a:ext>
              </a:extLst>
            </p:cNvPr>
            <p:cNvSpPr>
              <a:spLocks noGrp="1" noRot="1" noMove="1" noResize="1" noEditPoints="1" noAdjustHandles="1" noChangeArrowheads="1" noChangeShapeType="1"/>
            </p:cNvSpPr>
            <p:nvPr/>
          </p:nvSpPr>
          <p:spPr bwMode="auto">
            <a:xfrm>
              <a:off x="435" y="3264"/>
              <a:ext cx="71" cy="18"/>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10"/>
                    <a:pt x="0" y="6"/>
                  </a:cubicBezTo>
                  <a:cubicBezTo>
                    <a:pt x="0" y="3"/>
                    <a:pt x="3" y="0"/>
                    <a:pt x="6" y="0"/>
                  </a:cubicBezTo>
                  <a:cubicBezTo>
                    <a:pt x="42" y="0"/>
                    <a:pt x="42" y="0"/>
                    <a:pt x="42" y="0"/>
                  </a:cubicBezTo>
                  <a:cubicBezTo>
                    <a:pt x="45" y="0"/>
                    <a:pt x="48" y="3"/>
                    <a:pt x="48" y="6"/>
                  </a:cubicBezTo>
                  <a:cubicBezTo>
                    <a:pt x="48" y="10"/>
                    <a:pt x="45" y="12"/>
                    <a:pt x="42"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2" name="Freeform 195">
              <a:extLst>
                <a:ext uri="{FF2B5EF4-FFF2-40B4-BE49-F238E27FC236}">
                  <a16:creationId xmlns:a16="http://schemas.microsoft.com/office/drawing/2014/main" id="{48CF07A8-F311-428B-379E-C829B4A2826F}"/>
                </a:ext>
              </a:extLst>
            </p:cNvPr>
            <p:cNvSpPr>
              <a:spLocks noGrp="1" noRot="1" noMove="1" noResize="1" noEditPoints="1" noAdjustHandles="1" noChangeArrowheads="1" noChangeShapeType="1"/>
            </p:cNvSpPr>
            <p:nvPr/>
          </p:nvSpPr>
          <p:spPr bwMode="auto">
            <a:xfrm>
              <a:off x="542" y="3193"/>
              <a:ext cx="231" cy="231"/>
            </a:xfrm>
            <a:custGeom>
              <a:avLst/>
              <a:gdLst>
                <a:gd name="T0" fmla="*/ 150 w 156"/>
                <a:gd name="T1" fmla="*/ 156 h 156"/>
                <a:gd name="T2" fmla="*/ 6 w 156"/>
                <a:gd name="T3" fmla="*/ 156 h 156"/>
                <a:gd name="T4" fmla="*/ 1 w 156"/>
                <a:gd name="T5" fmla="*/ 154 h 156"/>
                <a:gd name="T6" fmla="*/ 1 w 156"/>
                <a:gd name="T7" fmla="*/ 148 h 156"/>
                <a:gd name="T8" fmla="*/ 73 w 156"/>
                <a:gd name="T9" fmla="*/ 4 h 156"/>
                <a:gd name="T10" fmla="*/ 78 w 156"/>
                <a:gd name="T11" fmla="*/ 0 h 156"/>
                <a:gd name="T12" fmla="*/ 83 w 156"/>
                <a:gd name="T13" fmla="*/ 4 h 156"/>
                <a:gd name="T14" fmla="*/ 155 w 156"/>
                <a:gd name="T15" fmla="*/ 148 h 156"/>
                <a:gd name="T16" fmla="*/ 155 w 156"/>
                <a:gd name="T17" fmla="*/ 154 h 156"/>
                <a:gd name="T18" fmla="*/ 150 w 156"/>
                <a:gd name="T19" fmla="*/ 156 h 156"/>
                <a:gd name="T20" fmla="*/ 16 w 156"/>
                <a:gd name="T21" fmla="*/ 144 h 156"/>
                <a:gd name="T22" fmla="*/ 140 w 156"/>
                <a:gd name="T23" fmla="*/ 144 h 156"/>
                <a:gd name="T24" fmla="*/ 78 w 156"/>
                <a:gd name="T25" fmla="*/ 20 h 156"/>
                <a:gd name="T26" fmla="*/ 16 w 156"/>
                <a:gd name="T27" fmla="*/ 144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6" h="156">
                  <a:moveTo>
                    <a:pt x="150" y="156"/>
                  </a:moveTo>
                  <a:cubicBezTo>
                    <a:pt x="6" y="156"/>
                    <a:pt x="6" y="156"/>
                    <a:pt x="6" y="156"/>
                  </a:cubicBezTo>
                  <a:cubicBezTo>
                    <a:pt x="4" y="156"/>
                    <a:pt x="2" y="155"/>
                    <a:pt x="1" y="154"/>
                  </a:cubicBezTo>
                  <a:cubicBezTo>
                    <a:pt x="0" y="152"/>
                    <a:pt x="0" y="150"/>
                    <a:pt x="1" y="148"/>
                  </a:cubicBezTo>
                  <a:cubicBezTo>
                    <a:pt x="73" y="4"/>
                    <a:pt x="73" y="4"/>
                    <a:pt x="73" y="4"/>
                  </a:cubicBezTo>
                  <a:cubicBezTo>
                    <a:pt x="74" y="2"/>
                    <a:pt x="76" y="0"/>
                    <a:pt x="78" y="0"/>
                  </a:cubicBezTo>
                  <a:cubicBezTo>
                    <a:pt x="80" y="0"/>
                    <a:pt x="82" y="2"/>
                    <a:pt x="83" y="4"/>
                  </a:cubicBezTo>
                  <a:cubicBezTo>
                    <a:pt x="155" y="148"/>
                    <a:pt x="155" y="148"/>
                    <a:pt x="155" y="148"/>
                  </a:cubicBezTo>
                  <a:cubicBezTo>
                    <a:pt x="156" y="150"/>
                    <a:pt x="156" y="152"/>
                    <a:pt x="155" y="154"/>
                  </a:cubicBezTo>
                  <a:cubicBezTo>
                    <a:pt x="154" y="155"/>
                    <a:pt x="152" y="156"/>
                    <a:pt x="150" y="156"/>
                  </a:cubicBezTo>
                  <a:close/>
                  <a:moveTo>
                    <a:pt x="16" y="144"/>
                  </a:moveTo>
                  <a:cubicBezTo>
                    <a:pt x="140" y="144"/>
                    <a:pt x="140" y="144"/>
                    <a:pt x="140" y="144"/>
                  </a:cubicBezTo>
                  <a:cubicBezTo>
                    <a:pt x="78" y="20"/>
                    <a:pt x="78" y="20"/>
                    <a:pt x="78" y="20"/>
                  </a:cubicBezTo>
                  <a:lnTo>
                    <a:pt x="16" y="144"/>
                  </a:ln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3" name="Freeform 196">
              <a:extLst>
                <a:ext uri="{FF2B5EF4-FFF2-40B4-BE49-F238E27FC236}">
                  <a16:creationId xmlns:a16="http://schemas.microsoft.com/office/drawing/2014/main" id="{0512DE5D-93B5-D0D4-F4DC-468052D59B66}"/>
                </a:ext>
              </a:extLst>
            </p:cNvPr>
            <p:cNvSpPr>
              <a:spLocks noGrp="1" noRot="1" noMove="1" noResize="1" noEditPoints="1" noAdjustHandles="1" noChangeArrowheads="1" noChangeShapeType="1"/>
            </p:cNvSpPr>
            <p:nvPr/>
          </p:nvSpPr>
          <p:spPr bwMode="auto">
            <a:xfrm>
              <a:off x="648" y="3281"/>
              <a:ext cx="18" cy="77"/>
            </a:xfrm>
            <a:custGeom>
              <a:avLst/>
              <a:gdLst>
                <a:gd name="T0" fmla="*/ 6 w 12"/>
                <a:gd name="T1" fmla="*/ 52 h 52"/>
                <a:gd name="T2" fmla="*/ 0 w 12"/>
                <a:gd name="T3" fmla="*/ 46 h 52"/>
                <a:gd name="T4" fmla="*/ 0 w 12"/>
                <a:gd name="T5" fmla="*/ 6 h 52"/>
                <a:gd name="T6" fmla="*/ 6 w 12"/>
                <a:gd name="T7" fmla="*/ 0 h 52"/>
                <a:gd name="T8" fmla="*/ 12 w 12"/>
                <a:gd name="T9" fmla="*/ 6 h 52"/>
                <a:gd name="T10" fmla="*/ 12 w 12"/>
                <a:gd name="T11" fmla="*/ 46 h 52"/>
                <a:gd name="T12" fmla="*/ 6 w 12"/>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2" h="52">
                  <a:moveTo>
                    <a:pt x="6" y="52"/>
                  </a:moveTo>
                  <a:cubicBezTo>
                    <a:pt x="3" y="52"/>
                    <a:pt x="0" y="49"/>
                    <a:pt x="0" y="46"/>
                  </a:cubicBezTo>
                  <a:cubicBezTo>
                    <a:pt x="0" y="6"/>
                    <a:pt x="0" y="6"/>
                    <a:pt x="0" y="6"/>
                  </a:cubicBezTo>
                  <a:cubicBezTo>
                    <a:pt x="0" y="3"/>
                    <a:pt x="3" y="0"/>
                    <a:pt x="6" y="0"/>
                  </a:cubicBezTo>
                  <a:cubicBezTo>
                    <a:pt x="9" y="0"/>
                    <a:pt x="12" y="3"/>
                    <a:pt x="12" y="6"/>
                  </a:cubicBezTo>
                  <a:cubicBezTo>
                    <a:pt x="12" y="46"/>
                    <a:pt x="12" y="46"/>
                    <a:pt x="12" y="46"/>
                  </a:cubicBezTo>
                  <a:cubicBezTo>
                    <a:pt x="12" y="49"/>
                    <a:pt x="9" y="52"/>
                    <a:pt x="6" y="5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4" name="Oval 197">
              <a:extLst>
                <a:ext uri="{FF2B5EF4-FFF2-40B4-BE49-F238E27FC236}">
                  <a16:creationId xmlns:a16="http://schemas.microsoft.com/office/drawing/2014/main" id="{78DB9544-D12E-1406-AC58-0E1F7461A57C}"/>
                </a:ext>
              </a:extLst>
            </p:cNvPr>
            <p:cNvSpPr>
              <a:spLocks noGrp="1" noRot="1" noMove="1" noResize="1" noEditPoints="1" noAdjustHandles="1" noChangeArrowheads="1" noChangeShapeType="1"/>
            </p:cNvSpPr>
            <p:nvPr/>
          </p:nvSpPr>
          <p:spPr bwMode="auto">
            <a:xfrm>
              <a:off x="647" y="3368"/>
              <a:ext cx="20" cy="19"/>
            </a:xfrm>
            <a:prstGeom prst="ellipse">
              <a:avLst/>
            </a:pr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grpSp>
        <p:nvGrpSpPr>
          <p:cNvPr id="45" name="Group 148">
            <a:extLst>
              <a:ext uri="{FF2B5EF4-FFF2-40B4-BE49-F238E27FC236}">
                <a16:creationId xmlns:a16="http://schemas.microsoft.com/office/drawing/2014/main" id="{F7A3D14B-E7A5-F32B-BD1A-09D5781D267A}"/>
              </a:ext>
            </a:extLst>
          </p:cNvPr>
          <p:cNvGrpSpPr>
            <a:grpSpLocks noGrp="1" noUngrp="1" noRot="1" noChangeAspect="1" noMove="1" noResize="1"/>
          </p:cNvGrpSpPr>
          <p:nvPr userDrawn="1"/>
        </p:nvGrpSpPr>
        <p:grpSpPr bwMode="auto">
          <a:xfrm>
            <a:off x="8749499" y="3136579"/>
            <a:ext cx="252090" cy="250909"/>
            <a:chOff x="1369" y="2997"/>
            <a:chExt cx="427" cy="425"/>
          </a:xfrm>
          <a:solidFill>
            <a:schemeClr val="bg1"/>
          </a:solidFill>
        </p:grpSpPr>
        <p:sp>
          <p:nvSpPr>
            <p:cNvPr id="46" name="Freeform 149">
              <a:extLst>
                <a:ext uri="{FF2B5EF4-FFF2-40B4-BE49-F238E27FC236}">
                  <a16:creationId xmlns:a16="http://schemas.microsoft.com/office/drawing/2014/main" id="{6D2A04B7-4417-EB73-966B-C6196AE3A649}"/>
                </a:ext>
              </a:extLst>
            </p:cNvPr>
            <p:cNvSpPr>
              <a:spLocks noGrp="1" noRot="1" noMove="1" noResize="1" noEditPoints="1" noAdjustHandles="1" noChangeArrowheads="1" noChangeShapeType="1"/>
            </p:cNvSpPr>
            <p:nvPr/>
          </p:nvSpPr>
          <p:spPr bwMode="auto">
            <a:xfrm>
              <a:off x="1369" y="2997"/>
              <a:ext cx="338" cy="354"/>
            </a:xfrm>
            <a:custGeom>
              <a:avLst/>
              <a:gdLst>
                <a:gd name="T0" fmla="*/ 138 w 228"/>
                <a:gd name="T1" fmla="*/ 240 h 240"/>
                <a:gd name="T2" fmla="*/ 30 w 228"/>
                <a:gd name="T3" fmla="*/ 240 h 240"/>
                <a:gd name="T4" fmla="*/ 0 w 228"/>
                <a:gd name="T5" fmla="*/ 210 h 240"/>
                <a:gd name="T6" fmla="*/ 0 w 228"/>
                <a:gd name="T7" fmla="*/ 30 h 240"/>
                <a:gd name="T8" fmla="*/ 30 w 228"/>
                <a:gd name="T9" fmla="*/ 0 h 240"/>
                <a:gd name="T10" fmla="*/ 198 w 228"/>
                <a:gd name="T11" fmla="*/ 0 h 240"/>
                <a:gd name="T12" fmla="*/ 228 w 228"/>
                <a:gd name="T13" fmla="*/ 30 h 240"/>
                <a:gd name="T14" fmla="*/ 228 w 228"/>
                <a:gd name="T15" fmla="*/ 120 h 240"/>
                <a:gd name="T16" fmla="*/ 222 w 228"/>
                <a:gd name="T17" fmla="*/ 126 h 240"/>
                <a:gd name="T18" fmla="*/ 216 w 228"/>
                <a:gd name="T19" fmla="*/ 120 h 240"/>
                <a:gd name="T20" fmla="*/ 216 w 228"/>
                <a:gd name="T21" fmla="*/ 30 h 240"/>
                <a:gd name="T22" fmla="*/ 198 w 228"/>
                <a:gd name="T23" fmla="*/ 12 h 240"/>
                <a:gd name="T24" fmla="*/ 30 w 228"/>
                <a:gd name="T25" fmla="*/ 12 h 240"/>
                <a:gd name="T26" fmla="*/ 12 w 228"/>
                <a:gd name="T27" fmla="*/ 30 h 240"/>
                <a:gd name="T28" fmla="*/ 12 w 228"/>
                <a:gd name="T29" fmla="*/ 210 h 240"/>
                <a:gd name="T30" fmla="*/ 30 w 228"/>
                <a:gd name="T31" fmla="*/ 228 h 240"/>
                <a:gd name="T32" fmla="*/ 138 w 228"/>
                <a:gd name="T33" fmla="*/ 228 h 240"/>
                <a:gd name="T34" fmla="*/ 144 w 228"/>
                <a:gd name="T35" fmla="*/ 234 h 240"/>
                <a:gd name="T36" fmla="*/ 138 w 228"/>
                <a:gd name="T37" fmla="*/ 24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28" h="240">
                  <a:moveTo>
                    <a:pt x="138" y="240"/>
                  </a:moveTo>
                  <a:cubicBezTo>
                    <a:pt x="30" y="240"/>
                    <a:pt x="30" y="240"/>
                    <a:pt x="30" y="240"/>
                  </a:cubicBezTo>
                  <a:cubicBezTo>
                    <a:pt x="13" y="240"/>
                    <a:pt x="0" y="227"/>
                    <a:pt x="0" y="210"/>
                  </a:cubicBezTo>
                  <a:cubicBezTo>
                    <a:pt x="0" y="30"/>
                    <a:pt x="0" y="30"/>
                    <a:pt x="0" y="30"/>
                  </a:cubicBezTo>
                  <a:cubicBezTo>
                    <a:pt x="0" y="14"/>
                    <a:pt x="13" y="0"/>
                    <a:pt x="30" y="0"/>
                  </a:cubicBezTo>
                  <a:cubicBezTo>
                    <a:pt x="198" y="0"/>
                    <a:pt x="198" y="0"/>
                    <a:pt x="198" y="0"/>
                  </a:cubicBezTo>
                  <a:cubicBezTo>
                    <a:pt x="214" y="0"/>
                    <a:pt x="228" y="14"/>
                    <a:pt x="228" y="30"/>
                  </a:cubicBezTo>
                  <a:cubicBezTo>
                    <a:pt x="228" y="120"/>
                    <a:pt x="228" y="120"/>
                    <a:pt x="228" y="120"/>
                  </a:cubicBezTo>
                  <a:cubicBezTo>
                    <a:pt x="228" y="124"/>
                    <a:pt x="225" y="126"/>
                    <a:pt x="222" y="126"/>
                  </a:cubicBezTo>
                  <a:cubicBezTo>
                    <a:pt x="219" y="126"/>
                    <a:pt x="216" y="124"/>
                    <a:pt x="216" y="120"/>
                  </a:cubicBezTo>
                  <a:cubicBezTo>
                    <a:pt x="216" y="30"/>
                    <a:pt x="216" y="30"/>
                    <a:pt x="216" y="30"/>
                  </a:cubicBezTo>
                  <a:cubicBezTo>
                    <a:pt x="216" y="20"/>
                    <a:pt x="208" y="12"/>
                    <a:pt x="198" y="12"/>
                  </a:cubicBezTo>
                  <a:cubicBezTo>
                    <a:pt x="30" y="12"/>
                    <a:pt x="30" y="12"/>
                    <a:pt x="30" y="12"/>
                  </a:cubicBezTo>
                  <a:cubicBezTo>
                    <a:pt x="20" y="12"/>
                    <a:pt x="12" y="20"/>
                    <a:pt x="12" y="30"/>
                  </a:cubicBezTo>
                  <a:cubicBezTo>
                    <a:pt x="12" y="210"/>
                    <a:pt x="12" y="210"/>
                    <a:pt x="12" y="210"/>
                  </a:cubicBezTo>
                  <a:cubicBezTo>
                    <a:pt x="12" y="220"/>
                    <a:pt x="20" y="228"/>
                    <a:pt x="30" y="228"/>
                  </a:cubicBezTo>
                  <a:cubicBezTo>
                    <a:pt x="138" y="228"/>
                    <a:pt x="138" y="228"/>
                    <a:pt x="138" y="228"/>
                  </a:cubicBezTo>
                  <a:cubicBezTo>
                    <a:pt x="142" y="228"/>
                    <a:pt x="144" y="231"/>
                    <a:pt x="144" y="234"/>
                  </a:cubicBezTo>
                  <a:cubicBezTo>
                    <a:pt x="144" y="238"/>
                    <a:pt x="142" y="240"/>
                    <a:pt x="138" y="24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7" name="Freeform 150">
              <a:extLst>
                <a:ext uri="{FF2B5EF4-FFF2-40B4-BE49-F238E27FC236}">
                  <a16:creationId xmlns:a16="http://schemas.microsoft.com/office/drawing/2014/main" id="{CD5AFDD6-8A7E-CCB8-7EAC-7AC2CF2319FF}"/>
                </a:ext>
              </a:extLst>
            </p:cNvPr>
            <p:cNvSpPr>
              <a:spLocks noGrp="1" noRot="1" noMove="1" noResize="1" noEditPoints="1" noAdjustHandles="1" noChangeArrowheads="1" noChangeShapeType="1"/>
            </p:cNvSpPr>
            <p:nvPr/>
          </p:nvSpPr>
          <p:spPr bwMode="auto">
            <a:xfrm>
              <a:off x="1369" y="3103"/>
              <a:ext cx="338" cy="18"/>
            </a:xfrm>
            <a:custGeom>
              <a:avLst/>
              <a:gdLst>
                <a:gd name="T0" fmla="*/ 222 w 228"/>
                <a:gd name="T1" fmla="*/ 12 h 12"/>
                <a:gd name="T2" fmla="*/ 6 w 228"/>
                <a:gd name="T3" fmla="*/ 12 h 12"/>
                <a:gd name="T4" fmla="*/ 0 w 228"/>
                <a:gd name="T5" fmla="*/ 6 h 12"/>
                <a:gd name="T6" fmla="*/ 6 w 228"/>
                <a:gd name="T7" fmla="*/ 0 h 12"/>
                <a:gd name="T8" fmla="*/ 222 w 228"/>
                <a:gd name="T9" fmla="*/ 0 h 12"/>
                <a:gd name="T10" fmla="*/ 228 w 228"/>
                <a:gd name="T11" fmla="*/ 6 h 12"/>
                <a:gd name="T12" fmla="*/ 222 w 22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28" h="12">
                  <a:moveTo>
                    <a:pt x="222" y="12"/>
                  </a:moveTo>
                  <a:cubicBezTo>
                    <a:pt x="6" y="12"/>
                    <a:pt x="6" y="12"/>
                    <a:pt x="6" y="12"/>
                  </a:cubicBezTo>
                  <a:cubicBezTo>
                    <a:pt x="3" y="12"/>
                    <a:pt x="0" y="10"/>
                    <a:pt x="0" y="6"/>
                  </a:cubicBezTo>
                  <a:cubicBezTo>
                    <a:pt x="0" y="3"/>
                    <a:pt x="3" y="0"/>
                    <a:pt x="6" y="0"/>
                  </a:cubicBezTo>
                  <a:cubicBezTo>
                    <a:pt x="222" y="0"/>
                    <a:pt x="222" y="0"/>
                    <a:pt x="222" y="0"/>
                  </a:cubicBezTo>
                  <a:cubicBezTo>
                    <a:pt x="225" y="0"/>
                    <a:pt x="228" y="3"/>
                    <a:pt x="228" y="6"/>
                  </a:cubicBezTo>
                  <a:cubicBezTo>
                    <a:pt x="228" y="10"/>
                    <a:pt x="225" y="12"/>
                    <a:pt x="222"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8" name="Freeform 151">
              <a:extLst>
                <a:ext uri="{FF2B5EF4-FFF2-40B4-BE49-F238E27FC236}">
                  <a16:creationId xmlns:a16="http://schemas.microsoft.com/office/drawing/2014/main" id="{E74142DE-F805-233D-5F2A-EA201C868413}"/>
                </a:ext>
              </a:extLst>
            </p:cNvPr>
            <p:cNvSpPr>
              <a:spLocks noGrp="1" noRot="1" noMove="1" noResize="1" noEditPoints="1" noAdjustHandles="1" noChangeArrowheads="1" noChangeShapeType="1"/>
            </p:cNvSpPr>
            <p:nvPr/>
          </p:nvSpPr>
          <p:spPr bwMode="auto">
            <a:xfrm>
              <a:off x="1369" y="3227"/>
              <a:ext cx="231" cy="18"/>
            </a:xfrm>
            <a:custGeom>
              <a:avLst/>
              <a:gdLst>
                <a:gd name="T0" fmla="*/ 150 w 156"/>
                <a:gd name="T1" fmla="*/ 12 h 12"/>
                <a:gd name="T2" fmla="*/ 6 w 156"/>
                <a:gd name="T3" fmla="*/ 12 h 12"/>
                <a:gd name="T4" fmla="*/ 0 w 156"/>
                <a:gd name="T5" fmla="*/ 6 h 12"/>
                <a:gd name="T6" fmla="*/ 6 w 156"/>
                <a:gd name="T7" fmla="*/ 0 h 12"/>
                <a:gd name="T8" fmla="*/ 150 w 156"/>
                <a:gd name="T9" fmla="*/ 0 h 12"/>
                <a:gd name="T10" fmla="*/ 156 w 156"/>
                <a:gd name="T11" fmla="*/ 6 h 12"/>
                <a:gd name="T12" fmla="*/ 150 w 15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56" h="12">
                  <a:moveTo>
                    <a:pt x="150" y="12"/>
                  </a:moveTo>
                  <a:cubicBezTo>
                    <a:pt x="6" y="12"/>
                    <a:pt x="6" y="12"/>
                    <a:pt x="6" y="12"/>
                  </a:cubicBezTo>
                  <a:cubicBezTo>
                    <a:pt x="3" y="12"/>
                    <a:pt x="0" y="10"/>
                    <a:pt x="0" y="6"/>
                  </a:cubicBezTo>
                  <a:cubicBezTo>
                    <a:pt x="0" y="3"/>
                    <a:pt x="3" y="0"/>
                    <a:pt x="6" y="0"/>
                  </a:cubicBezTo>
                  <a:cubicBezTo>
                    <a:pt x="150" y="0"/>
                    <a:pt x="150" y="0"/>
                    <a:pt x="150" y="0"/>
                  </a:cubicBezTo>
                  <a:cubicBezTo>
                    <a:pt x="153" y="0"/>
                    <a:pt x="156" y="3"/>
                    <a:pt x="156" y="6"/>
                  </a:cubicBezTo>
                  <a:cubicBezTo>
                    <a:pt x="156" y="10"/>
                    <a:pt x="153" y="12"/>
                    <a:pt x="150"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9" name="Freeform 152">
              <a:extLst>
                <a:ext uri="{FF2B5EF4-FFF2-40B4-BE49-F238E27FC236}">
                  <a16:creationId xmlns:a16="http://schemas.microsoft.com/office/drawing/2014/main" id="{D48F190B-BC2B-948A-23FD-EE50A4928035}"/>
                </a:ext>
              </a:extLst>
            </p:cNvPr>
            <p:cNvSpPr>
              <a:spLocks noGrp="1" noRot="1" noMove="1" noResize="1" noEditPoints="1" noAdjustHandles="1" noChangeArrowheads="1" noChangeShapeType="1"/>
            </p:cNvSpPr>
            <p:nvPr/>
          </p:nvSpPr>
          <p:spPr bwMode="auto">
            <a:xfrm>
              <a:off x="1582" y="2997"/>
              <a:ext cx="18" cy="248"/>
            </a:xfrm>
            <a:custGeom>
              <a:avLst/>
              <a:gdLst>
                <a:gd name="T0" fmla="*/ 6 w 12"/>
                <a:gd name="T1" fmla="*/ 168 h 168"/>
                <a:gd name="T2" fmla="*/ 0 w 12"/>
                <a:gd name="T3" fmla="*/ 162 h 168"/>
                <a:gd name="T4" fmla="*/ 0 w 12"/>
                <a:gd name="T5" fmla="*/ 6 h 168"/>
                <a:gd name="T6" fmla="*/ 6 w 12"/>
                <a:gd name="T7" fmla="*/ 0 h 168"/>
                <a:gd name="T8" fmla="*/ 12 w 12"/>
                <a:gd name="T9" fmla="*/ 6 h 168"/>
                <a:gd name="T10" fmla="*/ 12 w 12"/>
                <a:gd name="T11" fmla="*/ 162 h 168"/>
                <a:gd name="T12" fmla="*/ 6 w 12"/>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12" h="168">
                  <a:moveTo>
                    <a:pt x="6" y="168"/>
                  </a:moveTo>
                  <a:cubicBezTo>
                    <a:pt x="3" y="168"/>
                    <a:pt x="0" y="166"/>
                    <a:pt x="0" y="162"/>
                  </a:cubicBezTo>
                  <a:cubicBezTo>
                    <a:pt x="0" y="6"/>
                    <a:pt x="0" y="6"/>
                    <a:pt x="0" y="6"/>
                  </a:cubicBezTo>
                  <a:cubicBezTo>
                    <a:pt x="0" y="3"/>
                    <a:pt x="3" y="0"/>
                    <a:pt x="6" y="0"/>
                  </a:cubicBezTo>
                  <a:cubicBezTo>
                    <a:pt x="9" y="0"/>
                    <a:pt x="12" y="3"/>
                    <a:pt x="12" y="6"/>
                  </a:cubicBezTo>
                  <a:cubicBezTo>
                    <a:pt x="12" y="162"/>
                    <a:pt x="12" y="162"/>
                    <a:pt x="12" y="162"/>
                  </a:cubicBezTo>
                  <a:cubicBezTo>
                    <a:pt x="12" y="166"/>
                    <a:pt x="9" y="168"/>
                    <a:pt x="6" y="16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0" name="Freeform 153">
              <a:extLst>
                <a:ext uri="{FF2B5EF4-FFF2-40B4-BE49-F238E27FC236}">
                  <a16:creationId xmlns:a16="http://schemas.microsoft.com/office/drawing/2014/main" id="{70E2871A-D3DC-3F8E-D971-503B07D0FD4A}"/>
                </a:ext>
              </a:extLst>
            </p:cNvPr>
            <p:cNvSpPr>
              <a:spLocks noGrp="1" noRot="1" noMove="1" noResize="1" noEditPoints="1" noAdjustHandles="1" noChangeArrowheads="1" noChangeShapeType="1"/>
            </p:cNvSpPr>
            <p:nvPr/>
          </p:nvSpPr>
          <p:spPr bwMode="auto">
            <a:xfrm>
              <a:off x="1476" y="2997"/>
              <a:ext cx="18" cy="354"/>
            </a:xfrm>
            <a:custGeom>
              <a:avLst/>
              <a:gdLst>
                <a:gd name="T0" fmla="*/ 6 w 12"/>
                <a:gd name="T1" fmla="*/ 240 h 240"/>
                <a:gd name="T2" fmla="*/ 0 w 12"/>
                <a:gd name="T3" fmla="*/ 234 h 240"/>
                <a:gd name="T4" fmla="*/ 0 w 12"/>
                <a:gd name="T5" fmla="*/ 6 h 240"/>
                <a:gd name="T6" fmla="*/ 6 w 12"/>
                <a:gd name="T7" fmla="*/ 0 h 240"/>
                <a:gd name="T8" fmla="*/ 12 w 12"/>
                <a:gd name="T9" fmla="*/ 6 h 240"/>
                <a:gd name="T10" fmla="*/ 12 w 12"/>
                <a:gd name="T11" fmla="*/ 234 h 240"/>
                <a:gd name="T12" fmla="*/ 6 w 12"/>
                <a:gd name="T13" fmla="*/ 240 h 240"/>
              </a:gdLst>
              <a:ahLst/>
              <a:cxnLst>
                <a:cxn ang="0">
                  <a:pos x="T0" y="T1"/>
                </a:cxn>
                <a:cxn ang="0">
                  <a:pos x="T2" y="T3"/>
                </a:cxn>
                <a:cxn ang="0">
                  <a:pos x="T4" y="T5"/>
                </a:cxn>
                <a:cxn ang="0">
                  <a:pos x="T6" y="T7"/>
                </a:cxn>
                <a:cxn ang="0">
                  <a:pos x="T8" y="T9"/>
                </a:cxn>
                <a:cxn ang="0">
                  <a:pos x="T10" y="T11"/>
                </a:cxn>
                <a:cxn ang="0">
                  <a:pos x="T12" y="T13"/>
                </a:cxn>
              </a:cxnLst>
              <a:rect l="0" t="0" r="r" b="b"/>
              <a:pathLst>
                <a:path w="12" h="240">
                  <a:moveTo>
                    <a:pt x="6" y="240"/>
                  </a:moveTo>
                  <a:cubicBezTo>
                    <a:pt x="3" y="240"/>
                    <a:pt x="0" y="238"/>
                    <a:pt x="0" y="234"/>
                  </a:cubicBezTo>
                  <a:cubicBezTo>
                    <a:pt x="0" y="6"/>
                    <a:pt x="0" y="6"/>
                    <a:pt x="0" y="6"/>
                  </a:cubicBezTo>
                  <a:cubicBezTo>
                    <a:pt x="0" y="3"/>
                    <a:pt x="3" y="0"/>
                    <a:pt x="6" y="0"/>
                  </a:cubicBezTo>
                  <a:cubicBezTo>
                    <a:pt x="9" y="0"/>
                    <a:pt x="12" y="3"/>
                    <a:pt x="12" y="6"/>
                  </a:cubicBezTo>
                  <a:cubicBezTo>
                    <a:pt x="12" y="234"/>
                    <a:pt x="12" y="234"/>
                    <a:pt x="12" y="234"/>
                  </a:cubicBezTo>
                  <a:cubicBezTo>
                    <a:pt x="12" y="238"/>
                    <a:pt x="9" y="240"/>
                    <a:pt x="6" y="24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1" name="Freeform 154">
              <a:extLst>
                <a:ext uri="{FF2B5EF4-FFF2-40B4-BE49-F238E27FC236}">
                  <a16:creationId xmlns:a16="http://schemas.microsoft.com/office/drawing/2014/main" id="{2E723ADA-3C70-D9D3-AEEA-120EF7F8D259}"/>
                </a:ext>
              </a:extLst>
            </p:cNvPr>
            <p:cNvSpPr>
              <a:spLocks noGrp="1" noRot="1" noMove="1" noResize="1" noEditPoints="1" noAdjustHandles="1" noChangeArrowheads="1" noChangeShapeType="1"/>
            </p:cNvSpPr>
            <p:nvPr/>
          </p:nvSpPr>
          <p:spPr bwMode="auto">
            <a:xfrm>
              <a:off x="1582" y="3209"/>
              <a:ext cx="214" cy="213"/>
            </a:xfrm>
            <a:custGeom>
              <a:avLst/>
              <a:gdLst>
                <a:gd name="T0" fmla="*/ 138 w 144"/>
                <a:gd name="T1" fmla="*/ 144 h 144"/>
                <a:gd name="T2" fmla="*/ 6 w 144"/>
                <a:gd name="T3" fmla="*/ 144 h 144"/>
                <a:gd name="T4" fmla="*/ 1 w 144"/>
                <a:gd name="T5" fmla="*/ 141 h 144"/>
                <a:gd name="T6" fmla="*/ 0 w 144"/>
                <a:gd name="T7" fmla="*/ 136 h 144"/>
                <a:gd name="T8" fmla="*/ 66 w 144"/>
                <a:gd name="T9" fmla="*/ 4 h 144"/>
                <a:gd name="T10" fmla="*/ 72 w 144"/>
                <a:gd name="T11" fmla="*/ 0 h 144"/>
                <a:gd name="T12" fmla="*/ 77 w 144"/>
                <a:gd name="T13" fmla="*/ 4 h 144"/>
                <a:gd name="T14" fmla="*/ 143 w 144"/>
                <a:gd name="T15" fmla="*/ 136 h 144"/>
                <a:gd name="T16" fmla="*/ 143 w 144"/>
                <a:gd name="T17" fmla="*/ 141 h 144"/>
                <a:gd name="T18" fmla="*/ 138 w 144"/>
                <a:gd name="T19" fmla="*/ 144 h 144"/>
                <a:gd name="T20" fmla="*/ 16 w 144"/>
                <a:gd name="T21" fmla="*/ 132 h 144"/>
                <a:gd name="T22" fmla="*/ 128 w 144"/>
                <a:gd name="T23" fmla="*/ 132 h 144"/>
                <a:gd name="T24" fmla="*/ 72 w 144"/>
                <a:gd name="T25" fmla="*/ 20 h 144"/>
                <a:gd name="T26" fmla="*/ 16 w 144"/>
                <a:gd name="T27" fmla="*/ 13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4" h="144">
                  <a:moveTo>
                    <a:pt x="138" y="144"/>
                  </a:moveTo>
                  <a:cubicBezTo>
                    <a:pt x="6" y="144"/>
                    <a:pt x="6" y="144"/>
                    <a:pt x="6" y="144"/>
                  </a:cubicBezTo>
                  <a:cubicBezTo>
                    <a:pt x="4" y="144"/>
                    <a:pt x="2" y="143"/>
                    <a:pt x="1" y="141"/>
                  </a:cubicBezTo>
                  <a:cubicBezTo>
                    <a:pt x="0" y="140"/>
                    <a:pt x="0" y="137"/>
                    <a:pt x="0" y="136"/>
                  </a:cubicBezTo>
                  <a:cubicBezTo>
                    <a:pt x="66" y="4"/>
                    <a:pt x="66" y="4"/>
                    <a:pt x="66" y="4"/>
                  </a:cubicBezTo>
                  <a:cubicBezTo>
                    <a:pt x="67" y="2"/>
                    <a:pt x="70" y="0"/>
                    <a:pt x="72" y="0"/>
                  </a:cubicBezTo>
                  <a:cubicBezTo>
                    <a:pt x="74" y="0"/>
                    <a:pt x="76" y="2"/>
                    <a:pt x="77" y="4"/>
                  </a:cubicBezTo>
                  <a:cubicBezTo>
                    <a:pt x="143" y="136"/>
                    <a:pt x="143" y="136"/>
                    <a:pt x="143" y="136"/>
                  </a:cubicBezTo>
                  <a:cubicBezTo>
                    <a:pt x="144" y="137"/>
                    <a:pt x="144" y="140"/>
                    <a:pt x="143" y="141"/>
                  </a:cubicBezTo>
                  <a:cubicBezTo>
                    <a:pt x="142" y="143"/>
                    <a:pt x="140" y="144"/>
                    <a:pt x="138" y="144"/>
                  </a:cubicBezTo>
                  <a:close/>
                  <a:moveTo>
                    <a:pt x="16" y="132"/>
                  </a:moveTo>
                  <a:cubicBezTo>
                    <a:pt x="128" y="132"/>
                    <a:pt x="128" y="132"/>
                    <a:pt x="128" y="132"/>
                  </a:cubicBezTo>
                  <a:cubicBezTo>
                    <a:pt x="72" y="20"/>
                    <a:pt x="72" y="20"/>
                    <a:pt x="72" y="20"/>
                  </a:cubicBezTo>
                  <a:lnTo>
                    <a:pt x="16" y="132"/>
                  </a:ln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2" name="Freeform 155">
              <a:extLst>
                <a:ext uri="{FF2B5EF4-FFF2-40B4-BE49-F238E27FC236}">
                  <a16:creationId xmlns:a16="http://schemas.microsoft.com/office/drawing/2014/main" id="{2A185247-B065-C2DE-337B-569EA05FC98F}"/>
                </a:ext>
              </a:extLst>
            </p:cNvPr>
            <p:cNvSpPr>
              <a:spLocks noGrp="1" noRot="1" noMove="1" noResize="1" noEditPoints="1" noAdjustHandles="1" noChangeArrowheads="1" noChangeShapeType="1"/>
            </p:cNvSpPr>
            <p:nvPr/>
          </p:nvSpPr>
          <p:spPr bwMode="auto">
            <a:xfrm>
              <a:off x="1680" y="3289"/>
              <a:ext cx="18" cy="71"/>
            </a:xfrm>
            <a:custGeom>
              <a:avLst/>
              <a:gdLst>
                <a:gd name="T0" fmla="*/ 6 w 12"/>
                <a:gd name="T1" fmla="*/ 48 h 48"/>
                <a:gd name="T2" fmla="*/ 0 w 12"/>
                <a:gd name="T3" fmla="*/ 42 h 48"/>
                <a:gd name="T4" fmla="*/ 0 w 12"/>
                <a:gd name="T5" fmla="*/ 6 h 48"/>
                <a:gd name="T6" fmla="*/ 6 w 12"/>
                <a:gd name="T7" fmla="*/ 0 h 48"/>
                <a:gd name="T8" fmla="*/ 12 w 12"/>
                <a:gd name="T9" fmla="*/ 6 h 48"/>
                <a:gd name="T10" fmla="*/ 12 w 12"/>
                <a:gd name="T11" fmla="*/ 42 h 48"/>
                <a:gd name="T12" fmla="*/ 6 w 12"/>
                <a:gd name="T13" fmla="*/ 48 h 48"/>
              </a:gdLst>
              <a:ahLst/>
              <a:cxnLst>
                <a:cxn ang="0">
                  <a:pos x="T0" y="T1"/>
                </a:cxn>
                <a:cxn ang="0">
                  <a:pos x="T2" y="T3"/>
                </a:cxn>
                <a:cxn ang="0">
                  <a:pos x="T4" y="T5"/>
                </a:cxn>
                <a:cxn ang="0">
                  <a:pos x="T6" y="T7"/>
                </a:cxn>
                <a:cxn ang="0">
                  <a:pos x="T8" y="T9"/>
                </a:cxn>
                <a:cxn ang="0">
                  <a:pos x="T10" y="T11"/>
                </a:cxn>
                <a:cxn ang="0">
                  <a:pos x="T12" y="T13"/>
                </a:cxn>
              </a:cxnLst>
              <a:rect l="0" t="0" r="r" b="b"/>
              <a:pathLst>
                <a:path w="12" h="48">
                  <a:moveTo>
                    <a:pt x="6" y="48"/>
                  </a:moveTo>
                  <a:cubicBezTo>
                    <a:pt x="3" y="48"/>
                    <a:pt x="0" y="46"/>
                    <a:pt x="0" y="42"/>
                  </a:cubicBezTo>
                  <a:cubicBezTo>
                    <a:pt x="0" y="6"/>
                    <a:pt x="0" y="6"/>
                    <a:pt x="0" y="6"/>
                  </a:cubicBezTo>
                  <a:cubicBezTo>
                    <a:pt x="0" y="3"/>
                    <a:pt x="3" y="0"/>
                    <a:pt x="6" y="0"/>
                  </a:cubicBezTo>
                  <a:cubicBezTo>
                    <a:pt x="9" y="0"/>
                    <a:pt x="12" y="3"/>
                    <a:pt x="12" y="6"/>
                  </a:cubicBezTo>
                  <a:cubicBezTo>
                    <a:pt x="12" y="42"/>
                    <a:pt x="12" y="42"/>
                    <a:pt x="12" y="42"/>
                  </a:cubicBezTo>
                  <a:cubicBezTo>
                    <a:pt x="12" y="46"/>
                    <a:pt x="9" y="48"/>
                    <a:pt x="6" y="4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3" name="Oval 156">
              <a:extLst>
                <a:ext uri="{FF2B5EF4-FFF2-40B4-BE49-F238E27FC236}">
                  <a16:creationId xmlns:a16="http://schemas.microsoft.com/office/drawing/2014/main" id="{5FE6CE18-0BF1-838F-7004-63BCCBC7F2B9}"/>
                </a:ext>
              </a:extLst>
            </p:cNvPr>
            <p:cNvSpPr>
              <a:spLocks noGrp="1" noRot="1" noMove="1" noResize="1" noEditPoints="1" noAdjustHandles="1" noChangeArrowheads="1" noChangeShapeType="1"/>
            </p:cNvSpPr>
            <p:nvPr/>
          </p:nvSpPr>
          <p:spPr bwMode="auto">
            <a:xfrm>
              <a:off x="1680" y="3369"/>
              <a:ext cx="18" cy="18"/>
            </a:xfrm>
            <a:prstGeom prst="ellipse">
              <a:avLst/>
            </a:pr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pic>
        <p:nvPicPr>
          <p:cNvPr id="65" name="Graphic 64" descr="Internet with solid fill">
            <a:extLst>
              <a:ext uri="{FF2B5EF4-FFF2-40B4-BE49-F238E27FC236}">
                <a16:creationId xmlns:a16="http://schemas.microsoft.com/office/drawing/2014/main" id="{98122695-8B8E-AD17-EF38-87B3AAB1640F}"/>
              </a:ext>
            </a:extLst>
          </p:cNvPr>
          <p:cNvPicPr>
            <a:picLocks noGrp="1" noRot="1" noChangeAspect="1" noMove="1" noResize="1" noEditPoints="1" noAdjustHandles="1" noChangeArrowheads="1" noChangeShapeType="1" noCrop="1"/>
          </p:cNvPicPr>
          <p:nvPr userDrawn="1"/>
        </p:nvPicPr>
        <p:blipFill>
          <a:blip r:embed="rId3">
            <a:extLst>
              <a:ext uri="{96DAC541-7B7A-43D3-8B79-37D633B846F1}">
                <asvg:svgBlip xmlns:asvg="http://schemas.microsoft.com/office/drawing/2016/SVG/main" r:embed="rId4"/>
              </a:ext>
            </a:extLst>
          </a:blip>
          <a:stretch>
            <a:fillRect/>
          </a:stretch>
        </p:blipFill>
        <p:spPr>
          <a:xfrm>
            <a:off x="8700172" y="3410870"/>
            <a:ext cx="332880" cy="332880"/>
          </a:xfrm>
          <a:prstGeom prst="rect">
            <a:avLst/>
          </a:prstGeom>
        </p:spPr>
      </p:pic>
      <p:grpSp>
        <p:nvGrpSpPr>
          <p:cNvPr id="66" name="Group 29">
            <a:extLst>
              <a:ext uri="{FF2B5EF4-FFF2-40B4-BE49-F238E27FC236}">
                <a16:creationId xmlns:a16="http://schemas.microsoft.com/office/drawing/2014/main" id="{0598E637-0E6F-3E8F-511F-A0001E17C7EA}"/>
              </a:ext>
            </a:extLst>
          </p:cNvPr>
          <p:cNvGrpSpPr>
            <a:grpSpLocks noGrp="1" noUngrp="1" noRot="1" noChangeAspect="1" noMove="1" noResize="1"/>
          </p:cNvGrpSpPr>
          <p:nvPr userDrawn="1"/>
        </p:nvGrpSpPr>
        <p:grpSpPr bwMode="auto">
          <a:xfrm>
            <a:off x="8706110" y="3766155"/>
            <a:ext cx="263527" cy="262909"/>
            <a:chOff x="3625" y="600"/>
            <a:chExt cx="427" cy="426"/>
          </a:xfrm>
          <a:solidFill>
            <a:schemeClr val="bg1"/>
          </a:solidFill>
        </p:grpSpPr>
        <p:sp>
          <p:nvSpPr>
            <p:cNvPr id="67" name="Freeform 30">
              <a:extLst>
                <a:ext uri="{FF2B5EF4-FFF2-40B4-BE49-F238E27FC236}">
                  <a16:creationId xmlns:a16="http://schemas.microsoft.com/office/drawing/2014/main" id="{131E08DA-90D1-CD78-65D6-F460A929B71B}"/>
                </a:ext>
              </a:extLst>
            </p:cNvPr>
            <p:cNvSpPr>
              <a:spLocks noGrp="1" noRot="1" noMove="1" noResize="1" noEditPoints="1" noAdjustHandles="1" noChangeArrowheads="1" noChangeShapeType="1"/>
            </p:cNvSpPr>
            <p:nvPr/>
          </p:nvSpPr>
          <p:spPr bwMode="auto">
            <a:xfrm>
              <a:off x="3625" y="600"/>
              <a:ext cx="427" cy="426"/>
            </a:xfrm>
            <a:custGeom>
              <a:avLst/>
              <a:gdLst>
                <a:gd name="T0" fmla="*/ 144 w 288"/>
                <a:gd name="T1" fmla="*/ 288 h 288"/>
                <a:gd name="T2" fmla="*/ 0 w 288"/>
                <a:gd name="T3" fmla="*/ 144 h 288"/>
                <a:gd name="T4" fmla="*/ 144 w 288"/>
                <a:gd name="T5" fmla="*/ 0 h 288"/>
                <a:gd name="T6" fmla="*/ 288 w 288"/>
                <a:gd name="T7" fmla="*/ 144 h 288"/>
                <a:gd name="T8" fmla="*/ 282 w 288"/>
                <a:gd name="T9" fmla="*/ 150 h 288"/>
                <a:gd name="T10" fmla="*/ 276 w 288"/>
                <a:gd name="T11" fmla="*/ 144 h 288"/>
                <a:gd name="T12" fmla="*/ 144 w 288"/>
                <a:gd name="T13" fmla="*/ 12 h 288"/>
                <a:gd name="T14" fmla="*/ 12 w 288"/>
                <a:gd name="T15" fmla="*/ 144 h 288"/>
                <a:gd name="T16" fmla="*/ 144 w 288"/>
                <a:gd name="T17" fmla="*/ 276 h 288"/>
                <a:gd name="T18" fmla="*/ 150 w 288"/>
                <a:gd name="T19" fmla="*/ 282 h 288"/>
                <a:gd name="T20" fmla="*/ 144 w 288"/>
                <a:gd name="T21"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8" h="288">
                  <a:moveTo>
                    <a:pt x="144" y="288"/>
                  </a:moveTo>
                  <a:cubicBezTo>
                    <a:pt x="64" y="288"/>
                    <a:pt x="0" y="224"/>
                    <a:pt x="0" y="144"/>
                  </a:cubicBezTo>
                  <a:cubicBezTo>
                    <a:pt x="0" y="65"/>
                    <a:pt x="64" y="0"/>
                    <a:pt x="144" y="0"/>
                  </a:cubicBezTo>
                  <a:cubicBezTo>
                    <a:pt x="223" y="0"/>
                    <a:pt x="288" y="65"/>
                    <a:pt x="288" y="144"/>
                  </a:cubicBezTo>
                  <a:cubicBezTo>
                    <a:pt x="288" y="148"/>
                    <a:pt x="285" y="150"/>
                    <a:pt x="282" y="150"/>
                  </a:cubicBezTo>
                  <a:cubicBezTo>
                    <a:pt x="279" y="150"/>
                    <a:pt x="276" y="148"/>
                    <a:pt x="276" y="144"/>
                  </a:cubicBezTo>
                  <a:cubicBezTo>
                    <a:pt x="276" y="71"/>
                    <a:pt x="217" y="12"/>
                    <a:pt x="144" y="12"/>
                  </a:cubicBezTo>
                  <a:cubicBezTo>
                    <a:pt x="71" y="12"/>
                    <a:pt x="12" y="71"/>
                    <a:pt x="12" y="144"/>
                  </a:cubicBezTo>
                  <a:cubicBezTo>
                    <a:pt x="12" y="217"/>
                    <a:pt x="71" y="276"/>
                    <a:pt x="144" y="276"/>
                  </a:cubicBezTo>
                  <a:cubicBezTo>
                    <a:pt x="147" y="276"/>
                    <a:pt x="150" y="279"/>
                    <a:pt x="150" y="282"/>
                  </a:cubicBezTo>
                  <a:cubicBezTo>
                    <a:pt x="150" y="286"/>
                    <a:pt x="147" y="288"/>
                    <a:pt x="144" y="28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68" name="Freeform 31">
              <a:extLst>
                <a:ext uri="{FF2B5EF4-FFF2-40B4-BE49-F238E27FC236}">
                  <a16:creationId xmlns:a16="http://schemas.microsoft.com/office/drawing/2014/main" id="{1FBCA1D2-3A5E-1ED2-F95E-9371BE5DAE0D}"/>
                </a:ext>
              </a:extLst>
            </p:cNvPr>
            <p:cNvSpPr>
              <a:spLocks noGrp="1" noRot="1" noMove="1" noResize="1" noEditPoints="1" noAdjustHandles="1" noChangeArrowheads="1" noChangeShapeType="1"/>
            </p:cNvSpPr>
            <p:nvPr/>
          </p:nvSpPr>
          <p:spPr bwMode="auto">
            <a:xfrm>
              <a:off x="3821" y="795"/>
              <a:ext cx="231" cy="231"/>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2"/>
                    <a:pt x="12" y="78"/>
                  </a:cubicBezTo>
                  <a:cubicBezTo>
                    <a:pt x="12" y="115"/>
                    <a:pt x="41" y="144"/>
                    <a:pt x="78" y="144"/>
                  </a:cubicBezTo>
                  <a:cubicBezTo>
                    <a:pt x="114" y="144"/>
                    <a:pt x="144" y="115"/>
                    <a:pt x="144" y="78"/>
                  </a:cubicBezTo>
                  <a:cubicBezTo>
                    <a:pt x="144" y="42"/>
                    <a:pt x="114" y="12"/>
                    <a:pt x="78"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69" name="Freeform 32">
              <a:extLst>
                <a:ext uri="{FF2B5EF4-FFF2-40B4-BE49-F238E27FC236}">
                  <a16:creationId xmlns:a16="http://schemas.microsoft.com/office/drawing/2014/main" id="{5BB3C397-8DC9-4C89-29D6-001647A75050}"/>
                </a:ext>
              </a:extLst>
            </p:cNvPr>
            <p:cNvSpPr>
              <a:spLocks noGrp="1" noRot="1" noMove="1" noResize="1" noEditPoints="1" noAdjustHandles="1" noChangeArrowheads="1" noChangeShapeType="1"/>
            </p:cNvSpPr>
            <p:nvPr/>
          </p:nvSpPr>
          <p:spPr bwMode="auto">
            <a:xfrm>
              <a:off x="3902" y="851"/>
              <a:ext cx="68" cy="117"/>
            </a:xfrm>
            <a:custGeom>
              <a:avLst/>
              <a:gdLst>
                <a:gd name="T0" fmla="*/ 23 w 46"/>
                <a:gd name="T1" fmla="*/ 79 h 79"/>
                <a:gd name="T2" fmla="*/ 0 w 46"/>
                <a:gd name="T3" fmla="*/ 56 h 79"/>
                <a:gd name="T4" fmla="*/ 6 w 46"/>
                <a:gd name="T5" fmla="*/ 50 h 79"/>
                <a:gd name="T6" fmla="*/ 12 w 46"/>
                <a:gd name="T7" fmla="*/ 56 h 79"/>
                <a:gd name="T8" fmla="*/ 23 w 46"/>
                <a:gd name="T9" fmla="*/ 67 h 79"/>
                <a:gd name="T10" fmla="*/ 34 w 46"/>
                <a:gd name="T11" fmla="*/ 56 h 79"/>
                <a:gd name="T12" fmla="*/ 23 w 46"/>
                <a:gd name="T13" fmla="*/ 45 h 79"/>
                <a:gd name="T14" fmla="*/ 0 w 46"/>
                <a:gd name="T15" fmla="*/ 23 h 79"/>
                <a:gd name="T16" fmla="*/ 23 w 46"/>
                <a:gd name="T17" fmla="*/ 0 h 79"/>
                <a:gd name="T18" fmla="*/ 46 w 46"/>
                <a:gd name="T19" fmla="*/ 23 h 79"/>
                <a:gd name="T20" fmla="*/ 40 w 46"/>
                <a:gd name="T21" fmla="*/ 29 h 79"/>
                <a:gd name="T22" fmla="*/ 34 w 46"/>
                <a:gd name="T23" fmla="*/ 23 h 79"/>
                <a:gd name="T24" fmla="*/ 23 w 46"/>
                <a:gd name="T25" fmla="*/ 12 h 79"/>
                <a:gd name="T26" fmla="*/ 12 w 46"/>
                <a:gd name="T27" fmla="*/ 23 h 79"/>
                <a:gd name="T28" fmla="*/ 23 w 46"/>
                <a:gd name="T29" fmla="*/ 33 h 79"/>
                <a:gd name="T30" fmla="*/ 46 w 46"/>
                <a:gd name="T31" fmla="*/ 56 h 79"/>
                <a:gd name="T32" fmla="*/ 23 w 46"/>
                <a:gd name="T33" fmla="*/ 79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79">
                  <a:moveTo>
                    <a:pt x="23" y="79"/>
                  </a:moveTo>
                  <a:cubicBezTo>
                    <a:pt x="10" y="79"/>
                    <a:pt x="0" y="69"/>
                    <a:pt x="0" y="56"/>
                  </a:cubicBezTo>
                  <a:cubicBezTo>
                    <a:pt x="0" y="53"/>
                    <a:pt x="3" y="50"/>
                    <a:pt x="6" y="50"/>
                  </a:cubicBezTo>
                  <a:cubicBezTo>
                    <a:pt x="9" y="50"/>
                    <a:pt x="12" y="53"/>
                    <a:pt x="12" y="56"/>
                  </a:cubicBezTo>
                  <a:cubicBezTo>
                    <a:pt x="12" y="62"/>
                    <a:pt x="17" y="67"/>
                    <a:pt x="23" y="67"/>
                  </a:cubicBezTo>
                  <a:cubicBezTo>
                    <a:pt x="29" y="67"/>
                    <a:pt x="34" y="62"/>
                    <a:pt x="34" y="56"/>
                  </a:cubicBezTo>
                  <a:cubicBezTo>
                    <a:pt x="34" y="50"/>
                    <a:pt x="29" y="45"/>
                    <a:pt x="23" y="45"/>
                  </a:cubicBezTo>
                  <a:cubicBezTo>
                    <a:pt x="10" y="45"/>
                    <a:pt x="0" y="35"/>
                    <a:pt x="0" y="23"/>
                  </a:cubicBezTo>
                  <a:cubicBezTo>
                    <a:pt x="0" y="10"/>
                    <a:pt x="10" y="0"/>
                    <a:pt x="23" y="0"/>
                  </a:cubicBezTo>
                  <a:cubicBezTo>
                    <a:pt x="35" y="0"/>
                    <a:pt x="46" y="10"/>
                    <a:pt x="46" y="23"/>
                  </a:cubicBezTo>
                  <a:cubicBezTo>
                    <a:pt x="46" y="26"/>
                    <a:pt x="43" y="29"/>
                    <a:pt x="40" y="29"/>
                  </a:cubicBezTo>
                  <a:cubicBezTo>
                    <a:pt x="36" y="29"/>
                    <a:pt x="34" y="26"/>
                    <a:pt x="34" y="23"/>
                  </a:cubicBezTo>
                  <a:cubicBezTo>
                    <a:pt x="34" y="17"/>
                    <a:pt x="29" y="12"/>
                    <a:pt x="23" y="12"/>
                  </a:cubicBezTo>
                  <a:cubicBezTo>
                    <a:pt x="17" y="12"/>
                    <a:pt x="12" y="17"/>
                    <a:pt x="12" y="23"/>
                  </a:cubicBezTo>
                  <a:cubicBezTo>
                    <a:pt x="12" y="29"/>
                    <a:pt x="17" y="33"/>
                    <a:pt x="23" y="33"/>
                  </a:cubicBezTo>
                  <a:cubicBezTo>
                    <a:pt x="35" y="33"/>
                    <a:pt x="46" y="44"/>
                    <a:pt x="46" y="56"/>
                  </a:cubicBezTo>
                  <a:cubicBezTo>
                    <a:pt x="46" y="69"/>
                    <a:pt x="35" y="79"/>
                    <a:pt x="23" y="79"/>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0" name="Freeform 33">
              <a:extLst>
                <a:ext uri="{FF2B5EF4-FFF2-40B4-BE49-F238E27FC236}">
                  <a16:creationId xmlns:a16="http://schemas.microsoft.com/office/drawing/2014/main" id="{98E014B9-30DD-4A02-BA76-622868153D63}"/>
                </a:ext>
              </a:extLst>
            </p:cNvPr>
            <p:cNvSpPr>
              <a:spLocks noGrp="1" noRot="1" noMove="1" noResize="1" noEditPoints="1" noAdjustHandles="1" noChangeArrowheads="1" noChangeShapeType="1"/>
            </p:cNvSpPr>
            <p:nvPr/>
          </p:nvSpPr>
          <p:spPr bwMode="auto">
            <a:xfrm>
              <a:off x="3927" y="951"/>
              <a:ext cx="18" cy="34"/>
            </a:xfrm>
            <a:custGeom>
              <a:avLst/>
              <a:gdLst>
                <a:gd name="T0" fmla="*/ 6 w 12"/>
                <a:gd name="T1" fmla="*/ 23 h 23"/>
                <a:gd name="T2" fmla="*/ 0 w 12"/>
                <a:gd name="T3" fmla="*/ 17 h 23"/>
                <a:gd name="T4" fmla="*/ 0 w 12"/>
                <a:gd name="T5" fmla="*/ 6 h 23"/>
                <a:gd name="T6" fmla="*/ 6 w 12"/>
                <a:gd name="T7" fmla="*/ 0 h 23"/>
                <a:gd name="T8" fmla="*/ 12 w 12"/>
                <a:gd name="T9" fmla="*/ 6 h 23"/>
                <a:gd name="T10" fmla="*/ 12 w 12"/>
                <a:gd name="T11" fmla="*/ 17 h 23"/>
                <a:gd name="T12" fmla="*/ 6 w 12"/>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2" h="23">
                  <a:moveTo>
                    <a:pt x="6" y="23"/>
                  </a:moveTo>
                  <a:cubicBezTo>
                    <a:pt x="3" y="23"/>
                    <a:pt x="0" y="20"/>
                    <a:pt x="0" y="17"/>
                  </a:cubicBezTo>
                  <a:cubicBezTo>
                    <a:pt x="0" y="6"/>
                    <a:pt x="0" y="6"/>
                    <a:pt x="0" y="6"/>
                  </a:cubicBezTo>
                  <a:cubicBezTo>
                    <a:pt x="0" y="2"/>
                    <a:pt x="3" y="0"/>
                    <a:pt x="6" y="0"/>
                  </a:cubicBezTo>
                  <a:cubicBezTo>
                    <a:pt x="9" y="0"/>
                    <a:pt x="12" y="2"/>
                    <a:pt x="12" y="6"/>
                  </a:cubicBezTo>
                  <a:cubicBezTo>
                    <a:pt x="12" y="17"/>
                    <a:pt x="12" y="17"/>
                    <a:pt x="12" y="17"/>
                  </a:cubicBezTo>
                  <a:cubicBezTo>
                    <a:pt x="12" y="20"/>
                    <a:pt x="9" y="23"/>
                    <a:pt x="6" y="2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1" name="Freeform 34">
              <a:extLst>
                <a:ext uri="{FF2B5EF4-FFF2-40B4-BE49-F238E27FC236}">
                  <a16:creationId xmlns:a16="http://schemas.microsoft.com/office/drawing/2014/main" id="{F9B5E6C6-21CE-B802-1438-59FA3277ECDE}"/>
                </a:ext>
              </a:extLst>
            </p:cNvPr>
            <p:cNvSpPr>
              <a:spLocks noGrp="1" noRot="1" noMove="1" noResize="1" noEditPoints="1" noAdjustHandles="1" noChangeArrowheads="1" noChangeShapeType="1"/>
            </p:cNvSpPr>
            <p:nvPr/>
          </p:nvSpPr>
          <p:spPr bwMode="auto">
            <a:xfrm>
              <a:off x="3927" y="835"/>
              <a:ext cx="18" cy="34"/>
            </a:xfrm>
            <a:custGeom>
              <a:avLst/>
              <a:gdLst>
                <a:gd name="T0" fmla="*/ 6 w 12"/>
                <a:gd name="T1" fmla="*/ 23 h 23"/>
                <a:gd name="T2" fmla="*/ 0 w 12"/>
                <a:gd name="T3" fmla="*/ 17 h 23"/>
                <a:gd name="T4" fmla="*/ 0 w 12"/>
                <a:gd name="T5" fmla="*/ 6 h 23"/>
                <a:gd name="T6" fmla="*/ 6 w 12"/>
                <a:gd name="T7" fmla="*/ 0 h 23"/>
                <a:gd name="T8" fmla="*/ 12 w 12"/>
                <a:gd name="T9" fmla="*/ 6 h 23"/>
                <a:gd name="T10" fmla="*/ 12 w 12"/>
                <a:gd name="T11" fmla="*/ 17 h 23"/>
                <a:gd name="T12" fmla="*/ 6 w 12"/>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2" h="23">
                  <a:moveTo>
                    <a:pt x="6" y="23"/>
                  </a:moveTo>
                  <a:cubicBezTo>
                    <a:pt x="3" y="23"/>
                    <a:pt x="0" y="20"/>
                    <a:pt x="0" y="17"/>
                  </a:cubicBezTo>
                  <a:cubicBezTo>
                    <a:pt x="0" y="6"/>
                    <a:pt x="0" y="6"/>
                    <a:pt x="0" y="6"/>
                  </a:cubicBezTo>
                  <a:cubicBezTo>
                    <a:pt x="0" y="3"/>
                    <a:pt x="3" y="0"/>
                    <a:pt x="6" y="0"/>
                  </a:cubicBezTo>
                  <a:cubicBezTo>
                    <a:pt x="9" y="0"/>
                    <a:pt x="12" y="3"/>
                    <a:pt x="12" y="6"/>
                  </a:cubicBezTo>
                  <a:cubicBezTo>
                    <a:pt x="12" y="17"/>
                    <a:pt x="12" y="17"/>
                    <a:pt x="12" y="17"/>
                  </a:cubicBezTo>
                  <a:cubicBezTo>
                    <a:pt x="12" y="20"/>
                    <a:pt x="9" y="23"/>
                    <a:pt x="6" y="2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2" name="Freeform 35">
              <a:extLst>
                <a:ext uri="{FF2B5EF4-FFF2-40B4-BE49-F238E27FC236}">
                  <a16:creationId xmlns:a16="http://schemas.microsoft.com/office/drawing/2014/main" id="{E6A2991B-0DB3-557C-E21C-016019BB29BC}"/>
                </a:ext>
              </a:extLst>
            </p:cNvPr>
            <p:cNvSpPr>
              <a:spLocks noGrp="1" noRot="1" noMove="1" noResize="1" noEditPoints="1" noAdjustHandles="1" noChangeArrowheads="1" noChangeShapeType="1"/>
            </p:cNvSpPr>
            <p:nvPr/>
          </p:nvSpPr>
          <p:spPr bwMode="auto">
            <a:xfrm>
              <a:off x="3695" y="607"/>
              <a:ext cx="213" cy="313"/>
            </a:xfrm>
            <a:custGeom>
              <a:avLst/>
              <a:gdLst>
                <a:gd name="T0" fmla="*/ 67 w 144"/>
                <a:gd name="T1" fmla="*/ 211 h 211"/>
                <a:gd name="T2" fmla="*/ 61 w 144"/>
                <a:gd name="T3" fmla="*/ 205 h 211"/>
                <a:gd name="T4" fmla="*/ 61 w 144"/>
                <a:gd name="T5" fmla="*/ 178 h 211"/>
                <a:gd name="T6" fmla="*/ 3 w 144"/>
                <a:gd name="T7" fmla="*/ 132 h 211"/>
                <a:gd name="T8" fmla="*/ 2 w 144"/>
                <a:gd name="T9" fmla="*/ 124 h 211"/>
                <a:gd name="T10" fmla="*/ 29 w 144"/>
                <a:gd name="T11" fmla="*/ 82 h 211"/>
                <a:gd name="T12" fmla="*/ 34 w 144"/>
                <a:gd name="T13" fmla="*/ 79 h 211"/>
                <a:gd name="T14" fmla="*/ 97 w 144"/>
                <a:gd name="T15" fmla="*/ 79 h 211"/>
                <a:gd name="T16" fmla="*/ 97 w 144"/>
                <a:gd name="T17" fmla="*/ 52 h 211"/>
                <a:gd name="T18" fmla="*/ 82 w 144"/>
                <a:gd name="T19" fmla="*/ 42 h 211"/>
                <a:gd name="T20" fmla="*/ 79 w 144"/>
                <a:gd name="T21" fmla="*/ 37 h 211"/>
                <a:gd name="T22" fmla="*/ 82 w 144"/>
                <a:gd name="T23" fmla="*/ 32 h 211"/>
                <a:gd name="T24" fmla="*/ 134 w 144"/>
                <a:gd name="T25" fmla="*/ 2 h 211"/>
                <a:gd name="T26" fmla="*/ 142 w 144"/>
                <a:gd name="T27" fmla="*/ 4 h 211"/>
                <a:gd name="T28" fmla="*/ 140 w 144"/>
                <a:gd name="T29" fmla="*/ 12 h 211"/>
                <a:gd name="T30" fmla="*/ 96 w 144"/>
                <a:gd name="T31" fmla="*/ 38 h 211"/>
                <a:gd name="T32" fmla="*/ 106 w 144"/>
                <a:gd name="T33" fmla="*/ 44 h 211"/>
                <a:gd name="T34" fmla="*/ 109 w 144"/>
                <a:gd name="T35" fmla="*/ 49 h 211"/>
                <a:gd name="T36" fmla="*/ 109 w 144"/>
                <a:gd name="T37" fmla="*/ 85 h 211"/>
                <a:gd name="T38" fmla="*/ 103 w 144"/>
                <a:gd name="T39" fmla="*/ 91 h 211"/>
                <a:gd name="T40" fmla="*/ 37 w 144"/>
                <a:gd name="T41" fmla="*/ 91 h 211"/>
                <a:gd name="T42" fmla="*/ 15 w 144"/>
                <a:gd name="T43" fmla="*/ 126 h 211"/>
                <a:gd name="T44" fmla="*/ 71 w 144"/>
                <a:gd name="T45" fmla="*/ 171 h 211"/>
                <a:gd name="T46" fmla="*/ 73 w 144"/>
                <a:gd name="T47" fmla="*/ 175 h 211"/>
                <a:gd name="T48" fmla="*/ 73 w 144"/>
                <a:gd name="T49" fmla="*/ 205 h 211"/>
                <a:gd name="T50" fmla="*/ 67 w 144"/>
                <a:gd name="T51" fmla="*/ 211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4" h="211">
                  <a:moveTo>
                    <a:pt x="67" y="211"/>
                  </a:moveTo>
                  <a:cubicBezTo>
                    <a:pt x="64" y="211"/>
                    <a:pt x="61" y="209"/>
                    <a:pt x="61" y="205"/>
                  </a:cubicBezTo>
                  <a:cubicBezTo>
                    <a:pt x="61" y="178"/>
                    <a:pt x="61" y="178"/>
                    <a:pt x="61" y="178"/>
                  </a:cubicBezTo>
                  <a:cubicBezTo>
                    <a:pt x="3" y="132"/>
                    <a:pt x="3" y="132"/>
                    <a:pt x="3" y="132"/>
                  </a:cubicBezTo>
                  <a:cubicBezTo>
                    <a:pt x="1" y="130"/>
                    <a:pt x="0" y="127"/>
                    <a:pt x="2" y="124"/>
                  </a:cubicBezTo>
                  <a:cubicBezTo>
                    <a:pt x="29" y="82"/>
                    <a:pt x="29" y="82"/>
                    <a:pt x="29" y="82"/>
                  </a:cubicBezTo>
                  <a:cubicBezTo>
                    <a:pt x="30" y="80"/>
                    <a:pt x="32" y="79"/>
                    <a:pt x="34" y="79"/>
                  </a:cubicBezTo>
                  <a:cubicBezTo>
                    <a:pt x="97" y="79"/>
                    <a:pt x="97" y="79"/>
                    <a:pt x="97" y="79"/>
                  </a:cubicBezTo>
                  <a:cubicBezTo>
                    <a:pt x="97" y="52"/>
                    <a:pt x="97" y="52"/>
                    <a:pt x="97" y="52"/>
                  </a:cubicBezTo>
                  <a:cubicBezTo>
                    <a:pt x="82" y="42"/>
                    <a:pt x="82" y="42"/>
                    <a:pt x="82" y="42"/>
                  </a:cubicBezTo>
                  <a:cubicBezTo>
                    <a:pt x="80" y="41"/>
                    <a:pt x="79" y="39"/>
                    <a:pt x="79" y="37"/>
                  </a:cubicBezTo>
                  <a:cubicBezTo>
                    <a:pt x="79" y="35"/>
                    <a:pt x="80" y="33"/>
                    <a:pt x="82" y="32"/>
                  </a:cubicBezTo>
                  <a:cubicBezTo>
                    <a:pt x="134" y="2"/>
                    <a:pt x="134" y="2"/>
                    <a:pt x="134" y="2"/>
                  </a:cubicBezTo>
                  <a:cubicBezTo>
                    <a:pt x="137" y="0"/>
                    <a:pt x="141" y="1"/>
                    <a:pt x="142" y="4"/>
                  </a:cubicBezTo>
                  <a:cubicBezTo>
                    <a:pt x="144" y="7"/>
                    <a:pt x="143" y="11"/>
                    <a:pt x="140" y="12"/>
                  </a:cubicBezTo>
                  <a:cubicBezTo>
                    <a:pt x="96" y="38"/>
                    <a:pt x="96" y="38"/>
                    <a:pt x="96" y="38"/>
                  </a:cubicBezTo>
                  <a:cubicBezTo>
                    <a:pt x="106" y="44"/>
                    <a:pt x="106" y="44"/>
                    <a:pt x="106" y="44"/>
                  </a:cubicBezTo>
                  <a:cubicBezTo>
                    <a:pt x="108" y="45"/>
                    <a:pt x="109" y="47"/>
                    <a:pt x="109" y="49"/>
                  </a:cubicBezTo>
                  <a:cubicBezTo>
                    <a:pt x="109" y="85"/>
                    <a:pt x="109" y="85"/>
                    <a:pt x="109" y="85"/>
                  </a:cubicBezTo>
                  <a:cubicBezTo>
                    <a:pt x="109" y="89"/>
                    <a:pt x="106" y="91"/>
                    <a:pt x="103" y="91"/>
                  </a:cubicBezTo>
                  <a:cubicBezTo>
                    <a:pt x="37" y="91"/>
                    <a:pt x="37" y="91"/>
                    <a:pt x="37" y="91"/>
                  </a:cubicBezTo>
                  <a:cubicBezTo>
                    <a:pt x="15" y="126"/>
                    <a:pt x="15" y="126"/>
                    <a:pt x="15" y="126"/>
                  </a:cubicBezTo>
                  <a:cubicBezTo>
                    <a:pt x="71" y="171"/>
                    <a:pt x="71" y="171"/>
                    <a:pt x="71" y="171"/>
                  </a:cubicBezTo>
                  <a:cubicBezTo>
                    <a:pt x="72" y="172"/>
                    <a:pt x="73" y="173"/>
                    <a:pt x="73" y="175"/>
                  </a:cubicBezTo>
                  <a:cubicBezTo>
                    <a:pt x="73" y="205"/>
                    <a:pt x="73" y="205"/>
                    <a:pt x="73" y="205"/>
                  </a:cubicBezTo>
                  <a:cubicBezTo>
                    <a:pt x="73" y="209"/>
                    <a:pt x="70" y="211"/>
                    <a:pt x="67" y="211"/>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3" name="Freeform 36">
              <a:extLst>
                <a:ext uri="{FF2B5EF4-FFF2-40B4-BE49-F238E27FC236}">
                  <a16:creationId xmlns:a16="http://schemas.microsoft.com/office/drawing/2014/main" id="{152CDA7D-3D68-3D0A-CBAA-429B459779CE}"/>
                </a:ext>
              </a:extLst>
            </p:cNvPr>
            <p:cNvSpPr>
              <a:spLocks noGrp="1" noRot="1" noMove="1" noResize="1" noEditPoints="1" noAdjustHandles="1" noChangeArrowheads="1" noChangeShapeType="1"/>
            </p:cNvSpPr>
            <p:nvPr/>
          </p:nvSpPr>
          <p:spPr bwMode="auto">
            <a:xfrm>
              <a:off x="3886" y="665"/>
              <a:ext cx="114" cy="108"/>
            </a:xfrm>
            <a:custGeom>
              <a:avLst/>
              <a:gdLst>
                <a:gd name="T0" fmla="*/ 7 w 77"/>
                <a:gd name="T1" fmla="*/ 73 h 73"/>
                <a:gd name="T2" fmla="*/ 3 w 77"/>
                <a:gd name="T3" fmla="*/ 71 h 73"/>
                <a:gd name="T4" fmla="*/ 3 w 77"/>
                <a:gd name="T5" fmla="*/ 63 h 73"/>
                <a:gd name="T6" fmla="*/ 24 w 77"/>
                <a:gd name="T7" fmla="*/ 42 h 73"/>
                <a:gd name="T8" fmla="*/ 28 w 77"/>
                <a:gd name="T9" fmla="*/ 40 h 73"/>
                <a:gd name="T10" fmla="*/ 45 w 77"/>
                <a:gd name="T11" fmla="*/ 40 h 73"/>
                <a:gd name="T12" fmla="*/ 65 w 77"/>
                <a:gd name="T13" fmla="*/ 4 h 73"/>
                <a:gd name="T14" fmla="*/ 73 w 77"/>
                <a:gd name="T15" fmla="*/ 2 h 73"/>
                <a:gd name="T16" fmla="*/ 75 w 77"/>
                <a:gd name="T17" fmla="*/ 10 h 73"/>
                <a:gd name="T18" fmla="*/ 54 w 77"/>
                <a:gd name="T19" fmla="*/ 49 h 73"/>
                <a:gd name="T20" fmla="*/ 49 w 77"/>
                <a:gd name="T21" fmla="*/ 52 h 73"/>
                <a:gd name="T22" fmla="*/ 30 w 77"/>
                <a:gd name="T23" fmla="*/ 52 h 73"/>
                <a:gd name="T24" fmla="*/ 11 w 77"/>
                <a:gd name="T25" fmla="*/ 71 h 73"/>
                <a:gd name="T26" fmla="*/ 7 w 77"/>
                <a:gd name="T27"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7" h="73">
                  <a:moveTo>
                    <a:pt x="7" y="73"/>
                  </a:moveTo>
                  <a:cubicBezTo>
                    <a:pt x="5" y="73"/>
                    <a:pt x="4" y="73"/>
                    <a:pt x="3" y="71"/>
                  </a:cubicBezTo>
                  <a:cubicBezTo>
                    <a:pt x="0" y="69"/>
                    <a:pt x="0" y="65"/>
                    <a:pt x="3" y="63"/>
                  </a:cubicBezTo>
                  <a:cubicBezTo>
                    <a:pt x="24" y="42"/>
                    <a:pt x="24" y="42"/>
                    <a:pt x="24" y="42"/>
                  </a:cubicBezTo>
                  <a:cubicBezTo>
                    <a:pt x="25" y="41"/>
                    <a:pt x="26" y="40"/>
                    <a:pt x="28" y="40"/>
                  </a:cubicBezTo>
                  <a:cubicBezTo>
                    <a:pt x="45" y="40"/>
                    <a:pt x="45" y="40"/>
                    <a:pt x="45" y="40"/>
                  </a:cubicBezTo>
                  <a:cubicBezTo>
                    <a:pt x="65" y="4"/>
                    <a:pt x="65" y="4"/>
                    <a:pt x="65" y="4"/>
                  </a:cubicBezTo>
                  <a:cubicBezTo>
                    <a:pt x="66" y="2"/>
                    <a:pt x="70" y="0"/>
                    <a:pt x="73" y="2"/>
                  </a:cubicBezTo>
                  <a:cubicBezTo>
                    <a:pt x="76" y="4"/>
                    <a:pt x="77" y="7"/>
                    <a:pt x="75" y="10"/>
                  </a:cubicBezTo>
                  <a:cubicBezTo>
                    <a:pt x="54" y="49"/>
                    <a:pt x="54" y="49"/>
                    <a:pt x="54" y="49"/>
                  </a:cubicBezTo>
                  <a:cubicBezTo>
                    <a:pt x="53" y="51"/>
                    <a:pt x="51" y="52"/>
                    <a:pt x="49" y="52"/>
                  </a:cubicBezTo>
                  <a:cubicBezTo>
                    <a:pt x="30" y="52"/>
                    <a:pt x="30" y="52"/>
                    <a:pt x="30" y="52"/>
                  </a:cubicBezTo>
                  <a:cubicBezTo>
                    <a:pt x="11" y="71"/>
                    <a:pt x="11" y="71"/>
                    <a:pt x="11" y="71"/>
                  </a:cubicBezTo>
                  <a:cubicBezTo>
                    <a:pt x="10" y="73"/>
                    <a:pt x="8" y="73"/>
                    <a:pt x="7" y="7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pic>
        <p:nvPicPr>
          <p:cNvPr id="75" name="Graphic 74" descr="Warning outline">
            <a:extLst>
              <a:ext uri="{FF2B5EF4-FFF2-40B4-BE49-F238E27FC236}">
                <a16:creationId xmlns:a16="http://schemas.microsoft.com/office/drawing/2014/main" id="{2DE9D042-E8AF-77B2-685F-27B67E3AA9FA}"/>
              </a:ext>
            </a:extLst>
          </p:cNvPr>
          <p:cNvPicPr>
            <a:picLocks noGrp="1" noRot="1" noChangeAspect="1" noMove="1" noResize="1" noEditPoints="1" noAdjustHandles="1" noChangeArrowheads="1" noChangeShapeType="1" noCrop="1"/>
          </p:cNvPicPr>
          <p:nvPr userDrawn="1"/>
        </p:nvPicPr>
        <p:blipFill>
          <a:blip r:embed="rId5">
            <a:extLst>
              <a:ext uri="{96DAC541-7B7A-43D3-8B79-37D633B846F1}">
                <asvg:svgBlip xmlns:asvg="http://schemas.microsoft.com/office/drawing/2016/SVG/main" r:embed="rId6"/>
              </a:ext>
            </a:extLst>
          </a:blip>
          <a:stretch>
            <a:fillRect/>
          </a:stretch>
        </p:blipFill>
        <p:spPr>
          <a:xfrm>
            <a:off x="8719357" y="2450825"/>
            <a:ext cx="259001" cy="259001"/>
          </a:xfrm>
          <a:prstGeom prst="rect">
            <a:avLst/>
          </a:prstGeom>
        </p:spPr>
      </p:pic>
      <p:sp>
        <p:nvSpPr>
          <p:cNvPr id="76" name="Title 1">
            <a:extLst>
              <a:ext uri="{FF2B5EF4-FFF2-40B4-BE49-F238E27FC236}">
                <a16:creationId xmlns:a16="http://schemas.microsoft.com/office/drawing/2014/main" id="{CC8E3926-B814-07F3-EA99-88880B2D174E}"/>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Engagement Partners</a:t>
            </a:r>
            <a:endParaRPr lang="en-AE" dirty="0"/>
          </a:p>
        </p:txBody>
      </p:sp>
      <p:sp>
        <p:nvSpPr>
          <p:cNvPr id="77" name="TextBox 76">
            <a:extLst>
              <a:ext uri="{FF2B5EF4-FFF2-40B4-BE49-F238E27FC236}">
                <a16:creationId xmlns:a16="http://schemas.microsoft.com/office/drawing/2014/main" id="{5495B9DB-2223-7720-007E-FD13CCBBF622}"/>
              </a:ext>
            </a:extLst>
          </p:cNvPr>
          <p:cNvSpPr txBox="1">
            <a:spLocks noGrp="1" noRot="1" noMove="1" noResize="1" noEditPoints="1" noAdjustHandles="1" noChangeArrowheads="1" noChangeShapeType="1"/>
          </p:cNvSpPr>
          <p:nvPr userDrawn="1"/>
        </p:nvSpPr>
        <p:spPr>
          <a:xfrm>
            <a:off x="900602" y="1305404"/>
            <a:ext cx="712506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Client Excellence</a:t>
            </a:r>
          </a:p>
        </p:txBody>
      </p:sp>
    </p:spTree>
    <p:extLst>
      <p:ext uri="{BB962C8B-B14F-4D97-AF65-F5344CB8AC3E}">
        <p14:creationId xmlns:p14="http://schemas.microsoft.com/office/powerpoint/2010/main" val="416086244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p:cNvSpPr>
          <p:nvPr>
            <p:ph idx="1" hasCustomPrompt="1"/>
          </p:nvPr>
        </p:nvSpPr>
        <p:spPr>
          <a:xfrm>
            <a:off x="838200" y="4433853"/>
            <a:ext cx="7243012" cy="1743110"/>
          </a:xfrm>
        </p:spPr>
        <p:txBody>
          <a:bodyPr/>
          <a:lstStyle>
            <a:lvl1pPr>
              <a:defRPr sz="900"/>
            </a:lvl1pPr>
            <a:lvl2pPr>
              <a:defRPr sz="7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5B1451D5-A6AB-0A43-AF31-BAE02F9C113D}"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2" name="TextBox 1">
            <a:extLst>
              <a:ext uri="{FF2B5EF4-FFF2-40B4-BE49-F238E27FC236}">
                <a16:creationId xmlns:a16="http://schemas.microsoft.com/office/drawing/2014/main" id="{F55DA05D-D465-9429-E2D5-9F4693C3B407}"/>
              </a:ext>
            </a:extLst>
          </p:cNvPr>
          <p:cNvSpPr txBox="1">
            <a:spLocks/>
          </p:cNvSpPr>
          <p:nvPr userDrawn="1"/>
        </p:nvSpPr>
        <p:spPr>
          <a:xfrm>
            <a:off x="8257296" y="1309784"/>
            <a:ext cx="2792995" cy="584775"/>
          </a:xfrm>
          <a:prstGeom prst="rect">
            <a:avLst/>
          </a:prstGeom>
          <a:noFill/>
        </p:spPr>
        <p:txBody>
          <a:bodyPr wrap="square">
            <a:spAutoFit/>
          </a:bodyPr>
          <a:lstStyle/>
          <a:p>
            <a:pPr algn="l"/>
            <a:r>
              <a:rPr lang="en-US" sz="1600" b="1" i="0" u="none" strike="noStrike" dirty="0">
                <a:solidFill>
                  <a:schemeClr val="bg1"/>
                </a:solidFill>
                <a:effectLst/>
                <a:latin typeface="Aptos ExtraBold" panose="020B0004020202020204" pitchFamily="34" charset="0"/>
              </a:rPr>
              <a:t>Transparent &amp; Value-Driven Pricing</a:t>
            </a:r>
          </a:p>
        </p:txBody>
      </p:sp>
      <p:sp>
        <p:nvSpPr>
          <p:cNvPr id="4" name="Title 1">
            <a:extLst>
              <a:ext uri="{FF2B5EF4-FFF2-40B4-BE49-F238E27FC236}">
                <a16:creationId xmlns:a16="http://schemas.microsoft.com/office/drawing/2014/main" id="{FAD61149-8229-E21A-EF18-7AECB3210A93}"/>
              </a:ext>
            </a:extLst>
          </p:cNvPr>
          <p:cNvSpPr txBox="1"/>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Commercial Proposal for Maximum Value</a:t>
            </a:r>
            <a:endParaRPr lang="en-AE" dirty="0"/>
          </a:p>
        </p:txBody>
      </p:sp>
      <p:sp>
        <p:nvSpPr>
          <p:cNvPr id="15" name="TextBox 14">
            <a:extLst>
              <a:ext uri="{FF2B5EF4-FFF2-40B4-BE49-F238E27FC236}">
                <a16:creationId xmlns:a16="http://schemas.microsoft.com/office/drawing/2014/main" id="{A341D621-5A78-0BF0-37D3-39C99484F389}"/>
              </a:ext>
            </a:extLst>
          </p:cNvPr>
          <p:cNvSpPr txBox="1"/>
          <p:nvPr userDrawn="1"/>
        </p:nvSpPr>
        <p:spPr>
          <a:xfrm>
            <a:off x="8257297" y="1956894"/>
            <a:ext cx="2792995" cy="4147289"/>
          </a:xfrm>
          <a:prstGeom prst="rect">
            <a:avLst/>
          </a:prstGeom>
          <a:noFill/>
        </p:spPr>
        <p:txBody>
          <a:bodyPr wrap="square">
            <a:spAutoFit/>
          </a:bodyPr>
          <a:lstStyle/>
          <a:p>
            <a:pPr marL="285750" indent="-285750" algn="just">
              <a:buFont typeface="Arial" panose="020B0604020202020204" pitchFamily="34" charset="0"/>
              <a:buChar char="•"/>
            </a:pPr>
            <a:r>
              <a:rPr lang="en-GB" sz="850" dirty="0">
                <a:solidFill>
                  <a:schemeClr val="bg1"/>
                </a:solidFill>
              </a:rPr>
              <a:t>Our fee structure is designed to reflect the level of responsibility, expertise, and time commitment required to successfully execute your mandate. We pride ourselves on offering competitive rates that align with the resource commitment and personalized service we provide.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Our hands-on approach ensures that we contribute significantly to the effort needed for a successful outcome, allowing your team to focus on core business activities without operational interruptions.</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This proposal is based on our estimated time costs, calculated using our standard rates that account for the experience and seniority of the staff involved.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We are committed to providing transparency and value, ensuring you understand the benefits of engaging Pnyx Hill as your service provider.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Any additional fees will be communicated and agreed upon in advance, ensuring there are no surprises.</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By choosing us, you can be confident in receiving dedicated support that enables your front office to achieve commercial objectives while we handle the complexities of compliance and regulatory requirements.</a:t>
            </a:r>
          </a:p>
        </p:txBody>
      </p:sp>
    </p:spTree>
    <p:extLst>
      <p:ext uri="{BB962C8B-B14F-4D97-AF65-F5344CB8AC3E}">
        <p14:creationId xmlns:p14="http://schemas.microsoft.com/office/powerpoint/2010/main" val="226516402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12290" name="Picture 2">
            <a:extLst>
              <a:ext uri="{FF2B5EF4-FFF2-40B4-BE49-F238E27FC236}">
                <a16:creationId xmlns:a16="http://schemas.microsoft.com/office/drawing/2014/main" id="{703BD479-8D0B-05E2-C295-FAC9DB1DE323}"/>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a:ext>
            </a:extLst>
          </a:blip>
          <a:srcRect/>
          <a:stretch/>
        </p:blipFill>
        <p:spPr bwMode="auto">
          <a:xfrm>
            <a:off x="0" y="0"/>
            <a:ext cx="452506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0AD7841D-6EC2-B3D3-EFA3-53117598B1D9}"/>
              </a:ext>
            </a:extLst>
          </p:cNvPr>
          <p:cNvSpPr>
            <a:spLocks noGrp="1"/>
          </p:cNvSpPr>
          <p:nvPr>
            <p:ph type="dt" sz="half" idx="10"/>
          </p:nvPr>
        </p:nvSpPr>
        <p:spPr>
          <a:xfrm>
            <a:off x="2018488" y="6356350"/>
            <a:ext cx="1562912" cy="365125"/>
          </a:xfrm>
        </p:spPr>
        <p:txBody>
          <a:bodyPr/>
          <a:lstStyle>
            <a:lvl1pPr algn="r">
              <a:defRPr sz="1000"/>
            </a:lvl1pPr>
          </a:lstStyle>
          <a:p>
            <a:fld id="{6288F501-14FD-8647-8CE2-05776A932237}" type="datetime1">
              <a:rPr lang="en-US" smtClean="0"/>
              <a:t>11/19/2025</a:t>
            </a:fld>
            <a:endParaRPr lang="en-AE"/>
          </a:p>
        </p:txBody>
      </p:sp>
      <p:sp>
        <p:nvSpPr>
          <p:cNvPr id="6" name="Slide Number Placeholder 5">
            <a:extLst>
              <a:ext uri="{FF2B5EF4-FFF2-40B4-BE49-F238E27FC236}">
                <a16:creationId xmlns:a16="http://schemas.microsoft.com/office/drawing/2014/main" id="{230CE271-72F2-688B-3011-83FB7EA0EF45}"/>
              </a:ext>
            </a:extLst>
          </p:cNvPr>
          <p:cNvSpPr>
            <a:spLocks noGrp="1" noRot="1" noMove="1" noResize="1" noEditPoints="1" noAdjustHandles="1" noChangeArrowheads="1" noChangeShapeType="1"/>
          </p:cNvSpPr>
          <p:nvPr>
            <p:ph type="sldNum" sz="quarter" idx="12"/>
          </p:nvPr>
        </p:nvSpPr>
        <p:spPr/>
        <p:txBody>
          <a:bodyPr/>
          <a:lstStyle>
            <a:lvl1pPr>
              <a:defRPr sz="1000"/>
            </a:lvl1pPr>
          </a:lstStyle>
          <a:p>
            <a:fld id="{FEBB2247-6CF9-174D-B1BD-16046E6DC6C6}" type="slidenum">
              <a:rPr lang="en-AE" smtClean="0"/>
              <a:pPr/>
              <a:t>‹#›</a:t>
            </a:fld>
            <a:endParaRPr lang="en-AE"/>
          </a:p>
        </p:txBody>
      </p:sp>
      <p:pic>
        <p:nvPicPr>
          <p:cNvPr id="8" name="Picture 7">
            <a:extLst>
              <a:ext uri="{FF2B5EF4-FFF2-40B4-BE49-F238E27FC236}">
                <a16:creationId xmlns:a16="http://schemas.microsoft.com/office/drawing/2014/main" id="{7C7FE1E5-CA74-1AC3-3235-3992D640428E}"/>
              </a:ext>
            </a:extLst>
          </p:cNvPr>
          <p:cNvPicPr>
            <a:picLocks noGrp="1" noRot="1" noChangeAspec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6811246" y="686060"/>
            <a:ext cx="3127484" cy="967495"/>
          </a:xfrm>
          <a:prstGeom prst="rect">
            <a:avLst/>
          </a:prstGeom>
        </p:spPr>
      </p:pic>
      <p:pic>
        <p:nvPicPr>
          <p:cNvPr id="10" name="Picture 2">
            <a:extLst>
              <a:ext uri="{FF2B5EF4-FFF2-40B4-BE49-F238E27FC236}">
                <a16:creationId xmlns:a16="http://schemas.microsoft.com/office/drawing/2014/main" id="{BAE3F37B-EE43-82B0-5586-5199F8C0DFAC}"/>
              </a:ext>
            </a:extLst>
          </p:cNvPr>
          <p:cNvPicPr>
            <a:picLocks noGrp="1" noRot="1" noChangeAspect="1" noMove="1" noResize="1" noEditPoints="1" noAdjustHandles="1" noChangeArrowheads="1" noChangeShapeType="1" noCrop="1"/>
          </p:cNvPicPr>
          <p:nvPr userDrawn="1"/>
        </p:nvPicPr>
        <p:blipFill>
          <a:blip r:embed="rId4" cstate="print">
            <a:extLst>
              <a:ext uri="{28A0092B-C50C-407E-A947-70E740481C1C}">
                <a14:useLocalDpi xmlns:a14="http://schemas.microsoft.com/office/drawing/2010/main"/>
              </a:ext>
            </a:extLst>
          </a:blip>
          <a:srcRect/>
          <a:stretch/>
        </p:blipFill>
        <p:spPr bwMode="auto">
          <a:xfrm>
            <a:off x="5986197" y="5811316"/>
            <a:ext cx="559183" cy="300894"/>
          </a:xfrm>
          <a:prstGeom prst="rect">
            <a:avLst/>
          </a:prstGeom>
          <a:noFill/>
          <a:extLst>
            <a:ext uri="{909E8E84-426E-40DD-AFC4-6F175D3DCCD1}">
              <a14:hiddenFill xmlns:a14="http://schemas.microsoft.com/office/drawing/2010/main">
                <a:solidFill>
                  <a:srgbClr val="FFFFFF"/>
                </a:solidFill>
              </a14:hiddenFill>
            </a:ext>
          </a:extLst>
        </p:spPr>
      </p:pic>
      <p:sp>
        <p:nvSpPr>
          <p:cNvPr id="19" name="Subtitle 2">
            <a:extLst>
              <a:ext uri="{FF2B5EF4-FFF2-40B4-BE49-F238E27FC236}">
                <a16:creationId xmlns:a16="http://schemas.microsoft.com/office/drawing/2014/main" id="{470A0FF0-4B19-ECEE-B126-8CD833B78BD0}"/>
              </a:ext>
            </a:extLst>
          </p:cNvPr>
          <p:cNvSpPr txBox="1">
            <a:spLocks noGrp="1" noRot="1" noMove="1" noResize="1" noEditPoints="1" noAdjustHandles="1" noChangeArrowheads="1" noChangeShapeType="1"/>
          </p:cNvSpPr>
          <p:nvPr userDrawn="1"/>
        </p:nvSpPr>
        <p:spPr>
          <a:xfrm>
            <a:off x="8011884" y="5497022"/>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900" b="1" i="0" dirty="0">
                <a:solidFill>
                  <a:srgbClr val="0B2339"/>
                </a:solidFill>
                <a:latin typeface="Aptos Light" panose="020B0004020202020204" pitchFamily="34" charset="0"/>
              </a:rPr>
              <a:t>Offices in</a:t>
            </a:r>
            <a:endParaRPr lang="en-AE" sz="900" b="1" i="0" dirty="0">
              <a:solidFill>
                <a:srgbClr val="0B2339"/>
              </a:solidFill>
              <a:latin typeface="Aptos Light" panose="020B0004020202020204" pitchFamily="34" charset="0"/>
            </a:endParaRPr>
          </a:p>
        </p:txBody>
      </p:sp>
      <p:cxnSp>
        <p:nvCxnSpPr>
          <p:cNvPr id="20" name="Straight Connector 19">
            <a:extLst>
              <a:ext uri="{FF2B5EF4-FFF2-40B4-BE49-F238E27FC236}">
                <a16:creationId xmlns:a16="http://schemas.microsoft.com/office/drawing/2014/main" id="{79BB2E00-A5D4-81D6-B7A2-8288920FDEFF}"/>
              </a:ext>
            </a:extLst>
          </p:cNvPr>
          <p:cNvCxnSpPr>
            <a:cxnSpLocks noGrp="1" noRot="1" noMove="1" noResize="1" noEditPoints="1" noAdjustHandles="1" noChangeArrowheads="1" noChangeShapeType="1"/>
          </p:cNvCxnSpPr>
          <p:nvPr userDrawn="1"/>
        </p:nvCxnSpPr>
        <p:spPr>
          <a:xfrm>
            <a:off x="5694091" y="5729393"/>
            <a:ext cx="5845303" cy="1129"/>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2" name="Subtitle 2">
            <a:extLst>
              <a:ext uri="{FF2B5EF4-FFF2-40B4-BE49-F238E27FC236}">
                <a16:creationId xmlns:a16="http://schemas.microsoft.com/office/drawing/2014/main" id="{CD0DB896-FD47-791D-BE48-74F6E86A227F}"/>
              </a:ext>
            </a:extLst>
          </p:cNvPr>
          <p:cNvSpPr txBox="1">
            <a:spLocks noGrp="1" noRot="1" noMove="1" noResize="1" noEditPoints="1" noAdjustHandles="1" noChangeArrowheads="1" noChangeShapeType="1"/>
          </p:cNvSpPr>
          <p:nvPr userDrawn="1"/>
        </p:nvSpPr>
        <p:spPr>
          <a:xfrm>
            <a:off x="7738814" y="5814990"/>
            <a:ext cx="3142658" cy="23237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en-US" sz="1000" b="1" i="0" dirty="0">
                <a:solidFill>
                  <a:srgbClr val="7D4E1D"/>
                </a:solidFill>
                <a:latin typeface="Aptos SemiBold" panose="020B0004020202020204" pitchFamily="34" charset="0"/>
              </a:rPr>
              <a:t>UAE	CYPRUS	GREECE</a:t>
            </a:r>
            <a:endParaRPr lang="en-AE" sz="1000" b="1" i="0" dirty="0">
              <a:solidFill>
                <a:srgbClr val="7D4E1D"/>
              </a:solidFill>
              <a:latin typeface="Aptos SemiBold" panose="020B0004020202020204" pitchFamily="34" charset="0"/>
            </a:endParaRPr>
          </a:p>
        </p:txBody>
      </p:sp>
      <p:sp>
        <p:nvSpPr>
          <p:cNvPr id="12" name="Subtitle 2">
            <a:extLst>
              <a:ext uri="{FF2B5EF4-FFF2-40B4-BE49-F238E27FC236}">
                <a16:creationId xmlns:a16="http://schemas.microsoft.com/office/drawing/2014/main" id="{E70F7C81-9F4A-2CB8-5DD1-E802EA04E8A1}"/>
              </a:ext>
            </a:extLst>
          </p:cNvPr>
          <p:cNvSpPr txBox="1">
            <a:spLocks noGrp="1" noRot="1" noMove="1" noResize="1" noEditPoints="1" noAdjustHandles="1" noChangeArrowheads="1" noChangeShapeType="1"/>
          </p:cNvSpPr>
          <p:nvPr userDrawn="1"/>
        </p:nvSpPr>
        <p:spPr>
          <a:xfrm>
            <a:off x="5694091" y="5497021"/>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900" b="1" i="0" dirty="0">
                <a:solidFill>
                  <a:srgbClr val="0B2339"/>
                </a:solidFill>
                <a:latin typeface="Aptos Light" panose="020B0004020202020204" pitchFamily="34" charset="0"/>
              </a:rPr>
              <a:t>Headquartered in</a:t>
            </a:r>
            <a:endParaRPr lang="en-AE" sz="900" b="1" i="0" dirty="0">
              <a:solidFill>
                <a:srgbClr val="0B2339"/>
              </a:solidFill>
              <a:latin typeface="Aptos Light" panose="020B0004020202020204" pitchFamily="34" charset="0"/>
            </a:endParaRPr>
          </a:p>
        </p:txBody>
      </p:sp>
      <p:sp>
        <p:nvSpPr>
          <p:cNvPr id="13" name="Title 1">
            <a:extLst>
              <a:ext uri="{FF2B5EF4-FFF2-40B4-BE49-F238E27FC236}">
                <a16:creationId xmlns:a16="http://schemas.microsoft.com/office/drawing/2014/main" id="{9F7F6F3E-EBD9-D01B-E56C-4ECCC02BD1EB}"/>
              </a:ext>
            </a:extLst>
          </p:cNvPr>
          <p:cNvSpPr txBox="1">
            <a:spLocks noGrp="1" noRot="1" noMove="1" noResize="1" noEditPoints="1" noAdjustHandles="1" noChangeArrowheads="1" noChangeShapeType="1"/>
          </p:cNvSpPr>
          <p:nvPr userDrawn="1"/>
        </p:nvSpPr>
        <p:spPr>
          <a:xfrm>
            <a:off x="4525060" y="1897534"/>
            <a:ext cx="7666940" cy="5839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spcBef>
                <a:spcPts val="0"/>
              </a:spcBef>
              <a:spcAft>
                <a:spcPts val="300"/>
              </a:spcAft>
            </a:pPr>
            <a:r>
              <a:rPr lang="en-AE" sz="1200" b="0" i="0" dirty="0">
                <a:solidFill>
                  <a:srgbClr val="0B2339"/>
                </a:solidFill>
                <a:latin typeface="Aptos Light" panose="020B0004020202020204" pitchFamily="34" charset="0"/>
              </a:rPr>
              <a:t>Pnyx Hill Ltd</a:t>
            </a:r>
          </a:p>
          <a:p>
            <a:pPr algn="ctr">
              <a:spcBef>
                <a:spcPts val="0"/>
              </a:spcBef>
              <a:spcAft>
                <a:spcPts val="300"/>
              </a:spcAft>
            </a:pPr>
            <a:r>
              <a:rPr lang="en-AE" sz="1200" b="0" i="0" dirty="0">
                <a:solidFill>
                  <a:srgbClr val="0B2339"/>
                </a:solidFill>
                <a:latin typeface="Aptos Light" panose="020B0004020202020204" pitchFamily="34" charset="0"/>
              </a:rPr>
              <a:t>info@pnyxhill.co</a:t>
            </a:r>
          </a:p>
        </p:txBody>
      </p:sp>
      <p:grpSp>
        <p:nvGrpSpPr>
          <p:cNvPr id="24" name="Group 23">
            <a:extLst>
              <a:ext uri="{FF2B5EF4-FFF2-40B4-BE49-F238E27FC236}">
                <a16:creationId xmlns:a16="http://schemas.microsoft.com/office/drawing/2014/main" id="{DB4A5131-C9E9-B022-2783-881416DD905A}"/>
              </a:ext>
            </a:extLst>
          </p:cNvPr>
          <p:cNvGrpSpPr>
            <a:grpSpLocks noGrp="1" noUngrp="1" noRot="1" noMove="1" noResize="1"/>
          </p:cNvGrpSpPr>
          <p:nvPr userDrawn="1"/>
        </p:nvGrpSpPr>
        <p:grpSpPr>
          <a:xfrm>
            <a:off x="5859846" y="2792389"/>
            <a:ext cx="2327524" cy="2078305"/>
            <a:chOff x="5544535" y="3019184"/>
            <a:chExt cx="2327524" cy="2078305"/>
          </a:xfrm>
        </p:grpSpPr>
        <p:pic>
          <p:nvPicPr>
            <p:cNvPr id="15" name="Picture 2">
              <a:extLst>
                <a:ext uri="{FF2B5EF4-FFF2-40B4-BE49-F238E27FC236}">
                  <a16:creationId xmlns:a16="http://schemas.microsoft.com/office/drawing/2014/main" id="{61DD2A2B-F825-769D-147C-465DCCFA4547}"/>
                </a:ext>
              </a:extLst>
            </p:cNvPr>
            <p:cNvPicPr>
              <a:picLocks noGrp="1" noRot="1" noChangeAspect="1" noMove="1" noResize="1" noEditPoints="1" noAdjustHandles="1" noChangeArrowheads="1" noChangeShapeType="1" noCrop="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6098809" y="3019184"/>
              <a:ext cx="1218976" cy="1218976"/>
            </a:xfrm>
            <a:prstGeom prst="ellipse">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8" name="Title 1">
              <a:extLst>
                <a:ext uri="{FF2B5EF4-FFF2-40B4-BE49-F238E27FC236}">
                  <a16:creationId xmlns:a16="http://schemas.microsoft.com/office/drawing/2014/main" id="{B4F2C1AD-0347-5905-3077-5591A01E694C}"/>
                </a:ext>
              </a:extLst>
            </p:cNvPr>
            <p:cNvSpPr txBox="1">
              <a:spLocks noGrp="1" noRot="1" noMove="1" noResize="1" noEditPoints="1" noAdjustHandles="1" noChangeArrowheads="1" noChangeShapeType="1"/>
            </p:cNvSpPr>
            <p:nvPr userDrawn="1"/>
          </p:nvSpPr>
          <p:spPr>
            <a:xfrm>
              <a:off x="5544535" y="4376537"/>
              <a:ext cx="2327524" cy="7209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r>
                <a:rPr lang="en-GB" sz="800" dirty="0">
                  <a:solidFill>
                    <a:schemeClr val="tx1"/>
                  </a:solidFill>
                  <a:latin typeface="Aptos" panose="020B0004020202020204" pitchFamily="34" charset="0"/>
                </a:rPr>
                <a:t>Andreas Kourouklaris</a:t>
              </a:r>
            </a:p>
            <a:p>
              <a:pPr algn="ctr"/>
              <a:r>
                <a:rPr lang="en-GB" sz="800" b="0" dirty="0">
                  <a:solidFill>
                    <a:schemeClr val="tx1"/>
                  </a:solidFill>
                  <a:latin typeface="Aptos" panose="020B0004020202020204" pitchFamily="34" charset="0"/>
                </a:rPr>
                <a:t>Co-founder and Group CEO</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0" i="0" dirty="0">
                <a:solidFill>
                  <a:schemeClr val="tx1"/>
                </a:solidFill>
                <a:latin typeface="Aptos Light"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a:solidFill>
                    <a:schemeClr val="tx1"/>
                  </a:solidFill>
                  <a:latin typeface="Aptos Light" panose="020B0004020202020204" pitchFamily="34" charset="0"/>
                </a:rPr>
                <a:t>+971 58 580 6064</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err="1">
                  <a:solidFill>
                    <a:schemeClr val="tx1"/>
                  </a:solidFill>
                  <a:latin typeface="Aptos Light" panose="020B0004020202020204" pitchFamily="34" charset="0"/>
                </a:rPr>
                <a:t>ak@pnyxhill.co</a:t>
              </a:r>
              <a:endParaRPr lang="en-GB" sz="800" b="0" i="0" dirty="0">
                <a:solidFill>
                  <a:schemeClr val="tx1"/>
                </a:solidFill>
                <a:latin typeface="Aptos Light" panose="020B0004020202020204" pitchFamily="34" charset="0"/>
              </a:endParaRPr>
            </a:p>
            <a:p>
              <a:pPr algn="ctr"/>
              <a:endParaRPr lang="en-GB" sz="800" b="0" dirty="0">
                <a:solidFill>
                  <a:schemeClr val="tx1"/>
                </a:solidFill>
                <a:latin typeface="Aptos" panose="020B0004020202020204" pitchFamily="34" charset="0"/>
              </a:endParaRPr>
            </a:p>
          </p:txBody>
        </p:sp>
      </p:grpSp>
      <p:grpSp>
        <p:nvGrpSpPr>
          <p:cNvPr id="25" name="Group 24">
            <a:extLst>
              <a:ext uri="{FF2B5EF4-FFF2-40B4-BE49-F238E27FC236}">
                <a16:creationId xmlns:a16="http://schemas.microsoft.com/office/drawing/2014/main" id="{BFC26FB6-5F96-C32B-147B-32945F288CC7}"/>
              </a:ext>
            </a:extLst>
          </p:cNvPr>
          <p:cNvGrpSpPr>
            <a:grpSpLocks noGrp="1" noUngrp="1" noRot="1" noMove="1" noResize="1"/>
          </p:cNvGrpSpPr>
          <p:nvPr userDrawn="1"/>
        </p:nvGrpSpPr>
        <p:grpSpPr>
          <a:xfrm>
            <a:off x="9211870" y="2790452"/>
            <a:ext cx="2327524" cy="2039089"/>
            <a:chOff x="8327790" y="3058400"/>
            <a:chExt cx="2327524" cy="2039089"/>
          </a:xfrm>
        </p:grpSpPr>
        <p:pic>
          <p:nvPicPr>
            <p:cNvPr id="16" name="Picture 2">
              <a:extLst>
                <a:ext uri="{FF2B5EF4-FFF2-40B4-BE49-F238E27FC236}">
                  <a16:creationId xmlns:a16="http://schemas.microsoft.com/office/drawing/2014/main" id="{B9747782-BC11-E3DF-DB56-558CE0556C08}"/>
                </a:ext>
              </a:extLst>
            </p:cNvPr>
            <p:cNvPicPr>
              <a:picLocks noGrp="1" noRot="1" noChangeAspect="1" noMove="1" noResize="1" noEditPoints="1" noAdjustHandles="1" noChangeArrowheads="1" noChangeShapeType="1" noCrop="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8882064" y="3058400"/>
              <a:ext cx="1218976" cy="1218976"/>
            </a:xfrm>
            <a:prstGeom prst="ellipse">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1" name="Title 1">
              <a:extLst>
                <a:ext uri="{FF2B5EF4-FFF2-40B4-BE49-F238E27FC236}">
                  <a16:creationId xmlns:a16="http://schemas.microsoft.com/office/drawing/2014/main" id="{FE87F26D-A7C3-EB69-E7FB-D299BE6A4EC2}"/>
                </a:ext>
              </a:extLst>
            </p:cNvPr>
            <p:cNvSpPr txBox="1">
              <a:spLocks noGrp="1" noRot="1" noMove="1" noResize="1" noEditPoints="1" noAdjustHandles="1" noChangeArrowheads="1" noChangeShapeType="1"/>
            </p:cNvSpPr>
            <p:nvPr userDrawn="1"/>
          </p:nvSpPr>
          <p:spPr>
            <a:xfrm>
              <a:off x="8327790" y="4376537"/>
              <a:ext cx="2327524" cy="7209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r>
                <a:rPr lang="en-GB" sz="800" b="1" dirty="0">
                  <a:solidFill>
                    <a:schemeClr val="tx1"/>
                  </a:solidFill>
                  <a:latin typeface="Aptos" panose="020B0004020202020204" pitchFamily="34" charset="0"/>
                </a:rPr>
                <a:t>Yiannos Ashiotis</a:t>
              </a:r>
            </a:p>
            <a:p>
              <a:pPr algn="ctr"/>
              <a:r>
                <a:rPr lang="en-GB" sz="800" b="0" dirty="0">
                  <a:solidFill>
                    <a:schemeClr val="tx1"/>
                  </a:solidFill>
                  <a:latin typeface="Aptos" panose="020B0004020202020204" pitchFamily="34" charset="0"/>
                </a:rPr>
                <a:t>Co-founder and Group Managing Partner</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0" i="0" dirty="0">
                <a:solidFill>
                  <a:schemeClr val="tx1"/>
                </a:solidFill>
                <a:latin typeface="Aptos Light"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a:solidFill>
                    <a:schemeClr val="tx1"/>
                  </a:solidFill>
                  <a:latin typeface="Aptos Light" panose="020B0004020202020204" pitchFamily="34" charset="0"/>
                </a:rPr>
                <a:t>+971 58 508 7787</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err="1">
                  <a:solidFill>
                    <a:schemeClr val="tx1"/>
                  </a:solidFill>
                  <a:latin typeface="Aptos Light" panose="020B0004020202020204" pitchFamily="34" charset="0"/>
                </a:rPr>
                <a:t>ya@pnyxhill.co</a:t>
              </a:r>
              <a:endParaRPr lang="en-GB" sz="800" b="0" i="0" dirty="0">
                <a:solidFill>
                  <a:schemeClr val="tx1"/>
                </a:solidFill>
                <a:latin typeface="Aptos Light" panose="020B0004020202020204" pitchFamily="34" charset="0"/>
              </a:endParaRPr>
            </a:p>
            <a:p>
              <a:pPr algn="ctr"/>
              <a:endParaRPr lang="en-GB" sz="800" b="0" dirty="0">
                <a:solidFill>
                  <a:schemeClr val="tx1"/>
                </a:solidFill>
                <a:latin typeface="Aptos" panose="020B0004020202020204" pitchFamily="34" charset="0"/>
              </a:endParaRPr>
            </a:p>
          </p:txBody>
        </p:sp>
      </p:grpSp>
      <p:pic>
        <p:nvPicPr>
          <p:cNvPr id="3" name="Picture 2" descr="A logo with blue and black text&#10;&#10;AI-generated content may be incorrect.">
            <a:extLst>
              <a:ext uri="{FF2B5EF4-FFF2-40B4-BE49-F238E27FC236}">
                <a16:creationId xmlns:a16="http://schemas.microsoft.com/office/drawing/2014/main" id="{D216A860-4503-45C7-BD79-1FF6A56E922C}"/>
              </a:ext>
            </a:extLst>
          </p:cNvPr>
          <p:cNvPicPr>
            <a:picLocks noChangeAspect="1"/>
          </p:cNvPicPr>
          <p:nvPr userDrawn="1"/>
        </p:nvPicPr>
        <p:blipFill>
          <a:blip r:embed="rId7" cstate="print">
            <a:extLst>
              <a:ext uri="{28A0092B-C50C-407E-A947-70E740481C1C}">
                <a14:useLocalDpi xmlns:a14="http://schemas.microsoft.com/office/drawing/2010/main"/>
              </a:ext>
            </a:extLst>
          </a:blip>
          <a:srcRect/>
          <a:stretch/>
        </p:blipFill>
        <p:spPr>
          <a:xfrm>
            <a:off x="5589346" y="5764384"/>
            <a:ext cx="1221899" cy="583930"/>
          </a:xfrm>
          <a:prstGeom prst="rect">
            <a:avLst/>
          </a:prstGeom>
        </p:spPr>
      </p:pic>
    </p:spTree>
    <p:extLst>
      <p:ext uri="{BB962C8B-B14F-4D97-AF65-F5344CB8AC3E}">
        <p14:creationId xmlns:p14="http://schemas.microsoft.com/office/powerpoint/2010/main" val="168379773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9A2394A9-B416-1144-BCC0-D5B13D1E1099}"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Tree>
    <p:extLst>
      <p:ext uri="{BB962C8B-B14F-4D97-AF65-F5344CB8AC3E}">
        <p14:creationId xmlns:p14="http://schemas.microsoft.com/office/powerpoint/2010/main" val="26788135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8B46457-0550-A94B-A370-CCEFCECD6019}"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Title 1">
            <a:extLst>
              <a:ext uri="{FF2B5EF4-FFF2-40B4-BE49-F238E27FC236}">
                <a16:creationId xmlns:a16="http://schemas.microsoft.com/office/drawing/2014/main" id="{BE6B8B1D-75D3-ED1F-3803-AA01D7297851}"/>
              </a:ext>
            </a:extLst>
          </p:cNvPr>
          <p:cNvSpPr>
            <a:spLocks noGrp="1"/>
          </p:cNvSpPr>
          <p:nvPr>
            <p:ph type="title" hasCustomPrompt="1"/>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5" name="Content Placeholder 3">
            <a:extLst>
              <a:ext uri="{FF2B5EF4-FFF2-40B4-BE49-F238E27FC236}">
                <a16:creationId xmlns:a16="http://schemas.microsoft.com/office/drawing/2014/main" id="{EC2FD9A4-480B-AB0D-75A3-7FB333C41A48}"/>
              </a:ext>
            </a:extLst>
          </p:cNvPr>
          <p:cNvSpPr>
            <a:spLocks noGrp="1"/>
          </p:cNvSpPr>
          <p:nvPr>
            <p:ph sz="half" idx="16"/>
          </p:nvPr>
        </p:nvSpPr>
        <p:spPr>
          <a:xfrm>
            <a:off x="841886" y="131809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4" name="Content Placeholder 3">
            <a:extLst>
              <a:ext uri="{FF2B5EF4-FFF2-40B4-BE49-F238E27FC236}">
                <a16:creationId xmlns:a16="http://schemas.microsoft.com/office/drawing/2014/main" id="{082306F3-2E64-0DAC-C240-6BDE921727ED}"/>
              </a:ext>
            </a:extLst>
          </p:cNvPr>
          <p:cNvSpPr>
            <a:spLocks noGrp="1"/>
          </p:cNvSpPr>
          <p:nvPr>
            <p:ph sz="half" idx="17"/>
          </p:nvPr>
        </p:nvSpPr>
        <p:spPr>
          <a:xfrm>
            <a:off x="838200" y="2521485"/>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7" name="Content Placeholder 3">
            <a:extLst>
              <a:ext uri="{FF2B5EF4-FFF2-40B4-BE49-F238E27FC236}">
                <a16:creationId xmlns:a16="http://schemas.microsoft.com/office/drawing/2014/main" id="{F28A40D3-4F78-F96D-4550-45563A648160}"/>
              </a:ext>
            </a:extLst>
          </p:cNvPr>
          <p:cNvSpPr>
            <a:spLocks noGrp="1"/>
          </p:cNvSpPr>
          <p:nvPr>
            <p:ph sz="half" idx="18"/>
          </p:nvPr>
        </p:nvSpPr>
        <p:spPr>
          <a:xfrm>
            <a:off x="6161398" y="131305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8" name="Content Placeholder 3">
            <a:extLst>
              <a:ext uri="{FF2B5EF4-FFF2-40B4-BE49-F238E27FC236}">
                <a16:creationId xmlns:a16="http://schemas.microsoft.com/office/drawing/2014/main" id="{57F674E6-5CEB-E440-EC2F-D931C9A74B40}"/>
              </a:ext>
            </a:extLst>
          </p:cNvPr>
          <p:cNvSpPr>
            <a:spLocks noGrp="1"/>
          </p:cNvSpPr>
          <p:nvPr>
            <p:ph sz="half" idx="19"/>
          </p:nvPr>
        </p:nvSpPr>
        <p:spPr>
          <a:xfrm>
            <a:off x="3491830" y="2521485"/>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20" name="Content Placeholder 3">
            <a:extLst>
              <a:ext uri="{FF2B5EF4-FFF2-40B4-BE49-F238E27FC236}">
                <a16:creationId xmlns:a16="http://schemas.microsoft.com/office/drawing/2014/main" id="{8CCA28C2-0709-3B37-D743-E8E86AF0D049}"/>
              </a:ext>
            </a:extLst>
          </p:cNvPr>
          <p:cNvSpPr>
            <a:spLocks noGrp="1"/>
          </p:cNvSpPr>
          <p:nvPr>
            <p:ph sz="half" idx="21"/>
          </p:nvPr>
        </p:nvSpPr>
        <p:spPr>
          <a:xfrm>
            <a:off x="6177340" y="2521485"/>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2" name="Content Placeholder 3">
            <a:extLst>
              <a:ext uri="{FF2B5EF4-FFF2-40B4-BE49-F238E27FC236}">
                <a16:creationId xmlns:a16="http://schemas.microsoft.com/office/drawing/2014/main" id="{8CAF84D6-B951-B447-6715-44B061C6688F}"/>
              </a:ext>
            </a:extLst>
          </p:cNvPr>
          <p:cNvSpPr>
            <a:spLocks noGrp="1"/>
          </p:cNvSpPr>
          <p:nvPr>
            <p:ph sz="half" idx="23"/>
          </p:nvPr>
        </p:nvSpPr>
        <p:spPr>
          <a:xfrm>
            <a:off x="3491830" y="131809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3" name="Content Placeholder 3">
            <a:extLst>
              <a:ext uri="{FF2B5EF4-FFF2-40B4-BE49-F238E27FC236}">
                <a16:creationId xmlns:a16="http://schemas.microsoft.com/office/drawing/2014/main" id="{DC6CD525-8ADC-EE4B-BBAF-67F19CCF5B8A}"/>
              </a:ext>
            </a:extLst>
          </p:cNvPr>
          <p:cNvSpPr>
            <a:spLocks noGrp="1"/>
          </p:cNvSpPr>
          <p:nvPr>
            <p:ph sz="half" idx="24"/>
          </p:nvPr>
        </p:nvSpPr>
        <p:spPr>
          <a:xfrm>
            <a:off x="8830967" y="128946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7" name="Content Placeholder 3">
            <a:extLst>
              <a:ext uri="{FF2B5EF4-FFF2-40B4-BE49-F238E27FC236}">
                <a16:creationId xmlns:a16="http://schemas.microsoft.com/office/drawing/2014/main" id="{2CB7C4FB-0F7C-C258-8A4B-4D41617230E2}"/>
              </a:ext>
            </a:extLst>
          </p:cNvPr>
          <p:cNvSpPr>
            <a:spLocks noGrp="1"/>
          </p:cNvSpPr>
          <p:nvPr>
            <p:ph sz="half" idx="25"/>
          </p:nvPr>
        </p:nvSpPr>
        <p:spPr>
          <a:xfrm>
            <a:off x="8826853" y="2521485"/>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0" name="Content Placeholder 3">
            <a:extLst>
              <a:ext uri="{FF2B5EF4-FFF2-40B4-BE49-F238E27FC236}">
                <a16:creationId xmlns:a16="http://schemas.microsoft.com/office/drawing/2014/main" id="{CED19BB9-E50A-EBF3-E2CD-AF3626896EE2}"/>
              </a:ext>
            </a:extLst>
          </p:cNvPr>
          <p:cNvSpPr>
            <a:spLocks noGrp="1"/>
          </p:cNvSpPr>
          <p:nvPr>
            <p:ph sz="half" idx="26"/>
          </p:nvPr>
        </p:nvSpPr>
        <p:spPr>
          <a:xfrm>
            <a:off x="838200" y="3980451"/>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1" name="Content Placeholder 3">
            <a:extLst>
              <a:ext uri="{FF2B5EF4-FFF2-40B4-BE49-F238E27FC236}">
                <a16:creationId xmlns:a16="http://schemas.microsoft.com/office/drawing/2014/main" id="{31427A7D-2EBB-EB53-3582-75CD8D94B60C}"/>
              </a:ext>
            </a:extLst>
          </p:cNvPr>
          <p:cNvSpPr>
            <a:spLocks noGrp="1"/>
          </p:cNvSpPr>
          <p:nvPr>
            <p:ph sz="half" idx="27"/>
          </p:nvPr>
        </p:nvSpPr>
        <p:spPr>
          <a:xfrm>
            <a:off x="3491830" y="3980451"/>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2" name="Content Placeholder 3">
            <a:extLst>
              <a:ext uri="{FF2B5EF4-FFF2-40B4-BE49-F238E27FC236}">
                <a16:creationId xmlns:a16="http://schemas.microsoft.com/office/drawing/2014/main" id="{2163370E-03D1-01E6-0586-7AA428401858}"/>
              </a:ext>
            </a:extLst>
          </p:cNvPr>
          <p:cNvSpPr>
            <a:spLocks noGrp="1"/>
          </p:cNvSpPr>
          <p:nvPr>
            <p:ph sz="half" idx="28"/>
          </p:nvPr>
        </p:nvSpPr>
        <p:spPr>
          <a:xfrm>
            <a:off x="6177340" y="3980451"/>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5" name="Content Placeholder 3">
            <a:extLst>
              <a:ext uri="{FF2B5EF4-FFF2-40B4-BE49-F238E27FC236}">
                <a16:creationId xmlns:a16="http://schemas.microsoft.com/office/drawing/2014/main" id="{26DA2CA2-0AF9-79E5-C103-FBE9145511E6}"/>
              </a:ext>
            </a:extLst>
          </p:cNvPr>
          <p:cNvSpPr>
            <a:spLocks noGrp="1"/>
          </p:cNvSpPr>
          <p:nvPr>
            <p:ph sz="half" idx="29"/>
          </p:nvPr>
        </p:nvSpPr>
        <p:spPr>
          <a:xfrm>
            <a:off x="8826853" y="3980451"/>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30135088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9F8E5778-CF41-8846-BCF8-64651384D266}"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4" name="Rectangle 3">
            <a:extLst>
              <a:ext uri="{FF2B5EF4-FFF2-40B4-BE49-F238E27FC236}">
                <a16:creationId xmlns:a16="http://schemas.microsoft.com/office/drawing/2014/main" id="{B94A91D8-76DC-451C-9EC7-BEF8EFA5569E}"/>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Content Placeholder 5">
            <a:extLst>
              <a:ext uri="{FF2B5EF4-FFF2-40B4-BE49-F238E27FC236}">
                <a16:creationId xmlns:a16="http://schemas.microsoft.com/office/drawing/2014/main" id="{7310415F-38F6-FC23-30B1-5BED6E17FEFD}"/>
              </a:ext>
            </a:extLst>
          </p:cNvPr>
          <p:cNvSpPr>
            <a:spLocks noGrp="1"/>
          </p:cNvSpPr>
          <p:nvPr>
            <p:ph sz="quarter" idx="13"/>
          </p:nvPr>
        </p:nvSpPr>
        <p:spPr>
          <a:xfrm>
            <a:off x="8210780" y="1270196"/>
            <a:ext cx="3141432" cy="4919467"/>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5074549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355AACDA-48EE-B14A-AAB7-B7DD76E73B3B}"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endParaRPr lang="en-AE" dirty="0"/>
          </a:p>
        </p:txBody>
      </p:sp>
      <p:sp>
        <p:nvSpPr>
          <p:cNvPr id="2" name="Content Placeholder 2">
            <a:extLst>
              <a:ext uri="{FF2B5EF4-FFF2-40B4-BE49-F238E27FC236}">
                <a16:creationId xmlns:a16="http://schemas.microsoft.com/office/drawing/2014/main" id="{7B2F871A-671A-E3C4-5E42-68642B529B32}"/>
              </a:ext>
            </a:extLst>
          </p:cNvPr>
          <p:cNvSpPr>
            <a:spLocks noGrp="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37912559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762E6944-38EE-544E-9BCD-42DF30DA589E}"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2" name="Content Placeholder 2">
            <a:extLst>
              <a:ext uri="{FF2B5EF4-FFF2-40B4-BE49-F238E27FC236}">
                <a16:creationId xmlns:a16="http://schemas.microsoft.com/office/drawing/2014/main" id="{7B2F871A-671A-E3C4-5E42-68642B529B32}"/>
              </a:ext>
            </a:extLst>
          </p:cNvPr>
          <p:cNvSpPr>
            <a:spLocks noGrp="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133961163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0EBE7F4-BEFC-D845-9A43-BAA0FD9399BA}"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2" name="Rectangle 1">
            <a:extLst>
              <a:ext uri="{FF2B5EF4-FFF2-40B4-BE49-F238E27FC236}">
                <a16:creationId xmlns:a16="http://schemas.microsoft.com/office/drawing/2014/main" id="{FB4F6065-FF3F-A417-7AA1-95362B2DEF12}"/>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8840A9DE-A11D-9854-DF33-2C6D44D7BC5F}"/>
              </a:ext>
            </a:extLst>
          </p:cNvPr>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5739639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98231C-BC5A-9014-837F-675BE9849964}"/>
              </a:ext>
            </a:extLst>
          </p:cNvPr>
          <p:cNvSpPr>
            <a:spLocks noGrp="1"/>
          </p:cNvSpPr>
          <p:nvPr>
            <p:ph type="title"/>
          </p:nvPr>
        </p:nvSpPr>
        <p:spPr>
          <a:xfrm>
            <a:off x="838200" y="365125"/>
            <a:ext cx="10515600" cy="1213967"/>
          </a:xfrm>
          <a:prstGeom prst="rect">
            <a:avLst/>
          </a:prstGeom>
        </p:spPr>
        <p:txBody>
          <a:bodyPr vert="horz" lIns="91440" tIns="45720" rIns="91440" bIns="45720" rtlCol="0" anchor="ctr">
            <a:normAutofit/>
          </a:bodyPr>
          <a:lstStyle/>
          <a:p>
            <a:r>
              <a:rPr lang="en-US"/>
              <a:t>Click to edit Master title style</a:t>
            </a:r>
            <a:endParaRPr lang="en-AE" dirty="0"/>
          </a:p>
        </p:txBody>
      </p:sp>
      <p:sp>
        <p:nvSpPr>
          <p:cNvPr id="3" name="Text Placeholder 2">
            <a:extLst>
              <a:ext uri="{FF2B5EF4-FFF2-40B4-BE49-F238E27FC236}">
                <a16:creationId xmlns:a16="http://schemas.microsoft.com/office/drawing/2014/main" id="{7D0C513B-E98B-6D0B-9987-67E71FDC7814}"/>
              </a:ext>
            </a:extLst>
          </p:cNvPr>
          <p:cNvSpPr>
            <a:spLocks noGrp="1"/>
          </p:cNvSpPr>
          <p:nvPr>
            <p:ph type="body" idx="1"/>
          </p:nvPr>
        </p:nvSpPr>
        <p:spPr>
          <a:xfrm>
            <a:off x="838200" y="1737360"/>
            <a:ext cx="10515600" cy="443960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4" name="Date Placeholder 3">
            <a:extLst>
              <a:ext uri="{FF2B5EF4-FFF2-40B4-BE49-F238E27FC236}">
                <a16:creationId xmlns:a16="http://schemas.microsoft.com/office/drawing/2014/main" id="{6733AD28-33AC-0B4A-23E7-04B070FE002E}"/>
              </a:ext>
            </a:extLst>
          </p:cNvPr>
          <p:cNvSpPr>
            <a:spLocks noGrp="1" noRot="1" noMove="1" noResize="1" noEditPoints="1" noAdjustHandles="1" noChangeArrowheads="1" noChangeShapeType="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b="0" i="0">
                <a:solidFill>
                  <a:schemeClr val="tx1">
                    <a:lumMod val="75000"/>
                    <a:lumOff val="25000"/>
                  </a:schemeClr>
                </a:solidFill>
                <a:latin typeface="Aptos Light" panose="020B0004020202020204" pitchFamily="34" charset="0"/>
              </a:defRPr>
            </a:lvl1pPr>
          </a:lstStyle>
          <a:p>
            <a:fld id="{6E9873C8-C767-9A40-8D22-2B36E5913080}" type="datetime1">
              <a:rPr lang="en-US" smtClean="0"/>
              <a:t>11/19/2025</a:t>
            </a:fld>
            <a:endParaRPr lang="en-AE"/>
          </a:p>
        </p:txBody>
      </p:sp>
      <p:sp>
        <p:nvSpPr>
          <p:cNvPr id="6" name="Slide Number Placeholder 5">
            <a:extLst>
              <a:ext uri="{FF2B5EF4-FFF2-40B4-BE49-F238E27FC236}">
                <a16:creationId xmlns:a16="http://schemas.microsoft.com/office/drawing/2014/main" id="{0E09F46D-D686-930F-1B26-EFFF8905DC19}"/>
              </a:ext>
            </a:extLst>
          </p:cNvPr>
          <p:cNvSpPr>
            <a:spLocks noGrp="1" noRot="1" noMove="1" noResize="1" noEditPoints="1" noAdjustHandles="1" noChangeArrowheads="1" noChangeShapeType="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lumMod val="75000"/>
                    <a:lumOff val="25000"/>
                  </a:schemeClr>
                </a:solidFill>
                <a:latin typeface="Aptos Light" panose="020B0004020202020204" pitchFamily="34" charset="0"/>
              </a:defRPr>
            </a:lvl1pPr>
          </a:lstStyle>
          <a:p>
            <a:fld id="{FEBB2247-6CF9-174D-B1BD-16046E6DC6C6}" type="slidenum">
              <a:rPr lang="en-AE" smtClean="0"/>
              <a:pPr/>
              <a:t>‹#›</a:t>
            </a:fld>
            <a:endParaRPr lang="en-AE"/>
          </a:p>
        </p:txBody>
      </p:sp>
      <p:sp>
        <p:nvSpPr>
          <p:cNvPr id="5" name="TextBox 4">
            <a:extLst>
              <a:ext uri="{FF2B5EF4-FFF2-40B4-BE49-F238E27FC236}">
                <a16:creationId xmlns:a16="http://schemas.microsoft.com/office/drawing/2014/main" id="{EE4C0AD7-49BD-25E2-E7A6-A53CC83AD2DE}"/>
              </a:ext>
            </a:extLst>
          </p:cNvPr>
          <p:cNvSpPr txBox="1">
            <a:spLocks/>
          </p:cNvSpPr>
          <p:nvPr userDrawn="1"/>
        </p:nvSpPr>
        <p:spPr>
          <a:xfrm>
            <a:off x="3628062" y="6495414"/>
            <a:ext cx="4935876" cy="230832"/>
          </a:xfrm>
          <a:prstGeom prst="rect">
            <a:avLst/>
          </a:prstGeom>
          <a:noFill/>
        </p:spPr>
        <p:txBody>
          <a:bodyPr wrap="square">
            <a:spAutoFit/>
          </a:bodyPr>
          <a:lstStyle/>
          <a:p>
            <a:pPr algn="ctr"/>
            <a:r>
              <a:rPr lang="en-US" sz="900" i="1" dirty="0">
                <a:solidFill>
                  <a:schemeClr val="tx1">
                    <a:lumMod val="50000"/>
                    <a:lumOff val="50000"/>
                  </a:schemeClr>
                </a:solidFill>
              </a:rPr>
              <a:t>Copyright © Pnyx Hill Group. All rights reserved – Confidential </a:t>
            </a:r>
          </a:p>
        </p:txBody>
      </p:sp>
    </p:spTree>
    <p:extLst>
      <p:ext uri="{BB962C8B-B14F-4D97-AF65-F5344CB8AC3E}">
        <p14:creationId xmlns:p14="http://schemas.microsoft.com/office/powerpoint/2010/main" val="3492164167"/>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71" r:id="rId3"/>
    <p:sldLayoutId id="2147483650" r:id="rId4"/>
    <p:sldLayoutId id="2147483668" r:id="rId5"/>
    <p:sldLayoutId id="2147483673" r:id="rId6"/>
    <p:sldLayoutId id="2147483675" r:id="rId7"/>
    <p:sldLayoutId id="2147483683" r:id="rId8"/>
    <p:sldLayoutId id="2147483684" r:id="rId9"/>
    <p:sldLayoutId id="2147483685" r:id="rId10"/>
    <p:sldLayoutId id="2147483686" r:id="rId11"/>
    <p:sldLayoutId id="2147483674" r:id="rId12"/>
    <p:sldLayoutId id="2147483661" r:id="rId13"/>
    <p:sldLayoutId id="2147483667" r:id="rId14"/>
    <p:sldLayoutId id="2147483676" r:id="rId15"/>
    <p:sldLayoutId id="2147483677" r:id="rId16"/>
    <p:sldLayoutId id="2147483688" r:id="rId17"/>
    <p:sldLayoutId id="2147483666" r:id="rId18"/>
    <p:sldLayoutId id="2147483653" r:id="rId19"/>
    <p:sldLayoutId id="2147483687" r:id="rId20"/>
    <p:sldLayoutId id="2147483679" r:id="rId21"/>
    <p:sldLayoutId id="2147483680" r:id="rId22"/>
    <p:sldLayoutId id="2147483678" r:id="rId23"/>
    <p:sldLayoutId id="2147483669" r:id="rId24"/>
    <p:sldLayoutId id="2147483660" r:id="rId25"/>
    <p:sldLayoutId id="2147483681" r:id="rId26"/>
    <p:sldLayoutId id="2147483682" r:id="rId27"/>
    <p:sldLayoutId id="2147483665" r:id="rId28"/>
    <p:sldLayoutId id="2147483662" r:id="rId29"/>
    <p:sldLayoutId id="2147483654" r:id="rId30"/>
    <p:sldLayoutId id="2147483672" r:id="rId31"/>
    <p:sldLayoutId id="2147483670" r:id="rId32"/>
    <p:sldLayoutId id="2147483663" r:id="rId33"/>
  </p:sldLayoutIdLst>
  <p:hf hdr="0" ftr="0" dt="0"/>
  <p:txStyles>
    <p:title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microsoft.com/office/2018/10/relationships/comments" Target="../comments/modernComment_11A_A187FA2C.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4_844B3DA2.xml"/><Relationship Id="rId3" Type="http://schemas.openxmlformats.org/officeDocument/2006/relationships/image" Target="../media/image3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5_C4FCC28.xml"/><Relationship Id="rId3" Type="http://schemas.openxmlformats.org/officeDocument/2006/relationships/image" Target="../media/image3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xml"/><Relationship Id="rId3" Type="http://schemas.openxmlformats.org/officeDocument/2006/relationships/image" Target="../media/image38.png"/><Relationship Id="rId4" Type="http://schemas.microsoft.com/office/2007/relationships/hdphoto" Target="../media/hdphoto2.wdp"/><Relationship Id="rId5" Type="http://schemas.openxmlformats.org/officeDocument/2006/relationships/image" Target="../media/image39.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BAEFF-18C6-2C57-F6D8-DA60A617955B}"/>
              </a:ext>
            </a:extLst>
          </p:cNvPr>
          <p:cNvSpPr>
            <a:spLocks noGrp="1" noRot="1" noMove="1" noResize="1" noEditPoints="1" noAdjustHandles="1" noChangeArrowheads="1" noChangeShapeType="1"/>
          </p:cNvSpPr>
          <p:nvPr>
            <p:ph type="ctrTitle"/>
          </p:nvPr>
        </p:nvSpPr>
        <p:spPr>
          <a:xfrm>
            <a:off x="908953" y="2638511"/>
            <a:ext cx="6657150" cy="1476289"/>
          </a:xfrm>
        </p:spPr>
        <p:txBody>
          <a:bodyPr anchor="t">
            <a:normAutofit/>
          </a:bodyPr>
          <a:lstStyle/>
          <a:p>
            <a:r>
              <a:t>Strategic Growth &amp; Transformation Proposal for Our Valued Client</a:t>
            </a:r>
            <a:endParaRPr dirty="0"/>
          </a:p>
        </p:txBody>
      </p:sp>
      <p:sp>
        <p:nvSpPr>
          <p:cNvPr id="3" name="Subtitle 2">
            <a:extLst>
              <a:ext uri="{FF2B5EF4-FFF2-40B4-BE49-F238E27FC236}">
                <a16:creationId xmlns:a16="http://schemas.microsoft.com/office/drawing/2014/main" id="{15512898-28DC-4FA8-3D8D-BE9CA956A398}"/>
              </a:ext>
            </a:extLst>
          </p:cNvPr>
          <p:cNvSpPr>
            <a:spLocks noGrp="1"/>
          </p:cNvSpPr>
          <p:nvPr>
            <p:ph type="subTitle" idx="1"/>
          </p:nvPr>
        </p:nvSpPr>
        <p:spPr>
          <a:xfrm>
            <a:off x="908954" y="3603975"/>
            <a:ext cx="6657149" cy="309264"/>
          </a:xfrm>
        </p:spPr>
        <p:txBody>
          <a:bodyPr>
            <a:noAutofit/>
          </a:bodyPr>
          <a:lstStyle/>
          <a:p>
            <a:r>
              <a:t>July 30, 2024</a:t>
            </a:r>
            <a:endParaRPr sz="1000" dirty="0"/>
          </a:p>
        </p:txBody>
      </p:sp>
      <p:sp>
        <p:nvSpPr>
          <p:cNvPr id="8" name="Slide Number Placeholder 7">
            <a:extLst>
              <a:ext uri="{FF2B5EF4-FFF2-40B4-BE49-F238E27FC236}">
                <a16:creationId xmlns:a16="http://schemas.microsoft.com/office/drawing/2014/main" id="{482CC506-10D0-A6E5-801A-5DEE0097752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nchor="ctr">
            <a:normAutofit fontScale="47500" lnSpcReduction="20000"/>
          </a:bodyPr>
          <a:lstStyle/>
          <a:p>
            <a:pPr>
              <a:spcAft>
                <a:spcPts val="600"/>
              </a:spcAft>
            </a:pPr>
            <a:endParaRPr lang="en-AE"/>
          </a:p>
          <a:p>
            <a:r>
              <a:t>{{COVER_TITLE}}</a:t>
            </a:r>
            <a:br/>
            <a:r>
              <a:t>Insert proposal title, client name, and engagement date.</a:t>
            </a:r>
          </a:p>
        </p:txBody>
      </p:sp>
      <p:sp>
        <p:nvSpPr>
          <p:cNvPr id="4" name="TextBox 3">
            <a:extLst>
              <a:ext uri="{FF2B5EF4-FFF2-40B4-BE49-F238E27FC236}">
                <a16:creationId xmlns:a16="http://schemas.microsoft.com/office/drawing/2014/main" id="{54D84B09-EA48-A07A-61BE-CC46E8F2A0C4}"/>
              </a:ext>
            </a:extLst>
          </p:cNvPr>
          <p:cNvSpPr txBox="1"/>
          <p:nvPr/>
        </p:nvSpPr>
        <p:spPr>
          <a:xfrm>
            <a:off x="6096000" y="985382"/>
            <a:ext cx="1358686" cy="646331"/>
          </a:xfrm>
          <a:prstGeom prst="rect">
            <a:avLst/>
          </a:prstGeom>
          <a:noFill/>
        </p:spPr>
        <p:txBody>
          <a:bodyPr wrap="square" rtlCol="0">
            <a:spAutoFit/>
          </a:bodyPr>
          <a:lstStyle/>
          <a:p>
            <a:r>
              <a:t>Insert Client Logo Here</a:t>
            </a:r>
            <a:endParaRPr lang="en-AE" sz="1200" dirty="0"/>
          </a:p>
        </p:txBody>
      </p:sp>
    </p:spTree>
    <p:extLst>
      <p:ext uri="{BB962C8B-B14F-4D97-AF65-F5344CB8AC3E}">
        <p14:creationId xmlns:p14="http://schemas.microsoft.com/office/powerpoint/2010/main" val="17734227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6335B335-9496-5AD8-46B0-D3A7D1D73B7D}"/>
              </a:ext>
            </a:extLst>
          </p:cNvPr>
          <p:cNvSpPr txBox="1">
            <a:spLocks noGrp="1"/>
          </p:cNvSpPr>
          <p:nvPr>
            <p:ph idx="1"/>
          </p:nvPr>
        </p:nvSpPr>
        <p:spPr>
          <a:xfrm>
            <a:off x="946298" y="879543"/>
            <a:ext cx="10407502" cy="4822456"/>
          </a:xfrm>
          <a:prstGeom prst="rect">
            <a:avLst/>
          </a:prstGeom>
          <a:noFill/>
        </p:spPr>
        <p:txBody>
          <a:bodyPr wrap="square" lIns="0" tIns="0" rIns="0" bIns="45720" rtlCol="0">
            <a:noAutofit/>
          </a:bodyPr>
          <a:lstStyle/>
          <a:p>
            <a:pPr marL="7938" indent="-7938">
              <a:lnSpc>
                <a:spcPct val="100000"/>
              </a:lnSpc>
              <a:spcBef>
                <a:spcPts val="200"/>
              </a:spcBef>
              <a:spcAft>
                <a:spcPts val="200"/>
              </a:spcAft>
              <a:buNone/>
            </a:pPr>
            <a:r>
              <a:t>Dear [Client Representative/Leadership Team],</a:t>
            </a:r>
            <a:br/>
            <a:br/>
            <a:r>
              <a:t>Pnyx Hill is delighted to present this strategic proposal, outlining our recommended approach to accelerate your organization's growth and reinforce its market leadership. We have closely followed your strategic ambitions and are deeply impressed by your commitment to innovation and sustained value creation.</a:t>
            </a:r>
            <a:br/>
            <a:br/>
            <a:r>
              <a:t>This document reflects our comprehensive understanding of your unique context and market dynamics, offering a tailored framework designed to address your most pressing challenges and unlock significant future opportunities. We are confident that our deep industry expertise, proprietary methodologies, and collaborative partnership model will provide the insights and actionable strategies required to achieve your objectives.</a:t>
            </a:r>
            <a:br/>
            <a:br/>
            <a:r>
              <a:t>We look forward to embarking on this transformative journey with you, delivering measurable impact and cementing your competitive advantage. Our team is eager to discuss this proposal in detail and answer any questions you may have.</a:t>
            </a:r>
            <a:br/>
            <a:br/>
            <a:r>
              <a:t>Sincerely,</a:t>
            </a:r>
            <a:br/>
            <a:r>
              <a:t>The Pnyx Hill Strategy Team</a:t>
            </a:r>
            <a:endParaRPr sz="1200" dirty="0"/>
          </a:p>
        </p:txBody>
      </p:sp>
      <p:sp>
        <p:nvSpPr>
          <p:cNvPr id="2" name="Slide Number Placeholder 10">
            <a:extLst>
              <a:ext uri="{FF2B5EF4-FFF2-40B4-BE49-F238E27FC236}">
                <a16:creationId xmlns:a16="http://schemas.microsoft.com/office/drawing/2014/main" id="{1180B436-073C-1FE1-74B5-603168612A49}"/>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768529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FB8C3-1CFE-D663-4089-4F28CD2A8FA1}"/>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4CE3A302-71F3-A505-7068-C326BC33BADD}"/>
              </a:ext>
            </a:extLst>
          </p:cNvPr>
          <p:cNvSpPr txBox="1"/>
          <p:nvPr/>
        </p:nvSpPr>
        <p:spPr>
          <a:xfrm>
            <a:off x="967563" y="867938"/>
            <a:ext cx="10596252" cy="600164"/>
          </a:xfrm>
          <a:prstGeom prst="rect">
            <a:avLst/>
          </a:prstGeom>
          <a:noFill/>
        </p:spPr>
        <p:txBody>
          <a:bodyPr wrap="square" lIns="0" tIns="0" rIns="0" bIns="45720" rtlCol="0">
            <a:spAutoFit/>
          </a:bodyPr>
          <a:lstStyle/>
          <a:p>
            <a:pPr>
              <a:buNone/>
            </a:pPr>
            <a:r>
              <a:t>**Growth Ambition**</a:t>
            </a:r>
            <a:br/>
            <a:r>
              <a:t>This proposal outlines a strategic partnership designed to empower Our Valued Client in navigating an evolving market landscape, seizing new growth vectors, and optimizing operational capabilities for sustained competitive advantage. Our collaborative engagement aims to translate your visionary goals into a robust, actionable strategic roadmap.</a:t>
            </a:r>
            <a:br/>
            <a:br/>
            <a:r>
              <a:t>**Our Value Proposition**</a:t>
            </a:r>
            <a:br/>
            <a:r>
              <a:t>•  Strategic Clarity: Define compelling market positioning and unlock new revenue streams.</a:t>
            </a:r>
            <a:br/>
            <a:r>
              <a:t>•  Operational Excellence: Streamline processes and enhance organizational effectiveness for efficiency and agility.</a:t>
            </a:r>
            <a:br/>
            <a:r>
              <a:t>•  Sustainable Impact: Build internal capabilities and foster a culture of continuous innovation.</a:t>
            </a:r>
            <a:br/>
            <a:r>
              <a:t>•  Risk Mitigation: Proactively identify and address potential disruptions while capitalizing on emerging trends.</a:t>
            </a:r>
            <a:br/>
            <a:br/>
            <a:r>
              <a:t>**Key Project Highlights**</a:t>
            </a:r>
            <a:br/>
            <a:r>
              <a:t>•  Market Opportunity Assessment &amp; Sizing</a:t>
            </a:r>
            <a:br/>
            <a:r>
              <a:t>•  Strategic Growth Playbook Development</a:t>
            </a:r>
            <a:br/>
            <a:r>
              <a:t>•  Organizational Design &amp; Capability Building</a:t>
            </a:r>
            <a:br/>
            <a:r>
              <a:t>•  Digital Transformation Roadmapping</a:t>
            </a:r>
            <a:br/>
            <a:r>
              <a:t>•  Operational Efficiency &amp; Process Optimization</a:t>
            </a:r>
            <a:br/>
            <a:r>
              <a:t>•  Competitive Landscape Analysis</a:t>
            </a:r>
            <a:br/>
            <a:r>
              <a:t>•  Innovation Portfolio Strategy</a:t>
            </a:r>
            <a:br/>
            <a:r>
              <a:t>•  Performance Management Frameworks</a:t>
            </a:r>
            <a:br/>
            <a:br/>
            <a:r>
              <a:t>**Strategic Outlook**</a:t>
            </a:r>
            <a:br/>
            <a:r>
              <a:t>Pnyx Hill is committed to driving tangible, long-term value, positioning Our Valued Client for leadership and resilience in the next decade.</a:t>
            </a:r>
            <a:endParaRPr sz="1200" dirty="0"/>
          </a:p>
        </p:txBody>
      </p:sp>
      <p:sp>
        <p:nvSpPr>
          <p:cNvPr id="2" name="Slide Number Placeholder 10">
            <a:extLst>
              <a:ext uri="{FF2B5EF4-FFF2-40B4-BE49-F238E27FC236}">
                <a16:creationId xmlns:a16="http://schemas.microsoft.com/office/drawing/2014/main" id="{510509ED-FDFA-9AF0-64A5-B641CF67DE64}"/>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336992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5">
            <a:extLst>
              <a:ext uri="{FF2B5EF4-FFF2-40B4-BE49-F238E27FC236}">
                <a16:creationId xmlns:a16="http://schemas.microsoft.com/office/drawing/2014/main" id="{B56FACEC-1F21-FF8A-3914-0B65A0CCF8AA}"/>
              </a:ext>
            </a:extLst>
          </p:cNvPr>
          <p:cNvGraphicFramePr>
            <a:graphicFrameLocks/>
          </p:cNvGraphicFramePr>
          <p:nvPr>
            <p:extLst>
              <p:ext uri="{D42A27DB-BD31-4B8C-83A1-F6EECF244321}">
                <p14:modId xmlns:p14="http://schemas.microsoft.com/office/powerpoint/2010/main" val="1494379163"/>
              </p:ext>
            </p:extLst>
          </p:nvPr>
        </p:nvGraphicFramePr>
        <p:xfrm>
          <a:off x="1763233" y="1610242"/>
          <a:ext cx="5384470" cy="3972960"/>
        </p:xfrm>
        <a:graphic>
          <a:graphicData uri="http://schemas.openxmlformats.org/drawingml/2006/table">
            <a:tbl>
              <a:tblPr firstRow="1" bandRow="1">
                <a:tableStyleId>{5C22544A-7EE6-4342-B048-85BDC9FD1C3A}</a:tableStyleId>
              </a:tblPr>
              <a:tblGrid>
                <a:gridCol w="4207404">
                  <a:extLst>
                    <a:ext uri="{9D8B030D-6E8A-4147-A177-3AD203B41FA5}">
                      <a16:colId xmlns:a16="http://schemas.microsoft.com/office/drawing/2014/main" val="1361501591"/>
                    </a:ext>
                  </a:extLst>
                </a:gridCol>
                <a:gridCol w="1177066">
                  <a:extLst>
                    <a:ext uri="{9D8B030D-6E8A-4147-A177-3AD203B41FA5}">
                      <a16:colId xmlns:a16="http://schemas.microsoft.com/office/drawing/2014/main" val="1247309486"/>
                    </a:ext>
                  </a:extLst>
                </a:gridCol>
              </a:tblGrid>
              <a:tr h="496620">
                <a:tc>
                  <a:txBody>
                    <a:bodyPr/>
                    <a:lstStyle/>
                    <a:p>
                      <a:r>
                        <a:rPr lang="en-AE" sz="1200" b="1" i="0" dirty="0">
                          <a:solidFill>
                            <a:srgbClr val="0B2339"/>
                          </a:solidFill>
                          <a:latin typeface="+mn-lt"/>
                        </a:rPr>
                        <a:t>About Pnyx Hill</a:t>
                      </a:r>
                    </a:p>
                  </a:txBody>
                  <a:tcPr anchor="ctr">
                    <a:lnL w="12700" cmpd="sng">
                      <a:noFill/>
                    </a:lnL>
                    <a:lnR w="12700" cmpd="sng">
                      <a:noFill/>
                    </a:lnR>
                    <a:lnT w="12700" cmpd="sng">
                      <a:noFill/>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dirty="0">
                          <a:solidFill>
                            <a:srgbClr val="0B2339"/>
                          </a:solidFill>
                          <a:latin typeface="+mn-lt"/>
                        </a:rPr>
                        <a:t>5</a:t>
                      </a:r>
                    </a:p>
                  </a:txBody>
                  <a:tcPr anchor="ctr">
                    <a:lnL w="12700" cmpd="sng">
                      <a:noFill/>
                    </a:lnL>
                    <a:lnR w="12700" cmpd="sng">
                      <a:noFill/>
                    </a:lnR>
                    <a:lnT w="12700" cmpd="sng">
                      <a:noFill/>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910240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i="0" dirty="0">
                          <a:solidFill>
                            <a:srgbClr val="0B2339"/>
                          </a:solidFill>
                          <a:latin typeface="+mn-lt"/>
                        </a:rPr>
                        <a:t>Our Understanding &amp; POV</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a:solidFill>
                            <a:srgbClr val="0B2339"/>
                          </a:solidFill>
                          <a:latin typeface="+mn-lt"/>
                        </a:rPr>
                        <a:t>1</a:t>
                      </a:r>
                      <a:r>
                        <a:rPr lang="en-US" sz="1200" b="1" i="0" dirty="0">
                          <a:solidFill>
                            <a:srgbClr val="0B2339"/>
                          </a:solidFill>
                          <a:latin typeface="+mn-lt"/>
                        </a:rPr>
                        <a:t>3</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3221479"/>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dirty="0">
                          <a:solidFill>
                            <a:srgbClr val="0B2339"/>
                          </a:solidFill>
                          <a:latin typeface="+mn-lt"/>
                        </a:rPr>
                        <a:t>Our Approach</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a:solidFill>
                            <a:srgbClr val="0B2339"/>
                          </a:solidFill>
                          <a:latin typeface="+mn-lt"/>
                        </a:rPr>
                        <a:t>1</a:t>
                      </a:r>
                      <a:r>
                        <a:rPr lang="en-US" sz="1200" b="1" i="0" dirty="0">
                          <a:solidFill>
                            <a:srgbClr val="0B2339"/>
                          </a:solidFill>
                          <a:latin typeface="+mn-lt"/>
                        </a:rPr>
                        <a:t>4</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964475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i="0" dirty="0">
                          <a:solidFill>
                            <a:srgbClr val="0B2339"/>
                          </a:solidFill>
                          <a:latin typeface="+mn-lt"/>
                        </a:rPr>
                        <a:t>Scope of Services</a:t>
                      </a:r>
                      <a:r>
                        <a:rPr lang="en-US" sz="1200" b="1" i="0" dirty="0">
                          <a:solidFill>
                            <a:srgbClr val="0B2339"/>
                          </a:solidFill>
                          <a:latin typeface="+mn-lt"/>
                        </a:rPr>
                        <a:t> and Service Deliverables</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dirty="0">
                          <a:solidFill>
                            <a:srgbClr val="0B2339"/>
                          </a:solidFill>
                          <a:latin typeface="+mn-lt"/>
                        </a:rPr>
                        <a:t>1</a:t>
                      </a:r>
                      <a:r>
                        <a:rPr lang="en-US" sz="1200" b="1" i="0" dirty="0">
                          <a:solidFill>
                            <a:srgbClr val="0B2339"/>
                          </a:solidFill>
                          <a:latin typeface="+mn-lt"/>
                        </a:rPr>
                        <a:t>6</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9255129"/>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B2339"/>
                          </a:solidFill>
                          <a:latin typeface="+mn-lt"/>
                        </a:rPr>
                        <a:t>Optional After Service Support</a:t>
                      </a:r>
                      <a:endParaRPr lang="en-AE" sz="1200" b="1"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a:solidFill>
                            <a:srgbClr val="0B2339"/>
                          </a:solidFill>
                          <a:latin typeface="+mn-lt"/>
                        </a:rPr>
                        <a:t>21</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2479450"/>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Engagement Leaders</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23</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600085"/>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Commercial Proposal</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24</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709201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Let’s Talk</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25</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6821195"/>
                  </a:ext>
                </a:extLst>
              </a:tr>
            </a:tbl>
          </a:graphicData>
        </a:graphic>
      </p:graphicFrame>
      <p:sp>
        <p:nvSpPr>
          <p:cNvPr id="2" name="Slide Number Placeholder 10">
            <a:extLst>
              <a:ext uri="{FF2B5EF4-FFF2-40B4-BE49-F238E27FC236}">
                <a16:creationId xmlns:a16="http://schemas.microsoft.com/office/drawing/2014/main" id="{70F94601-D300-9A60-36F3-043D3C2A1970}"/>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38549246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0">
            <a:extLst>
              <a:ext uri="{FF2B5EF4-FFF2-40B4-BE49-F238E27FC236}">
                <a16:creationId xmlns:a16="http://schemas.microsoft.com/office/drawing/2014/main" id="{0304D152-BA33-F0F1-48FF-801A9B032E6B}"/>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7404716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A82FBC88-82DB-42DA-D37F-0FCFBA8AD103}"/>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8169218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B8E8124F-0E3B-E031-2C5D-7265461893A0}"/>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8864521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CBDD09F1-AC85-E6BB-E077-FB0F9A53AC1D}"/>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33186578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29A68F79-5343-74A9-9547-123447F2F2DF}"/>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3219379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F4361917-790E-8E8D-E566-3BF588980ECA}"/>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4460932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E1ADB767-4E35-0D94-8A50-F35437C2FEED}"/>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0874802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D7E01-6FEC-86FE-AB37-613C15352DAD}"/>
            </a:ext>
          </a:extLst>
        </p:cNvPr>
        <p:cNvGrpSpPr/>
        <p:nvPr/>
      </p:nvGrpSpPr>
      <p:grpSpPr>
        <a:xfrm>
          <a:off x="0" y="0"/>
          <a:ext cx="0" cy="0"/>
          <a:chOff x="0" y="0"/>
          <a:chExt cx="0" cy="0"/>
        </a:xfrm>
      </p:grpSpPr>
    </p:spTree>
    <p:extLst>
      <p:ext uri="{BB962C8B-B14F-4D97-AF65-F5344CB8AC3E}">
        <p14:creationId xmlns:p14="http://schemas.microsoft.com/office/powerpoint/2010/main" val="16950900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BB5F4F5-A561-A2BF-50AD-2135E2BD4A6A}"/>
              </a:ext>
            </a:extLst>
          </p:cNvPr>
          <p:cNvSpPr>
            <a:spLocks noGrp="1" noRot="1" noMove="1" noResize="1" noEditPoints="1" noAdjustHandles="1" noChangeArrowheads="1" noChangeShapeType="1"/>
          </p:cNvSpPr>
          <p:nvPr>
            <p:ph sz="half" idx="2"/>
          </p:nvPr>
        </p:nvSpPr>
        <p:spPr/>
        <p:txBody>
          <a:bodyPr>
            <a:normAutofit/>
          </a:bodyPr>
          <a:lstStyle/>
          <a:p>
            <a:pPr marL="0" indent="0">
              <a:buNone/>
            </a:pPr>
            <a:r>
              <a:t>The market landscape is characterized by accelerating technological disruption, shifting customer expectations, and intensifying global competition. Our Valued Client operates within an environment demanding continuous innovation and adaptive strategies to maintain its leading position. Economic volatilities and supply chain complexities further underscore the need for resilient and agile operational models, while the imperative for sustainable practices reshapes consumer and regulatory demands.</a:t>
            </a:r>
            <a:endParaRPr dirty="0"/>
          </a:p>
        </p:txBody>
      </p:sp>
      <p:sp>
        <p:nvSpPr>
          <p:cNvPr id="3" name="Content Placeholder 2">
            <a:extLst>
              <a:ext uri="{FF2B5EF4-FFF2-40B4-BE49-F238E27FC236}">
                <a16:creationId xmlns:a16="http://schemas.microsoft.com/office/drawing/2014/main" id="{79C84FDE-81DE-1361-1FBF-9AB8614A6D28}"/>
              </a:ext>
            </a:extLst>
          </p:cNvPr>
          <p:cNvSpPr>
            <a:spLocks noGrp="1"/>
          </p:cNvSpPr>
          <p:nvPr>
            <p:ph sz="quarter" idx="4"/>
          </p:nvPr>
        </p:nvSpPr>
        <p:spPr/>
        <p:txBody>
          <a:bodyPr>
            <a:normAutofit/>
          </a:bodyPr>
          <a:lstStyle/>
          <a:p>
            <a:pPr>
              <a:lnSpc>
                <a:spcPct val="110000"/>
              </a:lnSpc>
              <a:buFont typeface="Wingdings" panose="05000000000000000000" pitchFamily="2" charset="2"/>
              <a:buChar char="§"/>
            </a:pPr>
            <a:r>
              <a:t>•  Navigating Digital Transformation: Integrating advanced technologies effectively across the value chain.</a:t>
            </a:r>
            <a:br/>
            <a:r>
              <a:t>•  Optimizing Portfolio &amp; Growth: Identifying and scaling profitable new ventures while divesting underperforming assets.</a:t>
            </a:r>
            <a:br/>
            <a:r>
              <a:t>•  Talent Acquisition &amp; Retention: Attracting, developing, and retaining critical skills in a competitive talent market.</a:t>
            </a:r>
            <a:br/>
            <a:r>
              <a:t>•  Operational Efficiency &amp; Cost Management: Streamlining processes to enhance productivity and control expenditures.</a:t>
            </a:r>
            <a:br/>
            <a:r>
              <a:t>•  Evolving Customer Expectations: Adapting product and service offerings to meet dynamic customer needs and preferences.</a:t>
            </a:r>
            <a:br/>
            <a:r>
              <a:t>•  Regulatory &amp; ESG Compliance: Responding to increasing scrutiny around sustainability and governance.</a:t>
            </a:r>
            <a:endParaRPr dirty="0"/>
          </a:p>
        </p:txBody>
      </p:sp>
      <p:sp>
        <p:nvSpPr>
          <p:cNvPr id="4" name="Content Placeholder 3">
            <a:extLst>
              <a:ext uri="{FF2B5EF4-FFF2-40B4-BE49-F238E27FC236}">
                <a16:creationId xmlns:a16="http://schemas.microsoft.com/office/drawing/2014/main" id="{A88DB71A-D56C-4634-2BEE-CCCF3CB0F3E7}"/>
              </a:ext>
            </a:extLst>
          </p:cNvPr>
          <p:cNvSpPr>
            <a:spLocks noGrp="1" noRot="1" noMove="1" noResize="1" noEditPoints="1" noAdjustHandles="1" noChangeArrowheads="1" noChangeShapeType="1"/>
          </p:cNvSpPr>
          <p:nvPr>
            <p:ph sz="quarter" idx="13"/>
          </p:nvPr>
        </p:nvSpPr>
        <p:spPr/>
        <p:txBody>
          <a:bodyPr>
            <a:noAutofit/>
          </a:bodyPr>
          <a:lstStyle/>
          <a:p>
            <a:pPr algn="l"/>
            <a:r>
              <a:t>•  Achieve sustainable, profitable growth across core and emerging markets.</a:t>
            </a:r>
            <a:br/>
            <a:r>
              <a:t>•  Enhance operational agility and cost-effectiveness.</a:t>
            </a:r>
            <a:br/>
            <a:r>
              <a:t>•  Strengthen competitive differentiation through innovation and superior customer experience.</a:t>
            </a:r>
            <a:br/>
            <a:r>
              <a:t>•  Build a future-ready organization with robust capabilities and an engaged workforce.</a:t>
            </a:r>
            <a:br/>
            <a:r>
              <a:t>•  Optimize strategic resource allocation to maximize return on investment.</a:t>
            </a:r>
            <a:endParaRPr dirty="0"/>
          </a:p>
        </p:txBody>
      </p:sp>
      <p:sp>
        <p:nvSpPr>
          <p:cNvPr id="6" name="Slide Number Placeholder 10">
            <a:extLst>
              <a:ext uri="{FF2B5EF4-FFF2-40B4-BE49-F238E27FC236}">
                <a16:creationId xmlns:a16="http://schemas.microsoft.com/office/drawing/2014/main" id="{2D0E21F0-A1CC-72EB-D88E-A42FCE0E424D}"/>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3964475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3F4BD2E-E227-A41F-33BD-EF5E3E53F344}"/>
              </a:ext>
            </a:extLst>
          </p:cNvPr>
          <p:cNvSpPr>
            <a:spLocks noGrp="1" noRot="1" noMove="1" noResize="1" noEditPoints="1" noAdjustHandles="1" noChangeArrowheads="1" noChangeShapeType="1"/>
          </p:cNvSpPr>
          <p:nvPr>
            <p:ph type="title"/>
          </p:nvPr>
        </p:nvSpPr>
        <p:spPr/>
        <p:txBody>
          <a:bodyPr>
            <a:normAutofit fontScale="90000"/>
          </a:bodyPr>
          <a:lstStyle/>
          <a:p>
            <a:endParaRPr lang="en-GB" dirty="0"/>
          </a:p>
          <a:p>
            <a:r>
              <a:rPr lang="en-US" dirty="0"/>
              <a:t>OUR PROPOSED APPROACH</a:t>
            </a:r>
            <a:endParaRPr dirty="0"/>
          </a:p>
        </p:txBody>
      </p:sp>
      <p:sp>
        <p:nvSpPr>
          <p:cNvPr id="9" name="Text Placeholder 3">
            <a:extLst>
              <a:ext uri="{FF2B5EF4-FFF2-40B4-BE49-F238E27FC236}">
                <a16:creationId xmlns:a16="http://schemas.microsoft.com/office/drawing/2014/main" id="{DFBC7929-B570-8AB1-9208-301A6F237D7F}"/>
              </a:ext>
            </a:extLst>
          </p:cNvPr>
          <p:cNvSpPr>
            <a:spLocks noGrp="1"/>
          </p:cNvSpPr>
          <p:nvPr>
            <p:ph type="body" idx="13"/>
          </p:nvPr>
        </p:nvSpPr>
        <p:spPr>
          <a:xfrm>
            <a:off x="839788" y="1632155"/>
            <a:ext cx="7243011" cy="316538"/>
          </a:xfrm>
        </p:spPr>
        <p:txBody>
          <a:bodyPr>
            <a:noAutofit/>
          </a:bodyPr>
          <a:lstStyle/>
          <a:p>
            <a:r>
              <a:t>Phase 1: Discover &amp; Diagnose</a:t>
            </a:r>
            <a:endParaRPr lang="en-GB" dirty="0"/>
          </a:p>
        </p:txBody>
      </p:sp>
      <p:sp>
        <p:nvSpPr>
          <p:cNvPr id="14" name="Text Placeholder 3">
            <a:extLst>
              <a:ext uri="{FF2B5EF4-FFF2-40B4-BE49-F238E27FC236}">
                <a16:creationId xmlns:a16="http://schemas.microsoft.com/office/drawing/2014/main" id="{F68783C2-B190-F13A-AE22-9AFA09E4C25B}"/>
              </a:ext>
            </a:extLst>
          </p:cNvPr>
          <p:cNvSpPr txBox="1">
            <a:spLocks/>
          </p:cNvSpPr>
          <p:nvPr/>
        </p:nvSpPr>
        <p:spPr>
          <a:xfrm>
            <a:off x="852711" y="3014691"/>
            <a:ext cx="6481944" cy="948937"/>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7D4E1D"/>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i="0" kern="1200">
                <a:solidFill>
                  <a:schemeClr val="tx1">
                    <a:lumMod val="75000"/>
                    <a:lumOff val="25000"/>
                  </a:schemeClr>
                </a:solidFill>
                <a:latin typeface="Aptos Light" panose="020B0004020202020204" pitchFamily="34"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i="1" kern="1200">
                <a:solidFill>
                  <a:schemeClr val="tx1">
                    <a:lumMod val="75000"/>
                    <a:lumOff val="25000"/>
                  </a:schemeClr>
                </a:solidFill>
                <a:latin typeface="Aptos Light" panose="020B00040202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dirty="0"/>
          </a:p>
          <a:p>
            <a:r>
              <a:rPr dirty="0"/>
              <a:t>{{Phase 2</a:t>
            </a:r>
            <a:r>
              <a:rPr lang="en-US" dirty="0"/>
              <a:t>:  Name</a:t>
            </a:r>
            <a:r>
              <a:rPr dirty="0"/>
              <a:t>}}</a:t>
            </a:r>
          </a:p>
        </p:txBody>
      </p:sp>
      <p:sp>
        <p:nvSpPr>
          <p:cNvPr id="15" name="Text Placeholder 3">
            <a:extLst>
              <a:ext uri="{FF2B5EF4-FFF2-40B4-BE49-F238E27FC236}">
                <a16:creationId xmlns:a16="http://schemas.microsoft.com/office/drawing/2014/main" id="{9CAA5706-E44C-CB8B-FD39-98E004E80F83}"/>
              </a:ext>
            </a:extLst>
          </p:cNvPr>
          <p:cNvSpPr txBox="1">
            <a:spLocks/>
          </p:cNvSpPr>
          <p:nvPr/>
        </p:nvSpPr>
        <p:spPr>
          <a:xfrm>
            <a:off x="852711" y="4336961"/>
            <a:ext cx="6481943" cy="948937"/>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7D4E1D"/>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i="0" kern="1200">
                <a:solidFill>
                  <a:schemeClr val="tx1">
                    <a:lumMod val="75000"/>
                    <a:lumOff val="25000"/>
                  </a:schemeClr>
                </a:solidFill>
                <a:latin typeface="Aptos Light" panose="020B0004020202020204" pitchFamily="34"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i="1" kern="1200">
                <a:solidFill>
                  <a:schemeClr val="tx1">
                    <a:lumMod val="75000"/>
                    <a:lumOff val="25000"/>
                  </a:schemeClr>
                </a:solidFill>
                <a:latin typeface="Aptos Light" panose="020B00040202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t>Phase 3: Deploy &amp; Enable</a:t>
            </a:r>
            <a:endParaRPr dirty="0"/>
          </a:p>
        </p:txBody>
      </p:sp>
      <p:sp>
        <p:nvSpPr>
          <p:cNvPr id="2" name="Slide Number Placeholder 10">
            <a:extLst>
              <a:ext uri="{FF2B5EF4-FFF2-40B4-BE49-F238E27FC236}">
                <a16:creationId xmlns:a16="http://schemas.microsoft.com/office/drawing/2014/main" id="{3BAF4667-BBC8-FCF0-9CCF-304ECC450F66}"/>
              </a:ext>
            </a:extLst>
          </p:cNvPr>
          <p:cNvSpPr>
            <a:spLocks noGrp="1"/>
          </p:cNvSpPr>
          <p:nvPr>
            <p:ph type="sldNum" sz="quarter" idx="12"/>
          </p:nvPr>
        </p:nvSpPr>
        <p:spPr>
          <a:xfrm>
            <a:off x="8610600" y="6356350"/>
            <a:ext cx="2743200" cy="365125"/>
          </a:xfrm>
        </p:spPr>
        <p:txBody>
          <a:bodyPr/>
          <a:lstStyle/>
          <a:p>
            <a:endParaRPr dirty="0"/>
          </a:p>
        </p:txBody>
      </p:sp>
      <p:sp>
        <p:nvSpPr>
          <p:cNvPr id="4" name="TextBox 3">
            <a:extLst>
              <a:ext uri="{FF2B5EF4-FFF2-40B4-BE49-F238E27FC236}">
                <a16:creationId xmlns:a16="http://schemas.microsoft.com/office/drawing/2014/main" id="{29329F9D-0AF1-17BD-69B7-6FAD2BDB5041}"/>
              </a:ext>
            </a:extLst>
          </p:cNvPr>
          <p:cNvSpPr txBox="1"/>
          <p:nvPr/>
        </p:nvSpPr>
        <p:spPr>
          <a:xfrm>
            <a:off x="839781" y="1025598"/>
            <a:ext cx="7146628" cy="615553"/>
          </a:xfrm>
          <a:prstGeom prst="rect">
            <a:avLst/>
          </a:prstGeom>
          <a:noFill/>
        </p:spPr>
        <p:txBody>
          <a:bodyPr wrap="square">
            <a:spAutoFit/>
          </a:bodyPr>
          <a:lstStyle/>
          <a:p>
            <a:r>
              <a:t>Our approach is structured, phased, and driven by deep analytical insights, ensuring a tailored and practical strategy. We combine rigorous data analysis with collaborative workshops to co-create solutions that are both ambitious and executable, designed for maximum impact and sustainable value creation.</a:t>
            </a:r>
            <a:endParaRPr lang="en-AE" sz="1200" i="1" dirty="0"/>
          </a:p>
        </p:txBody>
      </p:sp>
      <p:sp>
        <p:nvSpPr>
          <p:cNvPr id="5" name="TextBox 4">
            <a:extLst>
              <a:ext uri="{FF2B5EF4-FFF2-40B4-BE49-F238E27FC236}">
                <a16:creationId xmlns:a16="http://schemas.microsoft.com/office/drawing/2014/main" id="{CDAE5125-04B1-01B0-4C67-6FA85EDFA467}"/>
              </a:ext>
            </a:extLst>
          </p:cNvPr>
          <p:cNvSpPr txBox="1"/>
          <p:nvPr/>
        </p:nvSpPr>
        <p:spPr>
          <a:xfrm>
            <a:off x="992181" y="2248042"/>
            <a:ext cx="7146628" cy="646331"/>
          </a:xfrm>
          <a:prstGeom prst="rect">
            <a:avLst/>
          </a:prstGeom>
          <a:noFill/>
        </p:spPr>
        <p:txBody>
          <a:bodyPr wrap="square">
            <a:spAutoFit/>
          </a:bodyPr>
          <a:lstStyle/>
          <a:p>
            <a:r>
              <a:t>•  In-depth market and competitive landscape analysis</a:t>
            </a:r>
            <a:br/>
            <a:r>
              <a:t>•  Internal capabilities assessment and performance benchmarking</a:t>
            </a:r>
            <a:br/>
            <a:r>
              <a:t>•  Stakeholder interviews and current state workshops</a:t>
            </a:r>
            <a:br/>
            <a:r>
              <a:t>•  Identification of critical challenges and strategic opportunities</a:t>
            </a:r>
            <a:endParaRPr lang="en-AE" sz="1200" i="1" dirty="0"/>
          </a:p>
        </p:txBody>
      </p:sp>
      <p:sp>
        <p:nvSpPr>
          <p:cNvPr id="6" name="TextBox 5">
            <a:extLst>
              <a:ext uri="{FF2B5EF4-FFF2-40B4-BE49-F238E27FC236}">
                <a16:creationId xmlns:a16="http://schemas.microsoft.com/office/drawing/2014/main" id="{27F7C101-EA36-10D2-4D7E-7A99FFA4C026}"/>
              </a:ext>
            </a:extLst>
          </p:cNvPr>
          <p:cNvSpPr txBox="1"/>
          <p:nvPr/>
        </p:nvSpPr>
        <p:spPr>
          <a:xfrm>
            <a:off x="998665" y="3645583"/>
            <a:ext cx="7146628" cy="615553"/>
          </a:xfrm>
          <a:prstGeom prst="rect">
            <a:avLst/>
          </a:prstGeom>
          <a:noFill/>
        </p:spPr>
        <p:txBody>
          <a:bodyPr wrap="square">
            <a:spAutoFit/>
          </a:bodyPr>
          <a:lstStyle/>
          <a:p>
            <a:r>
              <a:t>•  Development of strategic hypotheses and potential growth pathways</a:t>
            </a:r>
            <a:br/>
            <a:r>
              <a:t>•  Co-creation of strategic imperatives and target operating models</a:t>
            </a:r>
            <a:br/>
            <a:r>
              <a:t>•  Formulation of a comprehensive strategic roadmap with clear milestones</a:t>
            </a:r>
            <a:br/>
            <a:r>
              <a:t>•  Quantification of potential value creation and risk assessment</a:t>
            </a:r>
            <a:endParaRPr lang="en-AE" sz="1200" i="1" dirty="0"/>
          </a:p>
        </p:txBody>
      </p:sp>
      <p:sp>
        <p:nvSpPr>
          <p:cNvPr id="7" name="TextBox 6">
            <a:extLst>
              <a:ext uri="{FF2B5EF4-FFF2-40B4-BE49-F238E27FC236}">
                <a16:creationId xmlns:a16="http://schemas.microsoft.com/office/drawing/2014/main" id="{4E479D7B-18FE-0D1F-CF1E-8BF85800C5C2}"/>
              </a:ext>
            </a:extLst>
          </p:cNvPr>
          <p:cNvSpPr txBox="1"/>
          <p:nvPr/>
        </p:nvSpPr>
        <p:spPr>
          <a:xfrm>
            <a:off x="998665" y="4975916"/>
            <a:ext cx="7146628" cy="615553"/>
          </a:xfrm>
          <a:prstGeom prst="rect">
            <a:avLst/>
          </a:prstGeom>
          <a:noFill/>
        </p:spPr>
        <p:txBody>
          <a:bodyPr wrap="square">
            <a:spAutoFit/>
          </a:bodyPr>
          <a:lstStyle/>
          <a:p>
            <a:r>
              <a:t>•  Development of detailed implementation plans and pilot programs</a:t>
            </a:r>
            <a:br/>
            <a:r>
              <a:t>•  Establishment of performance measurement and tracking frameworks</a:t>
            </a:r>
            <a:br/>
            <a:r>
              <a:t>•  Change management support and capability building initiatives</a:t>
            </a:r>
            <a:br/>
            <a:r>
              <a:t>•  Ongoing advisory and refinement based on initial execution feedback</a:t>
            </a:r>
            <a:endParaRPr lang="en-AE" sz="1200" i="1" dirty="0"/>
          </a:p>
        </p:txBody>
      </p:sp>
    </p:spTree>
    <p:extLst>
      <p:ext uri="{BB962C8B-B14F-4D97-AF65-F5344CB8AC3E}">
        <p14:creationId xmlns:p14="http://schemas.microsoft.com/office/powerpoint/2010/main" val="2710043180"/>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08150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13913-5321-D93D-18DC-679B11DCBA48}"/>
              </a:ext>
            </a:extLst>
          </p:cNvPr>
          <p:cNvSpPr>
            <a:spLocks noGrp="1" noRot="1" noMove="1" noResize="1" noEditPoints="1" noAdjustHandles="1" noChangeArrowheads="1" noChangeShapeType="1"/>
          </p:cNvSpPr>
          <p:nvPr>
            <p:ph type="title"/>
          </p:nvPr>
        </p:nvSpPr>
        <p:spPr/>
        <p:txBody>
          <a:bodyPr>
            <a:normAutofit/>
          </a:bodyPr>
          <a:lstStyle/>
          <a:p>
            <a:r>
              <a:rPr lang="en-US" sz="2200" dirty="0"/>
              <a:t>Pnyx Hill’s SCOPE OF SERVICES</a:t>
            </a:r>
            <a:endParaRPr sz="1800" dirty="0"/>
          </a:p>
        </p:txBody>
      </p:sp>
      <p:sp>
        <p:nvSpPr>
          <p:cNvPr id="4" name="Content Placeholder 3">
            <a:extLst>
              <a:ext uri="{FF2B5EF4-FFF2-40B4-BE49-F238E27FC236}">
                <a16:creationId xmlns:a16="http://schemas.microsoft.com/office/drawing/2014/main" id="{92680D53-D430-E573-E195-D777B3715BA9}"/>
              </a:ext>
            </a:extLst>
          </p:cNvPr>
          <p:cNvSpPr>
            <a:spLocks noGrp="1"/>
          </p:cNvSpPr>
          <p:nvPr>
            <p:ph sz="half" idx="16"/>
          </p:nvPr>
        </p:nvSpPr>
        <p:spPr>
          <a:xfrm>
            <a:off x="838200" y="1243937"/>
            <a:ext cx="1275996" cy="1706030"/>
          </a:xfrm>
        </p:spPr>
        <p:txBody>
          <a:bodyPr/>
          <a:lstStyle/>
          <a:p>
            <a:r>
              <a:rPr lang="en-US" dirty="0"/>
              <a:t>STRATEGIC SUPPORT</a:t>
            </a:r>
            <a:br>
              <a:rPr dirty="0"/>
            </a:br>
            <a:endParaRPr dirty="0"/>
          </a:p>
        </p:txBody>
      </p:sp>
      <p:sp>
        <p:nvSpPr>
          <p:cNvPr id="6" name="Content Placeholder 5">
            <a:extLst>
              <a:ext uri="{FF2B5EF4-FFF2-40B4-BE49-F238E27FC236}">
                <a16:creationId xmlns:a16="http://schemas.microsoft.com/office/drawing/2014/main" id="{CCA89EA0-E269-44B2-36DE-06A5BBD705F9}"/>
              </a:ext>
            </a:extLst>
          </p:cNvPr>
          <p:cNvSpPr>
            <a:spLocks noGrp="1"/>
          </p:cNvSpPr>
          <p:nvPr>
            <p:ph sz="half" idx="18"/>
          </p:nvPr>
        </p:nvSpPr>
        <p:spPr>
          <a:xfrm>
            <a:off x="838200" y="3125547"/>
            <a:ext cx="1275996" cy="1751835"/>
          </a:xfrm>
        </p:spPr>
        <p:txBody>
          <a:bodyPr/>
          <a:lstStyle/>
          <a:p>
            <a:endParaRPr dirty="0"/>
          </a:p>
          <a:p>
            <a:r>
              <a:rPr lang="en-US" dirty="0"/>
              <a:t>STRUCTURING &amp; ENABLERS</a:t>
            </a:r>
            <a:endParaRPr dirty="0"/>
          </a:p>
        </p:txBody>
      </p:sp>
      <p:sp>
        <p:nvSpPr>
          <p:cNvPr id="8" name="Content Placeholder 7">
            <a:extLst>
              <a:ext uri="{FF2B5EF4-FFF2-40B4-BE49-F238E27FC236}">
                <a16:creationId xmlns:a16="http://schemas.microsoft.com/office/drawing/2014/main" id="{2103AB6B-A72F-150F-7BC6-3358D22431D9}"/>
              </a:ext>
            </a:extLst>
          </p:cNvPr>
          <p:cNvSpPr>
            <a:spLocks noGrp="1"/>
          </p:cNvSpPr>
          <p:nvPr>
            <p:ph sz="half" idx="20"/>
          </p:nvPr>
        </p:nvSpPr>
        <p:spPr>
          <a:xfrm>
            <a:off x="838200" y="5052962"/>
            <a:ext cx="1275996" cy="1043038"/>
          </a:xfrm>
        </p:spPr>
        <p:txBody>
          <a:bodyPr>
            <a:normAutofit/>
          </a:bodyPr>
          <a:lstStyle/>
          <a:p>
            <a:endParaRPr lang="en-AE" sz="1100" dirty="0"/>
          </a:p>
          <a:p>
            <a:r>
              <a:rPr lang="en-US" sz="1300" dirty="0"/>
              <a:t>ONGOING SUPPORT</a:t>
            </a:r>
            <a:br>
              <a:rPr sz="1300" dirty="0"/>
            </a:br>
            <a:endParaRPr dirty="0"/>
          </a:p>
        </p:txBody>
      </p:sp>
      <p:sp>
        <p:nvSpPr>
          <p:cNvPr id="16" name="Content Placeholder 2">
            <a:extLst>
              <a:ext uri="{FF2B5EF4-FFF2-40B4-BE49-F238E27FC236}">
                <a16:creationId xmlns:a16="http://schemas.microsoft.com/office/drawing/2014/main" id="{46C6D46A-7965-B435-7C14-57F22175C380}"/>
              </a:ext>
            </a:extLst>
          </p:cNvPr>
          <p:cNvSpPr>
            <a:spLocks noGrp="1"/>
          </p:cNvSpPr>
          <p:nvPr>
            <p:ph sz="half" idx="2"/>
          </p:nvPr>
        </p:nvSpPr>
        <p:spPr>
          <a:xfrm>
            <a:off x="2428565" y="1243937"/>
            <a:ext cx="9224914" cy="1706030"/>
          </a:xfrm>
        </p:spPr>
        <p:txBody>
          <a:bodyPr>
            <a:normAutofit/>
          </a:bodyPr>
          <a:lstStyle/>
          <a:p>
            <a:pPr>
              <a:lnSpc>
                <a:spcPct val="120000"/>
              </a:lnSpc>
              <a:spcBef>
                <a:spcPts val="0"/>
              </a:spcBef>
              <a:spcAft>
                <a:spcPts val="600"/>
              </a:spcAft>
              <a:buFont typeface="Wingdings" panose="05000000000000000000" pitchFamily="2" charset="2"/>
              <a:buChar char="§"/>
            </a:pPr>
            <a:r>
              <a:t>•  Growth Strategy: Defining new market entry, product portfolio optimization, and expansion strategies.</a:t>
            </a:r>
            <a:br/>
            <a:r>
              <a:t>•  Corporate Strategy: Developing long-term vision, mission, and strategic objectives for sustained value.</a:t>
            </a:r>
            <a:br/>
            <a:r>
              <a:t>•  Competitive Positioning: Analyzing market dynamics to identify and fortify competitive advantages.</a:t>
            </a:r>
            <a:br/>
            <a:r>
              <a:t>•  M&amp;A Strategy: Advising on inorganic growth opportunities, target identification, and due diligence.</a:t>
            </a:r>
            <a:endParaRPr dirty="0"/>
          </a:p>
        </p:txBody>
      </p:sp>
      <p:sp>
        <p:nvSpPr>
          <p:cNvPr id="12" name="Content Placeholder 2">
            <a:extLst>
              <a:ext uri="{FF2B5EF4-FFF2-40B4-BE49-F238E27FC236}">
                <a16:creationId xmlns:a16="http://schemas.microsoft.com/office/drawing/2014/main" id="{2DF705CC-6974-7258-485D-3EB82444ABBD}"/>
              </a:ext>
            </a:extLst>
          </p:cNvPr>
          <p:cNvSpPr txBox="1">
            <a:spLocks/>
          </p:cNvSpPr>
          <p:nvPr/>
        </p:nvSpPr>
        <p:spPr>
          <a:xfrm>
            <a:off x="2428565" y="3334642"/>
            <a:ext cx="9224914" cy="17060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900" b="0" i="0" kern="1200">
                <a:solidFill>
                  <a:schemeClr val="tx1">
                    <a:lumMod val="75000"/>
                    <a:lumOff val="25000"/>
                  </a:schemeClr>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spcAft>
                <a:spcPts val="600"/>
              </a:spcAft>
              <a:buFont typeface="Wingdings" panose="05000000000000000000" pitchFamily="2" charset="2"/>
              <a:buChar char="§"/>
            </a:pPr>
            <a:r>
              <a:t>•  Organizational Design: Reimagining structures, roles, and responsibilities for agility and efficiency.</a:t>
            </a:r>
            <a:br/>
            <a:r>
              <a:t>•  Process Optimization: Redesigning core business processes to enhance productivity and reduce costs.</a:t>
            </a:r>
            <a:br/>
            <a:r>
              <a:t>•  Technology Strategy: Aligning IT architecture and digital capabilities with strategic business goals.</a:t>
            </a:r>
            <a:br/>
            <a:r>
              <a:t>•  Performance Management: Implementing frameworks to monitor, measure, and drive operational performance.</a:t>
            </a:r>
            <a:endParaRPr dirty="0"/>
          </a:p>
        </p:txBody>
      </p:sp>
      <p:sp>
        <p:nvSpPr>
          <p:cNvPr id="13" name="Content Placeholder 2">
            <a:extLst>
              <a:ext uri="{FF2B5EF4-FFF2-40B4-BE49-F238E27FC236}">
                <a16:creationId xmlns:a16="http://schemas.microsoft.com/office/drawing/2014/main" id="{53187A2B-B3C3-BD47-812E-C9AF78225BCD}"/>
              </a:ext>
            </a:extLst>
          </p:cNvPr>
          <p:cNvSpPr txBox="1">
            <a:spLocks/>
          </p:cNvSpPr>
          <p:nvPr/>
        </p:nvSpPr>
        <p:spPr>
          <a:xfrm>
            <a:off x="2428565" y="5040672"/>
            <a:ext cx="9224914" cy="57339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900" b="0" i="0" kern="1200">
                <a:solidFill>
                  <a:schemeClr val="tx1">
                    <a:lumMod val="75000"/>
                    <a:lumOff val="25000"/>
                  </a:schemeClr>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spcAft>
                <a:spcPts val="600"/>
              </a:spcAft>
              <a:buFont typeface="Wingdings" panose="05000000000000000000" pitchFamily="2" charset="2"/>
              <a:buChar char="§"/>
            </a:pPr>
            <a:r>
              <a:t>•  Strategic PMO: Providing program management office support for large-scale strategic initiatives.</a:t>
            </a:r>
            <a:br/>
            <a:r>
              <a:t>•  Change Management: Guiding organizational transition and adoption of new strategies and capabilities.</a:t>
            </a:r>
            <a:br/>
            <a:r>
              <a:t>•  Leadership Coaching: Offering tailored coaching to executive leadership on strategic execution.</a:t>
            </a:r>
            <a:br/>
            <a:r>
              <a:t>•  Performance Review &amp; Adaptation: Conducting periodic reviews and advising on strategic adjustments.</a:t>
            </a:r>
            <a:endParaRPr dirty="0"/>
          </a:p>
        </p:txBody>
      </p:sp>
      <p:sp>
        <p:nvSpPr>
          <p:cNvPr id="3" name="Slide Number Placeholder 10">
            <a:extLst>
              <a:ext uri="{FF2B5EF4-FFF2-40B4-BE49-F238E27FC236}">
                <a16:creationId xmlns:a16="http://schemas.microsoft.com/office/drawing/2014/main" id="{71D706F6-78B4-8187-8249-53FE450C24F8}"/>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6321278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23AF8-0042-0AA0-134B-D6408C3F268F}"/>
            </a:ext>
          </a:extLst>
        </p:cNvPr>
        <p:cNvGrpSpPr/>
        <p:nvPr/>
      </p:nvGrpSpPr>
      <p:grpSpPr>
        <a:xfrm>
          <a:off x="0" y="0"/>
          <a:ext cx="0" cy="0"/>
          <a:chOff x="0" y="0"/>
          <a:chExt cx="0" cy="0"/>
        </a:xfrm>
      </p:grpSpPr>
      <p:sp>
        <p:nvSpPr>
          <p:cNvPr id="29" name="Title 1">
            <a:extLst>
              <a:ext uri="{FF2B5EF4-FFF2-40B4-BE49-F238E27FC236}">
                <a16:creationId xmlns:a16="http://schemas.microsoft.com/office/drawing/2014/main" id="{91E528CC-1DEC-1EC7-A1A6-A2DB81B728AA}"/>
              </a:ext>
            </a:extLst>
          </p:cNvPr>
          <p:cNvSpPr>
            <a:spLocks noGrp="1"/>
          </p:cNvSpPr>
          <p:nvPr>
            <p:ph type="title"/>
          </p:nvPr>
        </p:nvSpPr>
        <p:spPr>
          <a:xfrm>
            <a:off x="839787" y="88506"/>
            <a:ext cx="7390693" cy="823912"/>
          </a:xfrm>
        </p:spPr>
        <p:txBody>
          <a:bodyPr>
            <a:noAutofit/>
          </a:bodyPr>
          <a:lstStyle/>
          <a:p>
            <a:endParaRPr lang="en-AE" sz="2200" dirty="0"/>
          </a:p>
          <a:p>
            <a:r>
              <a:rPr sz="2200" dirty="0"/>
              <a:t>SERVICES DELIVERABLES</a:t>
            </a:r>
            <a:br>
              <a:rPr sz="2200" dirty="0"/>
            </a:br>
            <a:endParaRPr sz="1800" dirty="0"/>
          </a:p>
        </p:txBody>
      </p:sp>
      <p:pic>
        <p:nvPicPr>
          <p:cNvPr id="34" name="Picture 33">
            <a:extLst>
              <a:ext uri="{FF2B5EF4-FFF2-40B4-BE49-F238E27FC236}">
                <a16:creationId xmlns:a16="http://schemas.microsoft.com/office/drawing/2014/main" id="{88859C87-E646-C027-C9BA-64255063915F}"/>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4D001741-0E13-D437-6CD9-AB97C8214DB1}"/>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72E93958-AA01-4050-4D6F-A87196AD7D68}"/>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1869EE52-9D7E-2FC5-04E9-B113EA08C4B4}"/>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7B6C4BDD-A4ED-1302-9F17-1E25FCDD7D6A}"/>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84E59DC3-2527-4E6C-FFFE-13D74BCA0E9B}"/>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5DE1FAB0-FDB8-7077-6D2B-E0645262816D}"/>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41" name="Text Placeholder 1">
            <a:extLst>
              <a:ext uri="{FF2B5EF4-FFF2-40B4-BE49-F238E27FC236}">
                <a16:creationId xmlns:a16="http://schemas.microsoft.com/office/drawing/2014/main" id="{2374A811-6337-EEA3-6CA1-983BD6A9DA32}"/>
              </a:ext>
            </a:extLst>
          </p:cNvPr>
          <p:cNvSpPr txBox="1">
            <a:spLocks/>
          </p:cNvSpPr>
          <p:nvPr/>
        </p:nvSpPr>
        <p:spPr>
          <a:xfrm>
            <a:off x="829954" y="1171341"/>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AutoNum type="arabicPeriod"/>
            </a:pPr>
            <a:r>
              <a:t>Strategic Roadmap &amp; Vision Document</a:t>
            </a:r>
            <a:endParaRPr lang="en-GB" sz="1500" b="1" dirty="0">
              <a:solidFill>
                <a:srgbClr val="7D4E1D"/>
              </a:solidFill>
            </a:endParaRPr>
          </a:p>
        </p:txBody>
      </p:sp>
      <p:sp>
        <p:nvSpPr>
          <p:cNvPr id="2" name="Text Placeholder 1">
            <a:extLst>
              <a:ext uri="{FF2B5EF4-FFF2-40B4-BE49-F238E27FC236}">
                <a16:creationId xmlns:a16="http://schemas.microsoft.com/office/drawing/2014/main" id="{2CA04B7F-0889-575D-C56A-F0A2DAA5BED3}"/>
              </a:ext>
            </a:extLst>
          </p:cNvPr>
          <p:cNvSpPr txBox="1">
            <a:spLocks/>
          </p:cNvSpPr>
          <p:nvPr/>
        </p:nvSpPr>
        <p:spPr>
          <a:xfrm>
            <a:off x="4627374" y="1169972"/>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t>Market &amp; Competitive Intelligence Report</a:t>
            </a:r>
            <a:endParaRPr lang="en-GB" sz="1500" b="1" dirty="0">
              <a:solidFill>
                <a:srgbClr val="7D4E1D"/>
              </a:solidFill>
            </a:endParaRPr>
          </a:p>
        </p:txBody>
      </p:sp>
      <p:sp>
        <p:nvSpPr>
          <p:cNvPr id="4" name="TextBox 3">
            <a:extLst>
              <a:ext uri="{FF2B5EF4-FFF2-40B4-BE49-F238E27FC236}">
                <a16:creationId xmlns:a16="http://schemas.microsoft.com/office/drawing/2014/main" id="{F41ACD24-4209-A5D8-1097-891D1D5DA49C}"/>
              </a:ext>
            </a:extLst>
          </p:cNvPr>
          <p:cNvSpPr txBox="1"/>
          <p:nvPr/>
        </p:nvSpPr>
        <p:spPr>
          <a:xfrm>
            <a:off x="977104" y="2075145"/>
            <a:ext cx="3254477" cy="646331"/>
          </a:xfrm>
          <a:prstGeom prst="rect">
            <a:avLst/>
          </a:prstGeom>
          <a:noFill/>
        </p:spPr>
        <p:txBody>
          <a:bodyPr wrap="square">
            <a:spAutoFit/>
          </a:bodyPr>
          <a:lstStyle/>
          <a:p>
            <a:r>
              <a:t>•  Articulated long-term vision and strategic objectives.</a:t>
            </a:r>
            <a:br/>
            <a:r>
              <a:t>•  Comprehensive 3-5 year strategic roadmap with key initiatives.</a:t>
            </a:r>
            <a:br/>
            <a:r>
              <a:t>•  Detailed strategic priorities and resource allocation guidelines.</a:t>
            </a:r>
            <a:br/>
            <a:r>
              <a:t>•  Executive summary presentation for leadership alignment.</a:t>
            </a:r>
            <a:endParaRPr lang="en-AE" sz="1200" i="1" dirty="0"/>
          </a:p>
        </p:txBody>
      </p:sp>
      <p:sp>
        <p:nvSpPr>
          <p:cNvPr id="5" name="TextBox 4">
            <a:extLst>
              <a:ext uri="{FF2B5EF4-FFF2-40B4-BE49-F238E27FC236}">
                <a16:creationId xmlns:a16="http://schemas.microsoft.com/office/drawing/2014/main" id="{0129D5FA-8B59-B1A8-3B87-F2F778D1E6E5}"/>
              </a:ext>
            </a:extLst>
          </p:cNvPr>
          <p:cNvSpPr txBox="1"/>
          <p:nvPr/>
        </p:nvSpPr>
        <p:spPr>
          <a:xfrm>
            <a:off x="4715282" y="2075144"/>
            <a:ext cx="3254477" cy="646331"/>
          </a:xfrm>
          <a:prstGeom prst="rect">
            <a:avLst/>
          </a:prstGeom>
          <a:noFill/>
        </p:spPr>
        <p:txBody>
          <a:bodyPr wrap="square">
            <a:spAutoFit/>
          </a:bodyPr>
          <a:lstStyle/>
          <a:p>
            <a:r>
              <a:t>•  In-depth analysis of market trends, size, and growth drivers.</a:t>
            </a:r>
            <a:br/>
            <a:r>
              <a:t>•  Detailed profiles of key competitors, including strengths, weaknesses, and strategies.</a:t>
            </a:r>
            <a:br/>
            <a:r>
              <a:t>•  Identification of emerging threats and untapped opportunities.</a:t>
            </a:r>
            <a:br/>
            <a:r>
              <a:t>•  Recommendations for differentiated market positioning.</a:t>
            </a:r>
            <a:endParaRPr lang="en-AE" sz="1200" i="1" dirty="0"/>
          </a:p>
        </p:txBody>
      </p:sp>
      <p:sp>
        <p:nvSpPr>
          <p:cNvPr id="3" name="Slide Number Placeholder 10">
            <a:extLst>
              <a:ext uri="{FF2B5EF4-FFF2-40B4-BE49-F238E27FC236}">
                <a16:creationId xmlns:a16="http://schemas.microsoft.com/office/drawing/2014/main" id="{23DDFFE6-02F5-2FD5-A8F3-82A624B5B06F}"/>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219523490"/>
      </p:ext>
    </p:extLst>
  </p:cSld>
  <p:clrMapOvr>
    <a:masterClrMapping/>
  </p:clrMapOvr>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3142F-4A41-3D4E-BE21-65EFC2E2F9A2}"/>
            </a:ext>
          </a:extLst>
        </p:cNvPr>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4378B34E-EAB7-F8D1-AD02-1CBCD552E977}"/>
              </a:ext>
            </a:extLst>
          </p:cNvPr>
          <p:cNvSpPr>
            <a:spLocks noGrp="1" noRot="1" noMove="1" noResize="1" noEditPoints="1" noAdjustHandles="1" noChangeArrowheads="1" noChangeShapeType="1"/>
          </p:cNvSpPr>
          <p:nvPr>
            <p:ph type="sldNum" sz="quarter" idx="12"/>
          </p:nvPr>
        </p:nvSpPr>
        <p:spPr/>
        <p:txBody>
          <a:bodyPr/>
          <a:lstStyle/>
          <a:p>
            <a:endParaRPr dirty="0"/>
          </a:p>
        </p:txBody>
      </p:sp>
      <p:pic>
        <p:nvPicPr>
          <p:cNvPr id="34" name="Picture 33">
            <a:extLst>
              <a:ext uri="{FF2B5EF4-FFF2-40B4-BE49-F238E27FC236}">
                <a16:creationId xmlns:a16="http://schemas.microsoft.com/office/drawing/2014/main" id="{C71C5D2C-C8ED-CFA1-684E-0CD12675CF77}"/>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9373A9C4-32B2-B0A9-BEC8-730358AB11F7}"/>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4CC3FF8C-4F21-3616-97A9-145CDFB103FB}"/>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5DF781A6-D7A4-EF12-3034-22E9D3E364E9}"/>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0CF6BD07-223A-9FD0-0E6A-43CBF93285FA}"/>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90FC3E5C-7A3E-2CA7-BCBE-820BEB035615}"/>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0F47EEBB-67D4-6422-6568-152ADA8832D9}"/>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4" name="Text Placeholder 1">
            <a:extLst>
              <a:ext uri="{FF2B5EF4-FFF2-40B4-BE49-F238E27FC236}">
                <a16:creationId xmlns:a16="http://schemas.microsoft.com/office/drawing/2014/main" id="{F61DCCE8-571B-4F7C-77CA-391BAE27EF69}"/>
              </a:ext>
            </a:extLst>
          </p:cNvPr>
          <p:cNvSpPr txBox="1">
            <a:spLocks/>
          </p:cNvSpPr>
          <p:nvPr/>
        </p:nvSpPr>
        <p:spPr>
          <a:xfrm>
            <a:off x="4681701" y="1229646"/>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t>Performance &amp; Value Realization Dashboard</a:t>
            </a:r>
            <a:endParaRPr lang="en-GB" sz="1500" b="1" dirty="0">
              <a:solidFill>
                <a:srgbClr val="7D4E1D"/>
              </a:solidFill>
            </a:endParaRPr>
          </a:p>
        </p:txBody>
      </p:sp>
      <p:sp>
        <p:nvSpPr>
          <p:cNvPr id="5" name="Text Placeholder 1">
            <a:extLst>
              <a:ext uri="{FF2B5EF4-FFF2-40B4-BE49-F238E27FC236}">
                <a16:creationId xmlns:a16="http://schemas.microsoft.com/office/drawing/2014/main" id="{1BC761C1-D21A-DAE3-F71A-97F5A50D23FF}"/>
              </a:ext>
            </a:extLst>
          </p:cNvPr>
          <p:cNvSpPr txBox="1">
            <a:spLocks/>
          </p:cNvSpPr>
          <p:nvPr/>
        </p:nvSpPr>
        <p:spPr>
          <a:xfrm>
            <a:off x="877701" y="1241420"/>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t>Organizational Design &amp; Capability Framework</a:t>
            </a:r>
            <a:endParaRPr lang="en-GB" sz="1500" b="1" dirty="0">
              <a:solidFill>
                <a:srgbClr val="7D4E1D"/>
              </a:solidFill>
            </a:endParaRPr>
          </a:p>
        </p:txBody>
      </p:sp>
      <p:sp>
        <p:nvSpPr>
          <p:cNvPr id="12" name="Title 1">
            <a:extLst>
              <a:ext uri="{FF2B5EF4-FFF2-40B4-BE49-F238E27FC236}">
                <a16:creationId xmlns:a16="http://schemas.microsoft.com/office/drawing/2014/main" id="{69386124-EC2C-4293-F431-CD6463A69F95}"/>
              </a:ext>
            </a:extLst>
          </p:cNvPr>
          <p:cNvSpPr>
            <a:spLocks noGrp="1"/>
          </p:cNvSpPr>
          <p:nvPr>
            <p:ph type="title"/>
          </p:nvPr>
        </p:nvSpPr>
        <p:spPr>
          <a:xfrm>
            <a:off x="839787" y="88506"/>
            <a:ext cx="7390693" cy="823912"/>
          </a:xfrm>
        </p:spPr>
        <p:txBody>
          <a:bodyPr>
            <a:noAutofit/>
          </a:bodyPr>
          <a:lstStyle/>
          <a:p>
            <a:endParaRPr lang="en-AE" sz="2200" dirty="0"/>
          </a:p>
          <a:p>
            <a:r>
              <a:rPr sz="2200" dirty="0"/>
              <a:t>SERVICES DELIVERABLES</a:t>
            </a:r>
            <a:br>
              <a:rPr sz="2200" dirty="0"/>
            </a:br>
            <a:endParaRPr sz="1800" dirty="0"/>
          </a:p>
        </p:txBody>
      </p:sp>
      <p:sp>
        <p:nvSpPr>
          <p:cNvPr id="13" name="TextBox 12">
            <a:extLst>
              <a:ext uri="{FF2B5EF4-FFF2-40B4-BE49-F238E27FC236}">
                <a16:creationId xmlns:a16="http://schemas.microsoft.com/office/drawing/2014/main" id="{72139180-8083-B418-4FEC-002D4F85DDDB}"/>
              </a:ext>
            </a:extLst>
          </p:cNvPr>
          <p:cNvSpPr txBox="1"/>
          <p:nvPr/>
        </p:nvSpPr>
        <p:spPr>
          <a:xfrm>
            <a:off x="977104" y="2075145"/>
            <a:ext cx="3254477" cy="461665"/>
          </a:xfrm>
          <a:prstGeom prst="rect">
            <a:avLst/>
          </a:prstGeom>
          <a:noFill/>
        </p:spPr>
        <p:txBody>
          <a:bodyPr wrap="square">
            <a:spAutoFit/>
          </a:bodyPr>
          <a:lstStyle/>
          <a:p>
            <a:r>
              <a:t>•  Proposed future-state organizational structure and governance model.</a:t>
            </a:r>
            <a:br/>
            <a:r>
              <a:t>•  Assessment of critical capability gaps and development pathways.</a:t>
            </a:r>
            <a:br/>
            <a:r>
              <a:t>•  Recommendations for talent strategy, including upskilling and reskilling initiatives.</a:t>
            </a:r>
            <a:br/>
            <a:r>
              <a:t>•  Blueprint for roles, responsibilities, and decision-making processes.</a:t>
            </a:r>
            <a:endParaRPr lang="en-US" sz="1200" i="1" dirty="0"/>
          </a:p>
        </p:txBody>
      </p:sp>
      <p:sp>
        <p:nvSpPr>
          <p:cNvPr id="14" name="TextBox 13">
            <a:extLst>
              <a:ext uri="{FF2B5EF4-FFF2-40B4-BE49-F238E27FC236}">
                <a16:creationId xmlns:a16="http://schemas.microsoft.com/office/drawing/2014/main" id="{FA44F50F-174E-BDE9-23CB-65A44E70D000}"/>
              </a:ext>
            </a:extLst>
          </p:cNvPr>
          <p:cNvSpPr txBox="1"/>
          <p:nvPr/>
        </p:nvSpPr>
        <p:spPr>
          <a:xfrm>
            <a:off x="4715282" y="2075144"/>
            <a:ext cx="3254477" cy="461665"/>
          </a:xfrm>
          <a:prstGeom prst="rect">
            <a:avLst/>
          </a:prstGeom>
          <a:noFill/>
        </p:spPr>
        <p:txBody>
          <a:bodyPr wrap="square">
            <a:spAutoFit/>
          </a:bodyPr>
          <a:lstStyle/>
          <a:p>
            <a:r>
              <a:t>•  Customized key performance indicator (KPI) framework.</a:t>
            </a:r>
            <a:br/>
            <a:r>
              <a:t>•  Dashboard prototype for tracking strategic initiative progress and impact.</a:t>
            </a:r>
            <a:br/>
            <a:r>
              <a:t>•  Methodology for quantifying value realization and ROI.</a:t>
            </a:r>
            <a:br/>
            <a:r>
              <a:t>•  Guidance on establishing a continuous performance monitoring culture.</a:t>
            </a:r>
            <a:endParaRPr lang="en-AE" sz="1200" i="1" dirty="0"/>
          </a:p>
        </p:txBody>
      </p:sp>
    </p:spTree>
    <p:extLst>
      <p:ext uri="{BB962C8B-B14F-4D97-AF65-F5344CB8AC3E}">
        <p14:creationId xmlns:p14="http://schemas.microsoft.com/office/powerpoint/2010/main" val="206556200"/>
      </p:ext>
    </p:extLst>
  </p:cSld>
  <p:clrMapOvr>
    <a:masterClrMapping/>
  </p:clrMapOvr>
  <p:extLst>
    <p:ext uri="{6950BFC3-D8DA-4A85-94F7-54DA5524770B}">
      <p188:commentRel xmlns:p188="http://schemas.microsoft.com/office/powerpoint/2018/8/main" r:id="rId2"/>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8D830-DE7A-1950-0ABE-3643403EB0B8}"/>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84D8A6CE-3187-9226-930C-4F60EC626DE0}"/>
              </a:ext>
            </a:extLst>
          </p:cNvPr>
          <p:cNvSpPr/>
          <p:nvPr/>
        </p:nvSpPr>
        <p:spPr>
          <a:xfrm>
            <a:off x="836610" y="1278194"/>
            <a:ext cx="7245506" cy="4945982"/>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sp>
        <p:nvSpPr>
          <p:cNvPr id="3" name="Title 2">
            <a:extLst>
              <a:ext uri="{FF2B5EF4-FFF2-40B4-BE49-F238E27FC236}">
                <a16:creationId xmlns:a16="http://schemas.microsoft.com/office/drawing/2014/main" id="{F2B985C6-58F0-C5C3-7EC3-8ED1EF1656BF}"/>
              </a:ext>
            </a:extLst>
          </p:cNvPr>
          <p:cNvSpPr>
            <a:spLocks noGrp="1"/>
          </p:cNvSpPr>
          <p:nvPr>
            <p:ph type="title"/>
          </p:nvPr>
        </p:nvSpPr>
        <p:spPr>
          <a:xfrm>
            <a:off x="839788" y="365126"/>
            <a:ext cx="7243012" cy="502722"/>
          </a:xfrm>
        </p:spPr>
        <p:txBody>
          <a:bodyPr/>
          <a:lstStyle/>
          <a:p>
            <a:r>
              <a:rPr lang="en-US" dirty="0"/>
              <a:t>Engagement Partners</a:t>
            </a:r>
            <a:endParaRPr lang="en-AE" dirty="0"/>
          </a:p>
        </p:txBody>
      </p:sp>
      <p:sp>
        <p:nvSpPr>
          <p:cNvPr id="8" name="Content Placeholder 5">
            <a:extLst>
              <a:ext uri="{FF2B5EF4-FFF2-40B4-BE49-F238E27FC236}">
                <a16:creationId xmlns:a16="http://schemas.microsoft.com/office/drawing/2014/main" id="{7C33B09B-7059-DB7F-94DB-26EAA331BEC5}"/>
              </a:ext>
            </a:extLst>
          </p:cNvPr>
          <p:cNvSpPr txBox="1">
            <a:spLocks/>
          </p:cNvSpPr>
          <p:nvPr/>
        </p:nvSpPr>
        <p:spPr>
          <a:xfrm>
            <a:off x="836610" y="3367850"/>
            <a:ext cx="1912175" cy="55912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Andreas Kourouklaris</a:t>
            </a:r>
          </a:p>
          <a:p>
            <a:pPr marL="0" indent="0" algn="ctr">
              <a:buNone/>
            </a:pPr>
            <a:r>
              <a:rPr lang="en-US" dirty="0">
                <a:solidFill>
                  <a:srgbClr val="0B2339"/>
                </a:solidFill>
                <a:latin typeface="Aptos Light" panose="020B0004020202020204" pitchFamily="34" charset="0"/>
              </a:rPr>
              <a:t>Co-founder and Group CEO</a:t>
            </a:r>
            <a:endParaRPr lang="en-AE" dirty="0">
              <a:solidFill>
                <a:srgbClr val="0B2339"/>
              </a:solidFill>
              <a:latin typeface="Aptos Light" panose="020B0004020202020204" pitchFamily="34" charset="0"/>
            </a:endParaRPr>
          </a:p>
        </p:txBody>
      </p:sp>
      <p:sp>
        <p:nvSpPr>
          <p:cNvPr id="9" name="Content Placeholder 10">
            <a:extLst>
              <a:ext uri="{FF2B5EF4-FFF2-40B4-BE49-F238E27FC236}">
                <a16:creationId xmlns:a16="http://schemas.microsoft.com/office/drawing/2014/main" id="{16FBFFEF-406D-D3FA-6C4C-44BE980BB2C4}"/>
              </a:ext>
            </a:extLst>
          </p:cNvPr>
          <p:cNvSpPr txBox="1">
            <a:spLocks/>
          </p:cNvSpPr>
          <p:nvPr/>
        </p:nvSpPr>
        <p:spPr>
          <a:xfrm>
            <a:off x="2886516" y="1742349"/>
            <a:ext cx="5057868" cy="21846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is a senior executive, serial entrepreneur, and expert strategist specializing in hyper-growth sustainable strategy, operations, and business development. He has led global regulatory initiatives, commercial operations, investor relations, and fundraising efforts. </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has held C-level positions and served as an executive director in several international licensed entities. He has launched local and international operations, achieving significant transaction volumes and revenue in multiple countries across MEA, SEA, CA, and EU, including the UAE, Bahrain, Kenya, Mozambique, Uganda, Philippines, Bangladesh, Kazakhstan, Singapore, Cyprus, and others. </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has managed under operational structures over 300 employees and directly/indirectly secured over USD 50 million in equity investments. He holds a BSc and MSc in engineering from AUTH University of Thessaloniki, Greece.</a:t>
            </a:r>
          </a:p>
        </p:txBody>
      </p:sp>
      <p:pic>
        <p:nvPicPr>
          <p:cNvPr id="10" name="Picture 9">
            <a:extLst>
              <a:ext uri="{FF2B5EF4-FFF2-40B4-BE49-F238E27FC236}">
                <a16:creationId xmlns:a16="http://schemas.microsoft.com/office/drawing/2014/main" id="{33390038-1182-B041-399A-73C4093421C1}"/>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6000" contrast="-19000"/>
                    </a14:imgEffect>
                  </a14:imgLayer>
                </a14:imgProps>
              </a:ext>
            </a:extLst>
          </a:blip>
          <a:srcRect l="4825" r="4825"/>
          <a:stretch/>
        </p:blipFill>
        <p:spPr bwMode="auto">
          <a:xfrm>
            <a:off x="995254" y="1746457"/>
            <a:ext cx="1594886" cy="1594886"/>
          </a:xfrm>
          <a:prstGeom prst="ellipse">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50F5ED5D-5AB0-7524-6A2C-92C5F2CA5B8C}"/>
              </a:ext>
            </a:extLst>
          </p:cNvPr>
          <p:cNvCxnSpPr>
            <a:cxnSpLocks/>
          </p:cNvCxnSpPr>
          <p:nvPr/>
        </p:nvCxnSpPr>
        <p:spPr>
          <a:xfrm>
            <a:off x="839787" y="1661654"/>
            <a:ext cx="7242329" cy="0"/>
          </a:xfrm>
          <a:prstGeom prst="line">
            <a:avLst/>
          </a:prstGeom>
          <a:ln w="9525"/>
        </p:spPr>
        <p:style>
          <a:lnRef idx="2">
            <a:schemeClr val="dk1"/>
          </a:lnRef>
          <a:fillRef idx="0">
            <a:schemeClr val="dk1"/>
          </a:fillRef>
          <a:effectRef idx="1">
            <a:schemeClr val="dk1"/>
          </a:effectRef>
          <a:fontRef idx="minor">
            <a:schemeClr val="tx1"/>
          </a:fontRef>
        </p:style>
      </p:cxnSp>
      <p:sp>
        <p:nvSpPr>
          <p:cNvPr id="16" name="Text Placeholder 1">
            <a:extLst>
              <a:ext uri="{FF2B5EF4-FFF2-40B4-BE49-F238E27FC236}">
                <a16:creationId xmlns:a16="http://schemas.microsoft.com/office/drawing/2014/main" id="{896E69A8-7132-3897-EEB0-7324EA71D385}"/>
              </a:ext>
            </a:extLst>
          </p:cNvPr>
          <p:cNvSpPr txBox="1">
            <a:spLocks/>
          </p:cNvSpPr>
          <p:nvPr/>
        </p:nvSpPr>
        <p:spPr>
          <a:xfrm>
            <a:off x="839787" y="1358889"/>
            <a:ext cx="3548779" cy="30276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solidFill>
                  <a:srgbClr val="7D4E1D"/>
                </a:solidFill>
              </a:rPr>
              <a:t>Client Excellence </a:t>
            </a:r>
            <a:endParaRPr lang="en-GB" sz="1700" b="1" dirty="0">
              <a:solidFill>
                <a:srgbClr val="7D4E1D"/>
              </a:solidFill>
            </a:endParaRPr>
          </a:p>
        </p:txBody>
      </p:sp>
      <p:sp>
        <p:nvSpPr>
          <p:cNvPr id="19" name="TextBox 18">
            <a:extLst>
              <a:ext uri="{FF2B5EF4-FFF2-40B4-BE49-F238E27FC236}">
                <a16:creationId xmlns:a16="http://schemas.microsoft.com/office/drawing/2014/main" id="{8EB3B24F-5900-545B-30C0-6A1F793945E6}"/>
              </a:ext>
            </a:extLst>
          </p:cNvPr>
          <p:cNvSpPr txBox="1"/>
          <p:nvPr/>
        </p:nvSpPr>
        <p:spPr>
          <a:xfrm>
            <a:off x="8701549" y="683182"/>
            <a:ext cx="2340077" cy="369332"/>
          </a:xfrm>
          <a:prstGeom prst="rect">
            <a:avLst/>
          </a:prstGeom>
          <a:solidFill>
            <a:srgbClr val="0B2339"/>
          </a:solidFill>
        </p:spPr>
        <p:txBody>
          <a:bodyPr wrap="square" rtlCol="0">
            <a:spAutoFit/>
          </a:bodyPr>
          <a:lstStyle/>
          <a:p>
            <a:endParaRPr lang="en-AE" dirty="0"/>
          </a:p>
        </p:txBody>
      </p:sp>
      <p:sp>
        <p:nvSpPr>
          <p:cNvPr id="21" name="Text Placeholder 1">
            <a:extLst>
              <a:ext uri="{FF2B5EF4-FFF2-40B4-BE49-F238E27FC236}">
                <a16:creationId xmlns:a16="http://schemas.microsoft.com/office/drawing/2014/main" id="{B2792EF3-DD65-5864-063C-C9AB1A5C9CCD}"/>
              </a:ext>
            </a:extLst>
          </p:cNvPr>
          <p:cNvSpPr txBox="1">
            <a:spLocks/>
          </p:cNvSpPr>
          <p:nvPr/>
        </p:nvSpPr>
        <p:spPr>
          <a:xfrm>
            <a:off x="8258226" y="1332173"/>
            <a:ext cx="2743199" cy="3651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solidFill>
                  <a:schemeClr val="bg1"/>
                </a:solidFill>
              </a:rPr>
              <a:t>Expertise Driving Impact</a:t>
            </a:r>
          </a:p>
        </p:txBody>
      </p:sp>
      <p:sp>
        <p:nvSpPr>
          <p:cNvPr id="22" name="Content Placeholder 10">
            <a:extLst>
              <a:ext uri="{FF2B5EF4-FFF2-40B4-BE49-F238E27FC236}">
                <a16:creationId xmlns:a16="http://schemas.microsoft.com/office/drawing/2014/main" id="{A19C0737-A013-DC33-ECBE-614F88A01040}"/>
              </a:ext>
            </a:extLst>
          </p:cNvPr>
          <p:cNvSpPr txBox="1">
            <a:spLocks/>
          </p:cNvSpPr>
          <p:nvPr/>
        </p:nvSpPr>
        <p:spPr>
          <a:xfrm>
            <a:off x="8258226" y="1742349"/>
            <a:ext cx="3019374" cy="21846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At Pnyx Hill, our strength lies in our people.</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We are a powerhouse of seasoned experts, bringing together deep knowledge across:</a:t>
            </a:r>
          </a:p>
          <a:p>
            <a:pPr marL="0" indent="0" algn="just">
              <a:lnSpc>
                <a:spcPct val="100000"/>
              </a:lnSpc>
              <a:spcBef>
                <a:spcPts val="400"/>
              </a:spcBef>
              <a:spcAft>
                <a:spcPts val="400"/>
              </a:spcAft>
              <a:buFont typeface="Arial" panose="020B0604020202020204" pitchFamily="34" charset="0"/>
              <a:buNone/>
            </a:pPr>
            <a:br>
              <a:rPr lang="en-US" dirty="0">
                <a:solidFill>
                  <a:schemeClr val="bg1"/>
                </a:solidFill>
              </a:rPr>
            </a:br>
            <a:r>
              <a:rPr lang="en-US" dirty="0">
                <a:solidFill>
                  <a:schemeClr val="bg1"/>
                </a:solidFill>
              </a:rPr>
              <a:t>🧠 Business Development</a:t>
            </a:r>
          </a:p>
          <a:p>
            <a:pPr marL="0" indent="0" algn="just">
              <a:lnSpc>
                <a:spcPct val="100000"/>
              </a:lnSpc>
              <a:spcBef>
                <a:spcPts val="400"/>
              </a:spcBef>
              <a:spcAft>
                <a:spcPts val="400"/>
              </a:spcAft>
              <a:buFont typeface="Arial" panose="020B0604020202020204" pitchFamily="34" charset="0"/>
              <a:buNone/>
            </a:pPr>
            <a:r>
              <a:rPr lang="en-AE" dirty="0"/>
              <a:t>🌍 </a:t>
            </a:r>
            <a:r>
              <a:rPr lang="en-US" dirty="0">
                <a:solidFill>
                  <a:schemeClr val="bg1"/>
                </a:solidFill>
              </a:rPr>
              <a:t>Fundraising &amp; Market Entry</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Go-to-Market Design</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Strategic Planning &amp; Commercial Modelling</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Growth &amp; Expansion Advisory</a:t>
            </a:r>
          </a:p>
          <a:p>
            <a:pPr marL="0" indent="0" algn="just">
              <a:lnSpc>
                <a:spcPct val="100000"/>
              </a:lnSpc>
              <a:spcBef>
                <a:spcPts val="400"/>
              </a:spcBef>
              <a:spcAft>
                <a:spcPts val="400"/>
              </a:spcAft>
              <a:buFont typeface="Arial" panose="020B0604020202020204" pitchFamily="34" charset="0"/>
              <a:buNone/>
            </a:pPr>
            <a:r>
              <a:rPr lang="en-AE" dirty="0"/>
              <a:t>📜 </a:t>
            </a:r>
            <a:r>
              <a:rPr lang="en-US" dirty="0">
                <a:solidFill>
                  <a:schemeClr val="bg1"/>
                </a:solidFill>
              </a:rPr>
              <a:t>Licensing &amp; Compliance</a:t>
            </a:r>
          </a:p>
          <a:p>
            <a:pPr marL="0" indent="0" algn="just">
              <a:lnSpc>
                <a:spcPct val="100000"/>
              </a:lnSpc>
              <a:spcBef>
                <a:spcPts val="400"/>
              </a:spcBef>
              <a:spcAft>
                <a:spcPts val="400"/>
              </a:spcAft>
              <a:buFont typeface="Arial" panose="020B0604020202020204" pitchFamily="34" charset="0"/>
              <a:buNone/>
            </a:pPr>
            <a:r>
              <a:rPr lang="en-US" dirty="0"/>
              <a:t>⚖️ </a:t>
            </a:r>
            <a:r>
              <a:rPr lang="en-US" dirty="0">
                <a:solidFill>
                  <a:schemeClr val="bg1"/>
                </a:solidFill>
              </a:rPr>
              <a:t>Risk &amp; Governance</a:t>
            </a:r>
          </a:p>
          <a:p>
            <a:pPr marL="0" indent="0" algn="just">
              <a:lnSpc>
                <a:spcPct val="100000"/>
              </a:lnSpc>
              <a:spcBef>
                <a:spcPts val="400"/>
              </a:spcBef>
              <a:spcAft>
                <a:spcPts val="400"/>
              </a:spcAft>
              <a:buFont typeface="Arial" panose="020B0604020202020204" pitchFamily="34" charset="0"/>
              <a:buNone/>
            </a:pPr>
            <a:endParaRPr lang="en-US" dirty="0">
              <a:solidFill>
                <a:schemeClr val="bg1"/>
              </a:solidFill>
            </a:endParaRP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Driven by continuous learning and collaboration, we stay ahead of industry shifts, delivering sharp, forward-thinking solutions. Our commitments to innovation we lead, adapt and set the pace in a rapidly evolving landscape.</a:t>
            </a:r>
          </a:p>
        </p:txBody>
      </p:sp>
      <p:sp>
        <p:nvSpPr>
          <p:cNvPr id="7" name="Content Placeholder 5">
            <a:extLst>
              <a:ext uri="{FF2B5EF4-FFF2-40B4-BE49-F238E27FC236}">
                <a16:creationId xmlns:a16="http://schemas.microsoft.com/office/drawing/2014/main" id="{7C68B99D-AD39-D64F-12C3-AA2805841879}"/>
              </a:ext>
            </a:extLst>
          </p:cNvPr>
          <p:cNvSpPr txBox="1">
            <a:spLocks/>
          </p:cNvSpPr>
          <p:nvPr/>
        </p:nvSpPr>
        <p:spPr>
          <a:xfrm>
            <a:off x="775885" y="5494978"/>
            <a:ext cx="2033623" cy="55912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Pallavi Khajuria</a:t>
            </a:r>
          </a:p>
          <a:p>
            <a:pPr marL="0" indent="0" algn="ctr">
              <a:buNone/>
            </a:pPr>
            <a:r>
              <a:rPr lang="en-US" dirty="0">
                <a:solidFill>
                  <a:srgbClr val="0B2339"/>
                </a:solidFill>
                <a:latin typeface="Aptos Light" panose="020B0004020202020204" pitchFamily="34" charset="0"/>
              </a:rPr>
              <a:t>Strategy Engagement Manager</a:t>
            </a:r>
            <a:endParaRPr lang="en-AE" dirty="0">
              <a:solidFill>
                <a:srgbClr val="0B2339"/>
              </a:solidFill>
              <a:latin typeface="Aptos Light" panose="020B0004020202020204" pitchFamily="34" charset="0"/>
            </a:endParaRPr>
          </a:p>
        </p:txBody>
      </p:sp>
      <p:pic>
        <p:nvPicPr>
          <p:cNvPr id="20" name="Picture 19" descr="A person and person standing together&#10;&#10;AI-generated content may be incorrect.">
            <a:extLst>
              <a:ext uri="{FF2B5EF4-FFF2-40B4-BE49-F238E27FC236}">
                <a16:creationId xmlns:a16="http://schemas.microsoft.com/office/drawing/2014/main" id="{40436E7F-B926-0DA1-5B77-3780292D1652}"/>
              </a:ext>
            </a:extLst>
          </p:cNvPr>
          <p:cNvPicPr>
            <a:picLocks noChangeAspect="1"/>
          </p:cNvPicPr>
          <p:nvPr/>
        </p:nvPicPr>
        <p:blipFill>
          <a:blip r:embed="rId5"/>
          <a:srcRect l="10394" t="19018" r="49585" b="53270"/>
          <a:stretch/>
        </p:blipFill>
        <p:spPr>
          <a:xfrm>
            <a:off x="995254" y="3922842"/>
            <a:ext cx="1517038" cy="1576269"/>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25" name="Content Placeholder 10">
            <a:extLst>
              <a:ext uri="{FF2B5EF4-FFF2-40B4-BE49-F238E27FC236}">
                <a16:creationId xmlns:a16="http://schemas.microsoft.com/office/drawing/2014/main" id="{39E2A46A-E1A9-BFC0-35A0-3BA0C81E47F2}"/>
              </a:ext>
            </a:extLst>
          </p:cNvPr>
          <p:cNvSpPr txBox="1">
            <a:spLocks/>
          </p:cNvSpPr>
          <p:nvPr/>
        </p:nvSpPr>
        <p:spPr>
          <a:xfrm>
            <a:off x="2886516" y="4108402"/>
            <a:ext cx="5057868" cy="138657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is a strategy and execution advisor, enabling C-suite executives to drive market expansion, revenue acceleration, and operational excellence across high-growth sectors.</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has delivered large-scale, cross-functional projects across multiple industries - translating executive vision into measurable outcomes through data-led strategy. Her work spans the GCC, where she has led high-impact initiatives in growth, transformation, and operational scale-up.</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holds a BTech in Computer Science Engineering and a postgraduate specialization in Software Systems from BITS Pilani, Dubai.</a:t>
            </a:r>
          </a:p>
        </p:txBody>
      </p:sp>
      <p:sp>
        <p:nvSpPr>
          <p:cNvPr id="2" name="Slide Number Placeholder 10">
            <a:extLst>
              <a:ext uri="{FF2B5EF4-FFF2-40B4-BE49-F238E27FC236}">
                <a16:creationId xmlns:a16="http://schemas.microsoft.com/office/drawing/2014/main" id="{17313117-93F2-00BB-CA48-6E2DE8395900}"/>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3609987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33881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2" id="{32B648E2-58BB-A243-8B18-25920F3ADED8}" vid="{E1A385E8-7CB9-5E4E-BFF7-112469D758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8595e4f0-9d1f-4608-89ed-881210b0bb57" xsi:nil="true"/>
    <lcf76f155ced4ddcb4097134ff3c332f xmlns="d43c6782-26e2-4abe-801e-f1cb2385751a">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FA8D36AB86D8C4BB58183D55C094C1D" ma:contentTypeVersion="13" ma:contentTypeDescription="Create a new document." ma:contentTypeScope="" ma:versionID="a867ca6b4bf85018f78c7a13482190bb">
  <xsd:schema xmlns:xsd="http://www.w3.org/2001/XMLSchema" xmlns:xs="http://www.w3.org/2001/XMLSchema" xmlns:p="http://schemas.microsoft.com/office/2006/metadata/properties" xmlns:ns2="d43c6782-26e2-4abe-801e-f1cb2385751a" xmlns:ns3="8595e4f0-9d1f-4608-89ed-881210b0bb57" targetNamespace="http://schemas.microsoft.com/office/2006/metadata/properties" ma:root="true" ma:fieldsID="5411884e7fe3e1a06e23351a04c43061" ns2:_="" ns3:_="">
    <xsd:import namespace="d43c6782-26e2-4abe-801e-f1cb2385751a"/>
    <xsd:import namespace="8595e4f0-9d1f-4608-89ed-881210b0bb57"/>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SearchPropertie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c6782-26e2-4abe-801e-f1cb2385751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f50e1a3f-7a1b-4ba8-8545-a9e8f23430e4"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595e4f0-9d1f-4608-89ed-881210b0bb57"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0f434b97-4ab7-4b98-87f7-9f67d7cb0300}" ma:internalName="TaxCatchAll" ma:showField="CatchAllData" ma:web="8595e4f0-9d1f-4608-89ed-881210b0bb57">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D630DA8-F7E3-4203-B4C7-4D4CA876A9CF}">
  <ds:schemaRefs>
    <ds:schemaRef ds:uri="http://schemas.microsoft.com/office/2006/metadata/properties"/>
    <ds:schemaRef ds:uri="http://purl.org/dc/elements/1.1/"/>
    <ds:schemaRef ds:uri="http://www.w3.org/XML/1998/namespace"/>
    <ds:schemaRef ds:uri="8595e4f0-9d1f-4608-89ed-881210b0bb57"/>
    <ds:schemaRef ds:uri="d43c6782-26e2-4abe-801e-f1cb2385751a"/>
    <ds:schemaRef ds:uri="http://schemas.microsoft.com/office/2006/documentManagement/types"/>
    <ds:schemaRef ds:uri="http://schemas.microsoft.com/office/infopath/2007/PartnerControls"/>
    <ds:schemaRef ds:uri="http://schemas.openxmlformats.org/package/2006/metadata/core-properties"/>
    <ds:schemaRef ds:uri="http://purl.org/dc/dcmitype/"/>
    <ds:schemaRef ds:uri="http://purl.org/dc/terms/"/>
  </ds:schemaRefs>
</ds:datastoreItem>
</file>

<file path=customXml/itemProps2.xml><?xml version="1.0" encoding="utf-8"?>
<ds:datastoreItem xmlns:ds="http://schemas.openxmlformats.org/officeDocument/2006/customXml" ds:itemID="{6D973E15-8E14-4BE4-9B21-86205533BA5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43c6782-26e2-4abe-801e-f1cb2385751a"/>
    <ds:schemaRef ds:uri="8595e4f0-9d1f-4608-89ed-881210b0bb5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93C7658-BDAA-4AE2-AB2D-F9763CAF658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10678</TotalTime>
  <Words>609</Words>
  <Application>Microsoft Office PowerPoint</Application>
  <PresentationFormat>Widescreen</PresentationFormat>
  <Paragraphs>108</Paragraphs>
  <Slides>20</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Aptos</vt:lpstr>
      <vt:lpstr>Aptos ExtraBold</vt:lpstr>
      <vt:lpstr>Aptos Light</vt:lpstr>
      <vt:lpstr>Aptos SemiBold</vt:lpstr>
      <vt:lpstr>Arial</vt:lpstr>
      <vt:lpstr>Wingdings</vt:lpstr>
      <vt:lpstr>YACkoA9eHeY 0</vt:lpstr>
      <vt:lpstr>Office Theme</vt:lpstr>
      <vt:lpstr>{{COVER TITLE}}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OUR PROPOSED APPROACH</vt:lpstr>
      <vt:lpstr>PowerPoint Presentation</vt:lpstr>
      <vt:lpstr>Pnyx Hill’s SCOPE OF SERVICES</vt:lpstr>
      <vt:lpstr> SERVICES DELIVERABLES </vt:lpstr>
      <vt:lpstr> SERVICES DELIVERABLES </vt:lpstr>
      <vt:lpstr>Engagement Partners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NIINA WESTERHOLM</dc:creator>
  <cp:lastModifiedBy>Raghavendra Gavuji</cp:lastModifiedBy>
  <cp:revision>34</cp:revision>
  <dcterms:created xsi:type="dcterms:W3CDTF">2025-03-19T09:34:50Z</dcterms:created>
  <dcterms:modified xsi:type="dcterms:W3CDTF">2025-11-19T15:43:23Z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0x010100CFA8D36AB86D8C4BB58183D55C094C1D</vt:lpwstr>
  </property>
  <property fmtid="{D5CDD505-2E9C-101B-9397-08002B2CF9AE}" pid="3" name="MediaServiceImageTags">
    <vt:lpwstr/>
  </property>
</Properties>
</file>