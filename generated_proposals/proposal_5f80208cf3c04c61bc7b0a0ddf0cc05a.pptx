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Advisory &amp; Growth Acceleration Proposal for [Client Name]</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Driving Sustainable Growth &amp; Strategic Positioning: A Proposal</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Name / Placeholder for Client Logo]</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Contact Name],</a:t>
            </a:r>
            <a:br/>
            <a:br/>
            <a:r>
              <a:t>Pnyx Hill is pleased to present this proposal outlining our approach to accelerate your organization's strategic growth and enhance its market positioning. We understand the dynamic challenges and opportunities you face, and we are committed to partnering with you to unlock your full potential. Our tailored methodology will provide actionable insights and a clear roadmap for achieving your ambitious objectives. We look forward to a successful collaboration.</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a strategic engagement focused on enhancing [Client Name]'s market competitiveness and operational efficiency. We will conduct a comprehensive analysis, develop a robust growth strategy, and create an actionable roadmap for implementation. Key outcomes include optimized strategic direction, improved market readiness, and a clear path towards sustainable value creation. Our approach emphasizes collaborative partnership and measurable results, ensuring your objectives are met with precision and foresight.</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While specific data was not provided, we recognize that organizations often seek strategic guidance to navigate evolving market landscapes, capitalize on new opportunities, and overcome internal bottlenecks. Our understanding is that [Client Name] is poised for its next phase of growth, requiring a refined strategy to enhance market positioning, optimize internal operations, or prepare for potential investment rounds. This proposal is crafted to address these common strategic imperatives and foster future success.</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offers unparalleled expertise in strategic advisory, delivering bespoke solutions that drive tangible results. Our value proposition includes:</a:t>
            </a:r>
            <a:br/>
            <a:br/>
            <a:r>
              <a:t>*   **Expert Insight:** Leveraging deep industry knowledge and analytical rigor.</a:t>
            </a:r>
            <a:br/>
            <a:r>
              <a:t>*   **Tailored Strategies:** Developing customized plans aligned with your unique goals.</a:t>
            </a:r>
            <a:br/>
            <a:r>
              <a:t>*   **Actionable Roadmaps:** Translating strategy into clear, executable steps.</a:t>
            </a:r>
            <a:br/>
            <a:r>
              <a:t>*   **Sustainable Impact:** Fostering long-term growth and competitive advantage.</a:t>
            </a:r>
            <a:br/>
            <a:r>
              <a:t>*   **Collaborative Partnership:** Working alongside your team for shared success.</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**Strategic Assessment:** Comprehensive review of current business model and market position.</a:t>
            </a:r>
            <a:br/>
            <a:r>
              <a:t>*   **Growth Strategy Development:** Crafting a future-proof plan for market expansion and revenue generation.</a:t>
            </a:r>
            <a:br/>
            <a:r>
              <a:t>*   **Operational Optimization:** Identifying efficiencies and enhancing internal processes.</a:t>
            </a:r>
            <a:br/>
            <a:r>
              <a:t>*   **Investment Readiness:** Preparing the organization for potential funding opportunities.</a:t>
            </a:r>
            <a:br/>
            <a:r>
              <a:t>*   **Implementation Support:** Providing guidance for effective strategy execution.</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   Navigating dynamic market shifts and competitive pressures.</a:t>
            </a:r>
            <a:br/>
            <a:r>
              <a:t>*   Optimizing resource allocation for maximum impact.</a:t>
            </a:r>
            <a:br/>
            <a:r>
              <a:t>*   Ensuring internal capabilities align with strategic ambitions.</a:t>
            </a:r>
            <a:br/>
            <a:r>
              <a:t>*   Articulating a clear value proposition to attract investors or key partners.</a:t>
            </a:r>
            <a:br/>
            <a:r>
              <a:t>*   Developing a scalable operational framework to support growth.</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proven methodology is rooted in a structured, data-driven, and collaborative process:</a:t>
            </a:r>
            <a:br/>
            <a:br/>
            <a:r>
              <a:t>1.  **Discover &amp; Diagnose:** Immersive analysis to understand current state and identify core issues.</a:t>
            </a:r>
            <a:br/>
            <a:r>
              <a:t>2.  **Strategize &amp; Design:** Co-creating solutions, frameworks, and a detailed strategic plan.</a:t>
            </a:r>
            <a:br/>
            <a:r>
              <a:t>3.  **Plan &amp; Pilot:** Developing implementation roadmaps and testing key initiatives.</a:t>
            </a:r>
            <a:br/>
            <a:r>
              <a:t>4.  **Enable &amp; Execute:** Supporting your team through roll-out and capability building.</a:t>
            </a:r>
            <a:br/>
            <a:br/>
            <a:r>
              <a:t>This iterative approach ensures flexibility and delivers strategies that are not only innovative but also practical and sustainable.</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 Phase 1: Strategic Assessment &amp; Opportunity Identification</a:t>
            </a:r>
            <a:br/>
            <a:br/>
            <a:r>
              <a:t>This foundational phase involves an in-depth review of your current business landscape. We will conduct market research, competitor analysis, and an internal capabilities assessment. The goal is to identify core strengths, weaknesses, untapped opportunities, and potential threats, forming a robust baseline for strategic planning. Outputs include a comprehensive diagnostic report and key strategic insights.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 Phase 2: Growth Strategy Development &amp; Roadmap Definition</a:t>
            </a:r>
            <a:br/>
            <a:br/>
            <a:r>
              <a:t>Building on Phase 1 insights, this phase focuses on crafting a forward-looking growth strategy. We will work collaboratively to define strategic priorities, identify target markets, and develop specific initiatives for market entry, product/service expansion, or operational improvements. A detailed implementation roadmap will be co-created, outlining key milestones, resource requirements, and performance metrics.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 Phase 3: Operational Alignment &amp; Investment Readiness Support</a:t>
            </a:r>
            <a:br/>
            <a:br/>
            <a:r>
              <a:t>The final phase ensures the developed strategy is ready for execution and, if applicable, investor engagement. We will focus on aligning organizational structures, processes, and talent with the new strategy. For investment readiness, we will refine financial projections, develop compelling investor materials (e.g., pitch deck), and provide strategic narrative coaching. This phase ensures your organization is poised for successful implementation and future funding.</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   Market &amp; Competitive Landscape Analysis</a:t>
            </a:r>
            <a:br/>
            <a:r>
              <a:rPr sz="1800"/>
              <a:t>*   Business Model Innovation &amp; Validation</a:t>
            </a:r>
            <a:br/>
            <a:r>
              <a:rPr sz="1800"/>
              <a:t>*   Long-Term Vision &amp; Mission Articulation</a:t>
            </a:r>
            <a:br/>
            <a:r>
              <a:rPr sz="1800"/>
              <a:t>*   Strategic Planning &amp; Goal Setting Workshops</a:t>
            </a:r>
            <a:br/>
            <a:r>
              <a:rPr sz="1800"/>
              <a:t>*   Organizational Design &amp; Alignment Recommendations</a:t>
            </a:r>
            <a:br/>
            <a:r>
              <a:rPr sz="1800"/>
              <a:t>*   Performance Management Framework Development</a:t>
            </a:r>
            <a:br/>
            <a:r>
              <a:rPr sz="1800"/>
              <a:t>*   Risk Assessment &amp; Mitigation Strategies</a:t>
            </a:r>
            <a:br/>
            <a:r>
              <a:rPr sz="1800"/>
              <a:t>*   Growth Opportunity Identification &amp; Prioritization</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   Market &amp; Competitive Landscape Analysis</a:t>
            </a:r>
            <a:br/>
            <a:r>
              <a:t>*   Business Model Innovation &amp; Validation</a:t>
            </a:r>
            <a:br/>
            <a:r>
              <a:t>*   Long-Term Vision &amp; Mission Articulation</a:t>
            </a:r>
            <a:br/>
            <a:r>
              <a:t>*   Strategic Planning &amp; Goal Setting Workshops</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   **Governance Frameworks:** Establishing clear decision-making processes.</a:t>
            </a:r>
            <a:br/>
            <a:r>
              <a:t>*   **Key Performance Indicators (KPIs):** Defining measurable success metrics.</a:t>
            </a:r>
            <a:br/>
            <a:r>
              <a:t>*   **Resource Allocation Models:** Optimizing deployment of capital and talent.</a:t>
            </a:r>
            <a:br/>
            <a:r>
              <a:t>*   **Technology &amp; Data Strategy:** Leveraging tools for insights and efficiency.</a:t>
            </a:r>
            <a:br/>
            <a:r>
              <a:t>*   **Change Management Support:** Guiding the organization through transitions.</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Comprehensive Market &amp; Competitor Analysis Report</a:t>
            </a:r>
            <a:br/>
            <a:r>
              <a:t>*   Detailed 3-5 Year Strategic Growth Plan</a:t>
            </a:r>
            <a:br/>
            <a:r>
              <a:t>*   Optimized Business Model Framework</a:t>
            </a:r>
            <a:br/>
            <a:r>
              <a:t>*   Operational Improvement Recommendations</a:t>
            </a:r>
            <a:br/>
            <a:r>
              <a:t>*   Strategic Roadmap with Key Initiatives &amp; Milestones</a:t>
            </a:r>
            <a:br/>
            <a:r>
              <a:t>*   Organizational Alignment Recommendations</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   **Strategic Consulting:** Market analysis, growth strategy, business model design.</a:t>
            </a:r>
            <a:br/>
            <a:r>
              <a:rPr sz="2200"/>
              <a:t>*   **Operational Excellence:** Process optimization, performance management.</a:t>
            </a:r>
            <a:br/>
            <a:r>
              <a:rPr sz="2200"/>
              <a:t>*   **Financial Advisory:** Financial modeling, investment readiness.</a:t>
            </a:r>
            <a:br/>
            <a:r>
              <a:rPr sz="2200"/>
              <a:t>*   **Organizational Development:** Change management, capability building.</a:t>
            </a:r>
            <a:br/>
            <a:r>
              <a:rPr sz="2200"/>
              <a:t>*   **Post-Implementation Support:** Ongoing advisory and performance monitoring.</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 Strategic Deliverables</a:t>
            </a:r>
            <a:br/>
            <a:br/>
            <a:r>
              <a:rPr sz="2200"/>
              <a:t>*   **Strategic Playbook:** Documenting vision, mission, strategic pillars, and core initiatives.</a:t>
            </a:r>
            <a:br/>
            <a:r>
              <a:rPr sz="2200"/>
              <a:t>*   **Market Entry Strategy:** If applicable, a detailed plan for new market penetration.</a:t>
            </a:r>
            <a:br/>
            <a:r>
              <a:rPr sz="2200"/>
              <a:t>*   **Product/Service Portfolio Analysis:** Recommendations for optimization and innovation.</a:t>
            </a:r>
            <a:br/>
            <a:r>
              <a:rPr sz="2200"/>
              <a:t>*   **Competitive Intelligence Report:** In-depth analysis of key competitors and market positioning.</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 Operational &amp; Financial Deliverables</a:t>
            </a:r>
            <a:br/>
            <a:br/>
            <a:r>
              <a:rPr sz="2200"/>
              <a:t>*   **Operating Model Blueprint:** Recommended structure and processes for efficiency.</a:t>
            </a:r>
            <a:br/>
            <a:r>
              <a:rPr sz="2200"/>
              <a:t>*   **Key Performance Indicator (KPI) Dashboard:** Framework for monitoring strategic progress.</a:t>
            </a:r>
            <a:br/>
            <a:r>
              <a:rPr sz="2200"/>
              <a:t>*   **Financial Projections:** Detailed 3-5 year financial forecasts for strategic planning.</a:t>
            </a:r>
            <a:br/>
            <a:r>
              <a:rPr sz="2200"/>
              <a:t>*   **Resource Allocation Plan:** Optimized deployment strategy for capital and human resources.</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 Organizational &amp; Implementation Deliverables</a:t>
            </a:r>
            <a:br/>
            <a:br/>
            <a:r>
              <a:rPr sz="2200"/>
              <a:t>*   **Change Management Plan:** Strategies to facilitate smooth adoption of new initiatives.</a:t>
            </a:r>
            <a:br/>
            <a:r>
              <a:rPr sz="2200"/>
              <a:t>*   **Talent &amp; Capabilities Assessment:** Identification of skill gaps and development needs.</a:t>
            </a:r>
            <a:br/>
            <a:r>
              <a:rPr sz="2200"/>
              <a:t>*   **Implementation Roadmap:** Phased plan with timelines, responsibilities, and success metrics.</a:t>
            </a:r>
            <a:br/>
            <a:r>
              <a:rPr sz="2200"/>
              <a:t>*   **Quarterly Progress Review Framework:** Tools for ongoing evaluation and adjustment.</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Refined Financial Model &amp; Valuation Summary</a:t>
            </a:r>
            <a:br/>
            <a:r>
              <a:t>*   Comprehensive Investor Deck / Pitch Presentation</a:t>
            </a:r>
            <a:br/>
            <a:r>
              <a:t>*   Executive Summary &amp; Teaser Document</a:t>
            </a:r>
            <a:br/>
            <a:r>
              <a:t>*   Data Room Content Checklist &amp; Organization Guidance</a:t>
            </a:r>
            <a:br/>
            <a:r>
              <a:t>*   Strategic Narrative &amp; Messaging for Investors</a:t>
            </a:r>
            <a:br/>
            <a:r>
              <a:t>*   Mock Investor Q&amp;A Session for Preparation</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Pnyx Hill offers flexible options for ongoing partnership. This includes ad-hoc advisory calls for critical decision-making, executive coaching to foster leadership capabilities, and deep-dive workshops on specific emerging challenges. Our goal is to be a continuous resource, ensuring your team remains agile and well-equipped to execute the strategic vision.</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   Post-Engagement Advisory Retainers</a:t>
            </a:r>
            <a:br/>
            <a:r>
              <a:t>*   Executive Coaching &amp; Leadership Development</a:t>
            </a:r>
            <a:br/>
            <a:r>
              <a:t>*   Specialized Workshops on Emerging Trends</a:t>
            </a:r>
            <a:br/>
            <a:r>
              <a:t>*   Performance Monitoring &amp; Reporting Consultations</a:t>
            </a:r>
            <a:br/>
            <a:r>
              <a:t>*   Quarterly Strategic Review Meetings</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fees are structured to reflect the scope and value delivered through this strategic engagement. A detailed breakdown of costs, including professional fees, expenses, and payment schedules, will be provided in a separate engagement letter. Typically, fees are billed monthly based on project milestones or a fixed-fee structure. The total engagement duration is estimated at [e.g., 12-16 weeks], with an anticipated start date of [e.g., November 13, 2023]. Specific terms will be finalized upon mutual agreement.</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