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Investment Readiness Proposal for Hyke Inc.</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Accelerating Growth &amp; Maximizing Value for Hyke Inc.</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[Hyke Inc.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Hyke Inc. Team,</a:t>
            </a:r>
            <a:br/>
            <a:br/>
            <a:r>
              <a:t>We are pleased to present this proposal outlining our strategic advisory services designed to accelerate your growth and enhance investment readiness. Our team is committed to delivering actionable insights and a robust roadmap tailored to your unique objectives.</a:t>
            </a:r>
            <a:br/>
            <a:br/>
            <a:r>
              <a:t>We believe this partnership will unlock significant value and position Hyke Inc. for sustained success in a dynamic market. We look forward to a successful collaboration.</a:t>
            </a:r>
            <a:br/>
            <a:br/>
            <a:r>
              <a:t>Sincerely,</a:t>
            </a:r>
            <a:br/>
            <a:r>
              <a:t>The Pnyx Hill Consulting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a comprehensive engagement to bolster Hyke Inc.'s strategic positioning and prepare for future investment. Our approach focuses on refining your business strategy, optimizing operational efficiencies, and developing robust financial projections.</a:t>
            </a:r>
            <a:br/>
            <a:br/>
            <a:r>
              <a:t>We aim to provide clear direction, actionable plans, and the necessary tools to achieve your growth ambitions and attract capital. Our goal is to ensure Hyke Inc. is strategically sound and investment-ready for its next phase of expansion.</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Hyke Inc. operates in a competitive and evolving market, possessing significant potential for expansion. The current landscape presents both opportunities for growth and challenges in optimizing internal structures, articulating a compelling value proposition, and preparing for scalability.</a:t>
            </a:r>
            <a:br/>
            <a:br/>
            <a:r>
              <a:t>Your objective is to solidify market positioning, streamline operations, and build a strong foundation for future investment and accelerated growth. We understand the need for clarity, strategic direction, and robust preparation to secure future funding.</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offers expert guidance to transform Hyke Inc.'s vision into tangible results. We provide:</a:t>
            </a:r>
            <a:br/>
            <a:r>
              <a:t>*   Clear, actionable strategic roadmaps.</a:t>
            </a:r>
            <a:br/>
            <a:r>
              <a:t>*   Enhanced operational clarity and efficiency.</a:t>
            </a:r>
            <a:br/>
            <a:r>
              <a:t>*   Robust financial models and projections.</a:t>
            </a:r>
            <a:br/>
            <a:r>
              <a:t>*   A compelling investment narrative and readiness package.</a:t>
            </a:r>
            <a:br/>
            <a:r>
              <a:t>*   Unbiased, data-driven insights for confident decision-making.</a:t>
            </a:r>
            <a:br/>
            <a:br/>
            <a:r>
              <a:t>We empower you to navigate complexity, seize opportunities, and achieve sustainable growth while maximizing your investment appeal.</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Develop a comprehensive 3-5 year growth strategy.</a:t>
            </a:r>
            <a:br/>
            <a:r>
              <a:t>*   Assess and optimize key operational processes.</a:t>
            </a:r>
            <a:br/>
            <a:r>
              <a:t>*   Construct detailed financial forecasts and valuation models.</a:t>
            </a:r>
            <a:br/>
            <a:r>
              <a:t>*   Prepare investor-ready pitch deck and supporting documents.</a:t>
            </a:r>
            <a:br/>
            <a:r>
              <a:t>*   Identify market opportunities and competitive advantages.</a:t>
            </a:r>
            <a:br/>
            <a:r>
              <a:t>*   Facilitate leadership alignment on strategic priorities and vision.</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   Defining a clear, scalable growth strategy amidst market shifts.</a:t>
            </a:r>
            <a:br/>
            <a:r>
              <a:t>*   Optimizing internal processes for efficiency and future scale.</a:t>
            </a:r>
            <a:br/>
            <a:r>
              <a:t>*   Articulating a compelling narrative for potential investors.</a:t>
            </a:r>
            <a:br/>
            <a:r>
              <a:t>*   Accurately forecasting financial performance and valuation.</a:t>
            </a:r>
            <a:br/>
            <a:r>
              <a:t>*   Ensuring organizational alignment on key strategic initiatives.</a:t>
            </a:r>
            <a:br/>
            <a:r>
              <a:t>*   Navigating competitive pressures and identifying niche opportunities effectively.</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Pnyx Hill Approach is a structured, collaborative, and results-oriented methodology. We combine rigorous data analysis, industry best practices, and deep strategic expertise. Our process involves:</a:t>
            </a:r>
            <a:br/>
            <a:r>
              <a:t>*   **Discovery &amp; Diagnosis:** Deep dive into current state.</a:t>
            </a:r>
            <a:br/>
            <a:r>
              <a:t>*   **Strategy Formulation:** Collaborative development of future state.</a:t>
            </a:r>
            <a:br/>
            <a:r>
              <a:t>*   **Execution Roadmap:** Detailed plan for implementation.</a:t>
            </a:r>
            <a:br/>
            <a:r>
              <a:t>*   **Performance Measurement:** Establishing KPIs for success.</a:t>
            </a:r>
            <a:br/>
            <a:br/>
            <a:r>
              <a:t>We ensure stakeholder buy-in and practical, implementable solutions tailored to Hyke Inc.'s unique context.</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Discovery &amp; Strategic Assessment**</a:t>
            </a:r>
            <a:br/>
            <a:r>
              <a:t>*   Conduct in-depth interviews with key stakeholders.</a:t>
            </a:r>
            <a:br/>
            <a:r>
              <a:t>*   Analyze existing business model, operations, and financial data.</a:t>
            </a:r>
            <a:br/>
            <a:r>
              <a:t>*   Perform comprehensive market research and competitive analysis.</a:t>
            </a:r>
            <a:br/>
            <a:r>
              <a:t>*   Identify key challenges, opportunities, and strategic gaps.</a:t>
            </a:r>
            <a:br/>
            <a:r>
              <a:t>*   Define core objectives and success metrics for the engagement to ensure alignment.</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Development &amp; Financial Modeling**</a:t>
            </a:r>
            <a:br/>
            <a:r>
              <a:t>*   Collaboratively define core strategic pillars and initiatives.</a:t>
            </a:r>
            <a:br/>
            <a:r>
              <a:t>*   Develop a detailed 3-5 year growth roadmap with actionable steps.</a:t>
            </a:r>
            <a:br/>
            <a:r>
              <a:t>*   Construct robust financial projections including P&amp;L, cash flow, and balance sheet.</a:t>
            </a:r>
            <a:br/>
            <a:r>
              <a:t>*   Perform valuation analysis and scenario planning for various growth trajectories.</a:t>
            </a:r>
            <a:br/>
            <a:r>
              <a:t>*   Refine target market, value proposition, and go-to-market strategy for clarity and impact.</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Investment Readiness &amp; Implementation Blueprint**</a:t>
            </a:r>
            <a:br/>
            <a:r>
              <a:t>*   Develop a compelling investor pitch deck and executive summary.</a:t>
            </a:r>
            <a:br/>
            <a:r>
              <a:t>*   Prepare comprehensive data room documentation for due diligence.</a:t>
            </a:r>
            <a:br/>
            <a:r>
              <a:t>*   Outline operational improvements and a phased implementation plan.</a:t>
            </a:r>
            <a:br/>
            <a:r>
              <a:t>*   Define organizational structure and resource requirements for strategy execution.</a:t>
            </a:r>
            <a:br/>
            <a:r>
              <a:t>*   Establish a framework for ongoing strategic monitoring and adjustment, ensuring long-term success.</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support ensures a clear vision and actionable plan for sustainable growth and competitive advantage.</a:t>
            </a:r>
            <a:br/>
            <a:r>
              <a:rPr sz="1800"/>
              <a:t>*   Strategic Planning &amp; Roadmap Development</a:t>
            </a:r>
            <a:br/>
            <a:r>
              <a:rPr sz="1800"/>
              <a:t>*   Market Entry &amp; Growth Strategy</a:t>
            </a:r>
            <a:br/>
            <a:r>
              <a:rPr sz="1800"/>
              <a:t>*   Business Model Innovation &amp; Optimization</a:t>
            </a:r>
            <a:br/>
            <a:r>
              <a:rPr sz="1800"/>
              <a:t>*   Organizational Design &amp; Alignment</a:t>
            </a:r>
            <a:br/>
            <a:r>
              <a:rPr sz="1800"/>
              <a:t>*   Performance Management Frameworks &amp; KPIs</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support ensures a clear vision and actionable plan for sustainable growth and competitive advantage.</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To support effective strategy execution, our scope includes assessing and recommending:</a:t>
            </a:r>
            <a:br/>
            <a:r>
              <a:t>*   **Governance Framework:** Recommendations for clear decision-making processes.</a:t>
            </a:r>
            <a:br/>
            <a:r>
              <a:t>*   **Process Optimization:** Identification of critical operational efficiencies and improvements.</a:t>
            </a:r>
            <a:br/>
            <a:r>
              <a:t>*   **Capability Building:** Assessment of skill gaps and talent requirements for growth.</a:t>
            </a:r>
            <a:br/>
            <a:r>
              <a:t>*   **Technology Alignment:** Guidance on systems and tools to support strategy.</a:t>
            </a:r>
            <a:br/>
            <a:r>
              <a:t>*   **Performance Metrics:** Establishment of key indicators for tracking progress and ensuring accountability.</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Strategic Vision &amp; Mission Statement Refinement</a:t>
            </a:r>
            <a:br/>
            <a:r>
              <a:t>*   3-5 Year Strategic Growth Roadmap with Key Initiatives</a:t>
            </a:r>
            <a:br/>
            <a:r>
              <a:t>*   Detailed Market Opportunity Analysis Report</a:t>
            </a:r>
            <a:br/>
            <a:r>
              <a:t>*   Comprehensive Competitive Landscape Assessment</a:t>
            </a:r>
            <a:br/>
            <a:r>
              <a:t>*   Refined Go-to-Market Strategy &amp; Value Proposition</a:t>
            </a:r>
            <a:br/>
            <a:r>
              <a:t>*   Operational Excellence Recommendations for Efficiency and Scale</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engagement encompasses a holistic suite of services designed for strategic clarity and investment readiness. This includes:</a:t>
            </a:r>
            <a:br/>
            <a:r>
              <a:rPr sz="2200"/>
              <a:t>*   Strategic Planning &amp; Development</a:t>
            </a:r>
            <a:br/>
            <a:r>
              <a:rPr sz="2200"/>
              <a:t>*   Market &amp; Competitive Analysis</a:t>
            </a:r>
            <a:br/>
            <a:r>
              <a:rPr sz="2200"/>
              <a:t>*   Financial Modeling &amp; Valuation</a:t>
            </a:r>
            <a:br/>
            <a:r>
              <a:rPr sz="2200"/>
              <a:t>*   Investment Material Preparation</a:t>
            </a:r>
            <a:br/>
            <a:r>
              <a:rPr sz="2200"/>
              <a:t>*   Operational Assessment &amp; Optimization</a:t>
            </a:r>
            <a:br/>
            <a:r>
              <a:rPr sz="2200"/>
              <a:t>*   Leadership Alignment &amp; Workshops</a:t>
            </a:r>
            <a:br/>
            <a:br/>
            <a:r>
              <a:rPr sz="2200"/>
              <a:t>We ensure comprehensive support from strategy formulation to actionable execution plans, setting Hyke Inc. up for success.</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**Strategic Planning &amp; Roadmap**</a:t>
            </a:r>
            <a:br/>
            <a:r>
              <a:rPr sz="2200"/>
              <a:t>*   Executive Strategic Playbook (incl. Vision, Mission, Pillars)</a:t>
            </a:r>
            <a:br/>
            <a:r>
              <a:rPr sz="2200"/>
              <a:t>*   Detailed Initiatives with Milestones &amp; Timelines</a:t>
            </a:r>
            <a:br/>
            <a:r>
              <a:rPr sz="2200"/>
              <a:t>*   Resource Allocation Plan</a:t>
            </a:r>
            <a:br/>
            <a:r>
              <a:rPr sz="2200"/>
              <a:t>*   Risk Identification &amp; Mitigation Strategies</a:t>
            </a:r>
            <a:br/>
            <a:r>
              <a:rPr sz="2200"/>
              <a:t>*   KPI Framework for Strategic Monitoring</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**Market &amp; Financial Analysis**</a:t>
            </a:r>
            <a:br/>
            <a:r>
              <a:rPr sz="2200"/>
              <a:t>*   Comprehensive Market Sizing &amp; Trends Report</a:t>
            </a:r>
            <a:br/>
            <a:r>
              <a:rPr sz="2200"/>
              <a:t>*   Competitor Benchmarking &amp; SWOT Analysis</a:t>
            </a:r>
            <a:br/>
            <a:r>
              <a:rPr sz="2200"/>
              <a:t>*   3-Statement Financial Model (P&amp;L, BS, CF) for 5 years</a:t>
            </a:r>
            <a:br/>
            <a:r>
              <a:rPr sz="2200"/>
              <a:t>*   Valuation Range Analysis (DCF, Multiples)</a:t>
            </a:r>
            <a:br/>
            <a:r>
              <a:rPr sz="2200"/>
              <a:t>*   Scenario-Based Financial Projections &amp; Sensitivity Analysis</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**Operational &amp; Organizational Insights**</a:t>
            </a:r>
            <a:br/>
            <a:r>
              <a:rPr sz="2200"/>
              <a:t>*   Current State Operational Process Map &amp; Bottleneck Analysis</a:t>
            </a:r>
            <a:br/>
            <a:r>
              <a:rPr sz="2200"/>
              <a:t>*   Recommendations for Process Optimization &amp; Automation</a:t>
            </a:r>
            <a:br/>
            <a:r>
              <a:rPr sz="2200"/>
              <a:t>*   Organizational Structure Review &amp; Future State Design</a:t>
            </a:r>
            <a:br/>
            <a:r>
              <a:rPr sz="2200"/>
              <a:t>*   Talent &amp; Skill Gap Analysis for Growth Objectives</a:t>
            </a:r>
            <a:br/>
            <a:r>
              <a:rPr sz="2200"/>
              <a:t>*   Implementation Phasing Plan for Key Operational Changes</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Investor-Ready Pitch Deck (Short &amp; Long Versions)</a:t>
            </a:r>
            <a:br/>
            <a:r>
              <a:t>*   Comprehensive Executive Summary for Investors</a:t>
            </a:r>
            <a:br/>
            <a:r>
              <a:t>*   Detailed Financial Data Room Documentation</a:t>
            </a:r>
            <a:br/>
            <a:r>
              <a:t>*   Key Investment Highlights &amp; USP Articulation</a:t>
            </a:r>
            <a:br/>
            <a:r>
              <a:t>*   Q&amp;A Preparation for Investor Meetings</a:t>
            </a:r>
            <a:br/>
            <a:r>
              <a:t>*   Introductions to relevant investor networks (if applicable and mutually agreed)</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we offer flexible additional support on an as-needed basis to ensure Hyke Inc. maintains momentum.</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   Post-engagement strategic check-ins (monthly for 3 months).</a:t>
            </a:r>
            <a:br/>
            <a:r>
              <a:t>*   Ad-hoc advisory for emerging challenges or opportunities.</a:t>
            </a:r>
            <a:br/>
            <a:r>
              <a:t>*   Support in refining investor communications post-initial outreach.</a:t>
            </a:r>
            <a:br/>
            <a:r>
              <a:t>*   Workshop facilitation for new team members on the adopted strategy.</a:t>
            </a:r>
            <a:br/>
            <a:r>
              <a:t>*   Assistance with performance tracking and dashboard development.</a:t>
            </a:r>
            <a:br/>
            <a:br/>
            <a:r>
              <a:t>This ensures sustained momentum and ongoing access to expert guidance as you execute your strategy.</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commercial proposal is structured to reflect the scope and value delivered through this strategic engagement. A detailed breakdown of fees, payment schedule, and terms and conditions will be provided in a separate document for your review. This typically includes a fixed project fee or a retainer-based model, depending on the agreed scope and duration. All terms are transparent and designed for mutual success and a clear understanding of investment.</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