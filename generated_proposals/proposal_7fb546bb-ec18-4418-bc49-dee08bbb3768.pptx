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Proposal for Hyke Inc.</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Proposal for Hyke Inc.</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Hyke Inc. Team,</a:t>
            </a:r>
            <a:br/>
            <a:br/>
            <a:r>
              <a:t>Pnyx Hill is delighted to present this strategic proposal, outlining our tailored approach to propel your organization into its next phase of sustained growth and market leadership. We deeply appreciate the opportunity to engage with your team, listening intently to understand your ambitious vision, strategic imperatives, and the unique challenges you face in a rapidly evolving market. This document represents our unwavering commitment to partnering with you to navigate complex market dynamics, capitalize on emerging opportunities, and unlock significant value across your enterprise. We are excited by the prospect of leveraging our deep expertise, proprietary frameworks, and proven methodologies to support Hyke Inc. in achieving its transformative objectives and realizing its full potential. Our collaboration promises to deliver not just actionable solutions, but a robust and resilient framework for enduring success. We eagerly anticipate a productive and successful partnership.</a:t>
            </a:r>
            <a:br/>
            <a:br/>
            <a:r>
              <a:t>Sincerely,</a:t>
            </a:r>
            <a:br/>
            <a:r>
              <a:t>Alex Chen</a:t>
            </a:r>
            <a:br/>
            <a:r>
              <a:t>Senior Strategy Consultant, Pnyx Hill</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**Growth Ambition**</a:t>
            </a:r>
            <a:br/>
            <a:r>
              <a:t>Hyke Inc. operates within a dynamic market landscape characterized by rapid technological advancements, evolving customer expectations, and increasing competitive intensity. To secure future relevance and market leadership, a strategic imperative exists to redefine growth vectors, optimize operational performance, and foster a culture of innovation. This proposal outlines Pnyx Hill's comprehensive partnership to enable Hyke Inc. to achieve its ambitious growth objectives.</a:t>
            </a:r>
            <a:br/>
            <a:br/>
            <a:r>
              <a:t>**Our Value Proposition**</a:t>
            </a:r>
            <a:br/>
            <a:r>
              <a:t>•  Leveraging proprietary frameworks to diagnose core challenges and identify untapped opportunities.</a:t>
            </a:r>
            <a:br/>
            <a:r>
              <a:t>•  Providing data-driven insights and actionable recommendations to drive strategic decision-making.</a:t>
            </a:r>
            <a:br/>
            <a:r>
              <a:t>•  Accelerating organizational transformation through tailored implementation support and capability building.</a:t>
            </a:r>
            <a:br/>
            <a:r>
              <a:t>•  Ensuring sustainable value creation by embedding best practices and future-proofing strategies.</a:t>
            </a:r>
            <a:br/>
            <a:br/>
            <a:r>
              <a:t>**Key Project Highlights**</a:t>
            </a:r>
            <a:br/>
            <a:r>
              <a:t>•  Market Opportunity Assessment &amp; Prioritization</a:t>
            </a:r>
            <a:br/>
            <a:r>
              <a:t>•  Growth Strategy Development &amp; Roadmap</a:t>
            </a:r>
            <a:br/>
            <a:r>
              <a:t>•  Operating Model Design &amp; Optimization</a:t>
            </a:r>
            <a:br/>
            <a:r>
              <a:t>•  Digital Transformation &amp; Innovation Agenda</a:t>
            </a:r>
            <a:br/>
            <a:r>
              <a:t>•  Performance Management &amp; Metrics Framework</a:t>
            </a:r>
            <a:br/>
            <a:r>
              <a:t>•  Organizational Agility &amp; Change Management</a:t>
            </a:r>
            <a:br/>
            <a:r>
              <a:t>•  Strategic Alliance &amp; Partnership Identification</a:t>
            </a:r>
            <a:br/>
            <a:r>
              <a:t>•  Sustainable Value Creation Framework</a:t>
            </a:r>
            <a:br/>
            <a:br/>
            <a:r>
              <a:t>**Strategic Outlook**</a:t>
            </a:r>
            <a:br/>
            <a:r>
              <a:t>Our engagement is designed to equip Hyke Inc. with a clear, executable strategy and the necessary capabilities to achieve sustained competitive advantage and long-term value generation in a rapidly evolving global market.</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current market environment for Hyke Inc. is marked by intensifying competition, digital disruption reshaping customer journeys, and increasing pressure for operational efficiency and sustainable growth. While significant opportunities exist in emerging segments and through technological integration, the client faces challenges in scaling innovation, optimizing go-to-market strategies, and ensuring enterprise-wide agility to respond to rapid shifts. There's an unmet need for a cohesive strategic roadmap that aligns ambitious growth targets with actionable, measurable initiatives.</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Fragmentation**: Difficulty in capturing share across diverse customer segments.</a:t>
            </a:r>
            <a:br/>
            <a:r>
              <a:t>•  **Digital Adoption Lag**: Sub-optimal integration of digital tools impacting customer experience and operational efficiency.</a:t>
            </a:r>
            <a:br/>
            <a:r>
              <a:t>•  **Innovation Bottlenecks**: Challenges in consistently translating R&amp;D into market-ready products/services.</a:t>
            </a:r>
            <a:br/>
            <a:r>
              <a:t>•  **Talent &amp; Capability Gap**: Need to upskill workforce and attract new talent for future strategic imperatives.</a:t>
            </a:r>
            <a:br/>
            <a:r>
              <a:t>•  **Operational Inefficiencies**: Legacy systems and processes hindering speed and cost-effectiveness.</a:t>
            </a:r>
            <a:br/>
            <a:r>
              <a:t>•  **Unclear Growth Vectors**: Lack of defined priorities for expansion into new markets or offerings.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sustainable double-digit revenue growth within 3 years.</a:t>
            </a:r>
            <a:br/>
            <a:r>
              <a:t>•  Enhance market share in key strategic segments by 15%.</a:t>
            </a:r>
            <a:br/>
            <a:r>
              <a:t>•  Develop and launch two innovative product lines addressing unmet customer needs.</a:t>
            </a:r>
            <a:br/>
            <a:r>
              <a:t>•  Improve operational efficiency by 20% through process optimization and technology integration.</a:t>
            </a:r>
            <a:br/>
            <a:r>
              <a:t>•  Foster a more agile and digitally-fluent organizational culture.</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 &amp; Define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 &amp; Accelerate</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structured around a three-phased, insight-led methodology designed to move from strategic definition to tangible execution. This iterative process ensures deep understanding, collaborative strategy development, and robust implementation, tailored specifically to Hyke Inc.'s unique context and objectives.</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Comprehensive market and competitive analysis</a:t>
            </a:r>
            <a:br/>
            <a:r>
              <a:t>•  Deep-dive internal capability assessment</a:t>
            </a:r>
            <a:br/>
            <a:r>
              <a:t>•  Stakeholder workshops for vision and ambition alignment</a:t>
            </a:r>
            <a:br/>
            <a:r>
              <a:t>•  Problem articulation and opportunity sizing</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Strategic options generation and scenario planning</a:t>
            </a:r>
            <a:br/>
            <a:r>
              <a:t>•  Detailed growth strategy and roadmap development</a:t>
            </a:r>
            <a:br/>
            <a:r>
              <a:t>•  Operating model design and organizational blueprint</a:t>
            </a:r>
            <a:br/>
            <a:r>
              <a:t>•  Business case development and financial modeling</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Pilot program execution and rapid iteration</a:t>
            </a:r>
            <a:br/>
            <a:r>
              <a:t>•  Change management and communication planning</a:t>
            </a:r>
            <a:br/>
            <a:r>
              <a:t>•  Performance tracking framework establishment</a:t>
            </a:r>
            <a:br/>
            <a:r>
              <a:t>•  Capability building and knowledge transfer</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Definition**: Developing clear market entry, product portfolio, and customer acquisition strategies.</a:t>
            </a:r>
            <a:br/>
            <a:r>
              <a:t>•  **Competitive Intelligence**: Providing insights on market dynamics, competitor moves, and emerging threats/opportunities.</a:t>
            </a:r>
            <a:br/>
            <a:r>
              <a:t>•  **Scenario Planning**: Building resilient strategies to navigate future uncertainties and disruptive forces.</a:t>
            </a:r>
            <a:br/>
            <a:r>
              <a:t>•  **Strategic Roadmapping**: Translating long-term vision into actionable, time-bound initiatives.</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**Operating Model Design**: Optimizing organizational structures, processes, and governance for agility and efficiency.</a:t>
            </a:r>
            <a:br/>
            <a:r>
              <a:t>•  **Technology &amp; Digital Integration**: Advising on platform selection, implementation, and digital transformation initiatives.</a:t>
            </a:r>
            <a:br/>
            <a:r>
              <a:t>•  **Performance Management Frameworks**: Establishing KPIs, dashboards, and reporting mechanisms for strategic oversight.</a:t>
            </a:r>
            <a:br/>
            <a:r>
              <a:t>•  **Capability Building**: Designing and delivering programs to enhance critical skills across the organization.</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Advisory**: Providing continuous expert guidance on critical business decisions and market shifts.</a:t>
            </a:r>
            <a:br/>
            <a:r>
              <a:t>•  **Implementation Oversight**: Monitoring progress, identifying roadblocks, and ensuring successful execution of strategic initiatives.</a:t>
            </a:r>
            <a:br/>
            <a:r>
              <a:t>•  **Post-Implementation Review**: Assessing impact, identifying lessons learned, and recommending further optimizations.</a:t>
            </a:r>
            <a:br/>
            <a:r>
              <a:t>•  **Periodic Strategy Refresh**: Engaging in regular reviews to adapt strategies to evolving market conditions.</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Playbook &amp; Roadmap</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Operating Model &amp; Organization Design</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Develop a comprehensive strategic growth playbook.</a:t>
            </a:r>
            <a:br/>
            <a:r>
              <a:t>•  Outline a detailed 3-year execution roadmap with key milestones.</a:t>
            </a:r>
            <a:br/>
            <a:r>
              <a:t>•  Provide market sizing and segment prioritization analysis.</a:t>
            </a:r>
            <a:br/>
            <a:r>
              <a:t>•  Define core strategic initiatives with resource requirements.</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Design an optimized future-state operating model.</a:t>
            </a:r>
            <a:br/>
            <a:r>
              <a:t>•  Propose refined organizational structures and governance.</a:t>
            </a:r>
            <a:br/>
            <a:r>
              <a:t>•  Identify key process improvements for efficiency gains.</a:t>
            </a:r>
            <a:br/>
            <a:r>
              <a:t>•  Develop a talent and capability development plan.</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Change Management &amp; Adoption Program</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&amp; Impact Measurement</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Establish a robust set of Key Performance Indicators (KPIs).</a:t>
            </a:r>
            <a:br/>
            <a:r>
              <a:t>•  Develop a dashboard for real-time strategic performance tracking.</a:t>
            </a:r>
            <a:br/>
            <a:r>
              <a:t>•  Design a regular review and reporting cadence for leadership.</a:t>
            </a:r>
            <a:br/>
            <a:r>
              <a:t>•  Quantify potential financial and operational impact of initiatives.</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Formulate a tailored change management strategy.</a:t>
            </a:r>
            <a:br/>
            <a:r>
              <a:t>•  Develop communication plans for internal and external stakeholders.</a:t>
            </a:r>
            <a:br/>
            <a:r>
              <a:t>•  Facilitate workshops to drive organizational alignment and buy-in.</a:t>
            </a:r>
            <a:br/>
            <a:r>
              <a:t>•  Provide ongoing support to embed new ways of working and cultural shifts.</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