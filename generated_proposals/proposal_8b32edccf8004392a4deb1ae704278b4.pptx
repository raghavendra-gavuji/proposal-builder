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Growth &amp; Investment Readiness Advisory for ClientCo</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Strategic Partnership Proposal</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[ClientCo Logo Here]</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ClientCo Team,</a:t>
            </a:r>
            <a:br/>
            <a:br/>
            <a:r>
              <a:t>Pnyx Hill Consulting is pleased to present this proposal outlining our strategic partnership to accelerate your growth and enhance investment readiness. We understand the dynamic challenges and opportunities you face and are committed to delivering tailored solutions that drive tangible results. This proposal details our collaborative approach, comprehensive scope of services, and the value we aim to co-create with you. We look forward to discussing how we can empower ClientCo's future success.</a:t>
            </a:r>
            <a:br/>
            <a:br/>
            <a:r>
              <a:t>Sincerely,</a:t>
            </a:r>
            <a:br/>
            <a:r>
              <a:t>The Pnyx Hill Consulting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Pnyx Hill Consulting's comprehensive advisory services for ClientCo. Our engagement focuses on crafting a robust business strategy, optimizing operational efficiencies, and preparing ClientCo for successful capital raises. We aim to translate strategic vision into actionable plans, ensuring sustainable growth and enhanced market positioning. Expected outcomes include a clear strategic roadmap, improved business processes, and a compelling investment narrative.</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ClientCo operates in a rapidly evolving market, facing both significant opportunities for expansion and complex competitive pressures. To capitalize on its potential, ClientCo requires a clear strategic direction, optimized internal processes, and a refined value proposition to attract strategic investments. Our understanding of these dynamics informs our proposed approach to drive impactful change and secure future success.</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Consulting offers ClientCo a unique blend of:</a:t>
            </a:r>
            <a:br/>
            <a:br/>
            <a:r>
              <a:t>*   **Expert Strategic Guidance:** Proven methodologies for business growth and market leadership.</a:t>
            </a:r>
            <a:br/>
            <a:r>
              <a:t>*   **Tailored Solutions:** Customized approaches designed specifically for ClientCo's context and goals.</a:t>
            </a:r>
            <a:br/>
            <a:r>
              <a:t>*   **Investment Readiness Expertise:** Extensive experience in preparing companies for successful funding rounds.</a:t>
            </a:r>
            <a:br/>
            <a:r>
              <a:t>*   **Collaborative Partnership:** A commitment to working alongside your team, building internal capabilities and ensuring sustainable impact.</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   **Strategic Roadmap Development:** Define clear, actionable pathways for growth.</a:t>
            </a:r>
            <a:br/>
            <a:r>
              <a:t>*   **Operational Excellence Review:** Identify and implement efficiencies across core functions.</a:t>
            </a:r>
            <a:br/>
            <a:r>
              <a:t>*   **Investment Deck &amp; Financial Model Creation:** Develop robust materials for potential investors.</a:t>
            </a:r>
            <a:br/>
            <a:r>
              <a:t>*   **Market Positioning Refinement:** Enhance ClientCo's unique value proposition.</a:t>
            </a:r>
            <a:br/>
            <a:r>
              <a:t>*   **Leadership Alignment:** Foster consensus on strategic priorities and execution plans.</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   Navigating market shifts and competitive landscapes.</a:t>
            </a:r>
            <a:br/>
            <a:r>
              <a:t>*   Scaling operations efficiently while maintaining quality.</a:t>
            </a:r>
            <a:br/>
            <a:r>
              <a:t>*   Attracting and securing the right growth capital.</a:t>
            </a:r>
            <a:br/>
            <a:r>
              <a:t>*   Optimizing internal processes for enhanced productivity.</a:t>
            </a:r>
            <a:br/>
            <a:r>
              <a:t>*   Ensuring strategic alignment across all business units.</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approach is built on a foundation of collaboration, data-driven insights, and practical application. We combine rigorous analysis with iterative strategy development, ensuring solutions are not only innovative but also implementable and sustainable. We prioritize knowledge transfer, empowering your team to drive continuous improvement long after our engagement concludes. Our methodology is agile, adapting to ClientCo's evolving needs and market dynamics.</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 Phase 1: Discovery &amp; Diagnostics</a:t>
            </a:r>
            <a:br/>
            <a:br/>
            <a:r>
              <a:t>**Objective:** Gain a comprehensive understanding of ClientCo's current state, market position, and core challenges.</a:t>
            </a:r>
            <a:br/>
            <a:br/>
            <a:r>
              <a:t>**Activities:**</a:t>
            </a:r>
            <a:br/>
            <a:r>
              <a:t>*   Stakeholder interviews and workshops.</a:t>
            </a:r>
            <a:br/>
            <a:r>
              <a:t>*   Detailed review of existing business models, operations, and financial data.</a:t>
            </a:r>
            <a:br/>
            <a:r>
              <a:t>*   Market analysis, competitive benchmarking, and trend identification.</a:t>
            </a:r>
            <a:br/>
            <a:r>
              <a:t>*   Identification of key growth opportunities and strategic gaps.</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 Phase 2: Strategy Development &amp; Roadmap Creation</a:t>
            </a:r>
            <a:br/>
            <a:br/>
            <a:r>
              <a:t>**Objective:** Co-create a robust business strategy and a detailed, actionable roadmap for execution.</a:t>
            </a:r>
            <a:br/>
            <a:br/>
            <a:r>
              <a:t>**Activities:**</a:t>
            </a:r>
            <a:br/>
            <a:r>
              <a:t>*   Strategy formulation workshops.</a:t>
            </a:r>
            <a:br/>
            <a:r>
              <a:t>*   Development of key strategic pillars and initiatives.</a:t>
            </a:r>
            <a:br/>
            <a:r>
              <a:t>*   Creation of a phased implementation roadmap with clear milestones and KPIs.</a:t>
            </a:r>
            <a:br/>
            <a:r>
              <a:t>*   Financial modeling and projection of strategic outcomes.</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 Phase 3: Investment Readiness &amp; Implementation Enablement</a:t>
            </a:r>
            <a:br/>
            <a:br/>
            <a:r>
              <a:t>**Objective:** Prepare ClientCo for successful fundraising and provide support for initial strategy implementation.</a:t>
            </a:r>
            <a:br/>
            <a:br/>
            <a:r>
              <a:t>**Activities:**</a:t>
            </a:r>
            <a:br/>
            <a:r>
              <a:t>*   Development of investor-grade pitch deck and supporting materials.</a:t>
            </a:r>
            <a:br/>
            <a:r>
              <a:t>*   Refinement of financial models for investor due diligence.</a:t>
            </a:r>
            <a:br/>
            <a:r>
              <a:t>*   Pitch coaching and investor engagement strategy.</a:t>
            </a:r>
            <a:br/>
            <a:r>
              <a:t>*   Support for initial phase of strategic initiative execution and performance monitoring.</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Our core strategic support empowers ClientCo to define clear objectives, identify critical opportunities, and build a resilient framework for sustained competitive advantage.</a:t>
            </a:r>
            <a:br/>
            <a:r>
              <a:rPr sz="1800"/>
              <a:t>*   **Market Entry &amp; Expansion Strategy:** Identifying and validating new growth avenues.</a:t>
            </a:r>
            <a:br/>
            <a:r>
              <a:rPr sz="1800"/>
              <a:t>*   **Business Model Innovation:** Re-imagining value creation and delivery.</a:t>
            </a:r>
            <a:br/>
            <a:r>
              <a:rPr sz="1800"/>
              <a:t>*   **Organizational Design &amp; Alignment:** Structuring for optimal performance.</a:t>
            </a:r>
            <a:br/>
            <a:r>
              <a:rPr sz="1800"/>
              <a:t>*   **Digital Transformation Roadmapping:** Leveraging technology for competitive advantage.</a:t>
            </a:r>
            <a:br/>
            <a:r>
              <a:rPr sz="1800"/>
              <a:t>*   **Go-to-Market Strategy:** Enhancing customer acquisition and retention.</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Our core strategic support empowers ClientCo to define clear objectives, identify critical opportunities, and build a resilient framework for sustained competitive advantage.</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   **Customized Frameworks:** Development of bespoke strategic planning tools.</a:t>
            </a:r>
            <a:br/>
            <a:r>
              <a:t>*   **Performance Measurement Systems:** Establishment of KPIs and dashboards.</a:t>
            </a:r>
            <a:br/>
            <a:r>
              <a:t>*   **Governance Models:** Defining clear decision-making processes.</a:t>
            </a:r>
            <a:br/>
            <a:r>
              <a:t>*   **Knowledge Transfer:** Equipping internal teams with strategic capabilities.</a:t>
            </a:r>
            <a:br/>
            <a:r>
              <a:t>*   **Risk Mitigation Strategies:** Proactive identification and planning for challenges.</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   **Strategic Plan Document:** Comprehensive roadmap with vision, mission, and objectives.</a:t>
            </a:r>
            <a:br/>
            <a:r>
              <a:t>*   **Market Opportunity Assessment:** Detailed analysis of target markets and growth potential.</a:t>
            </a:r>
            <a:br/>
            <a:r>
              <a:t>*   **Competitive Landscape Report:** Insights into key competitors and differentiation strategies.</a:t>
            </a:r>
            <a:br/>
            <a:r>
              <a:t>*   **Core Business Model Canvas:** Visual representation of value creation.</a:t>
            </a:r>
            <a:br/>
            <a:r>
              <a:t>*   **Actionable Implementation Roadmap:** Phased plan with initiatives, timelines, and responsibilities.</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Our comprehensive scope of services for ClientCo encompasses strategic planning, operational excellence, and investment readiness. We provide hands-on support in developing and refining your core business strategy, identifying pathways for scalable growth, and preparing compelling materials to attract the right investors. This includes expert advisory, analytical support, and targeted content creation across all project phases.</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 Strategic Frameworks &amp; Roadmaps</a:t>
            </a:r>
            <a:br/>
            <a:br/>
            <a:r>
              <a:rPr sz="2200"/>
              <a:t>*   Detailed 3-5 Year Strategic Plan Document</a:t>
            </a:r>
            <a:br/>
            <a:r>
              <a:rPr sz="2200"/>
              <a:t>*   Annual Operating Plan Template &amp; Guidance</a:t>
            </a:r>
            <a:br/>
            <a:r>
              <a:rPr sz="2200"/>
              <a:t>*   Market Entry/Expansion Strategy Report</a:t>
            </a:r>
            <a:br/>
            <a:r>
              <a:rPr sz="2200"/>
              <a:t>*   Key Performance Indicator (KPI) Framework &amp; Dashboard Mockup</a:t>
            </a:r>
            <a:br/>
            <a:r>
              <a:rPr sz="2200"/>
              <a:t>*   Risk &amp; Opportunity Matrix</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 Operational Excellence Initiatives</a:t>
            </a:r>
            <a:br/>
            <a:br/>
            <a:r>
              <a:rPr sz="2200"/>
              <a:t>*   Current State Process Mapping &amp; Gap Analysis Report</a:t>
            </a:r>
            <a:br/>
            <a:r>
              <a:rPr sz="2200"/>
              <a:t>*   Recommendations for Process Optimization (e.g., sales, marketing, operations)</a:t>
            </a:r>
            <a:br/>
            <a:r>
              <a:rPr sz="2200"/>
              <a:t>*   Technology Stack Review &amp; Integration Recommendations</a:t>
            </a:r>
            <a:br/>
            <a:r>
              <a:rPr sz="2200"/>
              <a:t>*   Organizational Structure Alignment Proposal</a:t>
            </a:r>
            <a:br/>
            <a:r>
              <a:rPr sz="2200"/>
              <a:t>*   Change Management Toolkit &amp; Communication Plan</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 Market &amp; Financial Insights</a:t>
            </a:r>
            <a:br/>
            <a:br/>
            <a:r>
              <a:rPr sz="2200"/>
              <a:t>*   Comprehensive Market Sizing &amp; Trend Analysis</a:t>
            </a:r>
            <a:br/>
            <a:r>
              <a:rPr sz="2200"/>
              <a:t>*   Customer Segmentation &amp; Persona Development</a:t>
            </a:r>
            <a:br/>
            <a:r>
              <a:rPr sz="2200"/>
              <a:t>*   Competitive Benchmarking Report</a:t>
            </a:r>
            <a:br/>
            <a:r>
              <a:rPr sz="2200"/>
              <a:t>*   Revenue Growth Projections &amp; Sensitivity Analysis</a:t>
            </a:r>
            <a:br/>
            <a:r>
              <a:rPr sz="2200"/>
              <a:t>*   Pricing Strategy Recommendations</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   **Investor-Grade Pitch Deck:** Compelling narrative, visuals, and key data points.</a:t>
            </a:r>
            <a:br/>
            <a:r>
              <a:t>*   **Detailed Financial Model:** 3-5 year projections, scenario analysis, and valuation.</a:t>
            </a:r>
            <a:br/>
            <a:r>
              <a:t>*   **Information Memorandum (IM) / Teaser:** Comprehensive document for potential investors.</a:t>
            </a:r>
            <a:br/>
            <a:r>
              <a:t>*   **Due Diligence Data Room Index:** Structured checklist for required documentation.</a:t>
            </a:r>
            <a:br/>
            <a:r>
              <a:t>*   **Pitch Coaching &amp; Rehearsal Sessions:** Enhancing presentation and Q&amp;A skills.</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Extended Advisory &amp; Implementation Support</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   **Post-Engagement Advisory:** Ongoing access to Pnyx Hill experts for ad-hoc queries.</a:t>
            </a:r>
            <a:br/>
            <a:r>
              <a:t>*   **Quarterly Strategic Reviews:** Facilitated sessions to track progress and adjust strategy.</a:t>
            </a:r>
            <a:br/>
            <a:r>
              <a:t>*   **Leadership Coaching:** Targeted support for senior executives on implementation challenges.</a:t>
            </a:r>
            <a:br/>
            <a:r>
              <a:t>*   **Investor Relations Support:** Assistance in managing ongoing investor communications.</a:t>
            </a:r>
            <a:br/>
            <a:r>
              <a:t>*   **Performance Monitoring &amp; Optimization:** Ongoing review of KPIs and recommendations for continuous improvement.</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Our engagement fees are structured to reflect the value delivered and the comprehensive nature of our services. A detailed breakdown of the proposed fees, payment schedule, and terms of engagement will be provided in a separate agreement. We offer flexible options and are open to discussing a structure that aligns with ClientCo's budget and project objectives. Our goal is a mutually beneficial partnership that yields significant returns on your investment.</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