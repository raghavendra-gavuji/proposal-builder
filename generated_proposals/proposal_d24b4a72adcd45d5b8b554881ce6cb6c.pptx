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25"/>
    <p:restoredTop sz="94596"/>
  </p:normalViewPr>
  <p:slideViewPr>
    <p:cSldViewPr snapToGrid="0">
      <p:cViewPr varScale="1">
        <p:scale>
          <a:sx n="78" d="100"/>
          <a:sy n="78" d="100"/>
        </p:scale>
        <p:origin x="129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10/11/2025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11/10/2025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11/10/2025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rPr lang="en-US" dirty="0">
                <a:solidFill/>
              </a:rPr>
              <a:t>{{COVER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endParaRPr sz="1000" dirty="0"/>
          </a:p>
          <a:p>
            <a:r>
              <a:rPr sz="1000"/>
              <a:t>July 19, 2024</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Driving Sustainable Growth &amp; Operational Excellence</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solidFill/>
              </a:rPr>
              <a:t>{{</a:t>
            </a:r>
            <a:r>
              <a:rPr lang="en-US" sz="1200" dirty="0"/>
              <a:t>CLIENT LOGO</a:t>
            </a:r>
            <a:r>
              <a:rPr sz="1200" dirty="0"/>
              <a:t>}}</a:t>
            </a:r>
            <a:br>
              <a:rPr sz="1200" dirty="0"/>
            </a:br>
            <a:endParaRPr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endParaRPr sz="1200" dirty="0"/>
          </a:p>
          <a:p>
            <a:r>
              <a:rPr sz="1200"/>
              <a:t>Dear Client Team,</a:t>
            </a:r>
            <a:br/>
            <a:br/>
            <a:r>
              <a:rPr sz="1200"/>
              <a:t>We are pleased to present this proposal outlining our approach to partner with you in achieving your strategic objectives. Based on our initial understanding, we recognize the critical need for a tailored, data-driven strategy to navigate market dynamics and optimize internal operations. This document details our phased methodology, designed to deliver actionable insights and foster sustainable growth. We are eager to embark on this collaborative journey and define a clear path to success.</a:t>
            </a:r>
            <a:b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endParaRPr sz="1200" dirty="0"/>
          </a:p>
          <a:p>
            <a:r>
              <a:rPr sz="1200"/>
              <a:t>This proposal outlines a strategic partnership focused on enhancing organizational effectiveness and unlocking new avenues for growth. Our approach begins with a comprehensive diagnostic phase to understand your unique operational landscape and strategic goals. We will then co-create and implement targeted solutions, providing ongoing support to ensure long-term success and measurable outcomes. Our aim is to empower your team with robust frameworks and strategic clarity.</a:t>
            </a:r>
            <a:b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endParaRPr dirty="0"/>
          </a:p>
          <a:p>
            <a:r>
              <a:rPr dirty="0">
                <a:solidFill/>
              </a:rPr>
              <a:t>{{</a:t>
            </a:r>
            <a:r>
              <a:rPr lang="en-US" dirty="0"/>
              <a:t>CURRENT SITUATION OF CLIENT</a:t>
            </a:r>
            <a:r>
              <a:rPr dirty="0"/>
              <a:t>}}</a:t>
            </a:r>
            <a:br>
              <a:rPr dirty="0"/>
            </a:br>
            <a:endParaRPr b="1"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endParaRPr dirty="0"/>
          </a:p>
          <a:p>
            <a:r>
              <a:rPr dirty="0">
                <a:solidFill/>
              </a:rPr>
              <a:t>{{</a:t>
            </a:r>
            <a:r>
              <a:rPr lang="en-US" dirty="0"/>
              <a:t>KEY CHALLENGES</a:t>
            </a:r>
            <a:r>
              <a:rPr dirty="0"/>
              <a:t>}}</a:t>
            </a:r>
            <a:br>
              <a:rPr dirty="0"/>
            </a:br>
            <a:endParaRPr b="1"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endParaRPr dirty="0"/>
          </a:p>
          <a:p>
            <a:pPr algn="l"/>
            <a:r>
              <a:rPr dirty="0">
                <a:solidFill/>
              </a:rPr>
              <a:t>{{</a:t>
            </a:r>
            <a:r>
              <a:rPr lang="en-US" dirty="0"/>
              <a:t>OUTCOMES REQUIRED</a:t>
            </a:r>
            <a:r>
              <a:rPr dirty="0"/>
              <a:t>}}</a:t>
            </a:r>
            <a:br>
              <a:rPr dirty="0"/>
            </a:b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solidFill/>
              </a:rPr>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endParaRPr lang="en-GB" dirty="0"/>
          </a:p>
          <a:p>
            <a:r>
              <a:t>Strategic Assessment &amp; Diagnostic</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1" y="949444"/>
            <a:ext cx="7350487" cy="646331"/>
          </a:xfrm>
          <a:prstGeom prst="rect">
            <a:avLst/>
          </a:prstGeom>
          <a:noFill/>
        </p:spPr>
        <p:txBody>
          <a:bodyPr wrap="square" rtlCol="0">
            <a:spAutoFit/>
          </a:bodyPr>
          <a:lstStyle/>
          <a:p>
            <a:endParaRPr lang="en-AE" sz="1200" dirty="0"/>
          </a:p>
          <a:p>
            <a:r>
              <a:rPr lang="en-US" sz="1200" dirty="0">
                <a:solidFill/>
              </a:rPr>
              <a:t>{</a:t>
            </a:r>
            <a:r>
              <a:rPr sz="1200" dirty="0"/>
              <a:t>{</a:t>
            </a:r>
            <a:r>
              <a:rPr lang="en-US" sz="1200" dirty="0"/>
              <a:t> Here add a short 2–3-line summary of our recommended phased solution and how it addresses client needs}}</a:t>
            </a:r>
            <a:endParaRPr sz="1200"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39784" y="2756996"/>
            <a:ext cx="7243011" cy="316538"/>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solidFill/>
              </a:rPr>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39781" y="3951129"/>
            <a:ext cx="7243011" cy="316538"/>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t>Performance Monitoring &amp; Optimization</a:t>
            </a:r>
          </a:p>
        </p:txBody>
      </p:sp>
      <p:sp>
        <p:nvSpPr>
          <p:cNvPr id="17" name="TextBox 16">
            <a:extLst>
              <a:ext uri="{FF2B5EF4-FFF2-40B4-BE49-F238E27FC236}">
                <a16:creationId xmlns:a16="http://schemas.microsoft.com/office/drawing/2014/main" id="{5F3959F4-1E64-2DBA-2783-E5ABDE1E2D02}"/>
              </a:ext>
            </a:extLst>
          </p:cNvPr>
          <p:cNvSpPr txBox="1"/>
          <p:nvPr/>
        </p:nvSpPr>
        <p:spPr>
          <a:xfrm>
            <a:off x="839782" y="3376140"/>
            <a:ext cx="7350487" cy="646331"/>
          </a:xfrm>
          <a:prstGeom prst="rect">
            <a:avLst/>
          </a:prstGeom>
          <a:noFill/>
        </p:spPr>
        <p:txBody>
          <a:bodyPr wrap="square" rtlCol="0">
            <a:spAutoFit/>
          </a:bodyPr>
          <a:lstStyle/>
          <a:p>
            <a:endParaRPr lang="en-AE" sz="1200" dirty="0"/>
          </a:p>
          <a:p>
            <a:br>
              <a:rPr sz="1200" dirty="0"/>
            </a:br>
            <a:endParaRPr sz="1200"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solidFill/>
              </a:rPr>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solidFill/>
              </a:rPr>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solidFill/>
              </a:rPr>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solidFill/>
              </a:rPr>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endParaRPr dirty="0"/>
          </a:p>
          <a:p>
            <a:r>
              <a:rPr dirty="0">
                <a:solidFill/>
              </a:rPr>
              <a:t>{{</a:t>
            </a:r>
            <a:r>
              <a:rPr lang="en-US" dirty="0"/>
              <a:t>provide 3–4 bullet points that describe the key services being offered under strategic support}</a:t>
            </a:r>
            <a:br>
              <a:rPr lang="en-US" dirty="0"/>
            </a:br>
            <a:br>
              <a:rPr dirty="0"/>
            </a:b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endParaRPr dirty="0"/>
          </a:p>
          <a:p>
            <a:r>
              <a:t>['Strategic Planning &amp; Roadmap Development: Defining long-term vision, goals, and actionable plans.', 'Operational Framework Design: Creating efficient processes, structures, and resource allocation models.', 'Organizational Alignment &amp; Culture Transformation: Ensuring teams are united behind common objectives and values.', 'Technology &amp; Digital Adoption Advisory: Guiding the strategic integration of technology for business advantage.']</a:t>
            </a:r>
            <a:br/>
            <a:b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endParaRPr dirty="0"/>
          </a:p>
          <a:p>
            <a:r>
              <a:t>['Performance Monitoring &amp; Reporting: Tracking key metrics and providing regular insights on progress.', 'Capability Building &amp; Training: Empowering your team with new skills and knowledge for sustained success.', 'Strategic Review &amp; Adjustment: Periodically reassessing strategy and making necessary course corrections.'] </a:t>
            </a:r>
            <a:b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solidFill/>
              </a:rPr>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endParaRPr lang="en-GB" sz="1500" b="1" dirty="0">
              <a:solidFill>
                <a:srgbClr val="7D4E1D"/>
              </a:solidFill>
            </a:endParaRPr>
          </a:p>
          <a:p>
            <a:pPr marL="0" indent="0">
              <a:buNone/>
            </a:pPr>
            <a:r>
              <a:t>1.     Operational Excellence Framework</a:t>
            </a:r>
            <a:br/>
            <a:r>
              <a:t>.</a:t>
            </a: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t>2.       Operational Excellence Framework</a:t>
            </a:r>
            <a:br/>
            <a:r>
              <a:t>.</a:t>
            </a: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1569660"/>
          </a:xfrm>
          <a:prstGeom prst="rect">
            <a:avLst/>
          </a:prstGeom>
          <a:noFill/>
        </p:spPr>
        <p:txBody>
          <a:bodyPr wrap="square">
            <a:spAutoFit/>
          </a:bodyPr>
          <a:lstStyle/>
          <a:p>
            <a:endParaRPr lang="en-AE" sz="1200" i="1" dirty="0"/>
          </a:p>
          <a:p>
            <a:r>
              <a:rPr lang="en-US" sz="1200" dirty="0">
                <a:solidFill/>
              </a:rPr>
              <a:t>{{3–4 bullet points describing what this deliverable includes - focused on actions, outputs, or advisory elements</a:t>
            </a:r>
          </a:p>
          <a:p>
            <a:endParaRPr lang="en-US" sz="1200" dirty="0"/>
          </a:p>
          <a:p>
            <a:r>
              <a:rPr lang="en-US" sz="1200" dirty="0">
                <a:solidFill/>
              </a:rPr>
              <a:t>Write in a consulting-style tone, with concise and client-relevant language.}}</a:t>
            </a:r>
            <a:br>
              <a:rPr sz="1200" dirty="0"/>
            </a:br>
            <a:endParaRPr sz="1200" b="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1569660"/>
          </a:xfrm>
          <a:prstGeom prst="rect">
            <a:avLst/>
          </a:prstGeom>
          <a:noFill/>
        </p:spPr>
        <p:txBody>
          <a:bodyPr wrap="square">
            <a:spAutoFit/>
          </a:bodyPr>
          <a:lstStyle/>
          <a:p>
            <a:endParaRPr lang="en-AE" sz="1200" i="1" dirty="0"/>
          </a:p>
          <a:p>
            <a:r>
              <a:rPr lang="en-US" sz="1200" dirty="0">
                <a:solidFill/>
              </a:rPr>
              <a:t>{{3–4 bullet points describing what this deliverable includes - focused on actions, outputs, or advisory elements</a:t>
            </a:r>
          </a:p>
          <a:p>
            <a:endParaRPr lang="en-US" sz="1200" dirty="0"/>
          </a:p>
          <a:p>
            <a:r>
              <a:rPr lang="en-US" sz="1200" dirty="0">
                <a:solidFill/>
              </a:rPr>
              <a:t>Write in a consulting-style tone, with concise and client-relevant language.}}</a:t>
            </a:r>
            <a:br>
              <a:rPr sz="1200" dirty="0"/>
            </a:br>
            <a:r>
              <a:rPr sz="1200" b="1" dirty="0"/>
              <a:t> </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t>4.          Digital Transformation Roadmap</a:t>
            </a:r>
            <a:br/>
            <a:r>
              <a:t>.</a:t>
            </a: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t>3.       Digital Transformation Roadmap</a:t>
            </a:r>
            <a:br/>
            <a:r>
              <a:t>.</a:t>
            </a: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solidFill/>
              </a:rPr>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1384995"/>
          </a:xfrm>
          <a:prstGeom prst="rect">
            <a:avLst/>
          </a:prstGeom>
          <a:noFill/>
        </p:spPr>
        <p:txBody>
          <a:bodyPr wrap="square">
            <a:spAutoFit/>
          </a:bodyPr>
          <a:lstStyle/>
          <a:p>
            <a:endParaRPr lang="en-US" sz="1200" i="1" dirty="0"/>
          </a:p>
          <a:p>
            <a:r>
              <a:rPr lang="en-US" sz="1200" dirty="0">
                <a:solidFill/>
              </a:rPr>
              <a:t>{{3–4 bullet points describing what this deliverable includes - focused on actions, outputs, or advisory elements</a:t>
            </a:r>
          </a:p>
          <a:p>
            <a:endParaRPr lang="en-US" sz="1200" dirty="0"/>
          </a:p>
          <a:p>
            <a:r>
              <a:rPr lang="en-US" sz="1200" dirty="0">
                <a:solidFill/>
              </a:rPr>
              <a:t>Write in a consulting-style tone, with concise and client-relevant language}}</a:t>
            </a:r>
            <a:endParaRPr lang="en-US" sz="1200" b="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1384995"/>
          </a:xfrm>
          <a:prstGeom prst="rect">
            <a:avLst/>
          </a:prstGeom>
          <a:noFill/>
        </p:spPr>
        <p:txBody>
          <a:bodyPr wrap="square">
            <a:spAutoFit/>
          </a:bodyPr>
          <a:lstStyle/>
          <a:p>
            <a:endParaRPr lang="en-AE" sz="1200" i="1" dirty="0"/>
          </a:p>
          <a:p>
            <a:r>
              <a:rPr lang="en-US" sz="1200" dirty="0">
                <a:solidFill/>
              </a:rPr>
              <a:t>{{3–4 bullet points describing what this deliverable includes - focused on actions, outputs, or advisory elements</a:t>
            </a:r>
          </a:p>
          <a:p>
            <a:endParaRPr lang="en-US" sz="1200" dirty="0"/>
          </a:p>
          <a:p>
            <a:r>
              <a:rPr lang="en-US" sz="1200" dirty="0">
                <a:solidFill/>
              </a:rPr>
              <a:t>Write in a consulting-style tone, with concise and client-relevant language}}</a:t>
            </a:r>
            <a:endParaRPr sz="1200" b="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2.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10660</TotalTime>
  <Words>730</Words>
  <Application>Microsoft Office PowerPoint</Application>
  <PresentationFormat>Widescreen</PresentationFormat>
  <Paragraphs>112</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28</cp:revision>
  <dcterms:created xsi:type="dcterms:W3CDTF">2025-03-19T09:34:50Z</dcterms:created>
  <dcterms:modified xsi:type="dcterms:W3CDTF">2025-11-10T12:09:39Z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