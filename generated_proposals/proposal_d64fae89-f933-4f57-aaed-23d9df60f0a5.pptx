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&amp; Digital Transformation Proposal for Nordstrom</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July 17, 2024</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&amp; Digital Transformation Proposal for Nordstrom</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[Nordstrom Logo Placeholder]</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Nordstrom Leadership Team,</a:t>
            </a:r>
            <a:br/>
            <a:br/>
            <a:r>
              <a:t>Pnyx Hill is honored to present this strategic proposal, outlining a comprehensive approach to accelerate Nordstrom's growth trajectory and solidify its market leadership in the evolving luxury retail landscape. We commend Nordstrom's enduring commitment to exceptional customer service and innovation, qualities that resonate deeply with our own values. This proposal is a testament to our shared vision for a future where Nordstrom not only navigates current market complexities but actively defines the next generation of retail experiences.</a:t>
            </a:r>
            <a:br/>
            <a:br/>
            <a:r>
              <a:t>Our team is exceptionally enthusiastic about the opportunity to partner with you. We believe our data-driven insights, deep industry expertise, and collaborative methodology are precisely aligned to address your strategic imperatives and unlock significant value. We are confident that together, we can achieve transformational outcomes, enhancing your digital presence, optimizing operations, and deepening customer engagement.</a:t>
            </a:r>
            <a:br/>
            <a:br/>
            <a:r>
              <a:t>We look forward to embarking on this exciting journey with you.</a:t>
            </a:r>
            <a:br/>
            <a:br/>
            <a:r>
              <a:t>Sincerely,</a:t>
            </a:r>
            <a:br/>
            <a:r>
              <a:t>Dr. Evelyn Reed</a:t>
            </a:r>
            <a:br/>
            <a:r>
              <a:t>Senior Strategy Consultant</a:t>
            </a:r>
            <a:br/>
            <a:r>
              <a:t>Pnyx Hill</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a:t>
            </a:r>
            <a:br/>
            <a:r>
              <a:t>Nordstrom stands at a pivotal juncture, seeking to redefine its position in the luxury retail market amidst evolving consumer preferences, intense digital competition, and dynamic economic shifts. The ambition is to fortify its legacy of unparalleled service while pioneering innovative, omnichannel experiences that drive sustainable growth and foster deeper customer loyalty.</a:t>
            </a:r>
            <a:br/>
            <a:br/>
            <a:r>
              <a:t>2. **Our Value Proposition**</a:t>
            </a:r>
            <a:br/>
            <a:r>
              <a:t>• Deep retail industry expertise combined with cutting-edge analytical capabilities.</a:t>
            </a:r>
            <a:br/>
            <a:r>
              <a:t>• A proprietary framework for identifying high-impact growth levers and operational efficiencies.</a:t>
            </a:r>
            <a:br/>
            <a:r>
              <a:t>• Commitment to a collaborative partnership, embedding Pnyx Hill's team within your organization for seamless execution.</a:t>
            </a:r>
            <a:br/>
            <a:r>
              <a:t>• Proven track record in delivering measurable, transformational results for leading global brands.</a:t>
            </a:r>
            <a:br/>
            <a:br/>
            <a:r>
              <a:t>3. **Key Project Highlights**</a:t>
            </a:r>
            <a:br/>
            <a:r>
              <a:t>• Digital Channel Optimization &amp; E-commerce Acceleration</a:t>
            </a:r>
            <a:br/>
            <a:r>
              <a:t>• Supply Chain Modernization &amp; Inventory Agility</a:t>
            </a:r>
            <a:br/>
            <a:r>
              <a:t>• Hyper-Personalized Customer Experience Design</a:t>
            </a:r>
            <a:br/>
            <a:r>
              <a:t>• Brand Portfolio Rejuvenation &amp; New Market Entry Strategy</a:t>
            </a:r>
            <a:br/>
            <a:r>
              <a:t>• Operational Efficiency &amp; Cost Optimization Initiatives</a:t>
            </a:r>
            <a:br/>
            <a:r>
              <a:t>• Future-Ready Talent &amp; Organizational Development</a:t>
            </a:r>
            <a:br/>
            <a:r>
              <a:t>• Sustainability &amp; Ethical Sourcing Framework Integration</a:t>
            </a:r>
            <a:br/>
            <a:r>
              <a:t>• Data Analytics &amp; AI-Driven Insights Implementation</a:t>
            </a:r>
            <a:br/>
            <a:br/>
            <a:r>
              <a:t>4. **Strategic Outlook**</a:t>
            </a:r>
            <a:br/>
            <a:r>
              <a:t>This proposal outlines a phased, actionable strategy designed to empower Nordstrom to achieve sustained competitive advantage, drive significant shareholder value, and secure its position as the definitive leader in luxury fashion retail for decades to come.</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luxury retail landscape is undergoing profound transformation. Nordstrom, a revered icon of customer service and curated fashion, faces a confluence of market forces: • Shifting consumer behaviors marked by increased digital adoption and a preference for experiential retail. • Intense competition from online pure-plays, fast-fashion innovators, and direct-to-consumer brands. • Macroeconomic headwinds impacting discretionary spending and traditional foot traffic patterns. While Nordstrom maintains a strong brand legacy and loyal customer base, the imperative to modernize its operational backbone, enhance its digital ecosystem, and refine its customer engagement strategies is critical to secure future growth and profitability.</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Digital Channel Optimization: Enhancing a seamless, integrated omnichannel experience. • Supply Chain Agility: Adapting to rapid inventory turns, personalized fulfillment, and reverse logistics complexities. • Customer Experience Personalization: Delivering hyper-relevant engagements across all touchpoints, from discovery to post-purchase. • Brand Portfolio Rejuvenation: Attracting younger demographics and staying relevant while retaining core high-value customers. • Operational Efficiency &amp; Cost Structure: Streamlining processes and reducing overheads without compromising premium service quality. • Data &amp; Analytics Mastery: Leveraging insights for predictive merchandising, targeted marketing, and operational decision-making.</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Enhanced Digital Market Share &amp; E-commerce Revenue Growth. • Improved Operational Profitability through Supply Chain &amp; Inventory Optimization. • Differentiated Customer Loyalty &amp; Lifetime Value via Personalized Experiences. • Agile Business Model Capable of Rapid Market Response &amp; Innovation. • Future-Proofed Talent &amp; Organizational Capabilities.</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Diagnostic &amp; Strategic Blueprint</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Rollout &amp; Performance Optimization</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a phased, insight-led methodology designed to deliver tangible, sustainable results. It emphasizes deep collaboration, data-driven analysis, and agile implementation, ensuring that every step aligns with Nordstrom's strategic vision and market realities.</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pPr/>
            <a:r>
              <a:t>Comprehensive market and competitor analysis to identify growth white spaces.</a:t>
            </a:r>
            <a:endParaRPr lang="en-AE" sz="1200" i="1" dirty="0"/>
          </a:p>
          <a:p>
            <a:pPr/>
            <a:r>
              <a:t>In-depth assessment of current digital capabilities, supply chain, and customer experience frameworks.</a:t>
            </a:r>
          </a:p>
          <a:p>
            <a:pPr/>
            <a:r>
              <a:t>Stakeholder interviews and workshops to define strategic priorities and success metrics.</a:t>
            </a:r>
          </a:p>
          <a:p>
            <a:pPr/>
            <a:r>
              <a:t>Development of a detailed Strategic Blueprint and prioritized initiative roadmap.</a:t>
            </a:r>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pPr/>
            <a:r>
              <a:t>Design and pilot of key strategic initiatives (e.g., new digital features, localized CX programs).</a:t>
            </a:r>
            <a:endParaRPr lang="en-AE" sz="1200" i="1" dirty="0"/>
          </a:p>
          <a:p>
            <a:pPr/>
            <a:r>
              <a:t>Development of operating model adjustments and technology integration plans.</a:t>
            </a:r>
          </a:p>
          <a:p>
            <a:pPr/>
            <a:r>
              <a:t>Capability building and training programs for internal teams.</a:t>
            </a:r>
          </a:p>
          <a:p>
            <a:pPr/>
            <a:r>
              <a:t>Refinement of solutions based on pilot results and stakeholder feedback.</a:t>
            </a:r>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pPr/>
            <a:r>
              <a:t>Scaled rollout of validated solutions across relevant channels and geographies.</a:t>
            </a:r>
            <a:endParaRPr lang="en-AE" sz="1200" i="1" dirty="0"/>
          </a:p>
          <a:p>
            <a:pPr/>
            <a:r>
              <a:t>Establishment of robust performance tracking metrics and dashboards.</a:t>
            </a:r>
          </a:p>
          <a:p>
            <a:pPr/>
            <a:r>
              <a:t>Continuous optimization and iterative improvements based on real-time data and market feedback.</a:t>
            </a:r>
          </a:p>
          <a:p>
            <a:pPr/>
            <a:r>
              <a:t>Knowledge transfer and embedding of new capabilities within Nordstrom's organizational structure.</a:t>
            </a:r>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Digital Growth Strategy: Formulating a comprehensive plan for e-commerce acceleration, platform enhancement, and omnichannel integration. </a:t>
            </a:r>
            <a:endParaRPr dirty="0"/>
          </a:p>
          <a:p>
            <a:pPr/>
            <a:r>
              <a:t>Customer Experience Innovation: Designing hyper-personalized journeys, loyalty programs, and in-store engagements that differentiate the brand. </a:t>
            </a:r>
          </a:p>
          <a:p>
            <a:pPr/>
            <a:r>
              <a:t>Brand &amp; Portfolio Optimization: Assessing current brand relevance and identifying opportunities for new category entry or brand refresh. </a:t>
            </a:r>
          </a:p>
          <a:p>
            <a:pPr/>
            <a:r>
              <a:t>Market &amp; Competitive Intelligence: Providing deep insights into emerging trends, consumer shifts, and competitor strategies.</a:t>
            </a:r>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Operating Model Design: Reimagining organizational structures and governance for agile execution across omnichannel. </a:t>
            </a:r>
            <a:endParaRPr dirty="0"/>
          </a:p>
          <a:p>
            <a:pPr/>
            <a:r>
              <a:t>Supply Chain Transformation: Optimizing logistics, inventory management, and fulfillment to enhance speed and cost-efficiency. </a:t>
            </a:r>
          </a:p>
          <a:p>
            <a:pPr/>
            <a:r>
              <a:t>Technology &amp; Data Architecture Roadmap: Defining the future-state technology stack and data infrastructure to support digital growth. </a:t>
            </a:r>
          </a:p>
          <a:p>
            <a:pPr/>
            <a:r>
              <a:t>Change Management &amp; Capability Building: Developing programs to embed new skills and foster a culture of innovation.</a:t>
            </a:r>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Performance Tracking &amp; Analytics: Establishing KPIs, dashboards, and regular review cycles to monitor progress and identify areas for adjustment. </a:t>
            </a:r>
            <a:endParaRPr dirty="0"/>
          </a:p>
          <a:p>
            <a:pPr/>
            <a:r>
              <a:t>Executive Advisory &amp; Coaching: Providing senior leadership with strategic counsel and thought partnership on critical decisions. </a:t>
            </a:r>
          </a:p>
          <a:p>
            <a:pPr/>
            <a:r>
              <a:t>Post-Implementation Review &amp; Optimization: Ensuring sustained value creation and continuous improvement of deployed solutions. </a:t>
            </a:r>
          </a:p>
          <a:p>
            <a:pPr/>
            <a:r>
              <a:t>Future Trend Scanning: Proactive identification of emerging retail trends and potential strategic implications for Nordstrom.</a:t>
            </a:r>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Digital &amp; Omnichannel Growth Playbook</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Customer Experience Innovation Blueprint</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pPr/>
            <a:r>
              <a:t>Comprehensive Omnichannel Strategy Roadmap with prioritized initiatives.</a:t>
            </a:r>
            <a:endParaRPr lang="en-AE" sz="1200" i="1" dirty="0"/>
          </a:p>
          <a:p>
            <a:pPr/>
            <a:r>
              <a:t>Detailed E-commerce Platform Enhancement Plan and feature specifications.</a:t>
            </a:r>
          </a:p>
          <a:p>
            <a:pPr/>
            <a:r>
              <a:t>Digital Marketing and Customer Acquisition Strategy.</a:t>
            </a:r>
          </a:p>
          <a:p>
            <a:pPr/>
            <a:r>
              <a:t>Framework for assessing and optimizing digital channel performance.</a:t>
            </a:r>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pPr/>
            <a:r>
              <a:t>Detailed customer journey maps for key segments.</a:t>
            </a:r>
            <a:endParaRPr lang="en-AE" sz="1200" i="1" dirty="0"/>
          </a:p>
          <a:p>
            <a:pPr/>
            <a:r>
              <a:t>Strategic recommendations for loyalty program enhancements and personalization engines.</a:t>
            </a:r>
          </a:p>
          <a:p>
            <a:pPr/>
            <a:r>
              <a:t>Design concepts for innovative in-store experiences and services.</a:t>
            </a:r>
          </a:p>
          <a:p>
            <a:pPr/>
            <a:r>
              <a:t>KPI framework for measuring customer satisfaction and engagement.</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Future-Ready Talent &amp; Organization Strategy</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Operational Efficiency &amp; Supply Chain Modernization Framework</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pPr/>
            <a:r>
              <a:t>End-to-end supply chain optimization recommendations (e.g., warehousing, last-mile delivery).</a:t>
            </a:r>
            <a:endParaRPr lang="en-US" sz="1200" i="1" dirty="0"/>
          </a:p>
          <a:p>
            <a:pPr/>
            <a:r>
              <a:t>Inventory management best practices and technology adoption plan.</a:t>
            </a:r>
          </a:p>
          <a:p>
            <a:pPr/>
            <a:r>
              <a:t>Detailed cost reduction initiatives and efficiency improvement roadmap.</a:t>
            </a:r>
          </a:p>
          <a:p>
            <a:pPr/>
            <a:r>
              <a:t>Metrics and dashboards for ongoing operational performance monitoring.</a:t>
            </a:r>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pPr/>
            <a:r>
              <a:t>Comprehensive skill gap analysis and future workforce requirements.</a:t>
            </a:r>
            <a:endParaRPr lang="en-AE" sz="1200" i="1" dirty="0"/>
          </a:p>
          <a:p>
            <a:pPr/>
            <a:r>
              <a:t>Recommendations for organizational structure and talent acquisition strategies.</a:t>
            </a:r>
          </a:p>
          <a:p>
            <a:pPr/>
            <a:r>
              <a:t>Design of targeted learning &amp; development programs for critical roles.</a:t>
            </a:r>
          </a:p>
          <a:p>
            <a:pPr/>
            <a:r>
              <a:t>Implementation plan for fostering a culture of agility and continuous learning.</a:t>
            </a:r>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