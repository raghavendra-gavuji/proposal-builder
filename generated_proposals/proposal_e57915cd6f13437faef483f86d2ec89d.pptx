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Operational Excellence Partnership Proposal</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Strategic Growth &amp; Operational Excellence Partnership Proposal</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Company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Team, </a:t>
            </a:r>
            <a:br/>
            <a:br/>
            <a:r>
              <a:t>Pnyx Hill is pleased to present this proposal outlining our strategic partnership to accelerate your growth and enhance operational efficiency. We understand the dynamic challenges and opportunities facing your business, and our tailored approach is designed to deliver clear, actionable strategies and measurable impact. We are committed to fostering a collaborative relationship, leveraging our expertise to support your vision and achieve sustainable success. We look forward to discussing this further and embarking on this transformative journey together.</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Pnyx Hill's strategic partnership to empower your organization with a robust growth framework and optimized operations. Our engagement will focus on identifying core opportunities, addressing critical challenges, and developing actionable strategies for sustained market leadership. We propose a phased approach, encompassing comprehensive analysis, strategic planning, and implementation support, ensuring tangible outcomes and long-term value creation. Our goal is to provide clarity, drive efficiency, and position your company for future success.</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Your organization operates in a competitive market, facing evolving customer demands and technological shifts. While demonstrating significant potential, there's an imperative to refine strategic direction, optimize internal processes, and potentially explore new avenues for expansion. Maximizing existing strengths and addressing emerging challenges are key to unlocking the next phase of growth and solidifying market position. Our partnership aims to navigate this complexity with clarity and precision.</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delivers unparalleled strategic clarity and actionable solutions. We offer: </a:t>
            </a:r>
            <a:br/>
            <a:br/>
            <a:r>
              <a:t>*   **Expert Insights:** Leverage deep industry knowledge and analytical rigor.</a:t>
            </a:r>
            <a:br/>
            <a:r>
              <a:t>*   **Tailored Strategies:** Custom solutions designed for your unique business context.</a:t>
            </a:r>
            <a:br/>
            <a:r>
              <a:t>*   **Measurable Impact:** Focus on outcomes that drive tangible business value.</a:t>
            </a:r>
            <a:br/>
            <a:r>
              <a:t>*   **Collaborative Partnership:** Work alongside your team for sustainable success.</a:t>
            </a:r>
            <a:br/>
            <a:r>
              <a:t>*   **Operational Excellence:** Streamline processes for enhanced efficiency and profitability.</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**Strategic Vision Alignment:** Define clear objectives and a roadmap for growth.</a:t>
            </a:r>
            <a:br/>
            <a:r>
              <a:t>*   **Operational Optimization:** Identify and implement efficiencies across key functions.</a:t>
            </a:r>
            <a:br/>
            <a:r>
              <a:t>*   **Market Opportunity Assessment:** Uncover new revenue streams and competitive advantages.</a:t>
            </a:r>
            <a:br/>
            <a:r>
              <a:t>*   **Organizational Enablement:** Empower your team with tools and capabilities for execution.</a:t>
            </a:r>
            <a:br/>
            <a:r>
              <a:t>*   **Risk Mitigation &amp; Resilience:** Develop strategies to navigate future uncertainties.</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   Navigating market disruption and competitive pressures.</a:t>
            </a:r>
            <a:br/>
            <a:r>
              <a:t>*   Optimizing resource allocation for maximum impact.</a:t>
            </a:r>
            <a:br/>
            <a:r>
              <a:t>*   Scaling operations efficiently while maintaining quality.</a:t>
            </a:r>
            <a:br/>
            <a:r>
              <a:t>*   Identifying and capturing new growth opportunities.</a:t>
            </a:r>
            <a:br/>
            <a:r>
              <a:t>*   Enhancing organizational agility and innovation capacity.</a:t>
            </a:r>
            <a:br/>
            <a:r>
              <a:t>*   Aligning internal capabilities with external market demands.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approach is built on a foundation of data-driven insights, collaborative engagement, and practical execution. We combine rigorous analysis with deep industry expertise to craft strategies that are not only visionary but also actionable. We believe in working hand-in-hand with your team, fostering knowledge transfer, and ensuring sustainable impact beyond the project's conclusion. Our methodology emphasizes discovery, design, and delivery, ensuring a comprehensive and effective solution.</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Discovery &amp; Diagnosis**</a:t>
            </a:r>
            <a:br/>
            <a:br/>
            <a:r>
              <a:t>This initial phase involves a deep dive into your current business landscape. We will conduct comprehensive data collection, stakeholder interviews, and market analysis to fully understand your operations, challenges, and opportunities. The objective is to establish a clear baseline and identify key areas for strategic intervention and improvement, ensuring a shared understanding of the project's scope and objectives.</a:t>
            </a:r>
            <a:br/>
            <a:br/>
            <a:r>
              <a:t>*   Current state assessment</a:t>
            </a:r>
            <a:br/>
            <a:r>
              <a:t>*   Market and competitive analysis</a:t>
            </a:r>
            <a:br/>
            <a:r>
              <a:t>*   Key stakeholder interviews</a:t>
            </a:r>
            <a:br/>
            <a:r>
              <a:t>*   Opportunity and challenge identification</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Development &amp; Blueprinting**</a:t>
            </a:r>
            <a:br/>
            <a:br/>
            <a:r>
              <a:t>Building on the insights from Phase 1, we will co-create a tailored strategic blueprint. This phase focuses on developing specific recommendations, growth initiatives, and operational enhancements. We will define clear objectives, key performance indicators (KPIs), and a roadmap for execution, ensuring the strategy is practical, aligned with your vision, and designed for measurable results.</a:t>
            </a:r>
            <a:br/>
            <a:br/>
            <a:r>
              <a:t>*   Strategic recommendations development</a:t>
            </a:r>
            <a:br/>
            <a:r>
              <a:t>*   Growth initiative design</a:t>
            </a:r>
            <a:br/>
            <a:r>
              <a:t>*   Operational improvement planning</a:t>
            </a:r>
            <a:br/>
            <a:r>
              <a:t>*   Roadmap and KPI definition</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Implementation Support &amp; Monitoring**</a:t>
            </a:r>
            <a:br/>
            <a:br/>
            <a:r>
              <a:t>In this final phase, Pnyx Hill will provide guidance and support during the execution of the developed strategies. This includes assisting with pilot programs, developing implementation plans, and establishing monitoring frameworks to track progress and ensure successful adoption. We will work to embed new processes and capabilities within your organization, ensuring long-term sustainability and continuous improvement. </a:t>
            </a:r>
            <a:br/>
            <a:br/>
            <a:r>
              <a:t>*   Implementation plan assistance</a:t>
            </a:r>
            <a:br/>
            <a:r>
              <a:t>*   Performance monitoring and reporting</a:t>
            </a:r>
            <a:br/>
            <a:r>
              <a:t>*   Change management support</a:t>
            </a:r>
            <a:br/>
            <a:r>
              <a:t>*   Capability building and training</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   Market Entry &amp; Expansion Strategy</a:t>
            </a:r>
            <a:br/>
            <a:r>
              <a:rPr sz="1800"/>
              <a:t>*   Business Model Innovation</a:t>
            </a:r>
            <a:br/>
            <a:r>
              <a:rPr sz="1800"/>
              <a:t>*   Competitive Analysis &amp; Positioning</a:t>
            </a:r>
            <a:br/>
            <a:r>
              <a:rPr sz="1800"/>
              <a:t>*   Organizational Design &amp; Alignment</a:t>
            </a:r>
            <a:br/>
            <a:r>
              <a:rPr sz="1800"/>
              <a:t>*   Digital Transformation Roadmapping</a:t>
            </a:r>
            <a:br/>
            <a:r>
              <a:rPr sz="1800"/>
              <a:t>*   Strategic Planning &amp; Facilitation</a:t>
            </a:r>
            <a:br/>
            <a:r>
              <a:rPr sz="1800"/>
              <a:t>*   Growth Strategy Development</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   Market Entry &amp; Expansion Strategy</a:t>
            </a:r>
            <a:br/>
            <a:r>
              <a:t>*   Business Model Innovation</a:t>
            </a:r>
            <a:br/>
            <a:r>
              <a:t>*   Competitive Analysis &amp; Positioning</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   **Workshop Facilitation:** Engaging sessions for collaborative problem-solving.</a:t>
            </a:r>
            <a:br/>
            <a:r>
              <a:t>*   **Data Analytics &amp; Modeling:** Fact-based insights for informed decision-making.</a:t>
            </a:r>
            <a:br/>
            <a:r>
              <a:t>*   **Frameworks &amp; Methodologies:** Proven tools for structured analysis and planning.</a:t>
            </a:r>
            <a:br/>
            <a:r>
              <a:t>*   **Stakeholder Engagement:** Ensuring alignment and buy-in across the organization.</a:t>
            </a:r>
            <a:br/>
            <a:r>
              <a:t>*   **Project Management Oversight:** Ensuring timely and effective execution.</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Detailed Strategic Plan Document</a:t>
            </a:r>
            <a:br/>
            <a:r>
              <a:t>*   Market Opportunity Assessment Report</a:t>
            </a:r>
            <a:br/>
            <a:r>
              <a:t>*   Competitor Landscape Analysis</a:t>
            </a:r>
            <a:br/>
            <a:r>
              <a:t>*   Growth Initiative Playbook</a:t>
            </a:r>
            <a:br/>
            <a:r>
              <a:t>*   Strategic Roadmap with Milestones</a:t>
            </a:r>
            <a:br/>
            <a:r>
              <a:t>*   Key Performance Indicator (KPI) Framework</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services encompass a comprehensive suite of strategic and operational advisory, designed to address your critical business needs. This includes in-depth market research, strategic planning, operational efficiency reviews, organizational design recommendations, and implementation support. We aim to provide end-to-end guidance, from conceptualization to execution, ensuring a holistic approach to achieving your business objectives. Specific details will be outlined in subsequent slides.</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**Strategic Planning &amp; Market Insight**</a:t>
            </a:r>
            <a:br/>
            <a:r>
              <a:rPr sz="2200"/>
              <a:t>*   Comprehensive Market &amp; Competitive Analysis Report</a:t>
            </a:r>
            <a:br/>
            <a:r>
              <a:rPr sz="2200"/>
              <a:t>*   Future State Vision &amp; Strategic Objectives Document</a:t>
            </a:r>
            <a:br/>
            <a:r>
              <a:rPr sz="2200"/>
              <a:t>*   3-5 Year Strategic Roadmap</a:t>
            </a:r>
            <a:br/>
            <a:r>
              <a:rPr sz="2200"/>
              <a:t>*   SWOT/PESTLE Analysis Report</a:t>
            </a:r>
            <a:br/>
            <a:br/>
            <a:r>
              <a:rPr sz="2200"/>
              <a:t>**Operational Efficiency**</a:t>
            </a:r>
            <a:br/>
            <a:r>
              <a:rPr sz="2200"/>
              <a:t>*   Current State Process Mapping</a:t>
            </a:r>
            <a:br/>
            <a:r>
              <a:rPr sz="2200"/>
              <a:t>*   Efficiency Improvement Recommendations</a:t>
            </a:r>
            <a:br/>
            <a:r>
              <a:rPr sz="2200"/>
              <a:t>*   Cost Optimization Strategies</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**Organizational &amp; Capability Building**</a:t>
            </a:r>
            <a:br/>
            <a:r>
              <a:rPr sz="2200"/>
              <a:t>*   Organizational Structure Review &amp; Recommendations</a:t>
            </a:r>
            <a:br/>
            <a:r>
              <a:rPr sz="2200"/>
              <a:t>*   Talent Strategy &amp; Development Plan (High-Level)</a:t>
            </a:r>
            <a:br/>
            <a:r>
              <a:rPr sz="2200"/>
              <a:t>*   Change Management Toolkit &amp; Guidance</a:t>
            </a:r>
            <a:br/>
            <a:r>
              <a:rPr sz="2200"/>
              <a:t>*   Internal Communication Strategy (High-Level)</a:t>
            </a:r>
            <a:br/>
            <a:br/>
            <a:r>
              <a:rPr sz="2200"/>
              <a:t>**Growth &amp; Innovation**</a:t>
            </a:r>
            <a:br/>
            <a:r>
              <a:rPr sz="2200"/>
              <a:t>*   New Product/Service Opportunity Assessment</a:t>
            </a:r>
            <a:br/>
            <a:r>
              <a:rPr sz="2200"/>
              <a:t>*   Go-to-Market Strategy Framework</a:t>
            </a:r>
            <a:br/>
            <a:r>
              <a:rPr sz="2200"/>
              <a:t>*   Digital Transformation Feasibility Study</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**Financial Performance &amp; Sustainability**</a:t>
            </a:r>
            <a:br/>
            <a:r>
              <a:rPr sz="2200"/>
              <a:t>*   Financial Impact Assessment of Proposed Strategies</a:t>
            </a:r>
            <a:br/>
            <a:r>
              <a:rPr sz="2200"/>
              <a:t>*   Key Metric &amp; Performance Dashboard Design</a:t>
            </a:r>
            <a:br/>
            <a:r>
              <a:rPr sz="2200"/>
              <a:t>*   Risk Assessment &amp; Mitigation Plan</a:t>
            </a:r>
            <a:br/>
            <a:br/>
            <a:r>
              <a:rPr sz="2200"/>
              <a:t>**Implementation &amp; Monitoring**</a:t>
            </a:r>
            <a:br/>
            <a:r>
              <a:rPr sz="2200"/>
              <a:t>*   Project Management Framework for Execution</a:t>
            </a:r>
            <a:br/>
            <a:r>
              <a:rPr sz="2200"/>
              <a:t>*   Regular Progress Reviews &amp; Steering Committee Meetings</a:t>
            </a:r>
            <a:br/>
            <a:r>
              <a:rPr sz="2200"/>
              <a:t>*   Post-Implementation Review Template</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**Investor Deck Outline &amp; Content Guidance:** Crafting a compelling story.</a:t>
            </a:r>
            <a:br/>
            <a:r>
              <a:t>*   **Financial Model Review &amp; Refinement:** Ensuring robustness and accuracy.</a:t>
            </a:r>
            <a:br/>
            <a:r>
              <a:t>*   **Market Sizing &amp; TAM Analysis:** Quantifying opportunity for investors.</a:t>
            </a:r>
            <a:br/>
            <a:r>
              <a:t>*   **Competitive Landscape &amp; Moats Analysis:** Highlighting differentiators.</a:t>
            </a:r>
            <a:br/>
            <a:r>
              <a:t>*   **Growth Projections &amp; Assumptions Document:** Supporting narrative with data.</a:t>
            </a:r>
            <a:br/>
            <a:r>
              <a:t>*   **Strategic Narrative Development:** Articulating your vision clearly.</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Pnyx Hill offers flexible additional support tailored to evolving needs. This can include targeted workshops on specific topics, deeper dives into particular operational challenges, or specialized analyses on new market trends. Our aim is to provide continuity and adapt our expertise to ensure ongoing success and address any unforeseen requirements. This agile approach ensures maximum value for your investment.</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   Post-project strategic check-ins (e.g., quarterly for 6 months)</a:t>
            </a:r>
            <a:br/>
            <a:r>
              <a:t>*   Ad-hoc advisory calls for critical decision points</a:t>
            </a:r>
            <a:br/>
            <a:r>
              <a:t>*   Access to Pnyx Hill knowledge resources and industry insights</a:t>
            </a:r>
            <a:br/>
            <a:r>
              <a:t>*   Guidance on new market developments or regulatory changes</a:t>
            </a:r>
            <a:br/>
            <a:r>
              <a:t>*   Facilitation of leadership team off-sites or workshops</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Pnyx Hill’s fees are structured to reflect the value delivered and the scope of our engagement. A detailed fee schedule, including project costs, payment milestones, and any applicable expenses, will be provided in a separate Appendix A document. We typically operate on a fixed-fee basis for defined project scopes or a retainer for ongoing advisory. All terms are negotiable to align with your budgetary considerations and project requirements. Our goal is a transparent and mutually beneficial partnership.</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