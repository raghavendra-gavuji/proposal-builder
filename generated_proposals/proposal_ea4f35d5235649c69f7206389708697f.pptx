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C_67BD7D32.xml" ContentType="application/vnd.ms-powerpoint.comments+xml"/>
  <Override PartName="/ppt/comments/modernComment_111_108070A8.xml" ContentType="application/vnd.ms-powerpoint.comments+xml"/>
  <Override PartName="/ppt/comments/modernComment_113_6C4C06CD.xml" ContentType="application/vnd.ms-powerpoint.comments+xml"/>
  <Override PartName="/ppt/comments/modernComment_115_533C195E.xml" ContentType="application/vnd.ms-powerpoint.comments+xml"/>
  <Override PartName="/ppt/comments/modernComment_116_AC0BC3C6.xml" ContentType="application/vnd.ms-powerpoint.comments+xml"/>
  <Override PartName="/ppt/comments/modernComment_11A_A187FA2C.xml" ContentType="application/vnd.ms-powerpoint.comments+xml"/>
  <Override PartName="/ppt/comments/modernComment_123_9AC6C2B1.xml" ContentType="application/vnd.ms-powerpoint.comments+xml"/>
  <Override PartName="/ppt/comments/modernComment_126_6FA9A266.xml" ContentType="application/vnd.ms-powerpoint.comments+xml"/>
  <Override PartName="/ppt/comments/modernComment_127_C5CEB322.xml" ContentType="application/vnd.ms-powerpoint.comments+xml"/>
  <Override PartName="/ppt/comments/modernComment_128_13306241.xml" ContentType="application/vnd.ms-powerpoint.comments+xml"/>
  <Override PartName="/ppt/comments/modernComment_129_5631A1E9.xml" ContentType="application/vnd.ms-powerpoint.comments+xml"/>
  <Override PartName="/ppt/comments/modernComment_12A_7C6C6B90.xml" ContentType="application/vnd.ms-powerpoint.comments+xml"/>
  <Override PartName="/ppt/comments/modernComment_12F_650905AD.xml" ContentType="application/vnd.ms-powerpoint.comments+xml"/>
  <Override PartName="/ppt/comments/modernComment_131_8B4BAE92.xml" ContentType="application/vnd.ms-powerpoint.comments+xml"/>
  <Override PartName="/ppt/comments/modernComment_132_61484B9B.xml" ContentType="application/vnd.ms-powerpoint.comments+xml"/>
  <Override PartName="/ppt/comments/modernComment_134_844B3DA2.xml" ContentType="application/vnd.ms-powerpoint.comments+xml"/>
  <Override PartName="/ppt/comments/modernComment_137_CB7797F8.xml" ContentType="application/vnd.ms-powerpoint.comments+xml"/>
  <Override PartName="/ppt/comments/modernComment_138_47944A00.xml" ContentType="application/vnd.ms-powerpoint.comments+xml"/>
  <Override PartName="/ppt/comments/modernComment_139_5878859C.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12" r:id="rId22"/>
    <p:sldId id="313" r:id="rId23"/>
    <p:sldId id="290" r:id="rId24"/>
    <p:sldId id="291" r:id="rId25"/>
    <p:sldId id="311" r:id="rId26"/>
    <p:sldId id="294" r:id="rId27"/>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94596"/>
  </p:normalViewPr>
  <p:slideViewPr>
    <p:cSldViewPr snapToGrid="0">
      <p:cViewPr varScale="1">
        <p:scale>
          <a:sx n="78" d="100"/>
          <a:sy n="78" d="100"/>
        </p:scale>
        <p:origin x="12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8/10/relationships/authors" Target="authors.xml"/></Relationships>
</file>

<file path=ppt/comments/modernComment_10C_67BD7D32.xml><?xml version="1.0" encoding="utf-8"?>
<p188:cmLst xmlns:a="http://schemas.openxmlformats.org/drawingml/2006/main" xmlns:r="http://schemas.openxmlformats.org/officeDocument/2006/relationships" xmlns:p188="http://schemas.microsoft.com/office/powerpoint/2018/8/main">
  <p188:cm id="{80FAF5F0-6134-494F-A1F5-3740EFD815A4}" authorId="{6E16A83C-777C-0DF7-390D-AA7C1A28FF00}" created="2025-06-09T12:36:19.207">
    <pc:sldMkLst xmlns:pc="http://schemas.microsoft.com/office/powerpoint/2013/main/command">
      <pc:docMk/>
      <pc:sldMk cId="1740471602" sldId="268"/>
    </pc:sldMkLst>
    <p188:txBody>
      <a:bodyPr/>
      <a:lstStyle/>
      <a:p>
        <a:r>
          <a:rPr lang="en-AE"/>
          <a:t>Constant - same for all proposals</a:t>
        </a:r>
      </a:p>
    </p188:txBody>
  </p188:cm>
</p188:cmLst>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2A_7C6C6B90.xml><?xml version="1.0" encoding="utf-8"?>
<p188:cmLst xmlns:a="http://schemas.openxmlformats.org/drawingml/2006/main" xmlns:r="http://schemas.openxmlformats.org/officeDocument/2006/relationships" xmlns:p188="http://schemas.microsoft.com/office/powerpoint/2018/8/main">
  <p188:cm id="{355D80ED-E527-40D4-AF92-3067EB60E3C0}" authorId="{6E16A83C-777C-0DF7-390D-AA7C1A28FF00}" created="2025-06-09T12:37:30.359">
    <pc:sldMkLst xmlns:pc="http://schemas.microsoft.com/office/powerpoint/2013/main/command">
      <pc:docMk/>
      <pc:sldMk cId="2087480208" sldId="298"/>
    </pc:sldMkLst>
    <p188:txBody>
      <a:bodyPr/>
      <a:lstStyle/>
      <a:p>
        <a:r>
          <a:rPr lang="en-AE"/>
          <a:t>Constant - same for all proposals</a:t>
        </a:r>
      </a:p>
    </p188:txBody>
  </p188:cm>
</p188:cmLst>
</file>

<file path=ppt/comments/modernComment_12F_650905AD.xml><?xml version="1.0" encoding="utf-8"?>
<p188:cmLst xmlns:a="http://schemas.openxmlformats.org/drawingml/2006/main" xmlns:r="http://schemas.openxmlformats.org/officeDocument/2006/relationships" xmlns:p188="http://schemas.microsoft.com/office/powerpoint/2018/8/main">
  <p188:cm id="{2F52647D-169D-445A-9918-4BA8F32F902A}" authorId="{6E16A83C-777C-0DF7-390D-AA7C1A28FF00}" created="2025-06-09T12:38:01.323">
    <pc:sldMkLst xmlns:pc="http://schemas.microsoft.com/office/powerpoint/2013/main/command">
      <pc:docMk/>
      <pc:sldMk cId="1695090093" sldId="303"/>
    </pc:sldMkLst>
    <p188:txBody>
      <a:bodyPr/>
      <a:lstStyle/>
      <a:p>
        <a:r>
          <a:rPr lang="en-AE"/>
          <a:t>Now what services we can offer the client will start</a:t>
        </a:r>
      </a:p>
    </p188:txBody>
  </p188:cm>
</p188:cmLst>
</file>

<file path=ppt/comments/modernComment_111_108070A8.xml><?xml version="1.0" encoding="utf-8"?>
<p188:cmLst xmlns:a="http://schemas.openxmlformats.org/drawingml/2006/main" xmlns:r="http://schemas.openxmlformats.org/officeDocument/2006/relationships" xmlns:p188="http://schemas.microsoft.com/office/powerpoint/2018/8/main">
  <p188:cm id="{45821E47-141C-441D-84AA-31DEAC93FBA6}" authorId="{6E16A83C-777C-0DF7-390D-AA7C1A28FF00}" created="2025-06-09T12:34:12.822">
    <pc:sldMkLst xmlns:pc="http://schemas.microsoft.com/office/powerpoint/2013/main/command">
      <pc:docMk/>
      <pc:sldMk cId="276852904" sldId="273"/>
    </pc:sldMkLst>
    <p188:txBody>
      <a:bodyPr/>
      <a:lstStyle/>
      <a:p>
        <a:r>
          <a:rPr lang="en-AE"/>
          <a:t>Constant - just the client name will be changed</a:t>
        </a:r>
      </a:p>
    </p188:txBody>
  </p188:cm>
</p188:cmLst>
</file>

<file path=ppt/comments/modernComment_113_6C4C06CD.xml><?xml version="1.0" encoding="utf-8"?>
<p188:cmLst xmlns:a="http://schemas.openxmlformats.org/drawingml/2006/main" xmlns:r="http://schemas.openxmlformats.org/officeDocument/2006/relationships" xmlns:p188="http://schemas.microsoft.com/office/powerpoint/2018/8/main">
  <p188:cm id="{4746C2AD-64A1-49E9-86CB-844C69B88B43}" authorId="{6E16A83C-777C-0DF7-390D-AA7C1A28FF00}" created="2025-06-09T12:36:53.811">
    <pc:sldMkLst xmlns:pc="http://schemas.microsoft.com/office/powerpoint/2013/main/command">
      <pc:docMk/>
      <pc:sldMk cId="1816921805" sldId="275"/>
    </pc:sldMkLst>
    <p188:txBody>
      <a:bodyPr/>
      <a:lstStyle/>
      <a:p>
        <a:r>
          <a:rPr lang="en-AE"/>
          <a:t>Constant - same for all proposals</a:t>
        </a:r>
      </a:p>
    </p188:txBody>
  </p188:cm>
</p188:cmLst>
</file>

<file path=ppt/comments/modernComment_115_533C195E.xml><?xml version="1.0" encoding="utf-8"?>
<p188:cmLst xmlns:a="http://schemas.openxmlformats.org/drawingml/2006/main" xmlns:r="http://schemas.openxmlformats.org/officeDocument/2006/relationships" xmlns:p188="http://schemas.microsoft.com/office/powerpoint/2018/8/main">
  <p188:cm id="{25958F6A-A454-4636-89C2-73509F10A7AE}" authorId="{6E16A83C-777C-0DF7-390D-AA7C1A28FF00}" created="2025-06-09T12:39:13.110">
    <pc:sldMkLst xmlns:pc="http://schemas.microsoft.com/office/powerpoint/2013/main/command">
      <pc:docMk/>
      <pc:sldMk cId="1396447582" sldId="277"/>
    </pc:sldMkLst>
    <p188:txBody>
      <a:bodyPr/>
      <a:lstStyle/>
      <a:p>
        <a:r>
          <a:rPr lang="en-AE"/>
          <a:t>This slide covers - what we understood (scope, challenges and what outcomes that require)- subject to change as per client</a:t>
        </a:r>
      </a:p>
    </p188:txBody>
  </p188:cm>
</p188:cmLst>
</file>

<file path=ppt/comments/modernComment_116_AC0BC3C6.xml><?xml version="1.0" encoding="utf-8"?>
<p188:cmLst xmlns:a="http://schemas.openxmlformats.org/drawingml/2006/main" xmlns:r="http://schemas.openxmlformats.org/officeDocument/2006/relationships" xmlns:p188="http://schemas.microsoft.com/office/powerpoint/2018/8/main">
  <p188:cm id="{2F3F02F0-182C-4017-8BCF-F8716B9955FB}" authorId="{6E16A83C-777C-0DF7-390D-AA7C1A28FF00}" created="2025-06-09T12:37:00.060">
    <pc:sldMkLst xmlns:pc="http://schemas.microsoft.com/office/powerpoint/2013/main/command">
      <pc:docMk/>
      <pc:sldMk cId="2886452166" sldId="278"/>
    </pc:sldMkLst>
    <p188:txBody>
      <a:bodyPr/>
      <a:lstStyle/>
      <a:p>
        <a:r>
          <a:rPr lang="en-AE"/>
          <a:t>Constant - same for all proposals</a:t>
        </a:r>
      </a:p>
    </p188:txBody>
  </p188:cm>
</p188:cmLst>
</file>

<file path=ppt/comments/modernComment_123_9AC6C2B1.xml><?xml version="1.0" encoding="utf-8"?>
<p188:cmLst xmlns:a="http://schemas.openxmlformats.org/drawingml/2006/main" xmlns:r="http://schemas.openxmlformats.org/officeDocument/2006/relationships" xmlns:p188="http://schemas.microsoft.com/office/powerpoint/2018/8/main">
  <p188:cm id="{02F3E655-0535-4834-8871-97CFCFFD9933}" authorId="{6E16A83C-777C-0DF7-390D-AA7C1A28FF00}" created="2025-06-09T12:49:22.660">
    <pc:sldMkLst xmlns:pc="http://schemas.microsoft.com/office/powerpoint/2013/main/command">
      <pc:docMk/>
      <pc:sldMk cId="2596717233" sldId="291"/>
    </pc:sldMkLst>
    <p188:txBody>
      <a:bodyPr/>
      <a:lstStyle/>
      <a:p>
        <a:r>
          <a:rPr lang="en-AE"/>
          <a:t>Additional services recommendation as part of upselling - subject to change as per client</a:t>
        </a:r>
      </a:p>
    </p188:txBody>
  </p188:cm>
</p188:cmLst>
</file>

<file path=ppt/comments/modernComment_126_6FA9A266.xml><?xml version="1.0" encoding="utf-8"?>
<p188:cmLst xmlns:a="http://schemas.openxmlformats.org/drawingml/2006/main" xmlns:r="http://schemas.openxmlformats.org/officeDocument/2006/relationships" xmlns:p188="http://schemas.microsoft.com/office/powerpoint/2018/8/main">
  <p188:cm id="{DC2ABFB4-7F09-4DB9-B203-EA40BB0AC3FB}" authorId="{6E16A83C-777C-0DF7-390D-AA7C1A28FF00}" created="2025-06-09T12:51:54.707">
    <pc:sldMkLst xmlns:pc="http://schemas.microsoft.com/office/powerpoint/2013/main/command">
      <pc:docMk/>
      <pc:sldMk cId="1873388134" sldId="294"/>
    </pc:sldMkLst>
    <p188:txBody>
      <a:bodyPr/>
      <a:lstStyle/>
      <a:p>
        <a:r>
          <a:rPr lang="en-AE"/>
          <a:t>Constant - same for all clients</a:t>
        </a:r>
      </a:p>
    </p188:txBody>
  </p188:cm>
</p188:cmLst>
</file>

<file path=ppt/comments/modernComment_127_C5CEB322.xml><?xml version="1.0" encoding="utf-8"?>
<p188:cmLst xmlns:a="http://schemas.openxmlformats.org/drawingml/2006/main" xmlns:r="http://schemas.openxmlformats.org/officeDocument/2006/relationships" xmlns:p188="http://schemas.microsoft.com/office/powerpoint/2018/8/main">
  <p188:cm id="{5FC4A216-BC14-4F7E-9B50-D5EE6A3DF819}" authorId="{6E16A83C-777C-0DF7-390D-AA7C1A28FF00}" created="2025-06-09T12:37:06.313">
    <pc:sldMkLst xmlns:pc="http://schemas.microsoft.com/office/powerpoint/2013/main/command">
      <pc:docMk/>
      <pc:sldMk cId="3318657826" sldId="295"/>
    </pc:sldMkLst>
    <p188:txBody>
      <a:bodyPr/>
      <a:lstStyle/>
      <a:p>
        <a:r>
          <a:rPr lang="en-AE"/>
          <a:t>Constant - same for all proposals</a:t>
        </a:r>
      </a:p>
    </p188:txBody>
  </p188:cm>
</p188:cmLst>
</file>

<file path=ppt/comments/modernComment_128_13306241.xml><?xml version="1.0" encoding="utf-8"?>
<p188:cmLst xmlns:a="http://schemas.openxmlformats.org/drawingml/2006/main" xmlns:r="http://schemas.openxmlformats.org/officeDocument/2006/relationships" xmlns:p188="http://schemas.microsoft.com/office/powerpoint/2018/8/main">
  <p188:cm id="{4C346BDF-17B0-4BC8-B6CC-9933EA366EB6}" authorId="{6E16A83C-777C-0DF7-390D-AA7C1A28FF00}" created="2025-06-09T12:37:15.342">
    <pc:sldMkLst xmlns:pc="http://schemas.microsoft.com/office/powerpoint/2013/main/command">
      <pc:docMk/>
      <pc:sldMk cId="321937985" sldId="296"/>
    </pc:sldMkLst>
    <p188:txBody>
      <a:bodyPr/>
      <a:lstStyle/>
      <a:p>
        <a:r>
          <a:rPr lang="en-AE"/>
          <a:t>Constant - same for all proposals</a:t>
        </a:r>
      </a:p>
    </p188:txBody>
  </p188:cm>
</p188:cmLst>
</file>

<file path=ppt/comments/modernComment_129_5631A1E9.xml><?xml version="1.0" encoding="utf-8"?>
<p188:cmLst xmlns:a="http://schemas.openxmlformats.org/drawingml/2006/main" xmlns:r="http://schemas.openxmlformats.org/officeDocument/2006/relationships" xmlns:p188="http://schemas.microsoft.com/office/powerpoint/2018/8/main">
  <p188:cm id="{054BDF61-A814-4F77-B804-2A71F412AE68}" authorId="{6E16A83C-777C-0DF7-390D-AA7C1A28FF00}" created="2025-06-09T12:37:22.872">
    <pc:sldMkLst xmlns:pc="http://schemas.microsoft.com/office/powerpoint/2013/main/command">
      <pc:docMk/>
      <pc:sldMk cId="1446093289" sldId="297"/>
    </pc:sldMkLst>
    <p188:txBody>
      <a:bodyPr/>
      <a:lstStyle/>
      <a:p>
        <a:r>
          <a:rPr lang="en-AE"/>
          <a:t>Constant - same for all proposals</a:t>
        </a:r>
      </a:p>
    </p188:txBody>
  </p188:cm>
</p188:cmLst>
</file>

<file path=ppt/comments/modernComment_131_8B4BAE92.xml><?xml version="1.0" encoding="utf-8"?>
<p188:cmLst xmlns:a="http://schemas.openxmlformats.org/drawingml/2006/main" xmlns:r="http://schemas.openxmlformats.org/officeDocument/2006/relationships" xmlns:p188="http://schemas.microsoft.com/office/powerpoint/2018/8/main">
  <p188:cm id="{19BC0EE4-18C1-4881-9AC6-A1193826E73E}" authorId="{6E16A83C-777C-0DF7-390D-AA7C1A28FF00}" created="2025-06-09T12:35:38.604">
    <pc:sldMkLst xmlns:pc="http://schemas.microsoft.com/office/powerpoint/2013/main/command">
      <pc:docMk/>
      <pc:sldMk cId="2336992914" sldId="305"/>
    </pc:sldMkLst>
    <p188:txBody>
      <a:bodyPr/>
      <a:lstStyle/>
      <a:p>
        <a:r>
          <a:rPr lang="en-AE"/>
          <a:t>Basis clients brief on their requirements - a mini executive summary is added in the starting slide for them to have top-level context of what all we can offer them. 
“varies from client to client”</a:t>
        </a:r>
      </a:p>
    </p188:txBody>
  </p188:cm>
</p188:cmLst>
</file>

<file path=ppt/comments/modernComment_132_61484B9B.xml><?xml version="1.0" encoding="utf-8"?>
<p188:cmLst xmlns:a="http://schemas.openxmlformats.org/drawingml/2006/main" xmlns:r="http://schemas.openxmlformats.org/officeDocument/2006/relationships" xmlns:p188="http://schemas.microsoft.com/office/powerpoint/2018/8/main">
  <p188:cm id="{5B16E3EB-01B5-44C1-82D1-403B49335C20}" authorId="{6E16A83C-777C-0DF7-390D-AA7C1A28FF00}" created="2025-06-09T12:44:15.336">
    <pc:sldMkLst xmlns:pc="http://schemas.microsoft.com/office/powerpoint/2013/main/command">
      <pc:docMk/>
      <pc:sldMk cId="1632127899" sldId="306"/>
    </pc:sldMkLst>
    <p188:txBody>
      <a:bodyPr/>
      <a:lstStyle/>
      <a:p>
        <a:r>
          <a:rPr lang="en-AE"/>
          <a:t>This covers Pnyx hill services - subject to change as per client</a:t>
        </a:r>
      </a:p>
    </p188:txBody>
  </p188:cm>
  <p188:cm id="{6DA87781-DAF1-4006-92A4-EAF23770C7D5}" authorId="{6E16A83C-777C-0DF7-390D-AA7C1A28FF00}" created="2025-06-09T12:44:43.209">
    <pc:sldMkLst xmlns:pc="http://schemas.microsoft.com/office/powerpoint/2013/main/command">
      <pc:docMk/>
      <pc:sldMk cId="1632127899" sldId="306"/>
    </pc:sldMkLst>
    <p188:txBody>
      <a:bodyPr/>
      <a:lstStyle/>
      <a:p>
        <a:r>
          <a:rPr lang="en-AE"/>
          <a:t>This slide is build as per client scope </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7_CB7797F8.xml><?xml version="1.0" encoding="utf-8"?>
<p188:cmLst xmlns:a="http://schemas.openxmlformats.org/drawingml/2006/main" xmlns:r="http://schemas.openxmlformats.org/officeDocument/2006/relationships" xmlns:p188="http://schemas.microsoft.com/office/powerpoint/2018/8/main">
  <p188:cm id="{60B1DD41-D2BA-436F-B6D0-302A8B458BB3}" authorId="{6E16A83C-777C-0DF7-390D-AA7C1A28FF00}" created="2025-06-09T12:51:17.174">
    <ac:deMkLst xmlns:ac="http://schemas.microsoft.com/office/drawing/2013/main/command">
      <pc:docMk xmlns:pc="http://schemas.microsoft.com/office/powerpoint/2013/main/command"/>
      <pc:sldMk xmlns:pc="http://schemas.microsoft.com/office/powerpoint/2013/main/command" cId="3413612536" sldId="311"/>
      <ac:spMk id="13" creationId="{84D8A6CE-3187-9226-930C-4F60EC626DE0}"/>
    </ac:deMkLst>
    <p188:txBody>
      <a:bodyPr/>
      <a:lstStyle/>
      <a:p>
        <a:r>
          <a:rPr lang="en-AE"/>
          <a:t>Constant - same for all clients</a:t>
        </a:r>
      </a:p>
    </p188:txBody>
  </p188:cm>
</p188:cmLst>
</file>

<file path=ppt/comments/modernComment_138_47944A00.xml><?xml version="1.0" encoding="utf-8"?>
<p188:cmLst xmlns:a="http://schemas.openxmlformats.org/drawingml/2006/main" xmlns:r="http://schemas.openxmlformats.org/officeDocument/2006/relationships" xmlns:p188="http://schemas.microsoft.com/office/powerpoint/2018/8/main">
  <p188:cm id="{CD21C6A0-FC33-4F50-8364-8FC68B039DE6}"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9_5878859C.xml><?xml version="1.0" encoding="utf-8"?>
<p188:cmLst xmlns:a="http://schemas.openxmlformats.org/drawingml/2006/main" xmlns:r="http://schemas.openxmlformats.org/officeDocument/2006/relationships" xmlns:p188="http://schemas.microsoft.com/office/powerpoint/2018/8/main">
  <p188:cm id="{86AE739C-9E5F-4EF0-9779-38D33BAB8A43}"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23/09/2025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9/23/2025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9/23/2025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9/23/2025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9/23/2025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9/23/2025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9/23/2025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18/10/relationships/comments" Target="../comments/modernComment_111_108070A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microsoft.com/office/2018/10/relationships/comments" Target="../comments/modernComment_131_8B4BAE9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microsoft.com/office/2018/10/relationships/comments" Target="../comments/modernComment_10C_67BD7D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18/10/relationships/comments" Target="../comments/modernComment_113_6C4C06CD.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8/10/relationships/comments" Target="../comments/modernComment_116_AC0BC3C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18/10/relationships/comments" Target="../comments/modernComment_127_C5CEB3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18/10/relationships/comments" Target="../comments/modernComment_128_133062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microsoft.com/office/2018/10/relationships/comments" Target="../comments/modernComment_129_5631A1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microsoft.com/office/2018/10/relationships/comments" Target="../comments/modernComment_12A_7C6C6B9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microsoft.com/office/2018/10/relationships/comments" Target="../comments/modernComment_12F_650905AD.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115_533C195E.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2_61484B9B.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8_47944A00.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9_5878859C.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23_9AC6C2B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37_CB7797F8.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microsoft.com/office/2018/10/relationships/comments" Target="../comments/modernComment_126_6FA9A2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fontScale="90000"/>
          </a:bodyPr>
          <a:lstStyle/>
          <a:p>
            <a:endParaRPr lang="en-US" sz="1800" b="0" i="1" dirty="0">
              <a:effectLst/>
              <a:highlight>
                <a:srgbClr val="FFFFFF"/>
              </a:highlight>
            </a:endParaRPr>
          </a:p>
          <a:p>
            <a:r>
              <a:t>Strategic Growth &amp; Transformation Partnership: A Proposal for [Client Name]</a:t>
            </a:r>
            <a:b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4168877"/>
            <a:ext cx="6657149" cy="309264"/>
          </a:xfrm>
        </p:spPr>
        <p:txBody>
          <a:bodyPr>
            <a:noAutofit/>
          </a:bodyPr>
          <a:lstStyle/>
          <a:p>
            <a:endParaRPr sz="1000" dirty="0"/>
          </a:p>
          <a:p>
            <a:r>
              <a:rPr sz="1000"/>
              <a:t>October 26, 2023</a:t>
            </a:r>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Strategic Growth &amp; Transformation Partnership</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4815972" y="1290182"/>
            <a:ext cx="2750132" cy="830997"/>
          </a:xfrm>
          <a:prstGeom prst="rect">
            <a:avLst/>
          </a:prstGeom>
          <a:noFill/>
        </p:spPr>
        <p:txBody>
          <a:bodyPr wrap="square" rtlCol="0">
            <a:spAutoFit/>
          </a:bodyPr>
          <a:lstStyle/>
          <a:p>
            <a:endParaRPr lang="en-AE" sz="1200" dirty="0"/>
          </a:p>
          <a:p>
            <a:r>
              <a:rPr sz="1200"/>
              <a:t>Client Logo Placeholder</a:t>
            </a:r>
            <a:br/>
            <a:r>
              <a:rPr sz="1200"/>
              <a:t>Add the client’s logo here for branding personalization.</a:t>
            </a:r>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7C87B2F-DF80-D661-A17F-88481402E049}"/>
              </a:ext>
            </a:extLst>
          </p:cNvPr>
          <p:cNvSpPr>
            <a:spLocks noGrp="1" noRot="1" noMove="1" noResize="1" noEditPoints="1" noAdjustHandles="1" noChangeArrowheads="1" noChangeShapeType="1"/>
          </p:cNvSpPr>
          <p:nvPr>
            <p:ph type="sldNum" sz="quarter" idx="12"/>
          </p:nvPr>
        </p:nvSpPr>
        <p:spPr/>
        <p:txBody>
          <a:bodyPr/>
          <a:lstStyle/>
          <a:p>
            <a:endParaRPr lang="en-AE"/>
          </a:p>
          <a:p>
            <a:r>
              <a:t>Dear [Client Contact Name],</a:t>
            </a:r>
            <a:br/>
            <a:br/>
            <a:r>
              <a:t>Pnyx Hill is pleased to present this proposal outlining our comprehensive approach to partner with you in achieving your strategic objectives. We are confident that our expertise and tailored solutions will drive significant value, foster sustainable growth, and enhance your market position. We look forward to a successful collaboration.</a:t>
            </a:r>
            <a:br/>
            <a:br/>
            <a:r>
              <a:t>Sincerely,</a:t>
            </a:r>
            <a:br/>
            <a:r>
              <a:t>The Pnyx Hill Team</a:t>
            </a:r>
            <a:br/>
            <a:r>
              <a:t>Formal welcome letter personalized for the client and signed by leadership.</a:t>
            </a:r>
          </a:p>
        </p:txBody>
      </p:sp>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0" indent="0">
              <a:buNone/>
            </a:pPr>
            <a:br>
              <a:rPr sz="1200" dirty="0"/>
            </a:br>
            <a:r>
              <a:rPr lang="en-US" sz="1200" dirty="0">
                <a:solidFill/>
              </a:rPr>
              <a:t>(Write a concise, top-tier welcome note (no ChatGPT-style fluff), aligned with Big 4 tone, introducing our role in the engagement, our credentials, and expressing partnership-focused commitment. Do not use emojis, contractions, or overly casual tone. Structure it in paragraph format and keep space for sign off with CEO name and title.</a:t>
            </a:r>
          </a:p>
          <a:p>
            <a:r>
              <a:rPr lang="en-US" sz="1200" dirty="0">
                <a:solidFill/>
              </a:rPr>
              <a:t>The scope of the project is: [briefly list 1–2 lines on what the engagement is about].</a:t>
            </a:r>
          </a:p>
          <a:p>
            <a:endParaRPr sz="1200" dirty="0"/>
          </a:p>
        </p:txBody>
      </p:sp>
    </p:spTree>
    <p:extLst>
      <p:ext uri="{BB962C8B-B14F-4D97-AF65-F5344CB8AC3E}">
        <p14:creationId xmlns:p14="http://schemas.microsoft.com/office/powerpoint/2010/main" val="27685290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8EF223A-D3FC-4344-AC72-3C316D77D9A3}"/>
              </a:ext>
            </a:extLst>
          </p:cNvPr>
          <p:cNvSpPr>
            <a:spLocks noGrp="1" noRot="1" noMove="1" noResize="1" noEditPoints="1" noAdjustHandles="1" noChangeArrowheads="1" noChangeShapeType="1"/>
          </p:cNvSpPr>
          <p:nvPr>
            <p:ph type="sldNum" sz="quarter" idx="12"/>
          </p:nvPr>
        </p:nvSpPr>
        <p:spPr/>
        <p:txBody>
          <a:bodyPr/>
          <a:lstStyle/>
          <a:p>
            <a:endParaRPr lang="en-AE" dirty="0"/>
          </a:p>
          <a:p>
            <a:r>
              <a:t>This proposal outlines Pnyx Hill's strategic partnership to empower [Client Name]'s next phase of growth. We will conduct a thorough analysis of current operations and market positioning, develop a robust strategic roadmap, and implement actionable solutions. Our approach focuses on optimizing performance, leveraging competitive advantages, and ensuring investment readiness. The expected outcome is a clear path to sustainable growth and enhanced stakeholder value.</a:t>
            </a:r>
            <a:br/>
            <a:r>
              <a:t>Summary of project scope, objectives, and the value we aim to deliver.</a:t>
            </a:r>
          </a:p>
        </p:txBody>
      </p:sp>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2631490"/>
          </a:xfrm>
          <a:prstGeom prst="rect">
            <a:avLst/>
          </a:prstGeom>
          <a:noFill/>
        </p:spPr>
        <p:txBody>
          <a:bodyPr wrap="square" lIns="0" tIns="0" rIns="0" bIns="45720" rtlCol="0">
            <a:spAutoFit/>
          </a:bodyPr>
          <a:lstStyle/>
          <a:p>
            <a:pPr>
              <a:buNone/>
            </a:pPr>
            <a:endParaRPr sz="1200" dirty="0"/>
          </a:p>
          <a:p>
            <a:r>
              <a:rPr lang="en-US" sz="1200" b="1" dirty="0">
                <a:solidFill/>
              </a:rPr>
              <a:t>[We’re preparing a strategy proposal for [Client Name] - they are [brief description of the business or project]. Please write a top-tier, consulting-style executive summary slide. Structure it exactly like the sample provided below:</a:t>
            </a:r>
            <a:br>
              <a:rPr lang="en-US" sz="1200" b="1" dirty="0"/>
            </a:br>
            <a:endParaRPr lang="en-US" sz="1200" dirty="0"/>
          </a:p>
          <a:p>
            <a:r>
              <a:rPr lang="en-US" sz="1200" dirty="0">
                <a:solidFill/>
              </a:rPr>
              <a:t>1. Start with a short paragraph explaining what the client is trying to achieve.</a:t>
            </a:r>
          </a:p>
          <a:p>
            <a:r>
              <a:rPr lang="en-US" sz="1200" dirty="0">
                <a:solidFill/>
              </a:rPr>
              <a:t>2. Follow it with a second paragraph summarizing how Pnyx Hill is positioned to help (credibility + relevance).</a:t>
            </a:r>
          </a:p>
          <a:p>
            <a:r>
              <a:rPr lang="en-US" sz="1200" dirty="0">
                <a:solidFill/>
              </a:rPr>
              <a:t>3. Introduce a line that explains the scope of this proposal and our approach.</a:t>
            </a:r>
          </a:p>
          <a:p>
            <a:r>
              <a:rPr lang="en-US" sz="1200" dirty="0">
                <a:solidFill/>
              </a:rPr>
              <a:t>4. Add a 'Value Proposition' section in bullet points – 4 – 5 points max.</a:t>
            </a:r>
          </a:p>
          <a:p>
            <a:r>
              <a:rPr lang="en-US" sz="1200" dirty="0">
                <a:solidFill/>
              </a:rPr>
              <a:t>5. Then include a 'Key Project Highlights' section – 4 – 5 strong deliverables.</a:t>
            </a:r>
          </a:p>
          <a:p>
            <a:r>
              <a:rPr lang="en-US" sz="1200" dirty="0">
                <a:solidFill/>
              </a:rPr>
              <a:t>6. Close with a 1-line statement of intent or partnership.</a:t>
            </a:r>
            <a:br>
              <a:rPr lang="en-US" sz="1200" dirty="0"/>
            </a:br>
            <a:br>
              <a:rPr lang="en-US" sz="1200" dirty="0"/>
            </a:br>
            <a:endParaRPr lang="en-US" sz="1200" dirty="0"/>
          </a:p>
          <a:p>
            <a:r>
              <a:rPr lang="en-US" sz="1200" dirty="0">
                <a:solidFill/>
              </a:rPr>
              <a:t>Note: Avoid chatty tone, marketing buzzwords, or anything overly casual. Use a senior consulting tone (think PwC / McKinsey / EY level).”</a:t>
            </a:r>
          </a:p>
          <a:p>
            <a:endParaRPr sz="1200" dirty="0"/>
          </a:p>
        </p:txBody>
      </p:sp>
    </p:spTree>
    <p:extLst>
      <p:ext uri="{BB962C8B-B14F-4D97-AF65-F5344CB8AC3E}">
        <p14:creationId xmlns:p14="http://schemas.microsoft.com/office/powerpoint/2010/main" val="233699291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6" name="Slide Number Placeholder 5">
            <a:extLst>
              <a:ext uri="{FF2B5EF4-FFF2-40B4-BE49-F238E27FC236}">
                <a16:creationId xmlns:a16="http://schemas.microsoft.com/office/drawing/2014/main" id="{B6156875-049A-B4D3-53F7-305BD0E7E387}"/>
              </a:ext>
            </a:extLst>
          </p:cNvPr>
          <p:cNvSpPr>
            <a:spLocks noGrp="1" noRot="1" noMove="1" noResize="1" noEditPoints="1" noAdjustHandles="1" noChangeArrowheads="1" noChangeShapeType="1"/>
          </p:cNvSpPr>
          <p:nvPr>
            <p:ph type="sldNum" sz="quarter" idx="12"/>
          </p:nvPr>
        </p:nvSpPr>
        <p:spPr/>
        <p:txBody>
          <a:bodyPr/>
          <a:lstStyle/>
          <a:p>
            <a:endParaRPr lang="en-AE"/>
          </a:p>
          <a:p>
            <a:r>
              <a:t>In today's dynamic market, businesses face evolving challenges and opportunities. We understand the ambition to not only adapt but to lead. This engagement addresses the need for a clear strategic direction, optimized operational frameworks, and enhanced capabilities to capitalize on market potential. Our focus is on translating vision into tangible outcomes, ensuring [Client Name] is well-positioned for future success.</a:t>
            </a:r>
            <a:br/>
            <a:r>
              <a:t>Overview of client background, market ambition, and current position.</a:t>
            </a:r>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1961488-95D6-B698-8721-89C4CBA1C5A0}"/>
              </a:ext>
            </a:extLst>
          </p:cNvPr>
          <p:cNvSpPr>
            <a:spLocks noGrp="1" noRot="1" noMove="1" noResize="1" noEditPoints="1" noAdjustHandles="1" noChangeArrowheads="1" noChangeShapeType="1"/>
          </p:cNvSpPr>
          <p:nvPr>
            <p:ph type="sldNum" sz="quarter" idx="12"/>
          </p:nvPr>
        </p:nvSpPr>
        <p:spPr/>
        <p:txBody>
          <a:bodyPr/>
          <a:lstStyle/>
          <a:p>
            <a:endParaRPr lang="en-AE"/>
          </a:p>
          <a:p>
            <a:r>
              <a:t>Pnyx Hill brings unparalleled strategic expertise, data-driven insights, and a proven methodology. We offer:</a:t>
            </a:r>
            <a:br/>
            <a:r>
              <a:t>*   Tailored Solutions: Strategies customized to your unique challenges and goals.</a:t>
            </a:r>
            <a:br/>
            <a:r>
              <a:t>*   Actionable Roadmaps: Practical steps for implementation and sustainable growth.</a:t>
            </a:r>
            <a:br/>
            <a:r>
              <a:t>*   Experienced Team: Access to seasoned consultants with diverse industry knowledge.</a:t>
            </a:r>
            <a:br/>
            <a:r>
              <a:t>*   Measurable Impact: Focus on outcomes that drive tangible business value.</a:t>
            </a:r>
            <a:br/>
            <a:r>
              <a:t>Pnyx Hill’s differentiators and approach tailored to client goals.</a:t>
            </a:r>
          </a:p>
        </p:txBody>
      </p:sp>
    </p:spTree>
    <p:extLst>
      <p:ext uri="{BB962C8B-B14F-4D97-AF65-F5344CB8AC3E}">
        <p14:creationId xmlns:p14="http://schemas.microsoft.com/office/powerpoint/2010/main" val="174047160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7D5BDF-F6F0-C14D-C9F7-07646F16A25C}"/>
              </a:ext>
            </a:extLst>
          </p:cNvPr>
          <p:cNvSpPr>
            <a:spLocks noGrp="1" noRot="1" noMove="1" noResize="1" noEditPoints="1" noAdjustHandles="1" noChangeArrowheads="1" noChangeShapeType="1"/>
          </p:cNvSpPr>
          <p:nvPr>
            <p:ph type="sldNum" sz="quarter" idx="12"/>
          </p:nvPr>
        </p:nvSpPr>
        <p:spPr/>
        <p:txBody>
          <a:bodyPr/>
          <a:lstStyle/>
          <a:p>
            <a:endParaRPr lang="en-AE"/>
          </a:p>
          <a:p>
            <a:r>
              <a:t>Our partnership is designed to deliver:</a:t>
            </a:r>
            <a:br/>
            <a:r>
              <a:t>*   Comprehensive strategic analysis and roadmap development.</a:t>
            </a:r>
            <a:br/>
            <a:r>
              <a:t>*   Operational excellence initiatives for enhanced efficiency.</a:t>
            </a:r>
            <a:br/>
            <a:r>
              <a:t>*   Market positioning and competitive advantage identification.</a:t>
            </a:r>
            <a:br/>
            <a:r>
              <a:t>*   Robust financial modeling and investment readiness preparation.</a:t>
            </a:r>
            <a:br/>
            <a:r>
              <a:t>*   Capacity building and knowledge transfer to your team.</a:t>
            </a:r>
            <a:br/>
            <a:r>
              <a:t>*   A clear pathway to achieving long-term strategic objectives.</a:t>
            </a:r>
            <a:br/>
            <a:r>
              <a:t>Summary of main project components and milestones.</a:t>
            </a:r>
          </a:p>
        </p:txBody>
      </p:sp>
    </p:spTree>
    <p:extLst>
      <p:ext uri="{BB962C8B-B14F-4D97-AF65-F5344CB8AC3E}">
        <p14:creationId xmlns:p14="http://schemas.microsoft.com/office/powerpoint/2010/main" val="1816921805"/>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A9468-BC48-6B97-9AEA-37BEA1C7D98B}"/>
              </a:ext>
            </a:extLst>
          </p:cNvPr>
          <p:cNvSpPr>
            <a:spLocks noGrp="1" noRot="1" noMove="1" noResize="1" noEditPoints="1" noAdjustHandles="1" noChangeArrowheads="1" noChangeShapeType="1"/>
          </p:cNvSpPr>
          <p:nvPr>
            <p:ph type="sldNum" sz="quarter" idx="12"/>
          </p:nvPr>
        </p:nvSpPr>
        <p:spPr/>
        <p:txBody>
          <a:bodyPr/>
          <a:lstStyle/>
          <a:p>
            <a:endParaRPr lang="en-AE"/>
          </a:p>
          <a:p>
            <a:r>
              <a:t>Businesses often grapple with:</a:t>
            </a:r>
            <a:br/>
            <a:r>
              <a:t>*   Navigating rapid market shifts and competitive pressures.</a:t>
            </a:r>
            <a:br/>
            <a:r>
              <a:t>*   Optimizing internal processes for scalability and efficiency.</a:t>
            </a:r>
            <a:br/>
            <a:r>
              <a:t>*   Articulating a clear, compelling value proposition for stakeholders.</a:t>
            </a:r>
            <a:br/>
            <a:r>
              <a:t>*   Securing funding for expansion and innovation.</a:t>
            </a:r>
            <a:br/>
            <a:r>
              <a:t>*   Ensuring organizational alignment with strategic goals.</a:t>
            </a:r>
            <a:br/>
            <a:r>
              <a:t>*   Developing sustainable growth models in complex environments.</a:t>
            </a:r>
            <a:br/>
            <a:r>
              <a:t>Client’s key pain points, risks, and market entry hurdles.</a:t>
            </a:r>
          </a:p>
        </p:txBody>
      </p:sp>
    </p:spTree>
    <p:extLst>
      <p:ext uri="{BB962C8B-B14F-4D97-AF65-F5344CB8AC3E}">
        <p14:creationId xmlns:p14="http://schemas.microsoft.com/office/powerpoint/2010/main" val="2886452166"/>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B4D0D4-5EF5-1633-486D-6FE06F75ED70}"/>
              </a:ext>
            </a:extLst>
          </p:cNvPr>
          <p:cNvSpPr>
            <a:spLocks noGrp="1" noRot="1" noMove="1" noResize="1" noEditPoints="1" noAdjustHandles="1" noChangeArrowheads="1" noChangeShapeType="1"/>
          </p:cNvSpPr>
          <p:nvPr>
            <p:ph type="sldNum" sz="quarter" idx="12"/>
          </p:nvPr>
        </p:nvSpPr>
        <p:spPr/>
        <p:txBody>
          <a:bodyPr/>
          <a:lstStyle/>
          <a:p>
            <a:endParaRPr lang="en-AE"/>
          </a:p>
          <a:p>
            <a:r>
              <a:t>Our approach is collaborative, data-centric, and outcome-oriented:</a:t>
            </a:r>
            <a:br/>
            <a:r>
              <a:t>*   Discovery &amp; Diagnostics: Deep dive into current state, challenges, and opportunities.</a:t>
            </a:r>
            <a:br/>
            <a:r>
              <a:t>*   Strategy Co-Creation: Partnering with your team to develop a bespoke strategic roadmap.</a:t>
            </a:r>
            <a:br/>
            <a:r>
              <a:t>*   Implementation &amp; Enablement: Guiding the execution and building internal capabilities.</a:t>
            </a:r>
            <a:br/>
            <a:r>
              <a:t>*   Performance Monitoring: Tracking progress and ensuring objectives are met.</a:t>
            </a:r>
            <a:br/>
            <a:r>
              <a:t>*   Iterative Refinement: Adapting strategies based on real-world feedback.</a:t>
            </a:r>
            <a:br/>
            <a:r>
              <a:t>Our proposed methodology and phased delivery strategy.</a:t>
            </a:r>
          </a:p>
        </p:txBody>
      </p:sp>
    </p:spTree>
    <p:extLst>
      <p:ext uri="{BB962C8B-B14F-4D97-AF65-F5344CB8AC3E}">
        <p14:creationId xmlns:p14="http://schemas.microsoft.com/office/powerpoint/2010/main" val="3318657826"/>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764CB-3FAB-DDE7-F4BD-5276B3C0B783}"/>
              </a:ext>
            </a:extLst>
          </p:cNvPr>
          <p:cNvSpPr>
            <a:spLocks noGrp="1" noRot="1" noMove="1" noResize="1" noEditPoints="1" noAdjustHandles="1" noChangeArrowheads="1" noChangeShapeType="1"/>
          </p:cNvSpPr>
          <p:nvPr>
            <p:ph type="sldNum" sz="quarter" idx="12"/>
          </p:nvPr>
        </p:nvSpPr>
        <p:spPr/>
        <p:txBody>
          <a:bodyPr/>
          <a:lstStyle/>
          <a:p>
            <a:endParaRPr lang="en-AE"/>
          </a:p>
          <a:p>
            <a:r>
              <a:t>**Phase 1: Discovery &amp; Strategic Foundation**</a:t>
            </a:r>
            <a:br/>
            <a:r>
              <a:t>*   Comprehensive analysis of current business model, operations, and market.</a:t>
            </a:r>
            <a:br/>
            <a:r>
              <a:t>*   Stakeholder interviews and workshops to define vision and objectives.</a:t>
            </a:r>
            <a:br/>
            <a:r>
              <a:t>*   Competitive landscape assessment and industry trend analysis.</a:t>
            </a:r>
            <a:br/>
            <a:r>
              <a:t>*   Identification of core strengths, weaknesses, opportunities, and threats (SWOT).</a:t>
            </a:r>
            <a:br/>
            <a:r>
              <a:t>*   Establishment of key performance indicators (KPIs) and success metrics.</a:t>
            </a:r>
            <a:br/>
            <a:r>
              <a:t>Details of Phase 1 – Market research and strategic positioning.</a:t>
            </a:r>
          </a:p>
        </p:txBody>
      </p:sp>
    </p:spTree>
    <p:extLst>
      <p:ext uri="{BB962C8B-B14F-4D97-AF65-F5344CB8AC3E}">
        <p14:creationId xmlns:p14="http://schemas.microsoft.com/office/powerpoint/2010/main" val="321937985"/>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DE84B8-9DF3-0FA1-93A5-C74847F7693C}"/>
              </a:ext>
            </a:extLst>
          </p:cNvPr>
          <p:cNvSpPr>
            <a:spLocks noGrp="1" noRot="1" noMove="1" noResize="1" noEditPoints="1" noAdjustHandles="1" noChangeArrowheads="1" noChangeShapeType="1"/>
          </p:cNvSpPr>
          <p:nvPr>
            <p:ph type="sldNum" sz="quarter" idx="12"/>
          </p:nvPr>
        </p:nvSpPr>
        <p:spPr/>
        <p:txBody>
          <a:bodyPr/>
          <a:lstStyle/>
          <a:p>
            <a:endParaRPr lang="en-AE"/>
          </a:p>
          <a:p>
            <a:r>
              <a:t>**Phase 2: Strategy Development &amp; Roadmap Definition**</a:t>
            </a:r>
            <a:br/>
            <a:r>
              <a:t>*   Development of core business strategy and growth pillars.</a:t>
            </a:r>
            <a:br/>
            <a:r>
              <a:t>*   Design of operational improvements and process optimization plans.</a:t>
            </a:r>
            <a:br/>
            <a:r>
              <a:t>*   Financial modeling, projections, and valuation analysis.</a:t>
            </a:r>
            <a:br/>
            <a:r>
              <a:t>*   Creation of a detailed implementation roadmap with timelines and responsibilities.</a:t>
            </a:r>
            <a:br/>
            <a:r>
              <a:t>*   Risk assessment and mitigation strategies.</a:t>
            </a:r>
            <a:br/>
            <a:r>
              <a:t>Details of Phase 2 – Business strategy and GTM planning.</a:t>
            </a:r>
          </a:p>
        </p:txBody>
      </p:sp>
    </p:spTree>
    <p:extLst>
      <p:ext uri="{BB962C8B-B14F-4D97-AF65-F5344CB8AC3E}">
        <p14:creationId xmlns:p14="http://schemas.microsoft.com/office/powerpoint/2010/main" val="1446093289"/>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6E012-5544-1D8E-F347-278E6F99643A}"/>
              </a:ext>
            </a:extLst>
          </p:cNvPr>
          <p:cNvSpPr>
            <a:spLocks noGrp="1" noRot="1" noMove="1" noResize="1" noEditPoints="1" noAdjustHandles="1" noChangeArrowheads="1" noChangeShapeType="1"/>
          </p:cNvSpPr>
          <p:nvPr>
            <p:ph type="sldNum" sz="quarter" idx="12"/>
          </p:nvPr>
        </p:nvSpPr>
        <p:spPr/>
        <p:txBody>
          <a:bodyPr/>
          <a:lstStyle/>
          <a:p>
            <a:endParaRPr lang="en-AE"/>
          </a:p>
          <a:p>
            <a:r>
              <a:t>**Phase 3: Implementation Support &amp; Performance Enablement**</a:t>
            </a:r>
            <a:br/>
            <a:r>
              <a:t>*   Assistance with pilot programs and initial rollout of strategic initiatives.</a:t>
            </a:r>
            <a:br/>
            <a:r>
              <a:t>*   Development of internal capabilities through training and knowledge transfer.</a:t>
            </a:r>
            <a:br/>
            <a:r>
              <a:t>*   Ongoing advisory support for execution challenges.</a:t>
            </a:r>
            <a:br/>
            <a:r>
              <a:t>*   Monitoring of strategic KPIs and performance against targets.</a:t>
            </a:r>
            <a:br/>
            <a:r>
              <a:t>*   Refinement of strategies based on initial outcomes and market feedback.</a:t>
            </a:r>
            <a:br/>
            <a:r>
              <a:t>*   Preparation of investor-facing materials if applicable.</a:t>
            </a:r>
            <a:br/>
            <a:r>
              <a:t>Details of Phase 3 – Advisory support and execution enablement.</a:t>
            </a:r>
          </a:p>
        </p:txBody>
      </p:sp>
    </p:spTree>
    <p:extLst>
      <p:ext uri="{BB962C8B-B14F-4D97-AF65-F5344CB8AC3E}">
        <p14:creationId xmlns:p14="http://schemas.microsoft.com/office/powerpoint/2010/main" val="208748020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663ABD-6D5A-88C2-B2BC-599F77E1AC0D}"/>
              </a:ext>
            </a:extLst>
          </p:cNvPr>
          <p:cNvSpPr>
            <a:spLocks noGrp="1"/>
          </p:cNvSpPr>
          <p:nvPr>
            <p:ph type="title" idx="4294967295"/>
          </p:nvPr>
        </p:nvSpPr>
        <p:spPr>
          <a:xfrm>
            <a:off x="468923" y="3772703"/>
            <a:ext cx="11254154" cy="460923"/>
          </a:xfrm>
        </p:spPr>
        <p:txBody>
          <a:bodyPr>
            <a:noAutofit/>
          </a:bodyPr>
          <a:lstStyle/>
          <a:p>
            <a:pPr algn="ctr"/>
            <a:endParaRPr sz="1800" dirty="0">
              <a:solidFill>
                <a:schemeClr val="bg1"/>
              </a:solidFill>
            </a:endParaRPr>
          </a:p>
          <a:p>
            <a:pPr algn="ctr"/>
            <a:r>
              <a:rPr sz="1800"/>
              <a:t>Our strategic support includes:</a:t>
            </a:r>
            <a:br/>
            <a:r>
              <a:rPr sz="1800"/>
              <a:t>*   Growth Strategy Formulation</a:t>
            </a:r>
            <a:br/>
            <a:r>
              <a:rPr sz="1800"/>
              <a:t>*   Market Entry &amp; Expansion Planning</a:t>
            </a:r>
            <a:br/>
            <a:r>
              <a:rPr sz="1800"/>
              <a:t>*   Business Model Innovation</a:t>
            </a:r>
            <a:br/>
            <a:r>
              <a:rPr sz="1800"/>
              <a:t>*   Organizational Design &amp; Alignment</a:t>
            </a:r>
            <a:br/>
            <a:r>
              <a:rPr sz="1800"/>
              <a:t>*   Performance Management Frameworks</a:t>
            </a:r>
            <a:br/>
            <a:r>
              <a:rPr sz="1800"/>
              <a:t>*   Digital Transformation Advisory</a:t>
            </a:r>
            <a:br/>
            <a:r>
              <a:rPr sz="1800"/>
              <a:t>Our core strategic advisory services encompass:</a:t>
            </a:r>
            <a:br/>
            <a:r>
              <a:rPr sz="1800"/>
              <a:t>*   Growth Strategy Formulation</a:t>
            </a:r>
            <a:br/>
            <a:r>
              <a:rPr sz="1800"/>
              <a:t>*   Market Entry &amp; Expansion Planning</a:t>
            </a:r>
            <a:br/>
            <a:r>
              <a:rPr sz="1800"/>
              <a:t>*   Business Model Innovation</a:t>
            </a:r>
            <a:br/>
            <a:r>
              <a:rPr sz="1800"/>
              <a:t>*   Organizational Design &amp; Alignment</a:t>
            </a:r>
            <a:br/>
            <a:r>
              <a:rPr sz="1800"/>
              <a:t>*   Performance Management Frameworks</a:t>
            </a:r>
            <a:br/>
            <a:r>
              <a:rPr sz="1800"/>
              <a:t>*   Digital Transformation Advisory</a:t>
            </a:r>
            <a:endParaRPr sz="1800" dirty="0">
              <a:solidFill>
                <a:schemeClr val="bg1"/>
              </a:solidFill>
            </a:endParaRPr>
          </a:p>
        </p:txBody>
      </p:sp>
      <p:sp>
        <p:nvSpPr>
          <p:cNvPr id="3" name="Slide Number Placeholder 2">
            <a:extLst>
              <a:ext uri="{FF2B5EF4-FFF2-40B4-BE49-F238E27FC236}">
                <a16:creationId xmlns:a16="http://schemas.microsoft.com/office/drawing/2014/main" id="{E41D6D49-DDE3-4475-AAF2-71334F274938}"/>
              </a:ext>
            </a:extLst>
          </p:cNvPr>
          <p:cNvSpPr>
            <a:spLocks noGrp="1" noRot="1" noMove="1" noResize="1" noEditPoints="1" noAdjustHandles="1" noChangeArrowheads="1" noChangeShapeType="1"/>
          </p:cNvSpPr>
          <p:nvPr>
            <p:ph type="sldNum" sz="quarter" idx="12"/>
          </p:nvPr>
        </p:nvSpPr>
        <p:spPr/>
        <p:txBody>
          <a:bodyPr/>
          <a:lstStyle/>
          <a:p>
            <a:endParaRPr lang="en-AE" dirty="0"/>
          </a:p>
          <a:p>
            <a:r>
              <a:t>Our strategic support includes:</a:t>
            </a:r>
            <a:br/>
            <a:r>
              <a:t>*   Growth Strategy Formulation</a:t>
            </a:r>
            <a:br/>
            <a:r>
              <a:t>*   Market Entry &amp; Expansion Planning</a:t>
            </a:r>
            <a:br/>
            <a:r>
              <a:t>*   Business Model Innovation</a:t>
            </a:r>
            <a:br/>
            <a:r>
              <a:t>*   Organizational Design &amp; Alignment</a:t>
            </a:r>
            <a:br/>
            <a:r>
              <a:t>*   Performance Management Frameworks</a:t>
            </a:r>
            <a:br/>
            <a:r>
              <a:t>*   Digital Transformation Advisory</a:t>
            </a:r>
            <a:br/>
            <a:r>
              <a:t>Core strategic advisory services included in scope.</a:t>
            </a:r>
          </a:p>
        </p:txBody>
      </p:sp>
    </p:spTree>
    <p:extLst>
      <p:ext uri="{BB962C8B-B14F-4D97-AF65-F5344CB8AC3E}">
        <p14:creationId xmlns:p14="http://schemas.microsoft.com/office/powerpoint/2010/main" val="1695090093"/>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FA2B29A-4432-0D3E-44A7-E337C2CE6A10}"/>
              </a:ext>
            </a:extLst>
          </p:cNvPr>
          <p:cNvSpPr>
            <a:spLocks noGrp="1" noRot="1" noMove="1" noResize="1" noEditPoints="1" noAdjustHandles="1" noChangeArrowheads="1" noChangeShapeType="1"/>
          </p:cNvSpPr>
          <p:nvPr>
            <p:ph type="sldNum" sz="quarter" idx="12"/>
          </p:nvPr>
        </p:nvSpPr>
        <p:spPr/>
        <p:txBody>
          <a:bodyPr/>
          <a:lstStyle/>
          <a:p>
            <a:endParaRPr lang="en-AE"/>
          </a:p>
          <a:p>
            <a:r>
              <a:t>We will utilize robust structuring enablers:</a:t>
            </a:r>
            <a:br/>
            <a:r>
              <a:t>*   Proprietary analytical frameworks (e.g., Pnyx Hill Growth Matrix).</a:t>
            </a:r>
            <a:br/>
            <a:r>
              <a:t>*   Data visualization and reporting tools for clear insights.</a:t>
            </a:r>
            <a:br/>
            <a:r>
              <a:t>*   Project management methodologies for structured execution.</a:t>
            </a:r>
            <a:br/>
            <a:r>
              <a:t>*   Workshop facilitation techniques for collaborative strategy development.</a:t>
            </a:r>
            <a:br/>
            <a:r>
              <a:t>*   Industry benchmarks and best practices databases.</a:t>
            </a:r>
            <a:br/>
            <a:r>
              <a:t>Support with governance, GTM planning, and structuring.</a:t>
            </a:r>
          </a:p>
        </p:txBody>
      </p:sp>
      <p:sp>
        <p:nvSpPr>
          <p:cNvPr id="13" name="TextBox 12">
            <a:extLst>
              <a:ext uri="{FF2B5EF4-FFF2-40B4-BE49-F238E27FC236}">
                <a16:creationId xmlns:a16="http://schemas.microsoft.com/office/drawing/2014/main" id="{80698996-B7A2-5266-3934-E56124E77061}"/>
              </a:ext>
            </a:extLst>
          </p:cNvPr>
          <p:cNvSpPr txBox="1"/>
          <p:nvPr/>
        </p:nvSpPr>
        <p:spPr>
          <a:xfrm>
            <a:off x="973394" y="1844506"/>
            <a:ext cx="6931742" cy="2492990"/>
          </a:xfrm>
          <a:prstGeom prst="rect">
            <a:avLst/>
          </a:prstGeom>
          <a:noFill/>
        </p:spPr>
        <p:txBody>
          <a:bodyPr wrap="square">
            <a:spAutoFit/>
          </a:bodyPr>
          <a:lstStyle/>
          <a:p>
            <a:pPr>
              <a:buNone/>
            </a:pPr>
            <a:r>
              <a:rPr lang="en-US" sz="1200" b="1" dirty="0">
                <a:solidFill/>
              </a:rPr>
              <a:t>We’re creating a slide titled ‘Our Understanding &amp; Point of View’ for a client proposal. The client is [Client Name], and they are [brief description of what they are trying to do]. Based on our role, create a slide in this three-column format:</a:t>
            </a:r>
            <a:br>
              <a:rPr lang="en-US" sz="1200" b="1" dirty="0"/>
            </a:br>
            <a:endParaRPr lang="en-US" sz="1200" dirty="0"/>
          </a:p>
          <a:p>
            <a:pPr>
              <a:buFont typeface="Arial" panose="020B0604020202020204" pitchFamily="34" charset="0"/>
              <a:buChar char="•"/>
            </a:pPr>
            <a:r>
              <a:rPr lang="en-US" sz="1200" b="1" dirty="0">
                <a:solidFill/>
              </a:rPr>
              <a:t>Column 1: Current Situation</a:t>
            </a:r>
            <a:r>
              <a:rPr lang="en-US" sz="1200" dirty="0"/>
              <a:t> – what the client needs, what their priorities are, and where they need support</a:t>
            </a:r>
          </a:p>
          <a:p>
            <a:pPr>
              <a:buFont typeface="Arial" panose="020B0604020202020204" pitchFamily="34" charset="0"/>
              <a:buChar char="•"/>
            </a:pPr>
            <a:r>
              <a:rPr lang="en-US" sz="1200" b="1" dirty="0">
                <a:solidFill/>
              </a:rPr>
              <a:t>Column 2: Key Challenges</a:t>
            </a:r>
            <a:r>
              <a:rPr lang="en-US" sz="1200" dirty="0"/>
              <a:t> – 4–5 strategic and operational challenges or risks they’re facing</a:t>
            </a:r>
          </a:p>
          <a:p>
            <a:pPr>
              <a:buFont typeface="Arial" panose="020B0604020202020204" pitchFamily="34" charset="0"/>
              <a:buChar char="•"/>
            </a:pPr>
            <a:r>
              <a:rPr lang="en-US" sz="1200" b="1" dirty="0">
                <a:solidFill/>
              </a:rPr>
              <a:t>Column 3: Outcomes Required</a:t>
            </a:r>
            <a:r>
              <a:rPr lang="en-US" sz="1200" dirty="0"/>
              <a:t> – define 4–5 measurable or strategic results that must be achieved for success</a:t>
            </a:r>
            <a:br>
              <a:rPr lang="en-US" sz="1200" dirty="0"/>
            </a:br>
            <a:br>
              <a:rPr lang="en-US" sz="1200" dirty="0"/>
            </a:br>
            <a:endParaRPr lang="en-US" sz="1200" dirty="0"/>
          </a:p>
          <a:p>
            <a:pPr>
              <a:buNone/>
            </a:pPr>
            <a:r>
              <a:rPr lang="en-US" sz="1200" dirty="0">
                <a:solidFill/>
              </a:rPr>
              <a:t>The tone must be precise, senior-consultant level, no marketing fluff or </a:t>
            </a:r>
            <a:r>
              <a:rPr lang="en-US" sz="1200" dirty="0" err="1"/>
              <a:t>chatgpt</a:t>
            </a:r>
            <a:r>
              <a:rPr lang="en-US" sz="1200" dirty="0"/>
              <a:t>-sounding language. Match the format used in the </a:t>
            </a:r>
            <a:r>
              <a:rPr lang="en-US" sz="1200" dirty="0">
                <a:highlight>
                  <a:srgbClr val="FFFF00"/>
                </a:highlight>
              </a:rPr>
              <a:t>Hyke proposal example</a:t>
            </a:r>
            <a:r>
              <a:rPr lang="en-US" sz="1200" b="1" dirty="0">
                <a:solidFill>
                  <a:schemeClr val="bg1"/>
                </a:solidFill>
                <a:highlight>
                  <a:srgbClr val="FF0000"/>
                </a:highlight>
              </a:rPr>
              <a:t>.(can we feed the old proposal sample?)</a:t>
            </a:r>
            <a:r>
              <a:rPr lang="en-US" sz="1200" b="1" dirty="0">
                <a:solidFill>
                  <a:schemeClr val="bg1"/>
                </a:solidFill>
                <a:highlight>
                  <a:srgbClr val="FFFF00"/>
                </a:highlight>
              </a:rPr>
              <a:t>”</a:t>
            </a:r>
          </a:p>
        </p:txBody>
      </p:sp>
    </p:spTree>
    <p:extLst>
      <p:ext uri="{BB962C8B-B14F-4D97-AF65-F5344CB8AC3E}">
        <p14:creationId xmlns:p14="http://schemas.microsoft.com/office/powerpoint/2010/main" val="139644758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dirty="0">
                <a:solidFill/>
              </a:rPr>
              <a:t>{{</a:t>
            </a:r>
            <a:r>
              <a:rPr lang="en-US" dirty="0"/>
              <a:t>SCOPE_OUR PROPOSED APPROACH </a:t>
            </a:r>
            <a:r>
              <a:rPr dirty="0"/>
              <a:t>}}</a:t>
            </a:r>
          </a:p>
        </p:txBody>
      </p:sp>
      <p:sp>
        <p:nvSpPr>
          <p:cNvPr id="10" name="TextBox 9">
            <a:extLst>
              <a:ext uri="{FF2B5EF4-FFF2-40B4-BE49-F238E27FC236}">
                <a16:creationId xmlns:a16="http://schemas.microsoft.com/office/drawing/2014/main" id="{FEF43109-D1B4-7C50-7776-0FFB5C5664F9}"/>
              </a:ext>
            </a:extLst>
          </p:cNvPr>
          <p:cNvSpPr txBox="1"/>
          <p:nvPr/>
        </p:nvSpPr>
        <p:spPr>
          <a:xfrm>
            <a:off x="839788" y="1339283"/>
            <a:ext cx="6706529" cy="3970318"/>
          </a:xfrm>
          <a:prstGeom prst="rect">
            <a:avLst/>
          </a:prstGeom>
          <a:noFill/>
        </p:spPr>
        <p:txBody>
          <a:bodyPr wrap="square" rtlCol="0">
            <a:spAutoFit/>
          </a:bodyPr>
          <a:lstStyle/>
          <a:p>
            <a:br>
              <a:rPr lang="en-US" sz="1400" dirty="0"/>
            </a:br>
            <a:br>
              <a:rPr lang="en-US" sz="1400" dirty="0"/>
            </a:br>
            <a:r>
              <a:rPr lang="en-US" sz="1400" b="1" dirty="0">
                <a:solidFill/>
              </a:rPr>
              <a:t>“Create a three-phase delivery approach slide for a proposal. The client is [Client Name], and we are supporting them with [brief engagement goal]. Structure the content into:</a:t>
            </a:r>
            <a:br>
              <a:rPr lang="en-US" sz="1400" b="1" dirty="0"/>
            </a:br>
            <a:endParaRPr lang="en-US" sz="1400" dirty="0"/>
          </a:p>
          <a:p>
            <a:r>
              <a:rPr lang="en-US" sz="1400" b="1" dirty="0">
                <a:solidFill/>
              </a:rPr>
              <a:t>Phase 1:</a:t>
            </a:r>
            <a:r>
              <a:rPr lang="en-US" sz="1400" dirty="0"/>
              <a:t> [Insight gathering / structuring / setup]</a:t>
            </a:r>
            <a:br>
              <a:rPr lang="en-US" sz="1400" dirty="0"/>
            </a:br>
            <a:endParaRPr lang="en-US" sz="1400" dirty="0"/>
          </a:p>
          <a:p>
            <a:r>
              <a:rPr lang="en-US" sz="1400" b="1" dirty="0">
                <a:solidFill/>
              </a:rPr>
              <a:t>Phase 2:</a:t>
            </a:r>
            <a:r>
              <a:rPr lang="en-US" sz="1400" dirty="0"/>
              <a:t> [Design / development / mapping]</a:t>
            </a:r>
            <a:br>
              <a:rPr lang="en-US" sz="1400" dirty="0"/>
            </a:br>
            <a:endParaRPr lang="en-US" sz="1400" dirty="0"/>
          </a:p>
          <a:p>
            <a:r>
              <a:rPr lang="en-US" sz="1400" b="1" dirty="0">
                <a:solidFill/>
              </a:rPr>
              <a:t>Phase 3:</a:t>
            </a:r>
            <a:r>
              <a:rPr lang="en-US" sz="1400" dirty="0"/>
              <a:t> [Execution / enablement / delivery]</a:t>
            </a:r>
            <a:br>
              <a:rPr lang="en-US" sz="1400" dirty="0"/>
            </a:br>
            <a:br>
              <a:rPr lang="en-US" sz="1400" dirty="0"/>
            </a:br>
            <a:endParaRPr lang="en-US" sz="1400" dirty="0"/>
          </a:p>
          <a:p>
            <a:r>
              <a:rPr lang="en-US" sz="1400" dirty="0">
                <a:solidFill/>
              </a:rPr>
              <a:t>Each phase should have 3–4 crisp bullet points (no fluff), highlighting the specific outcomes or deliverables at each stage. Keep the tone precise, consulting-grade, and suitable for a high-stakes project. Style it exactly like a McKinsey / PwC slide (sample proposal style).”</a:t>
            </a:r>
          </a:p>
          <a:p>
            <a:endParaRPr sz="1400"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AC730E-E441-31F4-69F3-05FCB50A7532}"/>
              </a:ext>
            </a:extLst>
          </p:cNvPr>
          <p:cNvSpPr>
            <a:spLocks noGrp="1"/>
          </p:cNvSpPr>
          <p:nvPr>
            <p:ph type="sldNum" sz="quarter" idx="12"/>
          </p:nvPr>
        </p:nvSpPr>
        <p:spPr/>
        <p:txBody>
          <a:bodyPr/>
          <a:lstStyle/>
          <a:p>
            <a:endParaRPr lang="en-AE"/>
          </a:p>
          <a:p>
            <a:r>
              <a:t>Key deliverables for Business Strategy include:</a:t>
            </a:r>
            <a:br/>
            <a:r>
              <a:t>*   Comprehensive Strategic Assessment Report.</a:t>
            </a:r>
            <a:br/>
            <a:r>
              <a:t>*   Detailed 3-5 Year Strategic Roadmap.</a:t>
            </a:r>
            <a:br/>
            <a:r>
              <a:t>*   Operating Model Design &amp; Process Improvement Plans.</a:t>
            </a:r>
            <a:br/>
            <a:r>
              <a:t>*   Market Opportunity Analysis &amp; Competitive Intelligence Report.</a:t>
            </a:r>
            <a:br/>
            <a:r>
              <a:t>*   Target Operating Model Blueprint.</a:t>
            </a:r>
            <a:br/>
            <a:r>
              <a:t>*   Strategic KPI Dashboard.</a:t>
            </a:r>
            <a:br/>
            <a:r>
              <a:t>Tailored market entry and business growth strategy.</a:t>
            </a:r>
          </a:p>
        </p:txBody>
      </p:sp>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sz="2200"/>
              <a:t>Our scope of services covers:</a:t>
            </a:r>
            <a:br/>
            <a:r>
              <a:rPr sz="2200"/>
              <a:t>*   Strategic Planning: Vision, Mission, Values, Growth Pillars.</a:t>
            </a:r>
            <a:br/>
            <a:r>
              <a:rPr sz="2200"/>
              <a:t>*   Operational Excellence: Process optimization, efficiency gains.</a:t>
            </a:r>
            <a:br/>
            <a:r>
              <a:rPr sz="2200"/>
              <a:t>*   Market &amp; Competitive Analysis: Positioning, differentiation.</a:t>
            </a:r>
            <a:br/>
            <a:r>
              <a:rPr sz="2200"/>
              <a:t>*   Financial Advisory: Modeling, valuation, investment readiness.</a:t>
            </a:r>
            <a:br/>
            <a:r>
              <a:rPr sz="2200"/>
              <a:t>*   Implementation Support: Action planning, monitoring, capability building.</a:t>
            </a:r>
            <a:br/>
            <a:r>
              <a:rPr sz="2200"/>
              <a:t>*   Advisory &amp; Mentorship: Ongoing expert guidance.</a:t>
            </a:r>
            <a:br/>
            <a:r>
              <a:rPr sz="2200"/>
              <a:t>High-level categorization of all services tailored to the client's requirement.</a:t>
            </a:r>
            <a:endParaRPr sz="1800" dirty="0"/>
          </a:p>
        </p:txBody>
      </p:sp>
      <p:sp>
        <p:nvSpPr>
          <p:cNvPr id="21" name="TextBox 20">
            <a:extLst>
              <a:ext uri="{FF2B5EF4-FFF2-40B4-BE49-F238E27FC236}">
                <a16:creationId xmlns:a16="http://schemas.microsoft.com/office/drawing/2014/main" id="{1E7AF97B-4EC4-6FE9-10B1-6076B826D696}"/>
              </a:ext>
            </a:extLst>
          </p:cNvPr>
          <p:cNvSpPr txBox="1"/>
          <p:nvPr/>
        </p:nvSpPr>
        <p:spPr>
          <a:xfrm>
            <a:off x="839788" y="1528349"/>
            <a:ext cx="10506636" cy="1384995"/>
          </a:xfrm>
          <a:prstGeom prst="rect">
            <a:avLst/>
          </a:prstGeom>
          <a:noFill/>
        </p:spPr>
        <p:txBody>
          <a:bodyPr wrap="square">
            <a:spAutoFit/>
          </a:bodyPr>
          <a:lstStyle/>
          <a:p>
            <a:pPr>
              <a:buNone/>
            </a:pPr>
            <a:r>
              <a:rPr lang="en-US" sz="1400" b="1" dirty="0">
                <a:solidFill/>
              </a:rPr>
              <a:t>Create a 'Scope of Services' slide summarizing the categories of support Pnyx Hill will provide to [client/project name]. Group services under three themes: Strategic Support, Structuring &amp; Enablers, and Ongoing.</a:t>
            </a:r>
            <a:br>
              <a:rPr lang="en-US" sz="1400" b="1" dirty="0"/>
            </a:br>
            <a:endParaRPr lang="en-US" sz="1400" dirty="0"/>
          </a:p>
          <a:p>
            <a:pPr>
              <a:buNone/>
            </a:pPr>
            <a:r>
              <a:rPr lang="en-US" sz="1400" dirty="0">
                <a:solidFill/>
              </a:rPr>
              <a:t>Each group should include 2–4 crisp, high-impact bullet points. Each point should start with a bolded service name followed by a concise explanation. No chatty tone or filler. Keep the style formal, boardroom-ready, and use consulting-grade phrasing like a McKinsey or PwC deck</a:t>
            </a:r>
          </a:p>
        </p:txBody>
      </p:sp>
    </p:spTree>
    <p:extLst>
      <p:ext uri="{BB962C8B-B14F-4D97-AF65-F5344CB8AC3E}">
        <p14:creationId xmlns:p14="http://schemas.microsoft.com/office/powerpoint/2010/main" val="1632127899"/>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a:t>**Strategic Planning &amp; Vision:**</a:t>
            </a:r>
            <a:br/>
            <a:r>
              <a:rPr sz="2200"/>
              <a:t>*   Current State Analysis Report</a:t>
            </a:r>
            <a:br/>
            <a:r>
              <a:rPr sz="2200"/>
              <a:t>*   Future State Vision &amp; Objectives Document</a:t>
            </a:r>
            <a:br/>
            <a:r>
              <a:rPr sz="2200"/>
              <a:t>*   Strategic Growth Pillars Definition</a:t>
            </a:r>
            <a:br/>
            <a:r>
              <a:rPr sz="2200"/>
              <a:t>*   Value Proposition Refinement Workshop Report</a:t>
            </a:r>
            <a:br/>
            <a:r>
              <a:rPr sz="2200"/>
              <a:t>*   Organizational Alignment Workshop Output</a:t>
            </a:r>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B88652E6-0670-FBDC-7DF8-AFFEE402D820}"/>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1 and 2).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A2A3-BD79-51A4-BAA2-2322EE39C204}"/>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1695DCFC-2DF6-1538-C61C-D2E4B2F91C1D}"/>
              </a:ext>
            </a:extLst>
          </p:cNvPr>
          <p:cNvSpPr>
            <a:spLocks noGrp="1"/>
          </p:cNvSpPr>
          <p:nvPr>
            <p:ph type="title"/>
          </p:nvPr>
        </p:nvSpPr>
        <p:spPr>
          <a:xfrm>
            <a:off x="839787" y="88506"/>
            <a:ext cx="7390693" cy="823912"/>
          </a:xfrm>
        </p:spPr>
        <p:txBody>
          <a:bodyPr>
            <a:noAutofit/>
          </a:bodyPr>
          <a:lstStyle/>
          <a:p>
            <a:endParaRPr lang="en-AE" sz="2200" dirty="0"/>
          </a:p>
          <a:p>
            <a:r>
              <a:rPr sz="2200"/>
              <a:t>**Operational &amp; Market Enhancement:**</a:t>
            </a:r>
            <a:br/>
            <a:r>
              <a:rPr sz="2200"/>
              <a:t>*   Operational Efficiency Improvement Recommendations</a:t>
            </a:r>
            <a:br/>
            <a:r>
              <a:rPr sz="2200"/>
              <a:t>*   Market Segmentation &amp; Targeting Analysis</a:t>
            </a:r>
            <a:br/>
            <a:r>
              <a:rPr sz="2200"/>
              <a:t>*   Competitive Landscape Assessment</a:t>
            </a:r>
            <a:br/>
            <a:r>
              <a:rPr sz="2200"/>
              <a:t>*   Customer Journey Mapping &amp; Enhancement</a:t>
            </a:r>
            <a:br/>
            <a:r>
              <a:rPr sz="2200"/>
              <a:t>*   Technology Stack Review &amp; Recommendations</a:t>
            </a:r>
            <a:br/>
            <a:endParaRPr sz="1800" dirty="0"/>
          </a:p>
        </p:txBody>
      </p:sp>
      <p:pic>
        <p:nvPicPr>
          <p:cNvPr id="34" name="Picture 33">
            <a:extLst>
              <a:ext uri="{FF2B5EF4-FFF2-40B4-BE49-F238E27FC236}">
                <a16:creationId xmlns:a16="http://schemas.microsoft.com/office/drawing/2014/main" id="{7535E34A-68FF-97B5-D79F-349202F73178}"/>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21FB6E0-C4B3-B138-B23B-9B2F70A9C250}"/>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34F225F8-E944-4231-5D3D-757B105F515A}"/>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F7252258-AA58-D2B8-826E-D7D780ABD5D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C5302D14-106A-54F8-80D8-D9F3C05EDA98}"/>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0A5B4434-353E-7AED-5D10-68F1906F043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89D178A4-C9A3-8B09-ED4C-58873DB67F72}"/>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D40E9095-F815-DF8B-FBB4-28701EF8E989}"/>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3 and 4).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20090060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AF50-7D88-A882-3529-39921165C5F8}"/>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4631481A-FA77-4108-A67E-EAFF358FF3BC}"/>
              </a:ext>
            </a:extLst>
          </p:cNvPr>
          <p:cNvSpPr>
            <a:spLocks noGrp="1"/>
          </p:cNvSpPr>
          <p:nvPr>
            <p:ph type="title"/>
          </p:nvPr>
        </p:nvSpPr>
        <p:spPr>
          <a:xfrm>
            <a:off x="839787" y="88506"/>
            <a:ext cx="7390693" cy="823912"/>
          </a:xfrm>
        </p:spPr>
        <p:txBody>
          <a:bodyPr>
            <a:noAutofit/>
          </a:bodyPr>
          <a:lstStyle/>
          <a:p>
            <a:endParaRPr lang="en-AE" sz="2200" dirty="0"/>
          </a:p>
          <a:p>
            <a:r>
              <a:rPr sz="2200"/>
              <a:t>**Execution &amp; Performance Monitoring:**</a:t>
            </a:r>
            <a:br/>
            <a:r>
              <a:rPr sz="2200"/>
              <a:t>*   Detailed Implementation Action Plan</a:t>
            </a:r>
            <a:br/>
            <a:r>
              <a:rPr sz="2200"/>
              <a:t>*   Project Management Framework &amp; Tools</a:t>
            </a:r>
            <a:br/>
            <a:r>
              <a:rPr sz="2200"/>
              <a:t>*   Performance Measurement &amp; Reporting Dashboard</a:t>
            </a:r>
            <a:br/>
            <a:r>
              <a:rPr sz="2200"/>
              <a:t>*   Regular Progress Review Meetings &amp; Reports</a:t>
            </a:r>
            <a:br/>
            <a:r>
              <a:rPr sz="2200"/>
              <a:t>*   Team Training &amp; Capability Building Modules</a:t>
            </a:r>
            <a:br/>
            <a:endParaRPr sz="1800" dirty="0"/>
          </a:p>
        </p:txBody>
      </p:sp>
      <p:pic>
        <p:nvPicPr>
          <p:cNvPr id="34" name="Picture 33">
            <a:extLst>
              <a:ext uri="{FF2B5EF4-FFF2-40B4-BE49-F238E27FC236}">
                <a16:creationId xmlns:a16="http://schemas.microsoft.com/office/drawing/2014/main" id="{ED3E5BC5-72CB-D624-A307-A2BFBDCE3304}"/>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6E4035ED-669B-7034-961C-AAB281F22C82}"/>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B706AE43-6392-0EC5-6544-77B94BFB88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0D6A53E1-EC36-CD8B-6A7C-62973BB3F477}"/>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0402916-9DE5-540A-D7E3-C548A7BC96E1}"/>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783D7E35-9BEC-D256-B65E-E6162FB208F8}"/>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4FE054A3-14EB-52F5-BAC5-87F0AEB3370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6" name="TextBox 5">
            <a:extLst>
              <a:ext uri="{FF2B5EF4-FFF2-40B4-BE49-F238E27FC236}">
                <a16:creationId xmlns:a16="http://schemas.microsoft.com/office/drawing/2014/main" id="{3A1A0D1E-1875-9897-6636-21C193AF1416}"/>
              </a:ext>
            </a:extLst>
          </p:cNvPr>
          <p:cNvSpPr txBox="1"/>
          <p:nvPr/>
        </p:nvSpPr>
        <p:spPr>
          <a:xfrm>
            <a:off x="1006935" y="2231032"/>
            <a:ext cx="6976860" cy="2677656"/>
          </a:xfrm>
          <a:prstGeom prst="rect">
            <a:avLst/>
          </a:prstGeom>
          <a:noFill/>
        </p:spPr>
        <p:txBody>
          <a:bodyPr wrap="square">
            <a:spAutoFit/>
          </a:bodyPr>
          <a:lstStyle/>
          <a:p>
            <a:pPr>
              <a:buNone/>
            </a:pPr>
            <a:r>
              <a:rPr lang="en-US" sz="1400" b="1" dirty="0">
                <a:solidFill/>
              </a:rPr>
              <a:t>“Create a ‘Service Deliverables’ slide outlining the key workstreams we’ll deliver to the client. Break the content into two main service pillars (numbered 5 and 6). For each, include four crisp, bullet-pointed deliverables.</a:t>
            </a:r>
            <a:br>
              <a:rPr lang="en-US" sz="1400" b="1" dirty="0"/>
            </a:br>
            <a:endParaRPr lang="en-US" sz="1400" dirty="0"/>
          </a:p>
          <a:p>
            <a:pPr>
              <a:buNone/>
            </a:pPr>
            <a:r>
              <a:rPr lang="en-US" sz="1400" dirty="0">
                <a:solidFill/>
              </a:rPr>
              <a:t>Each bullet should:</a:t>
            </a:r>
            <a:br>
              <a:rPr lang="en-US" sz="1400" dirty="0"/>
            </a:br>
            <a:endParaRPr lang="en-US" sz="1400" dirty="0"/>
          </a:p>
          <a:p>
            <a:pPr lvl="1">
              <a:buFont typeface="Arial" panose="020B0604020202020204" pitchFamily="34" charset="0"/>
              <a:buChar char="•"/>
            </a:pPr>
            <a:r>
              <a:rPr lang="en-US" sz="1400" dirty="0">
                <a:solidFill/>
              </a:rPr>
              <a:t>Start with a bolded action phrase (e.g., </a:t>
            </a:r>
            <a:r>
              <a:rPr lang="en-US" sz="1400" b="1" dirty="0"/>
              <a:t>Develop a tailored growth strategy</a:t>
            </a:r>
            <a:r>
              <a:rPr lang="en-US" sz="1400" dirty="0"/>
              <a:t>)</a:t>
            </a:r>
          </a:p>
          <a:p>
            <a:pPr lvl="1">
              <a:buFont typeface="Arial" panose="020B0604020202020204" pitchFamily="34" charset="0"/>
              <a:buChar char="•"/>
            </a:pPr>
            <a:r>
              <a:rPr lang="en-US" sz="1400" dirty="0">
                <a:solidFill/>
              </a:rPr>
              <a:t>Follow with 1–2 lines of explanation</a:t>
            </a:r>
          </a:p>
          <a:p>
            <a:pPr lvl="1">
              <a:buFont typeface="Arial" panose="020B0604020202020204" pitchFamily="34" charset="0"/>
              <a:buChar char="•"/>
            </a:pPr>
            <a:r>
              <a:rPr lang="en-US" sz="1400" dirty="0">
                <a:solidFill/>
              </a:rPr>
              <a:t>Use consulting-style, non-fluffy phrasing - clear, specific, and client-facing</a:t>
            </a:r>
            <a:br>
              <a:rPr lang="en-US" sz="1400" dirty="0"/>
            </a:br>
            <a:endParaRPr lang="en-US" sz="1400" dirty="0"/>
          </a:p>
          <a:p>
            <a:pPr>
              <a:buNone/>
            </a:pPr>
            <a:r>
              <a:rPr lang="en-US" sz="1400" dirty="0">
                <a:solidFill/>
              </a:rPr>
              <a:t>Match the format and tone of top-tier consulting proposals (PwC, BCG, McKinsey). Avoid chatty or vague language. These are deliverables we will be executing.”</a:t>
            </a:r>
          </a:p>
        </p:txBody>
      </p:sp>
    </p:spTree>
    <p:extLst>
      <p:ext uri="{BB962C8B-B14F-4D97-AF65-F5344CB8AC3E}">
        <p14:creationId xmlns:p14="http://schemas.microsoft.com/office/powerpoint/2010/main" val="1484293532"/>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9801C6B-5D80-8825-00C9-842D9B85733C}"/>
              </a:ext>
            </a:extLst>
          </p:cNvPr>
          <p:cNvSpPr>
            <a:spLocks noGrp="1"/>
          </p:cNvSpPr>
          <p:nvPr>
            <p:ph type="sldNum" sz="quarter" idx="12"/>
          </p:nvPr>
        </p:nvSpPr>
        <p:spPr/>
        <p:txBody>
          <a:bodyPr/>
          <a:lstStyle/>
          <a:p>
            <a:endParaRPr lang="en-AE"/>
          </a:p>
          <a:p>
            <a:r>
              <a:t>Key deliverables for Investment Readiness include:</a:t>
            </a:r>
            <a:br/>
            <a:r>
              <a:t>*   Comprehensive Financial Model &amp; Projections (5-year).</a:t>
            </a:r>
            <a:br/>
            <a:r>
              <a:t>*   Valuation Analysis &amp; Investment Memorandum (IM).</a:t>
            </a:r>
            <a:br/>
            <a:r>
              <a:t>*   Investor Pitch Deck &amp; Executive Summary.</a:t>
            </a:r>
            <a:br/>
            <a:r>
              <a:t>*   Due Diligence Preparation Checklist &amp; Support.</a:t>
            </a:r>
            <a:br/>
            <a:r>
              <a:t>*   Introductions to relevant investor networks (upon request).</a:t>
            </a:r>
            <a:br/>
            <a:r>
              <a:t>*   Negotiation Support &amp; Term Sheet Review.</a:t>
            </a:r>
            <a:br/>
            <a:r>
              <a:t>Optional: fundraising, pitch, model, and data room.</a:t>
            </a:r>
          </a:p>
        </p:txBody>
      </p:sp>
    </p:spTree>
    <p:extLst>
      <p:ext uri="{BB962C8B-B14F-4D97-AF65-F5344CB8AC3E}">
        <p14:creationId xmlns:p14="http://schemas.microsoft.com/office/powerpoint/2010/main" val="1822323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5350F6-D4A3-B73A-1C09-B415E6F26B81}"/>
              </a:ext>
            </a:extLst>
          </p:cNvPr>
          <p:cNvSpPr>
            <a:spLocks noGrp="1"/>
          </p:cNvSpPr>
          <p:nvPr>
            <p:ph type="title"/>
          </p:nvPr>
        </p:nvSpPr>
        <p:spPr>
          <a:xfrm>
            <a:off x="200690" y="109487"/>
            <a:ext cx="8009245" cy="502722"/>
          </a:xfrm>
        </p:spPr>
        <p:txBody>
          <a:bodyPr>
            <a:normAutofit fontScale="90000"/>
          </a:bodyPr>
          <a:lstStyle/>
          <a:p>
            <a:endParaRPr lang="en-AE" dirty="0"/>
          </a:p>
          <a:p>
            <a:r>
              <a:t>Beyond the core engagement, we offer:</a:t>
            </a:r>
            <a:br/>
            <a:r>
              <a:t>*   Ad-hoc strategic advisory sessions.</a:t>
            </a:r>
            <a:br/>
            <a:r>
              <a:t>*   Ongoing market intelligence updates.</a:t>
            </a:r>
            <a:br/>
            <a:r>
              <a:t>*   Access to Pnyx Hill's expert network.</a:t>
            </a:r>
            <a:br/>
            <a:r>
              <a:t>*   Annual strategic review workshops.</a:t>
            </a:r>
            <a:br/>
            <a:r>
              <a:t>*   Mentorship for key leadership.</a:t>
            </a:r>
            <a:br/>
            <a:r>
              <a:t> </a:t>
            </a:r>
            <a:br/>
            <a:r>
              <a:t>“Create a slide titled ‘Additional Support’ that outlines optional, ongoing strategic and operational advisory services offered after the core engagement is complete.</a:t>
            </a:r>
            <a:br/>
            <a:br/>
            <a:r>
              <a:t>Structure the slide as follows:</a:t>
            </a:r>
            <a:br/>
            <a:br/>
            <a:r>
              <a:t>1. Begin with a short intro paragraph explaining that these services are post-project, offered on a flexible, as-needed basis, and intended to ensure momentum and agility.</a:t>
            </a:r>
            <a:br/>
            <a:r>
              <a:t>2. Then list 6–7 bullet points, each describing a specific type of ongoing support.</a:t>
            </a:r>
            <a:br/>
            <a:r>
              <a:t>     2.1 Each bullet should start with a bolded service label (e.g., Strategic Execution Support), followed </a:t>
            </a:r>
            <a:br/>
            <a:r>
              <a:t>             by a clear 1–2 line explanation.</a:t>
            </a:r>
            <a:br/>
            <a:r>
              <a:t>     2.2 Feel free to use subtle, relevant emojis to match the tone of executive-level but visually clean       </a:t>
            </a:r>
            <a:br/>
            <a:r>
              <a:t>             proposals.</a:t>
            </a:r>
            <a:br/>
            <a:br/>
            <a:r>
              <a:t>Include a final line at the bottom reaffirming that this is not a formal retainer, but a high-touch, agile model for clients that value ongoing support.</a:t>
            </a:r>
            <a:br/>
            <a:br/>
            <a:r>
              <a:t>Tone: PwC or McKinsey-level - precise, consultative, and clearly scoped. No vague or fluffy language</a:t>
            </a:r>
            <a:br/>
            <a:endParaRPr sz="2000" dirty="0"/>
          </a:p>
        </p:txBody>
      </p:sp>
      <p:sp>
        <p:nvSpPr>
          <p:cNvPr id="4" name="Content Placeholder 3">
            <a:extLst>
              <a:ext uri="{FF2B5EF4-FFF2-40B4-BE49-F238E27FC236}">
                <a16:creationId xmlns:a16="http://schemas.microsoft.com/office/drawing/2014/main" id="{D13F72B9-87D4-9D7E-1C5A-830115144984}"/>
              </a:ext>
            </a:extLst>
          </p:cNvPr>
          <p:cNvSpPr>
            <a:spLocks noGrp="1"/>
          </p:cNvSpPr>
          <p:nvPr>
            <p:ph sz="quarter" idx="13"/>
          </p:nvPr>
        </p:nvSpPr>
        <p:spPr>
          <a:xfrm>
            <a:off x="8446754" y="1042091"/>
            <a:ext cx="2668910" cy="4773818"/>
          </a:xfrm>
        </p:spPr>
        <p:txBody>
          <a:bodyPr>
            <a:noAutofit/>
          </a:bodyPr>
          <a:lstStyle/>
          <a:p>
            <a:pPr marL="0" indent="0">
              <a:lnSpc>
                <a:spcPct val="110000"/>
              </a:lnSpc>
              <a:spcBef>
                <a:spcPts val="300"/>
              </a:spcBef>
              <a:spcAft>
                <a:spcPts val="300"/>
              </a:spcAft>
              <a:buNone/>
            </a:pPr>
            <a:endParaRPr lang="en-GB" sz="1050" dirty="0"/>
          </a:p>
          <a:p>
            <a:r>
              <a:rPr lang="en-US" dirty="0">
                <a:solidFill/>
              </a:rPr>
              <a:t>“Add a ‘Continued Support’ panel on the right explaining </a:t>
            </a:r>
            <a:r>
              <a:rPr lang="en-US" b="1" dirty="0"/>
              <a:t>why</a:t>
            </a:r>
            <a:r>
              <a:rPr lang="en-US" dirty="0"/>
              <a:t> this ongoing support matters. Use 3–4 bullet points to show the benefits of having Pnyx Hill remain involved post-engagement - such as faster decision-making, compliance assurance, strategic adaptability, etc.”</a:t>
            </a:r>
            <a:endParaRPr b="1" dirty="0"/>
          </a:p>
        </p:txBody>
      </p:sp>
      <p:sp>
        <p:nvSpPr>
          <p:cNvPr id="5" name="Slide Number Placeholder 4">
            <a:extLst>
              <a:ext uri="{FF2B5EF4-FFF2-40B4-BE49-F238E27FC236}">
                <a16:creationId xmlns:a16="http://schemas.microsoft.com/office/drawing/2014/main" id="{6B375B5A-BEDE-762C-CC22-914158BF03A0}"/>
              </a:ext>
            </a:extLst>
          </p:cNvPr>
          <p:cNvSpPr>
            <a:spLocks noGrp="1" noRot="1" noMove="1" noResize="1" noEditPoints="1" noAdjustHandles="1" noChangeArrowheads="1" noChangeShapeType="1"/>
          </p:cNvSpPr>
          <p:nvPr>
            <p:ph type="sldNum" sz="quarter" idx="12"/>
          </p:nvPr>
        </p:nvSpPr>
        <p:spPr/>
        <p:txBody>
          <a:bodyPr/>
          <a:lstStyle/>
          <a:p>
            <a:endParaRPr lang="en-AE"/>
          </a:p>
          <a:p>
            <a:r>
              <a:t>We believe in long-term partnership. Our continuous support options ensure sustained momentum and adaptability:</a:t>
            </a:r>
            <a:br/>
            <a:r>
              <a:t>*   Quarterly strategic deep-dive sessions.</a:t>
            </a:r>
            <a:br/>
            <a:r>
              <a:t>*   On-demand expert consultations.</a:t>
            </a:r>
            <a:br/>
            <a:r>
              <a:t>*   Annual strategy refresh &amp; validation.</a:t>
            </a:r>
            <a:br/>
            <a:r>
              <a:t>*   Performance monitoring and feedback loops.</a:t>
            </a:r>
            <a:br/>
            <a:r>
              <a:t>*   Access to Pnyx Hill’s latest insights and research.</a:t>
            </a:r>
            <a:br/>
            <a:r>
              <a:t>Strategic input, meeting prep, and operational agility support.</a:t>
            </a:r>
          </a:p>
        </p:txBody>
      </p:sp>
    </p:spTree>
    <p:extLst>
      <p:ext uri="{BB962C8B-B14F-4D97-AF65-F5344CB8AC3E}">
        <p14:creationId xmlns:p14="http://schemas.microsoft.com/office/powerpoint/2010/main" val="259671723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5" name="Slide Number Placeholder 4">
            <a:extLst>
              <a:ext uri="{FF2B5EF4-FFF2-40B4-BE49-F238E27FC236}">
                <a16:creationId xmlns:a16="http://schemas.microsoft.com/office/drawing/2014/main" id="{BEA8B6C2-4306-939F-8A04-A302AF87C90A}"/>
              </a:ext>
            </a:extLst>
          </p:cNvPr>
          <p:cNvSpPr>
            <a:spLocks noGrp="1" noRot="1" noMove="1" noResize="1" noEditPoints="1" noAdjustHandles="1" noChangeArrowheads="1" noChangeShapeType="1"/>
          </p:cNvSpPr>
          <p:nvPr>
            <p:ph type="sldNum" sz="quarter" idx="12"/>
          </p:nvPr>
        </p:nvSpPr>
        <p:spPr/>
        <p:txBody>
          <a:bodyPr/>
          <a:lstStyle/>
          <a:p>
            <a:fld id="{FEBB2247-6CF9-174D-B1BD-16046E6DC6C6}" type="slidenum">
              <a:rPr lang="en-AE" smtClean="0"/>
              <a:pPr/>
              <a:t>22</a:t>
            </a:fld>
            <a:endParaRPr lang="en-AE"/>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55330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pic>
        <p:nvPicPr>
          <p:cNvPr id="2" name="Picture 1" descr="A person with long black hair wearing a white suit&#10;&#10;AI-generated content may be incorrect.">
            <a:extLst>
              <a:ext uri="{FF2B5EF4-FFF2-40B4-BE49-F238E27FC236}">
                <a16:creationId xmlns:a16="http://schemas.microsoft.com/office/drawing/2014/main" id="{BDCD1A7A-EA25-0E11-8D65-06B0E975D9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413" y="3951887"/>
            <a:ext cx="1577763" cy="1577763"/>
          </a:xfrm>
          <a:prstGeom prst="ellipse">
            <a:avLst/>
          </a:prstGeom>
          <a:noFill/>
          <a:ln w="28575">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413612536"/>
      </p:ext>
    </p:extLst>
  </p:cSld>
  <p:clrMapOvr>
    <a:masterClrMapping/>
  </p:clrMapOvr>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262BF2-59AF-D0FD-90D8-D2416546406F}"/>
              </a:ext>
            </a:extLst>
          </p:cNvPr>
          <p:cNvSpPr>
            <a:spLocks noGrp="1" noRot="1" noMove="1" noResize="1" noEditPoints="1" noAdjustHandles="1" noChangeArrowheads="1" noChangeShapeType="1"/>
          </p:cNvSpPr>
          <p:nvPr>
            <p:ph type="sldNum" sz="quarter" idx="12"/>
          </p:nvPr>
        </p:nvSpPr>
        <p:spPr/>
        <p:txBody>
          <a:bodyPr/>
          <a:lstStyle/>
          <a:p>
            <a:endParaRPr lang="en-AE"/>
          </a:p>
          <a:p>
            <a:r>
              <a:t>**Engagement Fees:** [Detailed fee structure - e.g., fixed fee, retainer, success-based component].</a:t>
            </a:r>
            <a:br/>
            <a:r>
              <a:t>**Payment Schedule:** [e.g., upfront, phased milestones].</a:t>
            </a:r>
            <a:br/>
            <a:r>
              <a:t>**Expenses:** Reimbursable at cost (travel, accommodation, specific software licenses).</a:t>
            </a:r>
            <a:br/>
            <a:r>
              <a:t>**Term:** [e.g., 6 months, 12 months] from engagement commencement.</a:t>
            </a:r>
            <a:br/>
            <a:r>
              <a:t>**Cancellation Policy:** [Standard terms].</a:t>
            </a:r>
            <a:br/>
            <a:r>
              <a:t>*Full commercial terms will be detailed in the accompanying contract.*</a:t>
            </a:r>
            <a:br/>
            <a:r>
              <a:t>Pricing terms, payment milestones, and invoicing notes.</a:t>
            </a:r>
          </a:p>
        </p:txBody>
      </p:sp>
    </p:spTree>
    <p:extLst>
      <p:ext uri="{BB962C8B-B14F-4D97-AF65-F5344CB8AC3E}">
        <p14:creationId xmlns:p14="http://schemas.microsoft.com/office/powerpoint/2010/main" val="187338813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10712</TotalTime>
  <Words>1990</Words>
  <Application>Microsoft Office PowerPoint</Application>
  <PresentationFormat>Widescreen</PresentationFormat>
  <Paragraphs>139</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ExtraBold</vt:lpstr>
      <vt:lpstr>Aptos Light</vt:lpstr>
      <vt:lpstr>Aptos SemiBold</vt:lpstr>
      <vt:lpstr>Arial</vt:lpstr>
      <vt:lpstr>YACkoA9eHeY 0</vt:lpstr>
      <vt:lpstr>Office Theme</vt:lpstr>
      <vt:lpstr> {{Cover Title for the proposal stating the work, we will be doing for client}}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{{SCOPE_STRATEGIC_SUPPORT}} {{Core strategic advisory services included in scope}}</vt:lpstr>
      <vt:lpstr>PowerPoint Presentation</vt:lpstr>
      <vt:lpstr> {{SCOPE_OUR PROPOSED APPROACH }}</vt:lpstr>
      <vt:lpstr>PowerPoint Presentation</vt:lpstr>
      <vt:lpstr>{{SCOPE_SCOPE OF SERVICES}} High-level categorization of all services tailored to the client's requirement.</vt:lpstr>
      <vt:lpstr> {{SERVICES DELIVERABLES}} </vt:lpstr>
      <vt:lpstr> {{SERVICES DELIVERABLES}} </vt:lpstr>
      <vt:lpstr> {{SERVICES DELIVERABLES}} </vt:lpstr>
      <vt:lpstr>PowerPoint Presentation</vt:lpstr>
      <vt:lpstr> {{SCOPE_ADDITIONAL_SUPPORT}}   “Create a slide titled ‘Additional Support’ that outlines optional, ongoing strategic and operational advisory services offered after the core engagement is complete.  Structure the slide as follows:  1. Begin with a short intro paragraph explaining that these services are post-project, offered on a flexible, as-needed basis, and intended to ensure momentum and agility. 2. Then list 6–7 bullet points, each describing a specific type of ongoing support.      2.1 Each bullet should start with a bolded service label (e.g., Strategic Execution Support), followed               by a clear 1–2 line explanation.      2.2 Feel free to use subtle, relevant emojis to match the tone of executive-level but visually clean                     proposals.  Include a final line at the bottom reaffirming that this is not a formal retainer, but a high-touch, agile model for clients that value ongoing support.  Tone: PwC or McKinsey-level - precise, consultative, and clearly scoped. No vague or fluffy language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Pallavi Khajuria</cp:lastModifiedBy>
  <cp:revision>29</cp:revision>
  <dcterms:created xsi:type="dcterms:W3CDTF">2025-03-19T09:34:50Z</dcterms:created>
  <dcterms:modified xsi:type="dcterms:W3CDTF">2025-09-23T13:04:45Z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