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16_AC0BC3C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15_533C195E.xml" ContentType="application/vnd.ms-powerpoint.comments+xml"/>
  <Override PartName="/ppt/notesSlides/notesSlide2.xml" ContentType="application/vnd.openxmlformats-officedocument.presentationml.notesSlide+xml"/>
  <Override PartName="/ppt/comments/modernComment_11A_A187FA2C.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notesSlides/notesSlide3.xml" ContentType="application/vnd.openxmlformats-officedocument.presentationml.notesSlide+xml"/>
  <Override PartName="/ppt/comments/modernComment_126_6FA9A266.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25"/>
    <p:restoredTop sz="94596"/>
  </p:normalViewPr>
  <p:slideViewPr>
    <p:cSldViewPr snapToGrid="0">
      <p:cViewPr varScale="1">
        <p:scale>
          <a:sx n="78" d="100"/>
          <a:sy n="78" d="100"/>
        </p:scale>
        <p:origin x="129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10/11/2025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6.jpeg"/><Relationship Id="rId2" Type="http://schemas.openxmlformats.org/officeDocument/2006/relationships/image" Target="../media/image32.jpeg"/><Relationship Id="rId1" Type="http://schemas.openxmlformats.org/officeDocument/2006/relationships/slideMaster" Target="../slideMasters/slideMaster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jpe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11/10/2025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11/10/2025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16_AC0BC3C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27_C5CEB322.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28_13306241.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29_5631A1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2A_7C6C6B9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2F_650905AD.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microsoft.com/office/2018/10/relationships/comments" Target="../comments/modernComment_115_533C195E.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1A_A187FA2C.xml"/><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32_61484B9B.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microsoft.com/office/2018/10/relationships/comments" Target="../comments/modernComment_134_844B3DA2.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microsoft.com/office/2018/10/relationships/comments" Target="../comments/modernComment_135_C4FCC2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22.xml"/><Relationship Id="rId5" Type="http://schemas.openxmlformats.org/officeDocument/2006/relationships/image" Target="../media/image39.jpeg"/><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2" Type="http://schemas.microsoft.com/office/2018/10/relationships/comments" Target="../comments/modernComment_126_6FA9A266.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rPr lang="en-US" dirty="0"/>
              <a:t>{{COVER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endParaRPr sz="1000" dirty="0"/>
          </a:p>
          <a:p>
            <a:r>
              <a:rPr sz="1000" dirty="0"/>
              <a:t>{{</a:t>
            </a:r>
            <a:r>
              <a:rPr lang="en-US" sz="1000" dirty="0"/>
              <a:t>DATE}}</a:t>
            </a:r>
            <a:br>
              <a:rPr sz="1000" dirty="0"/>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{{COVER_TITLE}}</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t>{{</a:t>
            </a:r>
            <a:r>
              <a:rPr lang="en-US" sz="1200" dirty="0"/>
              <a:t>CLIENT LOGO</a:t>
            </a:r>
            <a:r>
              <a:rPr sz="1200" dirty="0"/>
              <a:t>}}</a:t>
            </a:r>
            <a:br>
              <a:rPr sz="1200" dirty="0"/>
            </a:br>
            <a:endParaRPr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endParaRPr sz="1200" dirty="0"/>
          </a:p>
          <a:p>
            <a:r>
              <a:rPr sz="1200" dirty="0"/>
              <a:t>{{COVER_LETTER}}</a:t>
            </a:r>
            <a:br>
              <a:rPr sz="1200" dirty="0"/>
            </a:b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endParaRPr sz="1200" dirty="0"/>
          </a:p>
          <a:p>
            <a:r>
              <a:rPr sz="1200" dirty="0"/>
              <a:t>{{EXECUTIVE_SUMMARY}}</a:t>
            </a:r>
            <a:br>
              <a:rPr sz="1200" dirty="0"/>
            </a:b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endParaRPr dirty="0"/>
          </a:p>
          <a:p>
            <a:r>
              <a:rPr dirty="0"/>
              <a:t>{{</a:t>
            </a:r>
            <a:r>
              <a:rPr lang="en-US" dirty="0"/>
              <a:t>CURRENT SITUATION OF CLIENT</a:t>
            </a:r>
            <a:r>
              <a:rPr dirty="0"/>
              <a:t>}}</a:t>
            </a:r>
            <a:br>
              <a:rPr dirty="0"/>
            </a:br>
            <a:endParaRPr b="1"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endParaRPr dirty="0"/>
          </a:p>
          <a:p>
            <a:r>
              <a:rPr dirty="0"/>
              <a:t>{{</a:t>
            </a:r>
            <a:r>
              <a:rPr lang="en-US" dirty="0"/>
              <a:t>KEY CHALLENGES</a:t>
            </a:r>
            <a:r>
              <a:rPr dirty="0"/>
              <a:t>}}</a:t>
            </a:r>
            <a:br>
              <a:rPr dirty="0"/>
            </a:br>
            <a:endParaRPr b="1"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endParaRPr dirty="0"/>
          </a:p>
          <a:p>
            <a:pPr algn="l"/>
            <a:r>
              <a:rPr dirty="0"/>
              <a:t>{{</a:t>
            </a:r>
            <a:r>
              <a:rPr lang="en-US" dirty="0"/>
              <a:t>OUTCOMES REQUIRED</a:t>
            </a:r>
            <a:r>
              <a:rPr dirty="0"/>
              <a:t>}}</a:t>
            </a:r>
            <a:br>
              <a:rPr dirty="0"/>
            </a:b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endParaRPr lang="en-GB" dirty="0"/>
          </a:p>
          <a:p>
            <a:r>
              <a:rPr dirty="0"/>
              <a:t>{{Phase 1</a:t>
            </a:r>
            <a:r>
              <a:rPr lang="en-US" dirty="0"/>
              <a:t>: Name</a:t>
            </a:r>
            <a:r>
              <a:rPr dirty="0"/>
              <a:t>}}</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1" y="949444"/>
            <a:ext cx="7350487" cy="646331"/>
          </a:xfrm>
          <a:prstGeom prst="rect">
            <a:avLst/>
          </a:prstGeom>
          <a:noFill/>
        </p:spPr>
        <p:txBody>
          <a:bodyPr wrap="square" rtlCol="0">
            <a:spAutoFit/>
          </a:bodyPr>
          <a:lstStyle/>
          <a:p>
            <a:endParaRPr lang="en-AE" sz="1200" dirty="0"/>
          </a:p>
          <a:p>
            <a:r>
              <a:rPr lang="en-US" sz="1200" dirty="0"/>
              <a:t>{</a:t>
            </a:r>
            <a:r>
              <a:rPr sz="1200" dirty="0"/>
              <a:t>{</a:t>
            </a:r>
            <a:r>
              <a:rPr lang="en-US" sz="1200" dirty="0"/>
              <a:t> Here add a short 2–3-line summary of our recommended phased solution and how it addresses client needs}}</a:t>
            </a:r>
            <a:endParaRPr sz="1200"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39784" y="2756996"/>
            <a:ext cx="7243011" cy="316538"/>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39781" y="3951129"/>
            <a:ext cx="7243011" cy="316538"/>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3</a:t>
            </a:r>
            <a:r>
              <a:rPr lang="en-US" dirty="0"/>
              <a:t>: Name</a:t>
            </a:r>
            <a:r>
              <a:rPr dirty="0"/>
              <a:t>}}</a:t>
            </a:r>
          </a:p>
        </p:txBody>
      </p:sp>
      <p:sp>
        <p:nvSpPr>
          <p:cNvPr id="17" name="TextBox 16">
            <a:extLst>
              <a:ext uri="{FF2B5EF4-FFF2-40B4-BE49-F238E27FC236}">
                <a16:creationId xmlns:a16="http://schemas.microsoft.com/office/drawing/2014/main" id="{5F3959F4-1E64-2DBA-2783-E5ABDE1E2D02}"/>
              </a:ext>
            </a:extLst>
          </p:cNvPr>
          <p:cNvSpPr txBox="1"/>
          <p:nvPr/>
        </p:nvSpPr>
        <p:spPr>
          <a:xfrm>
            <a:off x="839782" y="3376140"/>
            <a:ext cx="7350487" cy="646331"/>
          </a:xfrm>
          <a:prstGeom prst="rect">
            <a:avLst/>
          </a:prstGeom>
          <a:noFill/>
        </p:spPr>
        <p:txBody>
          <a:bodyPr wrap="square" rtlCol="0">
            <a:spAutoFit/>
          </a:bodyPr>
          <a:lstStyle/>
          <a:p>
            <a:endParaRPr lang="en-AE" sz="1200" dirty="0"/>
          </a:p>
          <a:p>
            <a:br>
              <a:rPr sz="1200" dirty="0"/>
            </a:br>
            <a:endParaRPr sz="1200"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provide 3–4 bullet points that describe the key services being offered under strategic support}</a:t>
            </a:r>
            <a:br>
              <a:rPr lang="en-US" dirty="0"/>
            </a:br>
            <a:br>
              <a:rPr dirty="0"/>
            </a:b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provide 3–4 bullet points that describe the key services being offered under structuring &amp; enablers}}</a:t>
            </a:r>
            <a:br>
              <a:rPr dirty="0"/>
            </a:br>
            <a:br>
              <a:rPr dirty="0"/>
            </a:b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provide 2-3 bullet points that describe the key services being offered under ongoing support}}</a:t>
            </a:r>
            <a:r>
              <a:rPr lang="en-US" b="1" dirty="0"/>
              <a:t> </a:t>
            </a:r>
            <a:br>
              <a:rPr dirty="0"/>
            </a:b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endParaRPr lang="en-GB" sz="1500" b="1" dirty="0">
              <a:solidFill>
                <a:srgbClr val="7D4E1D"/>
              </a:solidFill>
            </a:endParaRPr>
          </a:p>
          <a:p>
            <a:pPr marL="0" indent="0">
              <a:buNone/>
            </a:pPr>
            <a:r>
              <a:rPr lang="en-US" dirty="0"/>
              <a:t>1.     </a:t>
            </a:r>
            <a:r>
              <a:rPr dirty="0"/>
              <a:t>{{TYPE OF SERVICE DELIVERABLES}}</a:t>
            </a:r>
            <a:br>
              <a:rPr dirty="0"/>
            </a:br>
            <a:r>
              <a:rPr dirty="0"/>
              <a:t>.</a:t>
            </a: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2.       {{TYPE OF SERVICE DELIVERABLES}}</a:t>
            </a:r>
            <a:br>
              <a:rPr dirty="0"/>
            </a:br>
            <a:r>
              <a:rPr dirty="0"/>
              <a:t>.</a:t>
            </a: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1569660"/>
          </a:xfrm>
          <a:prstGeom prst="rect">
            <a:avLst/>
          </a:prstGeom>
          <a:noFill/>
        </p:spPr>
        <p:txBody>
          <a:bodyPr wrap="square">
            <a:spAutoFit/>
          </a:bodyPr>
          <a:lstStyle/>
          <a:p>
            <a:endParaRPr lang="en-AE" sz="1200" i="1" dirty="0"/>
          </a:p>
          <a:p>
            <a:r>
              <a:rPr lang="en-US" sz="1200" dirty="0"/>
              <a:t>{{3–4 bullet points describing what this deliverable includes - focused on actions, outputs, or advisory elements</a:t>
            </a:r>
          </a:p>
          <a:p>
            <a:endParaRPr lang="en-US" sz="1200" dirty="0"/>
          </a:p>
          <a:p>
            <a:r>
              <a:rPr lang="en-US" sz="1200" dirty="0"/>
              <a:t>Write in a consulting-style tone, with concise and client-relevant language.}}</a:t>
            </a:r>
            <a:br>
              <a:rPr sz="1200" dirty="0"/>
            </a:br>
            <a:endParaRPr sz="1200" b="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1569660"/>
          </a:xfrm>
          <a:prstGeom prst="rect">
            <a:avLst/>
          </a:prstGeom>
          <a:noFill/>
        </p:spPr>
        <p:txBody>
          <a:bodyPr wrap="square">
            <a:spAutoFit/>
          </a:bodyPr>
          <a:lstStyle/>
          <a:p>
            <a:endParaRPr lang="en-AE" sz="1200" i="1" dirty="0"/>
          </a:p>
          <a:p>
            <a:r>
              <a:rPr lang="en-US" sz="1200" dirty="0"/>
              <a:t>{{3–4 bullet points describing what this deliverable includes - focused on actions, outputs, or advisory elements</a:t>
            </a:r>
          </a:p>
          <a:p>
            <a:endParaRPr lang="en-US" sz="1200" dirty="0"/>
          </a:p>
          <a:p>
            <a:r>
              <a:rPr lang="en-US" sz="1200" dirty="0"/>
              <a:t>Write in a consulting-style tone, with concise and client-relevant language.}}</a:t>
            </a:r>
            <a:br>
              <a:rPr sz="1200" dirty="0"/>
            </a:br>
            <a:r>
              <a:rPr sz="1200" b="1" dirty="0"/>
              <a:t> </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4.          {{TYPE OF SERVICE DELIVERABLES}}</a:t>
            </a:r>
            <a:br>
              <a:rPr dirty="0"/>
            </a:br>
            <a:r>
              <a:rPr dirty="0"/>
              <a:t>.</a:t>
            </a: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3.       {{TYPE OF SERVICE DELIVERABLES}}</a:t>
            </a:r>
            <a:br>
              <a:rPr dirty="0"/>
            </a:br>
            <a:r>
              <a:rPr dirty="0"/>
              <a:t>.</a:t>
            </a: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1384995"/>
          </a:xfrm>
          <a:prstGeom prst="rect">
            <a:avLst/>
          </a:prstGeom>
          <a:noFill/>
        </p:spPr>
        <p:txBody>
          <a:bodyPr wrap="square">
            <a:spAutoFit/>
          </a:bodyPr>
          <a:lstStyle/>
          <a:p>
            <a:endParaRPr lang="en-US" sz="1200" i="1" dirty="0"/>
          </a:p>
          <a:p>
            <a:r>
              <a:rPr lang="en-US" sz="1200" dirty="0"/>
              <a:t>{{3–4 bullet points describing what this deliverable includes - focused on actions, outputs, or advisory elements</a:t>
            </a:r>
          </a:p>
          <a:p>
            <a:endParaRPr lang="en-US" sz="1200" dirty="0"/>
          </a:p>
          <a:p>
            <a:r>
              <a:rPr lang="en-US" sz="1200" dirty="0"/>
              <a:t>Write in a consulting-style tone, with concise and client-relevant language}}</a:t>
            </a:r>
            <a:endParaRPr lang="en-US" sz="1200" b="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1384995"/>
          </a:xfrm>
          <a:prstGeom prst="rect">
            <a:avLst/>
          </a:prstGeom>
          <a:noFill/>
        </p:spPr>
        <p:txBody>
          <a:bodyPr wrap="square">
            <a:spAutoFit/>
          </a:bodyPr>
          <a:lstStyle/>
          <a:p>
            <a:endParaRPr lang="en-AE" sz="1200" i="1" dirty="0"/>
          </a:p>
          <a:p>
            <a:r>
              <a:rPr lang="en-US" sz="1200" dirty="0"/>
              <a:t>{{3–4 bullet points describing what this deliverable includes - focused on actions, outputs, or advisory elements</a:t>
            </a:r>
          </a:p>
          <a:p>
            <a:endParaRPr lang="en-US" sz="1200" dirty="0"/>
          </a:p>
          <a:p>
            <a:r>
              <a:rPr lang="en-US" sz="1200" dirty="0"/>
              <a:t>Write in a consulting-style tone, with concise and client-relevant language}}</a:t>
            </a:r>
            <a:endParaRPr sz="1200" b="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2.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10660</TotalTime>
  <Words>730</Words>
  <Application>Microsoft Office PowerPoint</Application>
  <PresentationFormat>Widescreen</PresentationFormat>
  <Paragraphs>112</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28</cp:revision>
  <dcterms:created xsi:type="dcterms:W3CDTF">2025-03-19T09:34:50Z</dcterms:created>
  <dcterms:modified xsi:type="dcterms:W3CDTF">2025-11-10T12:09:39Z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